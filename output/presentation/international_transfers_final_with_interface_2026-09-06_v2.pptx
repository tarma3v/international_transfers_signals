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00ed7f71dd4ff0" /><Relationship Type="http://schemas.openxmlformats.org/officeDocument/2006/relationships/extended-properties" Target="/docProps/app.xml" Id="R9ae2aa3839ef4402" /><Relationship Type="http://schemas.openxmlformats.org/officeDocument/2006/relationships/officeDocument" Target="/ppt/presentation.xml" Id="R0fbbb235b44347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88edaecc2b4fe9"/>
  </p:sldMasterIdLst>
  <p:notesMasterIdLst>
    <p:notesMasterId xmlns:r="http://schemas.openxmlformats.org/officeDocument/2006/relationships" r:id="R600fde5c4c264736"/>
  </p:notesMasterIdLst>
  <p:sldIdLst>
    <p:sldId xmlns:r="http://schemas.openxmlformats.org/officeDocument/2006/relationships" id="256" r:id="R968169ff2db54e83"/>
    <p:sldId xmlns:r="http://schemas.openxmlformats.org/officeDocument/2006/relationships" id="257" r:id="Re68cd3e738864d44"/>
    <p:sldId xmlns:r="http://schemas.openxmlformats.org/officeDocument/2006/relationships" id="258" r:id="R12b0c89f69134d66"/>
    <p:sldId xmlns:r="http://schemas.openxmlformats.org/officeDocument/2006/relationships" id="259" r:id="R2d16d17feb084f27"/>
    <p:sldId xmlns:r="http://schemas.openxmlformats.org/officeDocument/2006/relationships" id="260" r:id="Re9bfe7d14a3540d4"/>
    <p:sldId xmlns:r="http://schemas.openxmlformats.org/officeDocument/2006/relationships" id="261" r:id="Radaa7197f009495f"/>
    <p:sldId xmlns:r="http://schemas.openxmlformats.org/officeDocument/2006/relationships" id="262" r:id="R11d25c10a1084d29"/>
    <p:sldId xmlns:r="http://schemas.openxmlformats.org/officeDocument/2006/relationships" id="263" r:id="R4bb333b553684c5d"/>
    <p:sldId xmlns:r="http://schemas.openxmlformats.org/officeDocument/2006/relationships" id="264" r:id="Rb49d3d5cba04419f"/>
    <p:sldId xmlns:r="http://schemas.openxmlformats.org/officeDocument/2006/relationships" id="265" r:id="R7e0b8c9b022c4715"/>
    <p:sldId xmlns:r="http://schemas.openxmlformats.org/officeDocument/2006/relationships" id="266" r:id="Rb69587dab9cf4e6b"/>
    <p:sldId xmlns:r="http://schemas.openxmlformats.org/officeDocument/2006/relationships" id="267" r:id="R6fa04b330e7c44fb"/>
    <p:sldId xmlns:r="http://schemas.openxmlformats.org/officeDocument/2006/relationships" id="268" r:id="R9d9382a5f1684959"/>
    <p:sldId xmlns:r="http://schemas.openxmlformats.org/officeDocument/2006/relationships" id="269" r:id="R44d60093c5b04bde"/>
    <p:sldId xmlns:r="http://schemas.openxmlformats.org/officeDocument/2006/relationships" id="270" r:id="R6dc087c71b134b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9378f7728f4c59" /><Relationship Type="http://schemas.openxmlformats.org/officeDocument/2006/relationships/slideMaster" Target="/ppt/slideMasters/slideMaster1.xml" Id="R6388edaecc2b4fe9" /><Relationship Type="http://schemas.openxmlformats.org/officeDocument/2006/relationships/notesMaster" Target="/ppt/notesMasters/notesMaster1.xml" Id="R600fde5c4c264736" /><Relationship Type="http://schemas.openxmlformats.org/officeDocument/2006/relationships/presProps" Target="/ppt/presProps.xml" Id="Rd5249738740a413b" /><Relationship Type="http://schemas.openxmlformats.org/officeDocument/2006/relationships/viewProps" Target="/ppt/viewProps.xml" Id="Re88bdfb4a7dc4c78" /><Relationship Type="http://schemas.openxmlformats.org/officeDocument/2006/relationships/tableStyles" Target="/ppt/tableStyles.xml" Id="Rd12d74eb11c74f22" /><Relationship Type="http://schemas.openxmlformats.org/officeDocument/2006/relationships/slide" Target="/ppt/slides/slide1.xml" Id="R968169ff2db54e83" /><Relationship Type="http://schemas.openxmlformats.org/officeDocument/2006/relationships/slide" Target="/ppt/slides/slide2.xml" Id="Re68cd3e738864d44" /><Relationship Type="http://schemas.openxmlformats.org/officeDocument/2006/relationships/slide" Target="/ppt/slides/slide3.xml" Id="R12b0c89f69134d66" /><Relationship Type="http://schemas.openxmlformats.org/officeDocument/2006/relationships/slide" Target="/ppt/slides/slide4.xml" Id="R2d16d17feb084f27" /><Relationship Type="http://schemas.openxmlformats.org/officeDocument/2006/relationships/slide" Target="/ppt/slides/slide5.xml" Id="Re9bfe7d14a3540d4" /><Relationship Type="http://schemas.openxmlformats.org/officeDocument/2006/relationships/slide" Target="/ppt/slides/slide6.xml" Id="Radaa7197f009495f" /><Relationship Type="http://schemas.openxmlformats.org/officeDocument/2006/relationships/slide" Target="/ppt/slides/slide7.xml" Id="R11d25c10a1084d29" /><Relationship Type="http://schemas.openxmlformats.org/officeDocument/2006/relationships/slide" Target="/ppt/slides/slide8.xml" Id="R4bb333b553684c5d" /><Relationship Type="http://schemas.openxmlformats.org/officeDocument/2006/relationships/slide" Target="/ppt/slides/slide9.xml" Id="Rb49d3d5cba04419f" /><Relationship Type="http://schemas.openxmlformats.org/officeDocument/2006/relationships/slide" Target="/ppt/slides/slide10.xml" Id="R7e0b8c9b022c4715" /><Relationship Type="http://schemas.openxmlformats.org/officeDocument/2006/relationships/slide" Target="/ppt/slides/slide11.xml" Id="Rb69587dab9cf4e6b" /><Relationship Type="http://schemas.openxmlformats.org/officeDocument/2006/relationships/slide" Target="/ppt/slides/slide12.xml" Id="R6fa04b330e7c44fb" /><Relationship Type="http://schemas.openxmlformats.org/officeDocument/2006/relationships/slide" Target="/ppt/slides/slide13.xml" Id="R9d9382a5f1684959" /><Relationship Type="http://schemas.openxmlformats.org/officeDocument/2006/relationships/slide" Target="/ppt/slides/slide14.xml" Id="R44d60093c5b04bde" /><Relationship Type="http://schemas.openxmlformats.org/officeDocument/2006/relationships/slide" Target="/ppt/slides/slide15.xml" Id="R6dc087c71b134b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23421ac53342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ea5ac486df46f7" /><Relationship Type="http://schemas.openxmlformats.org/officeDocument/2006/relationships/notesMaster" Target="/ppt/notesMasters/notesMaster1.xml" Id="R1659963f5c3c41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a5a924e80e413f" /><Relationship Type="http://schemas.openxmlformats.org/officeDocument/2006/relationships/notesMaster" Target="/ppt/notesMasters/notesMaster1.xml" Id="R7e6a11ce4df54a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4a0263d17843c3" /><Relationship Type="http://schemas.openxmlformats.org/officeDocument/2006/relationships/notesMaster" Target="/ppt/notesMasters/notesMaster1.xml" Id="Re7cd5104cd8e4b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20445e8d29408f" /><Relationship Type="http://schemas.openxmlformats.org/officeDocument/2006/relationships/notesMaster" Target="/ppt/notesMasters/notesMaster1.xml" Id="R141aa4902fb64c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503b411b084e27" /><Relationship Type="http://schemas.openxmlformats.org/officeDocument/2006/relationships/notesMaster" Target="/ppt/notesMasters/notesMaster1.xml" Id="R5195810473e04d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be42140b7e4766" /><Relationship Type="http://schemas.openxmlformats.org/officeDocument/2006/relationships/notesMaster" Target="/ppt/notesMasters/notesMaster1.xml" Id="R8d9106becad94f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771fbe0cbf4cde" /><Relationship Type="http://schemas.openxmlformats.org/officeDocument/2006/relationships/notesMaster" Target="/ppt/notesMasters/notesMaster1.xml" Id="Ra5927b3a64764e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dfe58c245248b5" /><Relationship Type="http://schemas.openxmlformats.org/officeDocument/2006/relationships/notesMaster" Target="/ppt/notesMasters/notesMaster1.xml" Id="Rd5dd9b7174094c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ed41665fd142c2" /><Relationship Type="http://schemas.openxmlformats.org/officeDocument/2006/relationships/notesMaster" Target="/ppt/notesMasters/notesMaster1.xml" Id="Rdeb35cc4cc4141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64515720884ae9" /><Relationship Type="http://schemas.openxmlformats.org/officeDocument/2006/relationships/notesMaster" Target="/ppt/notesMasters/notesMaster1.xml" Id="Raef3851fe16d4e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173a6c61fd422b" /><Relationship Type="http://schemas.openxmlformats.org/officeDocument/2006/relationships/notesMaster" Target="/ppt/notesMasters/notesMaster1.xml" Id="Rb510dd2ca9bd48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7fd5cb3f56408d" /><Relationship Type="http://schemas.openxmlformats.org/officeDocument/2006/relationships/notesMaster" Target="/ppt/notesMasters/notesMaster1.xml" Id="Rd0065bf3a8df46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dd79d482154fc2" /><Relationship Type="http://schemas.openxmlformats.org/officeDocument/2006/relationships/notesMaster" Target="/ppt/notesMasters/notesMaster1.xml" Id="Rac57b0122a734a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58c33b7d9947e8" /><Relationship Type="http://schemas.openxmlformats.org/officeDocument/2006/relationships/notesMaster" Target="/ppt/notesMasters/notesMaster1.xml" Id="Ra1e90eac754440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3d2c6c76604268" /><Relationship Type="http://schemas.openxmlformats.org/officeDocument/2006/relationships/notesMaster" Target="/ppt/notesMasters/notesMaster1.xml" Id="R0cf96f7da97242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Главный результат на сегодня — единый причинный any-time контур. Он выдаёт температуру, отдельную оценку размера future-only выгоды и отдельный редкий push.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Температура, expected bps и push — разные модельные выходы и разные метрики. Это сохраняет понятность продукта и не выдаёт вероятность за обещание банковского курса.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Сохраняем исходный сильный продуктовый слайд: он показывает путь клиента от открытия приложения до перевода, истории и обратной связи.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сравниваем lift и AUC как одну шкалу. Lift оценивает политику редких решений, Brier/AUC — вероятность, MAE — размер будущей разницы.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Receipt должен быть реальным событием, а не жёстким временем. Пока историческая реализация использует календарное приближение; это ключевая production-доработка.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Сохраняем исходный слайд пилота: различаем техническую метрику и бизнес-эффект и заранее фиксируем правила эксперимента.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Переход к техническому приложению.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2025–2026 многократно открывался в исследовании, поэтому это диагностика переноса, не новый независимый holdout. Следующий уровень — prospective frozen shadow.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намеренный отказ от лишнего обновления. Физически свежая свеча не означает лучшую калибровку вероятности.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MAE измеряется в базисных пунктах официального курса ЦБ. Lift оценивает редкую политику решений и не доказывает точность температуры.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T16 маршрутизирует головы раздельно. Это не рассинхронизация, а честное признание: свежий perpetual доказал пользу для размера эффекта, но не для вероятности.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Сохраняем семь экранов существующего пользовательского flow. В текущем payload к ним добавляются phase, horizon, source_at, age, freshness и отдельный provenance expected bps.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Тексты — продуктовый слой над AP37. Они сообщают наблюдаемый факт и предлагают проверить исполнимую сумму, но не обещают курс и не заставляют откладывать обязательный платёж.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Проценты вклада не заявляем: работа совместная. Слайд отражает зоны ответственности и убирает устаревшее сравнение ранних веток.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вывод: причинный any-time прототип уже закрывает пользовательский экран и редкий push; бизнес-экономика требует банковской исполнимой цены и prospective проверки.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f6218d4f154dc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89eafe482847ee" /><Relationship Type="http://schemas.openxmlformats.org/officeDocument/2006/relationships/slideLayout" Target="/ppt/slideLayouts/slideLayout1.xml" Id="Rfc63a7e8a911475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63a7e8a911475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c0f038d6e4282" /><Relationship Type="http://schemas.openxmlformats.org/officeDocument/2006/relationships/notesSlide" Target="/ppt/notesSlides/notesSlide1.xml" Id="R24afbb7a43d042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9dcc3c9514527" /><Relationship Type="http://schemas.openxmlformats.org/officeDocument/2006/relationships/notesSlide" Target="/ppt/notesSlides/notesSlide2.xml" Id="Rbd0465e0fa4f48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bc089f84b4c22" /><Relationship Type="http://schemas.openxmlformats.org/officeDocument/2006/relationships/image" Target="/ppt/media/image.png" Id="R20737acab0704a08" /><Relationship Type="http://schemas.openxmlformats.org/officeDocument/2006/relationships/notesSlide" Target="/ppt/notesSlides/notesSlide3.xml" Id="R05dcef7b94ef42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f9a400a964772" /><Relationship Type="http://schemas.openxmlformats.org/officeDocument/2006/relationships/notesSlide" Target="/ppt/notesSlides/notesSlide4.xml" Id="R01e9cb36e3254c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4710a3daf4e3a" /><Relationship Type="http://schemas.openxmlformats.org/officeDocument/2006/relationships/notesSlide" Target="/ppt/notesSlides/notesSlide5.xml" Id="R36fa0ee5c74748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cad73698e4bc7" /><Relationship Type="http://schemas.openxmlformats.org/officeDocument/2006/relationships/notesSlide" Target="/ppt/notesSlides/notesSlide6.xml" Id="Re005d96a90184d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94509d0a241b8" /><Relationship Type="http://schemas.openxmlformats.org/officeDocument/2006/relationships/notesSlide" Target="/ppt/notesSlides/notesSlide7.xml" Id="R0203f6ce6e3d49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bc37c0b674103" /><Relationship Type="http://schemas.openxmlformats.org/officeDocument/2006/relationships/notesSlide" Target="/ppt/notesSlides/notesSlide8.xml" Id="R7b56f091980c4b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5ce798ee44d93" /><Relationship Type="http://schemas.openxmlformats.org/officeDocument/2006/relationships/notesSlide" Target="/ppt/notesSlides/notesSlide9.xml" Id="Rae82442640e347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4371a9a6e46e8" /><Relationship Type="http://schemas.openxmlformats.org/officeDocument/2006/relationships/notesSlide" Target="/ppt/notesSlides/notesSlide10.xml" Id="Rbf1936a7779948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16afde7a641d2" /><Relationship Type="http://schemas.openxmlformats.org/officeDocument/2006/relationships/notesSlide" Target="/ppt/notesSlides/notesSlide11.xml" Id="Rf64d1127c9c140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ae14e718f4761" /><Relationship Type="http://schemas.openxmlformats.org/officeDocument/2006/relationships/image" Target="/ppt/media/image2.png" Id="Ra6bf3670c5564a0a" /><Relationship Type="http://schemas.openxmlformats.org/officeDocument/2006/relationships/notesSlide" Target="/ppt/notesSlides/notesSlide12.xml" Id="R47efea098c0143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08e986e084837" /><Relationship Type="http://schemas.openxmlformats.org/officeDocument/2006/relationships/notesSlide" Target="/ppt/notesSlides/notesSlide13.xml" Id="Re12b32d0cfc84a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9a0da42ae4852" /><Relationship Type="http://schemas.openxmlformats.org/officeDocument/2006/relationships/notesSlide" Target="/ppt/notesSlides/notesSlide14.xml" Id="Rff1ec64efe2240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bbb8a704a4780" /><Relationship Type="http://schemas.openxmlformats.org/officeDocument/2006/relationships/notesSlide" Target="/ppt/notesSlides/notesSlide15.xml" Id="Rf92b108e86734b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14A39297-08C9-4D2C-B79A-51222348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7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5650B"/>
                </a:solidFill>
              </a:defRPr>
            </a:pPr>
            <a:r>
              <a:rPr sz="1275" b="1">
                <a:solidFill>
                  <a:srgbClr val="B5650B"/>
                </a:solidFill>
              </a:rPr>
              <a:t>ФИНАЛЬНОЕ РЕШЕНИЕ · 06.09.2026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7C20E5C-07A0-4791-95C3-AA075A30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08775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Как поймать выгодный момент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для перевода за рубеж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39F8287-1CDD-47FD-BBEA-25770EA0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8E4EC"/>
                </a:solidFill>
              </a:defRPr>
            </a:pPr>
            <a:r>
              <a:rPr sz="1650">
                <a:solidFill>
                  <a:srgbClr val="D8E4EC"/>
                </a:solidFill>
              </a:rPr>
              <a:t>Температура в любой момент · ожидаемая выгода · редкий push</a:t>
            </a:r>
          </a:p>
          <a:p xmlns:a="http://schemas.openxmlformats.org/drawingml/2006/main">
            <a:pPr>
              <a:defRPr sz="1650">
                <a:solidFill>
                  <a:srgbClr val="D8E4EC"/>
                </a:solidFill>
              </a:defRPr>
            </a:pPr>
            <a:r>
              <a:rPr sz="1650">
                <a:solidFill>
                  <a:srgbClr val="D8E4EC"/>
                </a:solidFill>
              </a:rPr>
              <a:t>AMD · KGS · KZT · TJS · UZS</a:t>
            </a:r>
          </a:p>
        </p:txBody>
      </p:sp>
      <p:sp>
        <p:nvSpPr>
          <p:cNvPr id="4" name="cover-repo">
            <a:extLst xmlns:a="http://schemas.openxmlformats.org/drawingml/2006/main">
              <a:ext uri="{FF2B5EF4-FFF2-40B4-BE49-F238E27FC236}">
                <a16:creationId xmlns:a16="http://schemas.microsoft.com/office/drawing/2014/main" id="{824BD75C-0004-4384-825C-E1AA08F4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ED0DE"/>
                </a:solidFill>
              </a:defRPr>
            </a:pPr>
            <a:r>
              <a:rPr sz="1050">
                <a:solidFill>
                  <a:srgbClr val="BED0DE"/>
                </a:solidFill>
              </a:rPr>
              <a:t>github.com/tarma3v/international_transfers_signals</a:t>
            </a:r>
          </a:p>
        </p:txBody>
      </p:sp>
    </p:spTree>
    <p:extLst>
      <p:ext uri="{BB962C8B-B14F-4D97-AF65-F5344CB8AC3E}">
        <p14:creationId xmlns:p14="http://schemas.microsoft.com/office/powerpoint/2010/main" val="250576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number-badge-1">
            <a:extLst xmlns:a="http://schemas.openxmlformats.org/drawingml/2006/main">
              <a:ext uri="{FF2B5EF4-FFF2-40B4-BE49-F238E27FC236}">
                <a16:creationId xmlns:a16="http://schemas.microsoft.com/office/drawing/2014/main" id="{F5F40A1D-9C7B-4D6A-8F01-896DCD5F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"/>
            <a:ext cx="438150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50B"/>
          </a:solidFill>
          <a:ln xmlns:a="http://schemas.openxmlformats.org/drawingml/2006/main" w="0">
            <a:solidFill>
              <a:srgbClr val="B5650B"/>
            </a:solidFill>
            <a:prstDash val="solid"/>
          </a:ln>
        </p:spPr>
      </p:sp>
      <p:sp>
        <p:nvSpPr>
          <p:cNvPr id="2" name="number-label-1">
            <a:extLst xmlns:a="http://schemas.openxmlformats.org/drawingml/2006/main">
              <a:ext uri="{FF2B5EF4-FFF2-40B4-BE49-F238E27FC236}">
                <a16:creationId xmlns:a16="http://schemas.microsoft.com/office/drawing/2014/main" id="{09E30E88-9C25-4451-A622-3ED96DC3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34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ABCE22CD-0375-44E0-92D4-0A48E93B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0050"/>
            <a:ext cx="10353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331"/>
                </a:solidFill>
              </a:defRPr>
            </a:pPr>
            <a:r>
              <a:rPr sz="2250" b="1">
                <a:solidFill>
                  <a:srgbClr val="142331"/>
                </a:solidFill>
              </a:rPr>
              <a:t>Ценность: клиент перестаёт выбирать момент вслепую</a:t>
            </a:r>
          </a:p>
        </p:txBody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8560FBB3-1E41-46D7-957F-F80D7546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7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777"/>
                </a:solidFill>
              </a:defRPr>
            </a:pPr>
            <a:r>
              <a:rPr sz="1350">
                <a:solidFill>
                  <a:srgbClr val="586777"/>
                </a:solidFill>
              </a:rPr>
              <a:t>Один экран отвечает всегда; уведомление приходит только в сильный момент</a:t>
            </a:r>
          </a:p>
        </p:txBody>
      </p:sp>
      <p:sp>
        <p:nvSpPr>
          <p:cNvPr id="5" name="footer-1">
            <a:extLst xmlns:a="http://schemas.openxmlformats.org/drawingml/2006/main">
              <a:ext uri="{FF2B5EF4-FFF2-40B4-BE49-F238E27FC236}">
                <a16:creationId xmlns:a16="http://schemas.microsoft.com/office/drawing/2014/main" id="{D7786C5D-B8B7-4116-9BFB-D7AC396D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7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777"/>
                </a:solidFill>
              </a:defRPr>
            </a:pPr>
            <a:r>
              <a:rPr sz="825">
                <a:solidFill>
                  <a:srgbClr val="586777"/>
                </a:solidFill>
              </a:rPr>
              <a:t>international_transfers_signals  ·  06.09.2026  ·  1</a:t>
            </a:r>
          </a:p>
        </p:txBody>
      </p:sp>
      <p:sp>
        <p:nvSpPr>
          <p:cNvPr id="6" name="value-temp-box">
            <a:extLst xmlns:a="http://schemas.openxmlformats.org/drawingml/2006/main">
              <a:ext uri="{FF2B5EF4-FFF2-40B4-BE49-F238E27FC236}">
                <a16:creationId xmlns:a16="http://schemas.microsoft.com/office/drawing/2014/main" id="{2AD74FAA-982A-45F2-AEE3-1B8A24F7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3333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7" name="value-temp-value">
            <a:extLst xmlns:a="http://schemas.openxmlformats.org/drawingml/2006/main">
              <a:ext uri="{FF2B5EF4-FFF2-40B4-BE49-F238E27FC236}">
                <a16:creationId xmlns:a16="http://schemas.microsoft.com/office/drawing/2014/main" id="{AFAB4779-3408-48F9-8417-5B696EFC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43075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6B55"/>
                </a:solidFill>
              </a:defRPr>
            </a:pPr>
            <a:r>
              <a:rPr sz="2550" b="1">
                <a:solidFill>
                  <a:srgbClr val="136B55"/>
                </a:solidFill>
              </a:rPr>
              <a:t>0–100</a:t>
            </a:r>
          </a:p>
        </p:txBody>
      </p:sp>
      <p:sp>
        <p:nvSpPr>
          <p:cNvPr id="8" name="value-temp-label">
            <a:extLst xmlns:a="http://schemas.openxmlformats.org/drawingml/2006/main">
              <a:ext uri="{FF2B5EF4-FFF2-40B4-BE49-F238E27FC236}">
                <a16:creationId xmlns:a16="http://schemas.microsoft.com/office/drawing/2014/main" id="{9DF759CA-B5E1-4E2B-AF76-5242BCC2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777"/>
                </a:solidFill>
              </a:defRPr>
            </a:pPr>
            <a:r>
              <a:rPr sz="1200">
                <a:solidFill>
                  <a:srgbClr val="586777"/>
                </a:solidFill>
              </a:rPr>
              <a:t>непрерывная температура по выбранному h</a:t>
            </a:r>
          </a:p>
        </p:txBody>
      </p:sp>
      <p:sp>
        <p:nvSpPr>
          <p:cNvPr id="9" name="value-lift-box">
            <a:extLst xmlns:a="http://schemas.openxmlformats.org/drawingml/2006/main">
              <a:ext uri="{FF2B5EF4-FFF2-40B4-BE49-F238E27FC236}">
                <a16:creationId xmlns:a16="http://schemas.microsoft.com/office/drawing/2014/main" id="{810141D9-A5D6-4775-AC8C-2653C1D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10" name="value-lift-value">
            <a:extLst xmlns:a="http://schemas.openxmlformats.org/drawingml/2006/main">
              <a:ext uri="{FF2B5EF4-FFF2-40B4-BE49-F238E27FC236}">
                <a16:creationId xmlns:a16="http://schemas.microsoft.com/office/drawing/2014/main" id="{4DB3A662-4FDC-4C81-8E68-A0CD2338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43075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5650B"/>
                </a:solidFill>
              </a:defRPr>
            </a:pPr>
            <a:r>
              <a:rPr sz="2550" b="1">
                <a:solidFill>
                  <a:srgbClr val="B5650B"/>
                </a:solidFill>
              </a:rPr>
              <a:t>2,43–2,53</a:t>
            </a:r>
          </a:p>
        </p:txBody>
      </p:sp>
      <p:sp>
        <p:nvSpPr>
          <p:cNvPr id="11" name="value-lift-label">
            <a:extLst xmlns:a="http://schemas.openxmlformats.org/drawingml/2006/main">
              <a:ext uri="{FF2B5EF4-FFF2-40B4-BE49-F238E27FC236}">
                <a16:creationId xmlns:a16="http://schemas.microsoft.com/office/drawing/2014/main" id="{487DD4E6-9088-44C6-9552-EF43F5CC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777"/>
                </a:solidFill>
              </a:defRPr>
            </a:pPr>
            <a:r>
              <a:rPr sz="1200">
                <a:solidFill>
                  <a:srgbClr val="586777"/>
                </a:solidFill>
              </a:rPr>
              <a:t>adjusted lift редкого AP37 push</a:t>
            </a:r>
          </a:p>
        </p:txBody>
      </p:sp>
      <p:sp>
        <p:nvSpPr>
          <p:cNvPr id="12" name="value-rate-box">
            <a:extLst xmlns:a="http://schemas.openxmlformats.org/drawingml/2006/main">
              <a:ext uri="{FF2B5EF4-FFF2-40B4-BE49-F238E27FC236}">
                <a16:creationId xmlns:a16="http://schemas.microsoft.com/office/drawing/2014/main" id="{9EEF96C4-9521-4462-BB66-31DBC235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81150"/>
            <a:ext cx="33147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13" name="value-rate-value">
            <a:extLst xmlns:a="http://schemas.openxmlformats.org/drawingml/2006/main">
              <a:ext uri="{FF2B5EF4-FFF2-40B4-BE49-F238E27FC236}">
                <a16:creationId xmlns:a16="http://schemas.microsoft.com/office/drawing/2014/main" id="{AFA132D3-7842-480E-9E5B-FB391F39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4307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331"/>
                </a:solidFill>
              </a:defRPr>
            </a:pPr>
            <a:r>
              <a:rPr sz="2550" b="1">
                <a:solidFill>
                  <a:srgbClr val="142331"/>
                </a:solidFill>
              </a:rPr>
              <a:t>≤ 2 / нед.</a:t>
            </a:r>
          </a:p>
        </p:txBody>
      </p:sp>
      <p:sp>
        <p:nvSpPr>
          <p:cNvPr id="14" name="value-rate-label">
            <a:extLst xmlns:a="http://schemas.openxmlformats.org/drawingml/2006/main">
              <a:ext uri="{FF2B5EF4-FFF2-40B4-BE49-F238E27FC236}">
                <a16:creationId xmlns:a16="http://schemas.microsoft.com/office/drawing/2014/main" id="{CC87C2AC-9987-4D07-B7BF-DB786CA1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777"/>
                </a:solidFill>
              </a:defRPr>
            </a:pPr>
            <a:r>
              <a:rPr sz="1200">
                <a:solidFill>
                  <a:srgbClr val="586777"/>
                </a:solidFill>
              </a:rPr>
              <a:t>лимит уведомлений на валюту</a:t>
            </a:r>
          </a:p>
        </p:txBody>
      </p:sp>
      <p:sp>
        <p:nvSpPr>
          <p:cNvPr id="15" name="value-body">
            <a:extLst xmlns:a="http://schemas.openxmlformats.org/drawingml/2006/main">
              <a:ext uri="{FF2B5EF4-FFF2-40B4-BE49-F238E27FC236}">
                <a16:creationId xmlns:a16="http://schemas.microsoft.com/office/drawing/2014/main" id="{43887359-478F-4401-AA14-39102232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10877550" cy="2390775"/>
          </a:xfrm>
          <a:prstGeom xmlns:a="http://schemas.openxmlformats.org/drawingml/2006/main" prst="roundRect">
            <a:avLst>
              <a:gd name="adj" fmla="val 478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16" name="value-body-title">
            <a:extLst xmlns:a="http://schemas.openxmlformats.org/drawingml/2006/main">
              <a:ext uri="{FF2B5EF4-FFF2-40B4-BE49-F238E27FC236}">
                <a16:creationId xmlns:a16="http://schemas.microsoft.com/office/drawing/2014/main" id="{01356163-99A3-42C1-88CE-A83EB41B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331"/>
                </a:solidFill>
              </a:defRPr>
            </a:pPr>
            <a:r>
              <a:rPr sz="1800" b="1">
                <a:solidFill>
                  <a:srgbClr val="142331"/>
                </a:solidFill>
              </a:rPr>
              <a:t>Три независимых ответа вместо одного магического прогноза</a:t>
            </a:r>
          </a:p>
        </p:txBody>
      </p:sp>
      <p:sp>
        <p:nvSpPr>
          <p:cNvPr id="17" name="value-body-text">
            <a:extLst xmlns:a="http://schemas.openxmlformats.org/drawingml/2006/main">
              <a:ext uri="{FF2B5EF4-FFF2-40B4-BE49-F238E27FC236}">
                <a16:creationId xmlns:a16="http://schemas.microsoft.com/office/drawing/2014/main" id="{4FC3FCB7-3CDB-491E-8F46-973FB19A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29075"/>
            <a:ext cx="100965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331"/>
                </a:solidFill>
              </a:defRPr>
            </a:pPr>
            <a:r>
              <a:rPr sz="1350">
                <a:solidFill>
                  <a:srgbClr val="142331"/>
                </a:solidFill>
              </a:rPr>
              <a:t>1 · Температура: насколько похожие ситуации были удачными.</a:t>
            </a:r>
          </a:p>
          <a:p xmlns:a="http://schemas.openxmlformats.org/drawingml/2006/main">
            <a:pPr>
              <a:defRPr sz="1350">
                <a:solidFill>
                  <a:srgbClr val="142331"/>
                </a:solidFill>
              </a:defRPr>
            </a:pPr>
            <a:r>
              <a:rPr sz="1350">
                <a:solidFill>
                  <a:srgbClr val="142331"/>
                </a:solidFill>
              </a:rPr>
              <a:t>2 · Ожидаемые б.п.: насколько велико возможное преимущество текущего курса ЦБ.</a:t>
            </a:r>
          </a:p>
          <a:p xmlns:a="http://schemas.openxmlformats.org/drawingml/2006/main">
            <a:pPr>
              <a:defRPr sz="1350">
                <a:solidFill>
                  <a:srgbClr val="142331"/>
                </a:solidFill>
              </a:defRPr>
            </a:pPr>
            <a:r>
              <a:rPr sz="1350">
                <a:solidFill>
                  <a:srgbClr val="142331"/>
                </a:solidFill>
              </a:rPr>
              <a:t>3 · Push: достаточно ли момент сильный и редкий, чтобы отвлечь клиента.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42331"/>
                </a:solidFill>
              </a:defRPr>
            </a:pPr>
            <a:r>
              <a:rPr sz="1350">
                <a:solidFill>
                  <a:srgbClr val="142331"/>
                </a:solidFill>
              </a:rPr>
              <a:t>Сумма к получению должна рассчитываться по исполнимой котировке банка, а не по модельному курсу ЦБ.</a:t>
            </a:r>
          </a:p>
        </p:txBody>
      </p:sp>
    </p:spTree>
    <p:extLst>
      <p:ext uri="{BB962C8B-B14F-4D97-AF65-F5344CB8AC3E}">
        <p14:creationId xmlns:p14="http://schemas.microsoft.com/office/powerpoint/2010/main" val="1024773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D67AF96-0257-414D-9C15-C8333225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68AF360-467D-4279-9AE0-0F515A41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2B19925-076D-445F-A547-A2E03980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Клиентский путь целиком</a:t>
            </a:r>
            <a:endParaRPr sz="2700"/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37acab0704a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" y="1143000"/>
            <a:ext cx="10241280" cy="54406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27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number-badge-3">
            <a:extLst xmlns:a="http://schemas.openxmlformats.org/drawingml/2006/main">
              <a:ext uri="{FF2B5EF4-FFF2-40B4-BE49-F238E27FC236}">
                <a16:creationId xmlns:a16="http://schemas.microsoft.com/office/drawing/2014/main" id="{BD1C8D68-278E-4B13-A5FA-4A8C071C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"/>
            <a:ext cx="438150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50B"/>
          </a:solidFill>
          <a:ln xmlns:a="http://schemas.openxmlformats.org/drawingml/2006/main" w="0">
            <a:solidFill>
              <a:srgbClr val="B5650B"/>
            </a:solidFill>
            <a:prstDash val="solid"/>
          </a:ln>
        </p:spPr>
      </p:sp>
      <p:sp>
        <p:nvSpPr>
          <p:cNvPr id="2" name="number-label-3">
            <a:extLst xmlns:a="http://schemas.openxmlformats.org/drawingml/2006/main">
              <a:ext uri="{FF2B5EF4-FFF2-40B4-BE49-F238E27FC236}">
                <a16:creationId xmlns:a16="http://schemas.microsoft.com/office/drawing/2014/main" id="{04600B81-5115-489B-BECA-5331C4BB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34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4BDAB26F-AE84-49E3-8FB4-CD963CF9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0050"/>
            <a:ext cx="10353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331"/>
                </a:solidFill>
              </a:defRPr>
            </a:pPr>
            <a:r>
              <a:rPr sz="2250" b="1">
                <a:solidFill>
                  <a:srgbClr val="142331"/>
                </a:solidFill>
              </a:rPr>
              <a:t>Один продукт — три модельных выхода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9FCC3530-3AE7-488F-B613-5176DDF3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7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777"/>
                </a:solidFill>
              </a:defRPr>
            </a:pPr>
            <a:r>
              <a:rPr sz="1350">
                <a:solidFill>
                  <a:srgbClr val="586777"/>
                </a:solidFill>
              </a:rPr>
              <a:t>Каждый выход имеет свою честную метрику</a:t>
            </a:r>
          </a:p>
        </p:txBody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0454FC58-FCC2-4DFE-96CD-7194B604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7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777"/>
                </a:solidFill>
              </a:defRPr>
            </a:pPr>
            <a:r>
              <a:rPr sz="825">
                <a:solidFill>
                  <a:srgbClr val="586777"/>
                </a:solidFill>
              </a:rPr>
              <a:t>international_transfers_signals  ·  06.09.2026  ·  3</a:t>
            </a:r>
          </a:p>
        </p:txBody>
      </p:sp>
      <p:graphicFrame>
        <p:nvGraphicFramePr>
          <p:cNvPr id="14" name="output-metrics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108775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572125"/>
                <a:gridCol w="2876550"/>
              </a:tblGrid>
              <a:tr h="6286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Выход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Что отвечает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Как проверяем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1"/>
                          </a:solidFill>
                        </a:rPr>
                        <a:t>Температура 0–100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1"/>
                          </a:solidFill>
                        </a:rPr>
                        <a:t>P(действующий ЦБ не хуже min следующих h публикаций)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1"/>
                          </a:solidFill>
                        </a:rPr>
                        <a:t>Brier ↓ · AUC ↑ · калибровка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1"/>
                          </a:solidFill>
                        </a:rPr>
                        <a:t>Ожидаемая выгода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1"/>
                          </a:solidFill>
                        </a:rPr>
                        <a:t>future-only разница относительно действующего ЦБ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1"/>
                          </a:solidFill>
                        </a:rPr>
                        <a:t>MAE базисных пунктов 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1"/>
                          </a:solidFill>
                        </a:rPr>
                        <a:t>Редкий push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1"/>
                          </a:solidFill>
                        </a:rPr>
                        <a:t>выбор сильных моментов при max2/неделю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1"/>
                          </a:solidFill>
                        </a:rPr>
                        <a:t>adjusted lift ↑ · rate · б.п.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1"/>
                          </a:solidFill>
                        </a:rPr>
                        <a:t>Техническая метрика ТЗ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1"/>
                          </a:solidFill>
                        </a:rPr>
                        <a:t>симметричное окно ±h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1"/>
                          </a:solidFill>
                        </a:rPr>
                        <a:t>считаем отдельно, не смешиваем с продуктом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metric-warning">
            <a:extLst xmlns:a="http://schemas.openxmlformats.org/drawingml/2006/main">
              <a:ext uri="{FF2B5EF4-FFF2-40B4-BE49-F238E27FC236}">
                <a16:creationId xmlns:a16="http://schemas.microsoft.com/office/drawing/2014/main" id="{42058B4C-45DF-46CE-9DCA-AC23E989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0877550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F3E8"/>
          </a:solidFill>
          <a:ln xmlns:a="http://schemas.openxmlformats.org/drawingml/2006/main" w="9525">
            <a:solidFill>
              <a:srgbClr val="E8C69F"/>
            </a:solidFill>
            <a:prstDash val="solid"/>
          </a:ln>
        </p:spPr>
      </p:sp>
      <p:sp>
        <p:nvSpPr>
          <p:cNvPr id="8" name="metric-warning-text">
            <a:extLst xmlns:a="http://schemas.openxmlformats.org/drawingml/2006/main">
              <a:ext uri="{FF2B5EF4-FFF2-40B4-BE49-F238E27FC236}">
                <a16:creationId xmlns:a16="http://schemas.microsoft.com/office/drawing/2014/main" id="{4CFD0E16-5AB9-4367-8754-873BD4FD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11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331"/>
                </a:solidFill>
              </a:defRPr>
            </a:pPr>
            <a:r>
              <a:rPr sz="1425" b="1">
                <a:solidFill>
                  <a:srgbClr val="142331"/>
                </a:solidFill>
              </a:rPr>
              <a:t>Температура 73 означает: примерно 73 из 100 похожих прошлых ситуаций были удачными. Это не 73% прибыли и не гарантия цены сделки.</a:t>
            </a:r>
          </a:p>
        </p:txBody>
      </p:sp>
    </p:spTree>
    <p:extLst>
      <p:ext uri="{BB962C8B-B14F-4D97-AF65-F5344CB8AC3E}">
        <p14:creationId xmlns:p14="http://schemas.microsoft.com/office/powerpoint/2010/main" val="10995614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umber-badge-4">
            <a:extLst xmlns:a="http://schemas.openxmlformats.org/drawingml/2006/main">
              <a:ext uri="{FF2B5EF4-FFF2-40B4-BE49-F238E27FC236}">
                <a16:creationId xmlns:a16="http://schemas.microsoft.com/office/drawing/2014/main" id="{14C391A9-FC05-4EF4-9A75-16D769AA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"/>
            <a:ext cx="438150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50B"/>
          </a:solidFill>
          <a:ln xmlns:a="http://schemas.openxmlformats.org/drawingml/2006/main" w="0">
            <a:solidFill>
              <a:srgbClr val="B5650B"/>
            </a:solidFill>
            <a:prstDash val="solid"/>
          </a:ln>
        </p:spPr>
      </p:sp>
      <p:sp>
        <p:nvSpPr>
          <p:cNvPr id="2" name="number-label-4">
            <a:extLst xmlns:a="http://schemas.openxmlformats.org/drawingml/2006/main">
              <a:ext uri="{FF2B5EF4-FFF2-40B4-BE49-F238E27FC236}">
                <a16:creationId xmlns:a16="http://schemas.microsoft.com/office/drawing/2014/main" id="{7BA59083-B64E-4523-A708-F0194EA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34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DEEF62D3-7039-4BEF-917E-CDA87B12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0050"/>
            <a:ext cx="10353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331"/>
                </a:solidFill>
              </a:defRPr>
            </a:pPr>
            <a:r>
              <a:rPr sz="2250" b="1">
                <a:solidFill>
                  <a:srgbClr val="142331"/>
                </a:solidFill>
              </a:rPr>
              <a:t>Как прогноз работает в течение дня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BB358893-D397-454F-8DD7-2BDC31B1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7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777"/>
                </a:solidFill>
              </a:defRPr>
            </a:pPr>
            <a:r>
              <a:rPr sz="1350">
                <a:solidFill>
                  <a:srgbClr val="586777"/>
                </a:solidFill>
              </a:rPr>
              <a:t>Роутер использует только источник, уже завершившийся к as_of</a:t>
            </a:r>
          </a:p>
        </p:txBody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672987F8-D991-44FB-840F-24C8A5CB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7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777"/>
                </a:solidFill>
              </a:defRPr>
            </a:pPr>
            <a:r>
              <a:rPr sz="825">
                <a:solidFill>
                  <a:srgbClr val="586777"/>
                </a:solidFill>
              </a:rPr>
              <a:t>international_transfers_signals  ·  06.09.2026  ·  4</a:t>
            </a:r>
          </a:p>
        </p:txBody>
      </p:sp>
      <p:graphicFrame>
        <p:nvGraphicFramePr>
          <p:cNvPr id="12" name="phase-router"/>
          <p:cNvGraphicFramePr/>
          <p:nvPr/>
        </p:nvGraphicFramePr>
        <p:xfrm>
          <a:off xmlns:a="http://schemas.openxmlformats.org/drawingml/2006/main" x="647700" y="1400175"/>
          <a:ext xmlns:a="http://schemas.openxmlformats.org/drawingml/2006/main" cx="1087755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1650"/>
                <a:gridCol w="4438650"/>
                <a:gridCol w="4667250"/>
              </a:tblGrid>
              <a:tr h="503767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Москва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Что известно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Что делает система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</a:tr>
              <a:tr h="5037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до 09:00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история ЦБ и календарь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history-only · limited confidence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5037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09:00–10:30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CNYRUBF · первая CNY spot-свеча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сильный ранний market update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37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10:30–15:30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накопленные завершённые spot-prefix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температура уточняется по сессии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5037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15:30–receipt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доступные 16:30/17:30 свечи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bridge без курса ЦБ на завтра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37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после receipt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завтрашний ЦБ уже получен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AP50 probability · AP51 benefit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5037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19:00–20:00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новая spot-свеча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T7B обновляет температуру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37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20:00–23:00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CNYRUBF + USDRUBF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T16 уточняет benefit h3/h5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5037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ночь / выходной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нового источника нет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hold · age · stale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146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92E3708-12E5-463B-806F-F9D03E73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0DCE36-17A2-44DF-B66E-32049ACF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92F8E0-A1A4-497A-ADE6-F3F0F3A6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Пилот: что измеряем, чего не знаем, чего просим</a:t>
            </a:r>
            <a:endParaRPr sz="2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CB70533-A01A-42C1-9F27-98FD7D8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33856"/>
            <a:ext cx="5367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Ветка А · оповещение об уровне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F8F4ED4-F10B-4779-809E-7D2800E3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99616"/>
            <a:ext cx="5367528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sz="120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Прогноза не требует, комплаенс проходит без оговорок</a:t>
            </a:r>
            <a:endParaRPr sz="120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sz="120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Метрика: доля клиентов, заведших уровень, и возвраты по нему</a:t>
            </a:r>
            <a:endParaRPr sz="120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sz="120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Набирается быстро: событие создаёт клиент, а не рынок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43D621-CA6A-413F-8EBA-4EA7CE49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1133856"/>
            <a:ext cx="5367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Ветка Б · сигнал правила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0939466-7057-4DF7-99B8-7E33C4A7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1499616"/>
            <a:ext cx="5367528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sz="120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Идёт против холдаута, отдельной рукой, а не основным продуктом</a:t>
            </a:r>
            <a:endParaRPr sz="120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sz="120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Метрика: инкрементальная конверсия и выгода в рублях на перевод</a:t>
            </a:r>
            <a:endParaRPr sz="120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sz="120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Набирается медленно: выгода — свойство СИГНАЛА, а не клиента. Десять тысяч человек в одном коридоре дают одно наблюдение курса, а не десять тысяч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FD5F83A-6A64-4EBB-858E-E055D838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06624"/>
            <a:ext cx="10881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Что мы говорим честно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38621D4-DB17-4AF4-A6EB-1C7D23D9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72384"/>
            <a:ext cx="10881360" cy="1609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sz="120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Масштаб эффекта — десятки базисных пунктов: 72–189 ₽ на переводе 30 000 ₽. Порог запуска +30 б. п.</a:t>
            </a:r>
            <a:endParaRPr sz="120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sz="120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Рекомендация отличима от случайного дня только в день сигнала: +61 б. п., ДИ [+7; +113]. Дальше интервал накрывает ноль — это «различить не можем», а не «не работает»</a:t>
            </a:r>
            <a:endParaRPr sz="120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sz="120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2021 год отрицателен на всех задержках, коридор KGS слабее остальных: срок жизни должен быть покоридорным</a:t>
            </a:r>
            <a:endParaRPr sz="120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sz="120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Пять коридоров — не пять подтверждений: корреляция внутри даты 0,86. 2022 год даёт 13 % наблюдений и 58 % дисперсии</a:t>
            </a:r>
            <a:endParaRPr sz="120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sz="120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Курс приложения ≠ курс ЦБ. Доля клиентов, способных отложить перевод, неизвестна до пилота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990EC99-D736-4B65-BAE6-E90D55CC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46320"/>
            <a:ext cx="10881360" cy="1316736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A253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EF7EA8F-A3D1-491A-B47C-896895A2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912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Чего просим у заказчика</a:t>
            </a:r>
            <a:endParaRPr sz="15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D3DD614-9635-495A-B7A3-6FB5FEDC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3248"/>
            <a:ext cx="1033272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Первое: доступ к курсу исполнения приложения — весь сигнал считается по ряду ЦБ, и разрыв между ними не измерен. Второе: сегмент клиентов, способных отложить перевод, — если гибких десять процентов, пилот на всей базе покажет ноль из-за разбавления при полностью работающем продукте. Третье: ответ, фиксируется ли сумма к отправке или к получению, — от этого меняется знак влияния на выручку банка.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1995288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A2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A94B45C-F51C-46D7-A3AA-F7A5736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9C5B12"/>
                </a:solidFill>
                <a:latin typeface="Calibri"/>
                <a:ea typeface="Calibri"/>
                <a:cs typeface="Calibri"/>
              </a:rPr>
              <a:t>ПРИЛОЖЕНИЕ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C601EB-5DE1-45E3-BB6F-E2D4CEB7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40280"/>
            <a:ext cx="10881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600"/>
              </a:lnSpc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Материал для вопросов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E0BDFE5-715A-4C24-92C7-AEC69EF3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Дальше — то, что не влезло в пять слайдов: доказательство честности признаков, полные результаты моделей, макеты интерфейса и разбор текстов. Основная часть закончена.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644629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number-badge-5">
            <a:extLst xmlns:a="http://schemas.openxmlformats.org/drawingml/2006/main">
              <a:ext uri="{FF2B5EF4-FFF2-40B4-BE49-F238E27FC236}">
                <a16:creationId xmlns:a16="http://schemas.microsoft.com/office/drawing/2014/main" id="{DA7A9709-D3DB-492A-9DD3-D85261A4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"/>
            <a:ext cx="438150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50B"/>
          </a:solidFill>
          <a:ln xmlns:a="http://schemas.openxmlformats.org/drawingml/2006/main" w="0">
            <a:solidFill>
              <a:srgbClr val="B5650B"/>
            </a:solidFill>
            <a:prstDash val="solid"/>
          </a:ln>
        </p:spPr>
      </p:sp>
      <p:sp>
        <p:nvSpPr>
          <p:cNvPr id="2" name="number-label-5">
            <a:extLst xmlns:a="http://schemas.openxmlformats.org/drawingml/2006/main">
              <a:ext uri="{FF2B5EF4-FFF2-40B4-BE49-F238E27FC236}">
                <a16:creationId xmlns:a16="http://schemas.microsoft.com/office/drawing/2014/main" id="{8F9F5DCE-4EBA-4457-AD88-66598C64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34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8F5FA7A4-9FCC-4461-B376-7420CEBF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0050"/>
            <a:ext cx="10353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331"/>
                </a:solidFill>
              </a:defRPr>
            </a:pPr>
            <a:r>
              <a:rPr sz="2250" b="1">
                <a:solidFill>
                  <a:srgbClr val="142331"/>
                </a:solidFill>
              </a:rPr>
              <a:t>Подглядывания в будущее нет — это проверяется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25F30A53-A774-46E6-8DBF-858F4DB7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7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777"/>
                </a:solidFill>
              </a:defRPr>
            </a:pPr>
            <a:r>
              <a:rPr sz="1350">
                <a:solidFill>
                  <a:srgbClr val="586777"/>
                </a:solidFill>
              </a:rPr>
              <a:t>Прогноз воспроизводится только из информационного мира момента as_of</a:t>
            </a:r>
          </a:p>
        </p:txBody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8AE6A2B1-A671-487D-89E8-2FA1BF67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7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777"/>
                </a:solidFill>
              </a:defRPr>
            </a:pPr>
            <a:r>
              <a:rPr sz="825">
                <a:solidFill>
                  <a:srgbClr val="586777"/>
                </a:solidFill>
              </a:rPr>
              <a:t>international_transfers_signals  ·  06.09.2026  ·  5</a:t>
            </a:r>
          </a:p>
        </p:txBody>
      </p:sp>
      <p:graphicFrame>
        <p:nvGraphicFramePr>
          <p:cNvPr id="14" name="causal-controls"/>
          <p:cNvGraphicFramePr/>
          <p:nvPr/>
        </p:nvGraphicFramePr>
        <p:xfrm>
          <a:off xmlns:a="http://schemas.openxmlformats.org/drawingml/2006/main" x="647700" y="1514475"/>
          <a:ext xmlns:a="http://schemas.openxmlformats.org/drawingml/2006/main" cx="1087755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781550"/>
                <a:gridCol w="3381375"/>
              </a:tblGrid>
              <a:tr h="57467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Защита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Что запрещает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Проверка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mature-only train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обучаться на ещё не созревшем будущем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дата метки должна быть известна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embargo 2 дня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подтягивать соседнее будущее через границу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жёсткий временной зазор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source_at ≤ as_of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читать незавершённую или будущую свечу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provenance в каждом ответе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future-prefix corruption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скрыто зависеть от будущих строк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прошлые ответы обязаны совпасть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frozen screen rules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переобучать выбор на test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screen-2024 отдельно от opened-2025–2026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</a:tbl>
          </a:graphicData>
        </a:graphic>
      </p:graphicFrame>
      <p:sp>
        <p:nvSpPr>
          <p:cNvPr id="7" name="causal-note">
            <a:extLst xmlns:a="http://schemas.openxmlformats.org/drawingml/2006/main">
              <a:ext uri="{FF2B5EF4-FFF2-40B4-BE49-F238E27FC236}">
                <a16:creationId xmlns:a16="http://schemas.microsoft.com/office/drawing/2014/main" id="{8C7B65C2-B4F6-4567-BF93-EC0F35FF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08775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B7DCCD"/>
            </a:solidFill>
            <a:prstDash val="solid"/>
          </a:ln>
        </p:spPr>
      </p:sp>
      <p:sp>
        <p:nvSpPr>
          <p:cNvPr id="8" name="causal-note-text">
            <a:extLst xmlns:a="http://schemas.openxmlformats.org/drawingml/2006/main">
              <a:ext uri="{FF2B5EF4-FFF2-40B4-BE49-F238E27FC236}">
                <a16:creationId xmlns:a16="http://schemas.microsoft.com/office/drawing/2014/main" id="{C0C4107B-3058-4B49-88DF-8A51A1EE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6B55"/>
                </a:solidFill>
              </a:defRPr>
            </a:pPr>
            <a:r>
              <a:rPr sz="1350" b="1">
                <a:solidFill>
                  <a:srgbClr val="136B55"/>
                </a:solidFill>
              </a:rPr>
              <a:t>Более свежий источник не подключается автоматически: новая голова обязана заранее пройти ворота качества. Иначе роутер оставляет сильный контроль.</a:t>
            </a:r>
          </a:p>
        </p:txBody>
      </p:sp>
    </p:spTree>
    <p:extLst>
      <p:ext uri="{BB962C8B-B14F-4D97-AF65-F5344CB8AC3E}">
        <p14:creationId xmlns:p14="http://schemas.microsoft.com/office/powerpoint/2010/main" val="12675785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number-badge-6">
            <a:extLst xmlns:a="http://schemas.openxmlformats.org/drawingml/2006/main">
              <a:ext uri="{FF2B5EF4-FFF2-40B4-BE49-F238E27FC236}">
                <a16:creationId xmlns:a16="http://schemas.microsoft.com/office/drawing/2014/main" id="{C9FDA89F-049C-46F4-9C4A-408D1141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"/>
            <a:ext cx="438150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50B"/>
          </a:solidFill>
          <a:ln xmlns:a="http://schemas.openxmlformats.org/drawingml/2006/main" w="0">
            <a:solidFill>
              <a:srgbClr val="B5650B"/>
            </a:solidFill>
            <a:prstDash val="solid"/>
          </a:ln>
        </p:spPr>
      </p:sp>
      <p:sp>
        <p:nvSpPr>
          <p:cNvPr id="2" name="number-label-6">
            <a:extLst xmlns:a="http://schemas.openxmlformats.org/drawingml/2006/main">
              <a:ext uri="{FF2B5EF4-FFF2-40B4-BE49-F238E27FC236}">
                <a16:creationId xmlns:a16="http://schemas.microsoft.com/office/drawing/2014/main" id="{1A67882D-2E06-4FFC-B898-A50C2CE7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34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C417E5A1-B3A4-422A-BD2A-EF78ABBF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0050"/>
            <a:ext cx="10353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331"/>
                </a:solidFill>
              </a:defRPr>
            </a:pPr>
            <a:r>
              <a:rPr sz="2250" b="1">
                <a:solidFill>
                  <a:srgbClr val="142331"/>
                </a:solidFill>
              </a:rPr>
              <a:t>Температура: рынок сильнее всего помогает к 15:30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D97165B2-25E1-4998-8163-5E567A9F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7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777"/>
                </a:solidFill>
              </a:defRPr>
            </a:pPr>
            <a:r>
              <a:rPr sz="1350">
                <a:solidFill>
                  <a:srgbClr val="586777"/>
                </a:solidFill>
              </a:rPr>
              <a:t>Открытая диагностика 2025–2026; AUC выше, Brier ниже — лучше</a:t>
            </a:r>
          </a:p>
        </p:txBody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E42F73E3-9248-43F4-ADCE-B84FF2D4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7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777"/>
                </a:solidFill>
              </a:defRPr>
            </a:pPr>
            <a:r>
              <a:rPr sz="825">
                <a:solidFill>
                  <a:srgbClr val="586777"/>
                </a:solidFill>
              </a:rPr>
              <a:t>international_transfers_signals  ·  06.09.2026  ·  6</a:t>
            </a:r>
          </a:p>
        </p:txBody>
      </p:sp>
      <p:graphicFrame>
        <p:nvGraphicFramePr>
          <p:cNvPr id="13" name="probability-results"/>
          <p:cNvGraphicFramePr/>
          <p:nvPr/>
        </p:nvGraphicFramePr>
        <p:xfrm>
          <a:off xmlns:a="http://schemas.openxmlformats.org/drawingml/2006/main" x="647700" y="1466850"/>
          <a:ext xmlns:a="http://schemas.openxmlformats.org/drawingml/2006/main" cx="1087755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38450"/>
                <a:gridCol w="2133600"/>
                <a:gridCol w="2524125"/>
                <a:gridCol w="3381375"/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Фаза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Brier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Комментарий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premarket h1/h3/h5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0,594 / 0,604 / 0,596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осторожный history-only fallback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09:00 perpetual h1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0,753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0,2024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контроль: 0,587 / 0,2450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09:00 perpetual h3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0,734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0,1898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контроль: 0,586 / 0,2173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10:30 · mean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0,757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0,1562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рынок уже хорошо различает дни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15:30 · mean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0,785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0,1477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лучший pre-publication срез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19:00 T7B · mean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0,716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0,1492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небольшой плюс вечернего spot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after-publication h3/h5/h10/h20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0,165 / 0,163 / 0,164 / 0,133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новый ЦБ уже известен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</a:tbl>
          </a:graphicData>
        </a:graphic>
      </p:graphicFrame>
      <p:sp>
        <p:nvSpPr>
          <p:cNvPr id="7" name="probability-foot">
            <a:extLst xmlns:a="http://schemas.openxmlformats.org/drawingml/2006/main">
              <a:ext uri="{FF2B5EF4-FFF2-40B4-BE49-F238E27FC236}">
                <a16:creationId xmlns:a16="http://schemas.microsoft.com/office/drawing/2014/main" id="{BADE9A97-68F8-4546-A2DE-08FF47B0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87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33C33"/>
                </a:solidFill>
              </a:defRPr>
            </a:pPr>
            <a:r>
              <a:rPr sz="1350" b="1">
                <a:solidFill>
                  <a:srgbClr val="A33C33"/>
                </a:solidFill>
              </a:rPr>
              <a:t>После 20:00 новые probability-кандидаты не прошли screen-ворота, поэтому температура честно остаётся на T7B.</a:t>
            </a:r>
          </a:p>
        </p:txBody>
      </p:sp>
    </p:spTree>
    <p:extLst>
      <p:ext uri="{BB962C8B-B14F-4D97-AF65-F5344CB8AC3E}">
        <p14:creationId xmlns:p14="http://schemas.microsoft.com/office/powerpoint/2010/main" val="14305657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number-badge-7">
            <a:extLst xmlns:a="http://schemas.openxmlformats.org/drawingml/2006/main">
              <a:ext uri="{FF2B5EF4-FFF2-40B4-BE49-F238E27FC236}">
                <a16:creationId xmlns:a16="http://schemas.microsoft.com/office/drawing/2014/main" id="{2B1A4959-3AD4-4C09-ADD9-BCE70619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"/>
            <a:ext cx="438150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50B"/>
          </a:solidFill>
          <a:ln xmlns:a="http://schemas.openxmlformats.org/drawingml/2006/main" w="0">
            <a:solidFill>
              <a:srgbClr val="B5650B"/>
            </a:solidFill>
            <a:prstDash val="solid"/>
          </a:ln>
        </p:spPr>
      </p:sp>
      <p:sp>
        <p:nvSpPr>
          <p:cNvPr id="2" name="number-label-7">
            <a:extLst xmlns:a="http://schemas.openxmlformats.org/drawingml/2006/main">
              <a:ext uri="{FF2B5EF4-FFF2-40B4-BE49-F238E27FC236}">
                <a16:creationId xmlns:a16="http://schemas.microsoft.com/office/drawing/2014/main" id="{DE11F5A1-5477-4975-A75E-96CE5FC0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34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04D01896-A29A-44B0-B6C9-201E84BF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0050"/>
            <a:ext cx="10353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331"/>
                </a:solidFill>
              </a:defRPr>
            </a:pPr>
            <a:r>
              <a:rPr sz="2250" b="1">
                <a:solidFill>
                  <a:srgbClr val="142331"/>
                </a:solidFill>
              </a:rPr>
              <a:t>Ожидаемая выгода и push решают разные задачи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E35DA62A-F357-4FDD-B7A8-ABBF240A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7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777"/>
                </a:solidFill>
              </a:defRPr>
            </a:pPr>
            <a:r>
              <a:rPr sz="1350">
                <a:solidFill>
                  <a:srgbClr val="586777"/>
                </a:solidFill>
              </a:rPr>
              <a:t>Вечер уточняет размер эффекта; AP37 выбирает редкие моменты</a:t>
            </a:r>
          </a:p>
        </p:txBody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E96F4654-8FFB-4905-9D9A-C9A790B6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7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777"/>
                </a:solidFill>
              </a:defRPr>
            </a:pPr>
            <a:r>
              <a:rPr sz="825">
                <a:solidFill>
                  <a:srgbClr val="586777"/>
                </a:solidFill>
              </a:rPr>
              <a:t>international_transfers_signals  ·  06.09.2026  ·  7</a:t>
            </a:r>
          </a:p>
        </p:txBody>
      </p:sp>
      <p:graphicFrame>
        <p:nvGraphicFramePr>
          <p:cNvPr id="21" name="benefit-push"/>
          <p:cNvGraphicFramePr/>
          <p:nvPr/>
        </p:nvGraphicFramePr>
        <p:xfrm>
          <a:off xmlns:a="http://schemas.openxmlformats.org/drawingml/2006/main" x="647700" y="1438275"/>
          <a:ext xmlns:a="http://schemas.openxmlformats.org/drawingml/2006/main" cx="1087755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3429000"/>
                <a:gridCol w="2600325"/>
                <a:gridCol w="2143125"/>
              </a:tblGrid>
              <a:tr h="67437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Контур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Контроль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Вывод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15:30 benefit h1/h3/h5/h10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54,50 / 81,13 / 98,13 / 126,06 MAE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61,71 / 87,70 / 102,65 / 131,77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выигрыш 5–15 б.п.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23:00 T15 benefit h3/h5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53,14 / 80,85 MAE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58,08 / 87,88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dual Ridge принят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AP37 push h3/h5/h10/h20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lift 2,429 / 2,509 / 2,479 / 2,525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случайная частота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max2/неделю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AP37 h5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695 решений · 133,73 future-only б.п.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42331"/>
                          </a:solidFill>
                        </a:rPr>
                        <a:t>≈ 1 сигнал/неделю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ush-lift-box">
            <a:extLst xmlns:a="http://schemas.openxmlformats.org/drawingml/2006/main">
              <a:ext uri="{FF2B5EF4-FFF2-40B4-BE49-F238E27FC236}">
                <a16:creationId xmlns:a16="http://schemas.microsoft.com/office/drawing/2014/main" id="{BAA1B29C-FF65-4193-B9A9-F1A3A48A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3333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8" name="push-lift-value">
            <a:extLst xmlns:a="http://schemas.openxmlformats.org/drawingml/2006/main">
              <a:ext uri="{FF2B5EF4-FFF2-40B4-BE49-F238E27FC236}">
                <a16:creationId xmlns:a16="http://schemas.microsoft.com/office/drawing/2014/main" id="{6AC1E983-13E2-4EFD-B8BF-069F47C2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0175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5650B"/>
                </a:solidFill>
              </a:defRPr>
            </a:pPr>
            <a:r>
              <a:rPr sz="2550" b="1">
                <a:solidFill>
                  <a:srgbClr val="B5650B"/>
                </a:solidFill>
              </a:rPr>
              <a:t>2,525</a:t>
            </a:r>
          </a:p>
        </p:txBody>
      </p:sp>
      <p:sp>
        <p:nvSpPr>
          <p:cNvPr id="9" name="push-lift-label">
            <a:extLst xmlns:a="http://schemas.openxmlformats.org/drawingml/2006/main">
              <a:ext uri="{FF2B5EF4-FFF2-40B4-BE49-F238E27FC236}">
                <a16:creationId xmlns:a16="http://schemas.microsoft.com/office/drawing/2014/main" id="{89F25F8A-CFA8-4E3B-AA2B-AE3402D5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777"/>
                </a:solidFill>
              </a:defRPr>
            </a:pPr>
            <a:r>
              <a:rPr sz="1200">
                <a:solidFill>
                  <a:srgbClr val="586777"/>
                </a:solidFill>
              </a:rPr>
              <a:t>лучший adjusted lift: h20</a:t>
            </a:r>
          </a:p>
        </p:txBody>
      </p:sp>
      <p:sp>
        <p:nvSpPr>
          <p:cNvPr id="10" name="benefit-mae-box">
            <a:extLst xmlns:a="http://schemas.openxmlformats.org/drawingml/2006/main">
              <a:ext uri="{FF2B5EF4-FFF2-40B4-BE49-F238E27FC236}">
                <a16:creationId xmlns:a16="http://schemas.microsoft.com/office/drawing/2014/main" id="{88DAB32D-992F-4EA5-9FC8-E25D2725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3333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11" name="benefit-mae-value">
            <a:extLst xmlns:a="http://schemas.openxmlformats.org/drawingml/2006/main">
              <a:ext uri="{FF2B5EF4-FFF2-40B4-BE49-F238E27FC236}">
                <a16:creationId xmlns:a16="http://schemas.microsoft.com/office/drawing/2014/main" id="{4EDDCDB6-3C67-45EE-839D-5E07FBB9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210175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6B55"/>
                </a:solidFill>
              </a:defRPr>
            </a:pPr>
            <a:r>
              <a:rPr sz="2550" b="1">
                <a:solidFill>
                  <a:srgbClr val="136B55"/>
                </a:solidFill>
              </a:rPr>
              <a:t>80,85</a:t>
            </a:r>
          </a:p>
        </p:txBody>
      </p:sp>
      <p:sp>
        <p:nvSpPr>
          <p:cNvPr id="12" name="benefit-mae-label">
            <a:extLst xmlns:a="http://schemas.openxmlformats.org/drawingml/2006/main">
              <a:ext uri="{FF2B5EF4-FFF2-40B4-BE49-F238E27FC236}">
                <a16:creationId xmlns:a16="http://schemas.microsoft.com/office/drawing/2014/main" id="{D6EF9DBD-3502-4077-94AE-2AD3943B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7531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777"/>
                </a:solidFill>
              </a:defRPr>
            </a:pPr>
            <a:r>
              <a:rPr sz="1200">
                <a:solidFill>
                  <a:srgbClr val="586777"/>
                </a:solidFill>
              </a:rPr>
              <a:t>MAE T15 в 23:00 · h5</a:t>
            </a:r>
          </a:p>
        </p:txBody>
      </p:sp>
      <p:sp>
        <p:nvSpPr>
          <p:cNvPr id="13" name="snapshot-count-box">
            <a:extLst xmlns:a="http://schemas.openxmlformats.org/drawingml/2006/main">
              <a:ext uri="{FF2B5EF4-FFF2-40B4-BE49-F238E27FC236}">
                <a16:creationId xmlns:a16="http://schemas.microsoft.com/office/drawing/2014/main" id="{DE88C0F7-CF4C-47AA-92D2-42E3CF81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48250"/>
            <a:ext cx="33147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14" name="snapshot-count-value">
            <a:extLst xmlns:a="http://schemas.openxmlformats.org/drawingml/2006/main">
              <a:ext uri="{FF2B5EF4-FFF2-40B4-BE49-F238E27FC236}">
                <a16:creationId xmlns:a16="http://schemas.microsoft.com/office/drawing/2014/main" id="{6199BF77-0FB7-4205-ACCF-933A5C43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017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331"/>
                </a:solidFill>
              </a:defRPr>
            </a:pPr>
            <a:r>
              <a:rPr sz="2550" b="1">
                <a:solidFill>
                  <a:srgbClr val="142331"/>
                </a:solidFill>
              </a:rPr>
              <a:t>60 370</a:t>
            </a:r>
          </a:p>
        </p:txBody>
      </p:sp>
      <p:sp>
        <p:nvSpPr>
          <p:cNvPr id="15" name="snapshot-count-label">
            <a:extLst xmlns:a="http://schemas.openxmlformats.org/drawingml/2006/main">
              <a:ext uri="{FF2B5EF4-FFF2-40B4-BE49-F238E27FC236}">
                <a16:creationId xmlns:a16="http://schemas.microsoft.com/office/drawing/2014/main" id="{4344C948-1332-4E5B-9457-CDD388A4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5310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777"/>
                </a:solidFill>
              </a:defRPr>
            </a:pPr>
            <a:r>
              <a:rPr sz="1200">
                <a:solidFill>
                  <a:srgbClr val="586777"/>
                </a:solidFill>
              </a:rPr>
              <a:t>итоговых any-time снимков</a:t>
            </a:r>
          </a:p>
        </p:txBody>
      </p:sp>
    </p:spTree>
    <p:extLst>
      <p:ext uri="{BB962C8B-B14F-4D97-AF65-F5344CB8AC3E}">
        <p14:creationId xmlns:p14="http://schemas.microsoft.com/office/powerpoint/2010/main" val="20762398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number-badge-8">
            <a:extLst xmlns:a="http://schemas.openxmlformats.org/drawingml/2006/main">
              <a:ext uri="{FF2B5EF4-FFF2-40B4-BE49-F238E27FC236}">
                <a16:creationId xmlns:a16="http://schemas.microsoft.com/office/drawing/2014/main" id="{8F11FE56-BB93-49DD-97FB-BB4277A9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"/>
            <a:ext cx="438150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50B"/>
          </a:solidFill>
          <a:ln xmlns:a="http://schemas.openxmlformats.org/drawingml/2006/main" w="0">
            <a:solidFill>
              <a:srgbClr val="B5650B"/>
            </a:solidFill>
            <a:prstDash val="solid"/>
          </a:ln>
        </p:spPr>
      </p:sp>
      <p:sp>
        <p:nvSpPr>
          <p:cNvPr id="2" name="number-label-8">
            <a:extLst xmlns:a="http://schemas.openxmlformats.org/drawingml/2006/main">
              <a:ext uri="{FF2B5EF4-FFF2-40B4-BE49-F238E27FC236}">
                <a16:creationId xmlns:a16="http://schemas.microsoft.com/office/drawing/2014/main" id="{24C8C20D-BBE8-4083-BFAC-F3D106B6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34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97C9D265-A538-4942-B070-D2200185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0050"/>
            <a:ext cx="10353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331"/>
                </a:solidFill>
              </a:defRPr>
            </a:pPr>
            <a:r>
              <a:rPr sz="2250" b="1">
                <a:solidFill>
                  <a:srgbClr val="142331"/>
                </a:solidFill>
              </a:rPr>
              <a:t>T15 → T16: вечером обновляем только доказанную часть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2DB47B70-25EA-4B1E-9441-2E56A484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7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777"/>
                </a:solidFill>
              </a:defRPr>
            </a:pPr>
            <a:r>
              <a:rPr sz="1350">
                <a:solidFill>
                  <a:srgbClr val="586777"/>
                </a:solidFill>
              </a:rPr>
              <a:t>Probability и magnitude могут иметь разные источники и время</a:t>
            </a:r>
          </a:p>
        </p:txBody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ABCE90D5-A76B-4502-8C9E-8D6E3E71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7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777"/>
                </a:solidFill>
              </a:defRPr>
            </a:pPr>
            <a:r>
              <a:rPr sz="825">
                <a:solidFill>
                  <a:srgbClr val="586777"/>
                </a:solidFill>
              </a:rPr>
              <a:t>international_transfers_signals  ·  06.09.2026  ·  8</a:t>
            </a:r>
          </a:p>
        </p:txBody>
      </p:sp>
      <p:graphicFrame>
        <p:nvGraphicFramePr>
          <p:cNvPr id="14" name="evening-router"/>
          <p:cNvGraphicFramePr/>
          <p:nvPr/>
        </p:nvGraphicFramePr>
        <p:xfrm>
          <a:off xmlns:a="http://schemas.openxmlformats.org/drawingml/2006/main" x="647700" y="1476375"/>
          <a:ext xmlns:a="http://schemas.openxmlformats.org/drawingml/2006/main" cx="1087755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86100"/>
                <a:gridCol w="4781550"/>
                <a:gridCol w="3009900"/>
              </a:tblGrid>
              <a:tr h="5461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Проверка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Решение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CNYRUBF + USDRUBF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100% coverage в 2024, 2025, 2026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можно честно проверять 20/21/22/23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Probability после 20:00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logit, dual logit и HGB не прошли оба CI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оставить T7B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Benefit после 20:00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dual Ridge улучшил 7 комбинаций h3/h5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обновлять expected bps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h1 и длинные горизонты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h1 уже известен; h10/h20 без выигрыша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точный h1, контроль h10/h20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Push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все AP37 решения совпали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уведомления не менять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</a:tbl>
          </a:graphicData>
        </a:graphic>
      </p:graphicFrame>
      <p:sp>
        <p:nvSpPr>
          <p:cNvPr id="7" name="provenance-box">
            <a:extLst xmlns:a="http://schemas.openxmlformats.org/drawingml/2006/main">
              <a:ext uri="{FF2B5EF4-FFF2-40B4-BE49-F238E27FC236}">
                <a16:creationId xmlns:a16="http://schemas.microsoft.com/office/drawing/2014/main" id="{4C37AAD2-3308-4550-8400-7DEA891D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10877550" cy="962025"/>
          </a:xfrm>
          <a:prstGeom xmlns:a="http://schemas.openxmlformats.org/drawingml/2006/main" prst="roundRect">
            <a:avLst>
              <a:gd name="adj" fmla="val 9901"/>
            </a:avLst>
          </a:prstGeom>
          <a:solidFill xmlns:a="http://schemas.openxmlformats.org/drawingml/2006/main">
            <a:srgbClr val="FCF3E8"/>
          </a:solidFill>
          <a:ln xmlns:a="http://schemas.openxmlformats.org/drawingml/2006/main" w="9525">
            <a:solidFill>
              <a:srgbClr val="E8C69F"/>
            </a:solidFill>
            <a:prstDash val="solid"/>
          </a:ln>
        </p:spPr>
      </p:sp>
      <p:sp>
        <p:nvSpPr>
          <p:cNvPr id="8" name="provenance-text">
            <a:extLst xmlns:a="http://schemas.openxmlformats.org/drawingml/2006/main">
              <a:ext uri="{FF2B5EF4-FFF2-40B4-BE49-F238E27FC236}">
                <a16:creationId xmlns:a16="http://schemas.microsoft.com/office/drawing/2014/main" id="{2798F5ED-19C4-4679-8F6A-29CD99ED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331"/>
                </a:solidFill>
              </a:defRPr>
            </a:pPr>
            <a:r>
              <a:rPr sz="1425" b="1">
                <a:solidFill>
                  <a:srgbClr val="142331"/>
                </a:solidFill>
              </a:rPr>
              <a:t>Пример 21:15: температура может быть от spot 20:00, а expected bps — от perpetual 20:59:59. Интерфейс показывает оба timestamp, возраст и freshness.</a:t>
            </a:r>
          </a:p>
        </p:txBody>
      </p:sp>
    </p:spTree>
    <p:extLst>
      <p:ext uri="{BB962C8B-B14F-4D97-AF65-F5344CB8AC3E}">
        <p14:creationId xmlns:p14="http://schemas.microsoft.com/office/powerpoint/2010/main" val="6323300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9C12742-9F4C-4BFD-922C-D7C4DE6E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A88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E3A665-D636-44BD-BEC1-DCB903CC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П5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36E67DB-EE8C-48A3-84EA-F10C7F29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Интерфейс: семь экранов существующего флоу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A7253BA-7F3E-400E-9488-71E9211E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Новых шагов не добавляется ни одного. Виджет встаёт на экран суммы, где решение и принимается, и показывает сумму в валюте получателя, а не курс. Экран 03 — тот же пуш, переписанный следующей публикацией; экран 05 — что видит клиент, открывший пуш через день.</a:t>
            </a:r>
            <a:endParaRPr sz="125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f3670c5564a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755648"/>
            <a:ext cx="10881360" cy="324612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DEFF333-DD54-4CF5-9286-7FCB564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Данные на макетах вымышленные: имена, номера телефонов, остатки и последние цифры карт не принадлежат никому.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8517836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number-badge-9">
            <a:extLst xmlns:a="http://schemas.openxmlformats.org/drawingml/2006/main">
              <a:ext uri="{FF2B5EF4-FFF2-40B4-BE49-F238E27FC236}">
                <a16:creationId xmlns:a16="http://schemas.microsoft.com/office/drawing/2014/main" id="{F553B965-3E49-44AF-8088-433FBE40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"/>
            <a:ext cx="438150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50B"/>
          </a:solidFill>
          <a:ln xmlns:a="http://schemas.openxmlformats.org/drawingml/2006/main" w="0">
            <a:solidFill>
              <a:srgbClr val="B5650B"/>
            </a:solidFill>
            <a:prstDash val="solid"/>
          </a:ln>
        </p:spPr>
      </p:sp>
      <p:sp>
        <p:nvSpPr>
          <p:cNvPr id="2" name="number-label-9">
            <a:extLst xmlns:a="http://schemas.openxmlformats.org/drawingml/2006/main">
              <a:ext uri="{FF2B5EF4-FFF2-40B4-BE49-F238E27FC236}">
                <a16:creationId xmlns:a16="http://schemas.microsoft.com/office/drawing/2014/main" id="{EBF4EC5F-228F-4BDD-88D3-D7E42E6F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34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E2E3CD4F-136F-42E4-A58A-C409D224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0050"/>
            <a:ext cx="10353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331"/>
                </a:solidFill>
              </a:defRPr>
            </a:pPr>
            <a:r>
              <a:rPr sz="2250" b="1">
                <a:solidFill>
                  <a:srgbClr val="142331"/>
                </a:solidFill>
              </a:rPr>
              <a:t>Push: коротко, честно и только в сильный момент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FDCFCFD6-163C-497D-98F7-4C08AB54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7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777"/>
                </a:solidFill>
              </a:defRPr>
            </a:pPr>
            <a:r>
              <a:rPr sz="1350">
                <a:solidFill>
                  <a:srgbClr val="586777"/>
                </a:solidFill>
              </a:rPr>
              <a:t>Текст объясняет факт; AP37 отдельно решает, стоит ли отвлекать клиента</a:t>
            </a:r>
          </a:p>
        </p:txBody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018B2F63-0C2C-41EE-8AC5-43B61930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7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777"/>
                </a:solidFill>
              </a:defRPr>
            </a:pPr>
            <a:r>
              <a:rPr sz="825">
                <a:solidFill>
                  <a:srgbClr val="586777"/>
                </a:solidFill>
              </a:rPr>
              <a:t>international_transfers_signals  ·  06.09.2026  ·  9</a:t>
            </a:r>
          </a:p>
        </p:txBody>
      </p:sp>
      <p:graphicFrame>
        <p:nvGraphicFramePr>
          <p:cNvPr id="15" name="push-copy"/>
          <p:cNvGraphicFramePr/>
          <p:nvPr/>
        </p:nvGraphicFramePr>
        <p:xfrm>
          <a:off xmlns:a="http://schemas.openxmlformats.org/drawingml/2006/main" x="647700" y="1466850"/>
          <a:ext xmlns:a="http://schemas.openxmlformats.org/drawingml/2006/main" cx="108775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52700"/>
                <a:gridCol w="5334000"/>
                <a:gridCol w="2990850"/>
              </a:tblGrid>
              <a:tr h="6286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Ситуация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Пример текста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Почему честно</a:t>
                      </a:r>
                    </a:p>
                  </a:txBody>
                  <a:tcPr marL="91440" marR="91440" marT="45720" marB="45720">
                    <a:solidFill>
                      <a:srgbClr val="14233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Сильный момент h5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Сейчас курс выглядит сильнее обычного. Если перевод планировался — проверьте сумму.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нет обещания будущей цены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Клиент открыл позже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Оценка обновлена в 20:00. Сейчас температура 73 из 100, источник свежий.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видны время и freshness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Данные устарели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Рынок закрыт. Показываем последнюю оценку, ей 9 часов.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hold не маскируется под live</a:t>
                      </a:r>
                    </a:p>
                  </a:txBody>
                  <a:tcPr marL="91440" marR="91440" marT="45720" marB="45720">
                    <a:solidFill>
                      <a:srgbClr val="EFF2F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Фиксированная дата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Если перевод обязателен сегодня, сравните сумму и комиссию банка.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331"/>
                          </a:solidFill>
                        </a:rPr>
                        <a:t>модель не советует нарушать срок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ush-rule">
            <a:extLst xmlns:a="http://schemas.openxmlformats.org/drawingml/2006/main">
              <a:ext uri="{FF2B5EF4-FFF2-40B4-BE49-F238E27FC236}">
                <a16:creationId xmlns:a16="http://schemas.microsoft.com/office/drawing/2014/main" id="{4C3848FC-AFBA-41F2-82D3-4F30BE62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108775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142331"/>
          </a:solidFill>
          <a:ln xmlns:a="http://schemas.openxmlformats.org/drawingml/2006/main" w="9525">
            <a:solidFill>
              <a:srgbClr val="142331"/>
            </a:solidFill>
            <a:prstDash val="solid"/>
          </a:ln>
        </p:spPr>
      </p:sp>
      <p:sp>
        <p:nvSpPr>
          <p:cNvPr id="8" name="push-rule-title">
            <a:extLst xmlns:a="http://schemas.openxmlformats.org/drawingml/2006/main">
              <a:ext uri="{FF2B5EF4-FFF2-40B4-BE49-F238E27FC236}">
                <a16:creationId xmlns:a16="http://schemas.microsoft.com/office/drawing/2014/main" id="{88CB5083-A33E-4AD4-9200-F780CFD1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5650B"/>
                </a:solidFill>
              </a:defRPr>
            </a:pPr>
            <a:r>
              <a:rPr sz="1650" b="1">
                <a:solidFill>
                  <a:srgbClr val="B5650B"/>
                </a:solidFill>
              </a:rPr>
              <a:t>Правило отправки</a:t>
            </a:r>
          </a:p>
        </p:txBody>
      </p:sp>
      <p:sp>
        <p:nvSpPr>
          <p:cNvPr id="9" name="push-rule-body">
            <a:extLst xmlns:a="http://schemas.openxmlformats.org/drawingml/2006/main">
              <a:ext uri="{FF2B5EF4-FFF2-40B4-BE49-F238E27FC236}">
                <a16:creationId xmlns:a16="http://schemas.microsoft.com/office/drawing/2014/main" id="{93A7079A-2B77-4FE3-AF66-83503A29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32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Высокая температура не равна push. Нужны сильный AP37 rank, cooldown и лимит max2 на валюту в ISO-неделю.</a:t>
            </a:r>
          </a:p>
        </p:txBody>
      </p:sp>
    </p:spTree>
    <p:extLst>
      <p:ext uri="{BB962C8B-B14F-4D97-AF65-F5344CB8AC3E}">
        <p14:creationId xmlns:p14="http://schemas.microsoft.com/office/powerpoint/2010/main" val="16554180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number-badge-10">
            <a:extLst xmlns:a="http://schemas.openxmlformats.org/drawingml/2006/main">
              <a:ext uri="{FF2B5EF4-FFF2-40B4-BE49-F238E27FC236}">
                <a16:creationId xmlns:a16="http://schemas.microsoft.com/office/drawing/2014/main" id="{950CD581-404C-4A50-B784-740B69E3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"/>
            <a:ext cx="438150" cy="390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50B"/>
          </a:solidFill>
          <a:ln xmlns:a="http://schemas.openxmlformats.org/drawingml/2006/main" w="0">
            <a:solidFill>
              <a:srgbClr val="B5650B"/>
            </a:solidFill>
            <a:prstDash val="solid"/>
          </a:ln>
        </p:spPr>
      </p:sp>
      <p:sp>
        <p:nvSpPr>
          <p:cNvPr id="2" name="number-label-10">
            <a:extLst xmlns:a="http://schemas.openxmlformats.org/drawingml/2006/main">
              <a:ext uri="{FF2B5EF4-FFF2-40B4-BE49-F238E27FC236}">
                <a16:creationId xmlns:a16="http://schemas.microsoft.com/office/drawing/2014/main" id="{459AA24B-7AAA-4D8E-8126-51153DAD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34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A5120533-841B-4211-93A4-C0C14395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0050"/>
            <a:ext cx="10353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331"/>
                </a:solidFill>
              </a:defRPr>
            </a:pPr>
            <a:r>
              <a:rPr sz="2250" b="1">
                <a:solidFill>
                  <a:srgbClr val="142331"/>
                </a:solidFill>
              </a:rPr>
              <a:t>Команда и текущий вклад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FA5AA27F-9E95-4256-8285-E781EAAD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7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777"/>
                </a:solidFill>
              </a:defRPr>
            </a:pPr>
            <a:r>
              <a:rPr sz="1350">
                <a:solidFill>
                  <a:srgbClr val="586777"/>
                </a:solidFill>
              </a:rPr>
              <a:t>Исследование, причинность и продукт собираются совместно</a:t>
            </a:r>
          </a:p>
        </p:txBody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8092930F-F589-4022-8DC4-D83C2885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91275"/>
            <a:ext cx="1087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777"/>
                </a:solidFill>
              </a:defRPr>
            </a:pPr>
            <a:r>
              <a:rPr sz="825">
                <a:solidFill>
                  <a:srgbClr val="586777"/>
                </a:solidFill>
              </a:rPr>
              <a:t>international_transfers_signals  ·  06.09.2026  ·  10</a:t>
            </a:r>
          </a:p>
        </p:txBody>
      </p:sp>
      <p:sp>
        <p:nvSpPr>
          <p:cNvPr id="6" name="person-0">
            <a:extLst xmlns:a="http://schemas.openxmlformats.org/drawingml/2006/main">
              <a:ext uri="{FF2B5EF4-FFF2-40B4-BE49-F238E27FC236}">
                <a16:creationId xmlns:a16="http://schemas.microsoft.com/office/drawing/2014/main" id="{82D51A72-353A-4CB5-BA7E-CB0BE47B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108775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7" name="person-name-0">
            <a:extLst xmlns:a="http://schemas.openxmlformats.org/drawingml/2006/main">
              <a:ext uri="{FF2B5EF4-FFF2-40B4-BE49-F238E27FC236}">
                <a16:creationId xmlns:a16="http://schemas.microsoft.com/office/drawing/2014/main" id="{DAB00365-6633-4EC1-AE1F-FA181D98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287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</a:defRPr>
            </a:pPr>
            <a:r>
              <a:rPr sz="1650" b="1">
                <a:solidFill>
                  <a:srgbClr val="142331"/>
                </a:solidFill>
              </a:rPr>
              <a:t>Александр Тармаев</a:t>
            </a:r>
          </a:p>
        </p:txBody>
      </p:sp>
      <p:sp>
        <p:nvSpPr>
          <p:cNvPr id="8" name="person-role-0">
            <a:extLst xmlns:a="http://schemas.openxmlformats.org/drawingml/2006/main">
              <a:ext uri="{FF2B5EF4-FFF2-40B4-BE49-F238E27FC236}">
                <a16:creationId xmlns:a16="http://schemas.microsoft.com/office/drawing/2014/main" id="{547101C2-9A4F-456D-81F1-4D34075E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907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777"/>
                </a:solidFill>
              </a:defRPr>
            </a:pPr>
            <a:r>
              <a:rPr sz="1200">
                <a:solidFill>
                  <a:srgbClr val="586777"/>
                </a:solidFill>
              </a:rPr>
              <a:t>Product Engineer</a:t>
            </a:r>
          </a:p>
        </p:txBody>
      </p:sp>
      <p:sp>
        <p:nvSpPr>
          <p:cNvPr id="9" name="person-work-0">
            <a:extLst xmlns:a="http://schemas.openxmlformats.org/drawingml/2006/main">
              <a:ext uri="{FF2B5EF4-FFF2-40B4-BE49-F238E27FC236}">
                <a16:creationId xmlns:a16="http://schemas.microsoft.com/office/drawing/2014/main" id="{66E850B6-118C-4104-B559-D804CEE7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43075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331"/>
                </a:solidFill>
              </a:defRPr>
            </a:pPr>
            <a:r>
              <a:rPr sz="1350">
                <a:solidFill>
                  <a:srgbClr val="142331"/>
                </a:solidFill>
              </a:rPr>
              <a:t>продуктовая постановка · пользовательский flow · тексты · дизайн пилота</a:t>
            </a:r>
          </a:p>
        </p:txBody>
      </p:sp>
      <p:sp>
        <p:nvSpPr>
          <p:cNvPr id="10" name="person-1">
            <a:extLst xmlns:a="http://schemas.openxmlformats.org/drawingml/2006/main">
              <a:ext uri="{FF2B5EF4-FFF2-40B4-BE49-F238E27FC236}">
                <a16:creationId xmlns:a16="http://schemas.microsoft.com/office/drawing/2014/main" id="{74DEAD4F-DF2E-49B1-A79B-134C0248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08775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11" name="person-name-1">
            <a:extLst xmlns:a="http://schemas.openxmlformats.org/drawingml/2006/main">
              <a:ext uri="{FF2B5EF4-FFF2-40B4-BE49-F238E27FC236}">
                <a16:creationId xmlns:a16="http://schemas.microsoft.com/office/drawing/2014/main" id="{B0143107-B1D2-4F4B-8A15-72453C7C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</a:defRPr>
            </a:pPr>
            <a:r>
              <a:rPr sz="1650" b="1">
                <a:solidFill>
                  <a:srgbClr val="142331"/>
                </a:solidFill>
              </a:rPr>
              <a:t>Даниил Недайборщ</a:t>
            </a:r>
          </a:p>
        </p:txBody>
      </p:sp>
      <p:sp>
        <p:nvSpPr>
          <p:cNvPr id="12" name="person-role-1">
            <a:extLst xmlns:a="http://schemas.openxmlformats.org/drawingml/2006/main">
              <a:ext uri="{FF2B5EF4-FFF2-40B4-BE49-F238E27FC236}">
                <a16:creationId xmlns:a16="http://schemas.microsoft.com/office/drawing/2014/main" id="{8CB01802-CB12-4366-8E91-401AF0B7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777"/>
                </a:solidFill>
              </a:defRPr>
            </a:pPr>
            <a:r>
              <a:rPr sz="1200">
                <a:solidFill>
                  <a:srgbClr val="586777"/>
                </a:solidFill>
              </a:rPr>
              <a:t>AI Engineer · разработка</a:t>
            </a:r>
          </a:p>
        </p:txBody>
      </p:sp>
      <p:sp>
        <p:nvSpPr>
          <p:cNvPr id="13" name="person-work-1">
            <a:extLst xmlns:a="http://schemas.openxmlformats.org/drawingml/2006/main">
              <a:ext uri="{FF2B5EF4-FFF2-40B4-BE49-F238E27FC236}">
                <a16:creationId xmlns:a16="http://schemas.microsoft.com/office/drawing/2014/main" id="{50EBC261-275D-404B-AF3B-3D701A4A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331"/>
                </a:solidFill>
              </a:defRPr>
            </a:pPr>
            <a:r>
              <a:rPr sz="1350">
                <a:solidFill>
                  <a:srgbClr val="142331"/>
                </a:solidFill>
              </a:rPr>
              <a:t>данные и признаки · загрузчики · инфраструктура причинности · воспроизводимость</a:t>
            </a:r>
          </a:p>
        </p:txBody>
      </p:sp>
      <p:sp>
        <p:nvSpPr>
          <p:cNvPr id="14" name="person-2">
            <a:extLst xmlns:a="http://schemas.openxmlformats.org/drawingml/2006/main">
              <a:ext uri="{FF2B5EF4-FFF2-40B4-BE49-F238E27FC236}">
                <a16:creationId xmlns:a16="http://schemas.microsoft.com/office/drawing/2014/main" id="{0222824E-77D2-4F1F-A1DE-1BAD4F29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108775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CF3E8"/>
          </a:solidFill>
          <a:ln xmlns:a="http://schemas.openxmlformats.org/drawingml/2006/main" w="9525">
            <a:solidFill>
              <a:srgbClr val="E8C69F"/>
            </a:solidFill>
            <a:prstDash val="solid"/>
          </a:ln>
        </p:spPr>
      </p:sp>
      <p:sp>
        <p:nvSpPr>
          <p:cNvPr id="15" name="person-name-2">
            <a:extLst xmlns:a="http://schemas.openxmlformats.org/drawingml/2006/main">
              <a:ext uri="{FF2B5EF4-FFF2-40B4-BE49-F238E27FC236}">
                <a16:creationId xmlns:a16="http://schemas.microsoft.com/office/drawing/2014/main" id="{F3D89360-92B6-4C9C-AA88-D8D91EC6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053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</a:defRPr>
            </a:pPr>
            <a:r>
              <a:rPr sz="1650" b="1">
                <a:solidFill>
                  <a:srgbClr val="142331"/>
                </a:solidFill>
              </a:rPr>
              <a:t>Иван Калинин</a:t>
            </a:r>
          </a:p>
        </p:txBody>
      </p:sp>
      <p:sp>
        <p:nvSpPr>
          <p:cNvPr id="16" name="person-role-2">
            <a:extLst xmlns:a="http://schemas.openxmlformats.org/drawingml/2006/main">
              <a:ext uri="{FF2B5EF4-FFF2-40B4-BE49-F238E27FC236}">
                <a16:creationId xmlns:a16="http://schemas.microsoft.com/office/drawing/2014/main" id="{A8F63036-97DC-497B-94E5-93E21EA8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672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777"/>
                </a:solidFill>
              </a:defRPr>
            </a:pPr>
            <a:r>
              <a:rPr sz="1200">
                <a:solidFill>
                  <a:srgbClr val="586777"/>
                </a:solidFill>
              </a:rPr>
              <a:t>AI Engineer · ML</a:t>
            </a:r>
          </a:p>
        </p:txBody>
      </p:sp>
      <p:sp>
        <p:nvSpPr>
          <p:cNvPr id="17" name="person-work-2">
            <a:extLst xmlns:a="http://schemas.openxmlformats.org/drawingml/2006/main">
              <a:ext uri="{FF2B5EF4-FFF2-40B4-BE49-F238E27FC236}">
                <a16:creationId xmlns:a16="http://schemas.microsoft.com/office/drawing/2014/main" id="{CA7E016F-4EB1-4E56-9250-6B82041B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19625"/>
            <a:ext cx="695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2331"/>
                </a:solidFill>
              </a:defRPr>
            </a:pPr>
            <a:r>
              <a:rPr sz="1350">
                <a:solidFill>
                  <a:srgbClr val="142331"/>
                </a:solidFill>
              </a:rPr>
              <a:t>фазовый роутер · OOS-модели · T15/T16 · аудиты · сводка результатов</a:t>
            </a:r>
          </a:p>
        </p:txBody>
      </p:sp>
      <p:sp>
        <p:nvSpPr>
          <p:cNvPr id="18" name="team-foot">
            <a:extLst xmlns:a="http://schemas.openxmlformats.org/drawingml/2006/main">
              <a:ext uri="{FF2B5EF4-FFF2-40B4-BE49-F238E27FC236}">
                <a16:creationId xmlns:a16="http://schemas.microsoft.com/office/drawing/2014/main" id="{0D92ABCC-8EB9-4CA0-ACC6-6746DD8D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87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777"/>
                </a:solidFill>
              </a:defRPr>
            </a:pPr>
            <a:r>
              <a:rPr sz="1275">
                <a:solidFill>
                  <a:srgbClr val="586777"/>
                </a:solidFill>
              </a:rPr>
              <a:t>Репозиторий, frozen-регламенты и артефакты позволяют воспроизвести каждое принятое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17147224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inal-eyebrow">
            <a:extLst xmlns:a="http://schemas.openxmlformats.org/drawingml/2006/main">
              <a:ext uri="{FF2B5EF4-FFF2-40B4-BE49-F238E27FC236}">
                <a16:creationId xmlns:a16="http://schemas.microsoft.com/office/drawing/2014/main" id="{0AF58ECF-95D5-4FF5-B792-77AB2020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7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5650B"/>
                </a:solidFill>
              </a:defRPr>
            </a:pPr>
            <a:r>
              <a:rPr sz="1275" b="1">
                <a:solidFill>
                  <a:srgbClr val="B5650B"/>
                </a:solidFill>
              </a:rPr>
              <a:t>ЧТО МЫ РЕШИЛИ</a:t>
            </a:r>
          </a:p>
        </p:txBody>
      </p:sp>
      <p:sp>
        <p:nvSpPr>
          <p:cNvPr id="2" name="final-title">
            <a:extLst xmlns:a="http://schemas.openxmlformats.org/drawingml/2006/main">
              <a:ext uri="{FF2B5EF4-FFF2-40B4-BE49-F238E27FC236}">
                <a16:creationId xmlns:a16="http://schemas.microsoft.com/office/drawing/2014/main" id="{A09D7AD5-CC14-4461-A86D-D122145A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877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Момент ловится.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Теперь — в любое время дня.</a:t>
            </a:r>
          </a:p>
        </p:txBody>
      </p:sp>
      <p:sp>
        <p:nvSpPr>
          <p:cNvPr id="3" name="final-body">
            <a:extLst xmlns:a="http://schemas.openxmlformats.org/drawingml/2006/main">
              <a:ext uri="{FF2B5EF4-FFF2-40B4-BE49-F238E27FC236}">
                <a16:creationId xmlns:a16="http://schemas.microsoft.com/office/drawing/2014/main" id="{95CC736B-ED94-44BA-A4A2-CB42121E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8E4EC"/>
                </a:solidFill>
              </a:defRPr>
            </a:pPr>
            <a:r>
              <a:rPr sz="1725">
                <a:solidFill>
                  <a:srgbClr val="D8E4EC"/>
                </a:solidFill>
              </a:rPr>
              <a:t>Температура объясняет обстановку. Expected bps оценивает размер эффекта.</a:t>
            </a:r>
          </a:p>
          <a:p xmlns:a="http://schemas.openxmlformats.org/drawingml/2006/main">
            <a:pPr>
              <a:defRPr sz="1725">
                <a:solidFill>
                  <a:srgbClr val="D8E4EC"/>
                </a:solidFill>
              </a:defRPr>
            </a:pPr>
            <a:r>
              <a:rPr sz="1725">
                <a:solidFill>
                  <a:srgbClr val="D8E4EC"/>
                </a:solidFill>
              </a:rPr>
              <a:t>AP37 отправляет редкий push. Роутер меняет модель только после появления источника и доказанного улучшения.</a:t>
            </a:r>
          </a:p>
        </p:txBody>
      </p:sp>
      <p:sp>
        <p:nvSpPr>
          <p:cNvPr id="4" name="final-next">
            <a:extLst xmlns:a="http://schemas.openxmlformats.org/drawingml/2006/main">
              <a:ext uri="{FF2B5EF4-FFF2-40B4-BE49-F238E27FC236}">
                <a16:creationId xmlns:a16="http://schemas.microsoft.com/office/drawing/2014/main" id="{19CCF31E-CE6F-458E-AC2B-7D2A4FA3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108775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D3142"/>
          </a:solidFill>
          <a:ln xmlns:a="http://schemas.openxmlformats.org/drawingml/2006/main" w="9525">
            <a:solidFill>
              <a:srgbClr val="40596E"/>
            </a:solidFill>
            <a:prstDash val="solid"/>
          </a:ln>
        </p:spPr>
      </p:sp>
      <p:sp>
        <p:nvSpPr>
          <p:cNvPr id="5" name="final-next-text">
            <a:extLst xmlns:a="http://schemas.openxmlformats.org/drawingml/2006/main">
              <a:ext uri="{FF2B5EF4-FFF2-40B4-BE49-F238E27FC236}">
                <a16:creationId xmlns:a16="http://schemas.microsoft.com/office/drawing/2014/main" id="{DC259BF8-1259-4639-89A8-A68FFA02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034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До production: реальный receipt ЦБ · котировки банка и комиссия · frozen shadow · экономический uplift</a:t>
            </a:r>
          </a:p>
        </p:txBody>
      </p:sp>
      <p:sp>
        <p:nvSpPr>
          <p:cNvPr id="6" name="final-repo">
            <a:extLst xmlns:a="http://schemas.openxmlformats.org/drawingml/2006/main">
              <a:ext uri="{FF2B5EF4-FFF2-40B4-BE49-F238E27FC236}">
                <a16:creationId xmlns:a16="http://schemas.microsoft.com/office/drawing/2014/main" id="{6323C118-8A70-453D-B106-E0CFE079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ED0DE"/>
                </a:solidFill>
              </a:defRPr>
            </a:pPr>
            <a:r>
              <a:rPr sz="975">
                <a:solidFill>
                  <a:srgbClr val="BED0DE"/>
                </a:solidFill>
              </a:rPr>
              <a:t>github.com/tarma3v/international_transfers_signals</a:t>
            </a:r>
          </a:p>
        </p:txBody>
      </p:sp>
    </p:spTree>
    <p:extLst>
      <p:ext uri="{BB962C8B-B14F-4D97-AF65-F5344CB8AC3E}">
        <p14:creationId xmlns:p14="http://schemas.microsoft.com/office/powerpoint/2010/main" val="148248082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2026-09-06T12:56:25.6740000Z</dcterms:created>
  <dcterms:modified xsi:type="dcterms:W3CDTF">2026-09-06T12:56:25.6740000Z</dcterms:modified>
</coreProperties>
</file>