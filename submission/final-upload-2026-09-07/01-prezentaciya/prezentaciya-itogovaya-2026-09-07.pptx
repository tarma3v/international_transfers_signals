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2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3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7bf4194d074129" /><Relationship Type="http://schemas.openxmlformats.org/officeDocument/2006/relationships/extended-properties" Target="/docProps/app.xml" Id="R35c287e954604c98" /><Relationship Type="http://schemas.openxmlformats.org/officeDocument/2006/relationships/officeDocument" Target="/ppt/presentation.xml" Id="Rb19c40a3853e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889575a70f4fc6"/>
  </p:sldMasterIdLst>
  <p:notesMasterIdLst>
    <p:notesMasterId xmlns:r="http://schemas.openxmlformats.org/officeDocument/2006/relationships" r:id="R76fa9575e8a64648"/>
  </p:notesMasterIdLst>
  <p:sldIdLst>
    <p:sldId xmlns:r="http://schemas.openxmlformats.org/officeDocument/2006/relationships" id="256" r:id="Rb8fac63c1cf540d4"/>
    <p:sldId xmlns:r="http://schemas.openxmlformats.org/officeDocument/2006/relationships" id="257" r:id="R1442ffc11a554b8c"/>
    <p:sldId xmlns:r="http://schemas.openxmlformats.org/officeDocument/2006/relationships" id="258" r:id="R6c71a0c5586e4027"/>
    <p:sldId xmlns:r="http://schemas.openxmlformats.org/officeDocument/2006/relationships" id="259" r:id="R4e787efb13c244f2"/>
    <p:sldId xmlns:r="http://schemas.openxmlformats.org/officeDocument/2006/relationships" id="260" r:id="Re2508d8b6cef4f44"/>
    <p:sldId xmlns:r="http://schemas.openxmlformats.org/officeDocument/2006/relationships" id="261" r:id="R307af5e500934f68"/>
    <p:sldId xmlns:r="http://schemas.openxmlformats.org/officeDocument/2006/relationships" id="262" r:id="R75cea6c4e6f44252"/>
    <p:sldId xmlns:r="http://schemas.openxmlformats.org/officeDocument/2006/relationships" id="263" r:id="R0204cf3bcb49452d"/>
    <p:sldId xmlns:r="http://schemas.openxmlformats.org/officeDocument/2006/relationships" id="264" r:id="Re16ea8073cc84014"/>
    <p:sldId xmlns:r="http://schemas.openxmlformats.org/officeDocument/2006/relationships" id="265" r:id="R86a8d029b7ac4bda"/>
    <p:sldId xmlns:r="http://schemas.openxmlformats.org/officeDocument/2006/relationships" id="266" r:id="R06c3980e96024d57"/>
    <p:sldId xmlns:r="http://schemas.openxmlformats.org/officeDocument/2006/relationships" id="267" r:id="R8497fc862f774a2c"/>
    <p:sldId xmlns:r="http://schemas.openxmlformats.org/officeDocument/2006/relationships" id="268" r:id="R570ce773a4224620"/>
    <p:sldId xmlns:r="http://schemas.openxmlformats.org/officeDocument/2006/relationships" id="269" r:id="R9f8b372b94d546af"/>
    <p:sldId xmlns:r="http://schemas.openxmlformats.org/officeDocument/2006/relationships" id="270" r:id="Rc24f0a09eafd4f60"/>
    <p:sldId xmlns:r="http://schemas.openxmlformats.org/officeDocument/2006/relationships" id="271" r:id="Rbd79ec17263e44a9"/>
    <p:sldId xmlns:r="http://schemas.openxmlformats.org/officeDocument/2006/relationships" id="272" r:id="Rf3ca6a03ff744869"/>
    <p:sldId xmlns:r="http://schemas.openxmlformats.org/officeDocument/2006/relationships" id="273" r:id="R5505b18a76f34bc8"/>
    <p:sldId xmlns:r="http://schemas.openxmlformats.org/officeDocument/2006/relationships" id="274" r:id="Refc7a64b90d946b8"/>
    <p:sldId xmlns:r="http://schemas.openxmlformats.org/officeDocument/2006/relationships" id="275" r:id="Reb54e1d06bce4fb1"/>
    <p:sldId xmlns:r="http://schemas.openxmlformats.org/officeDocument/2006/relationships" id="276" r:id="Rf64d806fc4a74305"/>
    <p:sldId xmlns:r="http://schemas.openxmlformats.org/officeDocument/2006/relationships" id="277" r:id="R74a2e6dd09da4680"/>
    <p:sldId xmlns:r="http://schemas.openxmlformats.org/officeDocument/2006/relationships" id="278" r:id="Rddadb6cea4234c22"/>
    <p:sldId xmlns:r="http://schemas.openxmlformats.org/officeDocument/2006/relationships" id="279" r:id="Rc34375d5918441fb"/>
    <p:sldId xmlns:r="http://schemas.openxmlformats.org/officeDocument/2006/relationships" id="280" r:id="R6f04bf2737e84adb"/>
    <p:sldId xmlns:r="http://schemas.openxmlformats.org/officeDocument/2006/relationships" id="281" r:id="R0f5d97019fec49a0"/>
    <p:sldId xmlns:r="http://schemas.openxmlformats.org/officeDocument/2006/relationships" id="282" r:id="R1dc8a4fb9f3443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7dbb0e6ff1414f" /><Relationship Type="http://schemas.openxmlformats.org/officeDocument/2006/relationships/slideMaster" Target="/ppt/slideMasters/slideMaster1.xml" Id="Rc8889575a70f4fc6" /><Relationship Type="http://schemas.openxmlformats.org/officeDocument/2006/relationships/notesMaster" Target="/ppt/notesMasters/notesMaster1.xml" Id="R76fa9575e8a64648" /><Relationship Type="http://schemas.openxmlformats.org/officeDocument/2006/relationships/presProps" Target="/ppt/presProps.xml" Id="R6ad3ed7f7fcb4147" /><Relationship Type="http://schemas.openxmlformats.org/officeDocument/2006/relationships/viewProps" Target="/ppt/viewProps.xml" Id="R0fa0cc09b8304eae" /><Relationship Type="http://schemas.openxmlformats.org/officeDocument/2006/relationships/tableStyles" Target="/ppt/tableStyles.xml" Id="R343fa51ce87a4199" /><Relationship Type="http://schemas.openxmlformats.org/officeDocument/2006/relationships/slide" Target="/ppt/slides/slide1.xml" Id="Rb8fac63c1cf540d4" /><Relationship Type="http://schemas.openxmlformats.org/officeDocument/2006/relationships/slide" Target="/ppt/slides/slide2.xml" Id="R1442ffc11a554b8c" /><Relationship Type="http://schemas.openxmlformats.org/officeDocument/2006/relationships/slide" Target="/ppt/slides/slide3.xml" Id="R6c71a0c5586e4027" /><Relationship Type="http://schemas.openxmlformats.org/officeDocument/2006/relationships/slide" Target="/ppt/slides/slide4.xml" Id="R4e787efb13c244f2" /><Relationship Type="http://schemas.openxmlformats.org/officeDocument/2006/relationships/slide" Target="/ppt/slides/slide5.xml" Id="Re2508d8b6cef4f44" /><Relationship Type="http://schemas.openxmlformats.org/officeDocument/2006/relationships/slide" Target="/ppt/slides/slide6.xml" Id="R307af5e500934f68" /><Relationship Type="http://schemas.openxmlformats.org/officeDocument/2006/relationships/slide" Target="/ppt/slides/slide7.xml" Id="R75cea6c4e6f44252" /><Relationship Type="http://schemas.openxmlformats.org/officeDocument/2006/relationships/slide" Target="/ppt/slides/slide8.xml" Id="R0204cf3bcb49452d" /><Relationship Type="http://schemas.openxmlformats.org/officeDocument/2006/relationships/slide" Target="/ppt/slides/slide9.xml" Id="Re16ea8073cc84014" /><Relationship Type="http://schemas.openxmlformats.org/officeDocument/2006/relationships/slide" Target="/ppt/slides/slide10.xml" Id="R86a8d029b7ac4bda" /><Relationship Type="http://schemas.openxmlformats.org/officeDocument/2006/relationships/slide" Target="/ppt/slides/slide11.xml" Id="R06c3980e96024d57" /><Relationship Type="http://schemas.openxmlformats.org/officeDocument/2006/relationships/slide" Target="/ppt/slides/slide12.xml" Id="R8497fc862f774a2c" /><Relationship Type="http://schemas.openxmlformats.org/officeDocument/2006/relationships/slide" Target="/ppt/slides/slide13.xml" Id="R570ce773a4224620" /><Relationship Type="http://schemas.openxmlformats.org/officeDocument/2006/relationships/slide" Target="/ppt/slides/slide14.xml" Id="R9f8b372b94d546af" /><Relationship Type="http://schemas.openxmlformats.org/officeDocument/2006/relationships/slide" Target="/ppt/slides/slide15.xml" Id="Rc24f0a09eafd4f60" /><Relationship Type="http://schemas.openxmlformats.org/officeDocument/2006/relationships/slide" Target="/ppt/slides/slide16.xml" Id="Rbd79ec17263e44a9" /><Relationship Type="http://schemas.openxmlformats.org/officeDocument/2006/relationships/slide" Target="/ppt/slides/slide17.xml" Id="Rf3ca6a03ff744869" /><Relationship Type="http://schemas.openxmlformats.org/officeDocument/2006/relationships/slide" Target="/ppt/slides/slide18.xml" Id="R5505b18a76f34bc8" /><Relationship Type="http://schemas.openxmlformats.org/officeDocument/2006/relationships/slide" Target="/ppt/slides/slide19.xml" Id="Refc7a64b90d946b8" /><Relationship Type="http://schemas.openxmlformats.org/officeDocument/2006/relationships/slide" Target="/ppt/slides/slide20.xml" Id="Reb54e1d06bce4fb1" /><Relationship Type="http://schemas.openxmlformats.org/officeDocument/2006/relationships/slide" Target="/ppt/slides/slide21.xml" Id="Rf64d806fc4a74305" /><Relationship Type="http://schemas.openxmlformats.org/officeDocument/2006/relationships/slide" Target="/ppt/slides/slide22.xml" Id="R74a2e6dd09da4680" /><Relationship Type="http://schemas.openxmlformats.org/officeDocument/2006/relationships/slide" Target="/ppt/slides/slide23.xml" Id="Rddadb6cea4234c22" /><Relationship Type="http://schemas.openxmlformats.org/officeDocument/2006/relationships/slide" Target="/ppt/slides/slide24.xml" Id="Rc34375d5918441fb" /><Relationship Type="http://schemas.openxmlformats.org/officeDocument/2006/relationships/slide" Target="/ppt/slides/slide25.xml" Id="R6f04bf2737e84adb" /><Relationship Type="http://schemas.openxmlformats.org/officeDocument/2006/relationships/slide" Target="/ppt/slides/slide26.xml" Id="R0f5d97019fec49a0" /><Relationship Type="http://schemas.openxmlformats.org/officeDocument/2006/relationships/slide" Target="/ppt/slides/slide27.xml" Id="R1dc8a4fb9f3443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fdab8dae4e44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cf6db174624f8c" /><Relationship Type="http://schemas.openxmlformats.org/officeDocument/2006/relationships/notesMaster" Target="/ppt/notesMasters/notesMaster1.xml" Id="R75935daf580543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4f6c185ac64561" /><Relationship Type="http://schemas.openxmlformats.org/officeDocument/2006/relationships/notesMaster" Target="/ppt/notesMasters/notesMaster1.xml" Id="Ra3a64f4b75224f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d0188b911c4958" /><Relationship Type="http://schemas.openxmlformats.org/officeDocument/2006/relationships/notesMaster" Target="/ppt/notesMasters/notesMaster1.xml" Id="R1f332b3015714d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1be508052e4e81" /><Relationship Type="http://schemas.openxmlformats.org/officeDocument/2006/relationships/notesMaster" Target="/ppt/notesMasters/notesMaster1.xml" Id="Rd6d6cf1d81f044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ffeb1065914569" /><Relationship Type="http://schemas.openxmlformats.org/officeDocument/2006/relationships/notesMaster" Target="/ppt/notesMasters/notesMaster1.xml" Id="R7c145cb3140544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2315647f0142fb" /><Relationship Type="http://schemas.openxmlformats.org/officeDocument/2006/relationships/notesMaster" Target="/ppt/notesMasters/notesMaster1.xml" Id="Rca297ee776d54f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8e039ae8c440d2" /><Relationship Type="http://schemas.openxmlformats.org/officeDocument/2006/relationships/notesMaster" Target="/ppt/notesMasters/notesMaster1.xml" Id="R3f3df7ccb2984d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7df8046f984f18" /><Relationship Type="http://schemas.openxmlformats.org/officeDocument/2006/relationships/notesMaster" Target="/ppt/notesMasters/notesMaster1.xml" Id="Rc3413cd53e7542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ce91182a9649c6" /><Relationship Type="http://schemas.openxmlformats.org/officeDocument/2006/relationships/notesMaster" Target="/ppt/notesMasters/notesMaster1.xml" Id="Rd136cab60dc847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85663db30b43ae" /><Relationship Type="http://schemas.openxmlformats.org/officeDocument/2006/relationships/notesMaster" Target="/ppt/notesMasters/notesMaster1.xml" Id="R59dc6d0f358945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78ab94a38a4482" /><Relationship Type="http://schemas.openxmlformats.org/officeDocument/2006/relationships/notesMaster" Target="/ppt/notesMasters/notesMaster1.xml" Id="Rf67a203faef84d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a1a09059f04ac4" /><Relationship Type="http://schemas.openxmlformats.org/officeDocument/2006/relationships/notesMaster" Target="/ppt/notesMasters/notesMaster1.xml" Id="R84e8c25340fb40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303c4f0747416f" /><Relationship Type="http://schemas.openxmlformats.org/officeDocument/2006/relationships/notesMaster" Target="/ppt/notesMasters/notesMaster1.xml" Id="R37bcf32e940242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85df7aa1364234" /><Relationship Type="http://schemas.openxmlformats.org/officeDocument/2006/relationships/notesMaster" Target="/ppt/notesMasters/notesMaster1.xml" Id="R9c6f61de11ce48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bc35bb0e644205" /><Relationship Type="http://schemas.openxmlformats.org/officeDocument/2006/relationships/notesMaster" Target="/ppt/notesMasters/notesMaster1.xml" Id="R697988e2a63848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be2558c6e54c13" /><Relationship Type="http://schemas.openxmlformats.org/officeDocument/2006/relationships/notesMaster" Target="/ppt/notesMasters/notesMaster1.xml" Id="Re2b6f834cd7e43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0410e737d141c1" /><Relationship Type="http://schemas.openxmlformats.org/officeDocument/2006/relationships/notesMaster" Target="/ppt/notesMasters/notesMaster1.xml" Id="R5b45638cce9b493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6faeab27ab4a91" /><Relationship Type="http://schemas.openxmlformats.org/officeDocument/2006/relationships/notesMaster" Target="/ppt/notesMasters/notesMaster1.xml" Id="R92148e2a733b4e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62e9c3b8764b63" /><Relationship Type="http://schemas.openxmlformats.org/officeDocument/2006/relationships/notesMaster" Target="/ppt/notesMasters/notesMaster1.xml" Id="R02d509f29e4d42e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bd2ab1c421473f" /><Relationship Type="http://schemas.openxmlformats.org/officeDocument/2006/relationships/notesMaster" Target="/ppt/notesMasters/notesMaster1.xml" Id="Rf5ed749477b94f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d38973adc3d46b0" /><Relationship Type="http://schemas.openxmlformats.org/officeDocument/2006/relationships/notesMaster" Target="/ppt/notesMasters/notesMaster1.xml" Id="R9d5244f76b9b492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a8f86838464306" /><Relationship Type="http://schemas.openxmlformats.org/officeDocument/2006/relationships/notesMaster" Target="/ppt/notesMasters/notesMaster1.xml" Id="R5686a87e682141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9d8dc0a9ac84a69" /><Relationship Type="http://schemas.openxmlformats.org/officeDocument/2006/relationships/notesMaster" Target="/ppt/notesMasters/notesMaster1.xml" Id="Rf29e00c271a24f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e12de3304464c44" /><Relationship Type="http://schemas.openxmlformats.org/officeDocument/2006/relationships/notesMaster" Target="/ppt/notesMasters/notesMaster1.xml" Id="R396dab3b669f454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016c9e9c3c04d82" /><Relationship Type="http://schemas.openxmlformats.org/officeDocument/2006/relationships/notesMaster" Target="/ppt/notesMasters/notesMaster1.xml" Id="R45fdc90363a1471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6f095a73d44ca1" /><Relationship Type="http://schemas.openxmlformats.org/officeDocument/2006/relationships/notesMaster" Target="/ppt/notesMasters/notesMaster1.xml" Id="R7d51c96dbffa407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e6c98b093704bb1" /><Relationship Type="http://schemas.openxmlformats.org/officeDocument/2006/relationships/notesMaster" Target="/ppt/notesMasters/notesMaster1.xml" Id="Ra154a8b7ce3c4c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Финальный кандидат final-temperature-v1-2026-09-07. https://github.com/tarma3v/international_transfers_signals/tree/ivan-experiments/model/final_temperature_model_v1.json</a:t>
            </a:r>
            <a:endParaRPr/>
          </a:p>
          <a:p xmlns:a="http://schemas.openxmlformats.org/drawingml/2006/main">
            <a:r>
              <a:t>Макеты команды из main, исходник 3263473.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  <a:endParaRPr/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  <a:endParaRPr/>
          </a:p>
          <a:p xmlns:a="http://schemas.openxmlformats.org/drawingml/2006/main">
            <a:r>
              <a:t>Lift на слайде pooled=0.7338129496402878/0.294478527607362=2.491906474820144. Adjusted по коридору/периоду=2.5091882251629154, это другая агрегация. Выгода ±h=74.55139335041945 б.п. Клиентскую выгоду/выручку ещё нужно измерить в пилоте.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https://github.com/tarma3v/international_transfers_signals/tree/ivan-experiments/model/final_temperature_model_v1.json</a:t>
            </a:r>
            <a:endParaRPr/>
          </a:p>
          <a:p xmlns:a="http://schemas.openxmlformats.org/drawingml/2006/main">
            <a:r>
              <a:t>https://github.com/tarma3v/international_transfers_signals/tree/ivan-experiments/model/final_temperature_model_v1.json</a:t>
            </a:r>
            <a:endParaRPr/>
          </a:p>
          <a:p xmlns:a="http://schemas.openxmlformats.org/drawingml/2006/main">
            <a:r>
              <a:t>Фильтр клиентского текста, местного времени и общего лимита банка — продуктовый контракт, его влияние не включено в AP37 scorecard.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  <a:endParaRPr/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  <a:endParaRPr/>
          </a:p>
          <a:p xmlns:a="http://schemas.openxmlformats.org/drawingml/2006/main">
            <a:r>
              <a:t>https://github.com/tarma3v/international_transfers_signals/tree/ivan-experiments/research/after_publication_ap37_effective_models.py</a:t>
            </a:r>
            <a:endParaRPr/>
          </a:p>
          <a:p xmlns:a="http://schemas.openxmlformats.org/drawingml/2006/main">
            <a:r>
              <a:t>Календарная неделя ISO, cap2 не означает автоматический cap2 на любом скользящем семидневном окне. Для клиента общий лимит банка суммарный.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https://github.com/tarma3v/international_transfers_signals/blob/3263473/design/pushi-100-variantov.md</a:t>
            </a:r>
            <a:endParaRPr/>
          </a:p>
          <a:p xmlns:a="http://schemas.openxmlformats.org/drawingml/2006/main">
            <a:r>
              <a:t>UI-изображения main 3263473. В нижнем пуше фраза «ждать чаще не помогало» заменена редактируемым фактом редкости без намёка на будущее. Для пилота исторические шаблоны проверяются на фактах и используют банковскую котировку.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https://github.com/tarma3v/international_transfers_signals/blob/3263473/submission/12-dizayn-interfeysa.md</a:t>
            </a:r>
            <a:endParaRPr/>
          </a:p>
          <a:p xmlns:a="http://schemas.openxmlformats.org/drawingml/2006/main">
            <a:r>
              <a:t>Q&amp;A 05.09, с.7: курс приложения в реальном времени и связан с поставщиками ликвидности.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https://github.com/tarma3v/international_transfers_signals/blob/3263473/submission/12-dizayn-interfeysa.md</a:t>
            </a:r>
            <a:endParaRPr/>
          </a:p>
          <a:p xmlns:a="http://schemas.openxmlformats.org/drawingml/2006/main">
            <a:r>
              <a:t>Важно различать положение суммы в историческом диапазоне и вероятность future-only события. Визуальный индикатор из main менять для температуры не требуется.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  <a:endParaRPr/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  <a:endParaRPr/>
          </a:p>
          <a:p xmlns:a="http://schemas.openxmlformats.org/drawingml/2006/main">
            <a:r>
              <a:t>30 дней жизни заявки — продуктовая гипотеза команды, не условие ТЗ.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  <a:endParaRPr/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  <a:endParaRPr/>
          </a:p>
          <a:p xmlns:a="http://schemas.openxmlformats.org/drawingml/2006/main">
            <a:r>
              <a:t>Простой контроль known_next_not_lower_cd3: hit 0.5778474399164054, pooled lift 1.9622735980494599, frequency 1.4298826040554962. Разная частота оговорена, это не изолированная абляция при одинаковом бюджете.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</a:p>
          <a:p xmlns:a="http://schemas.openxmlformats.org/drawingml/2006/main">
            <a:r>
              <a:t>https://github.com/tarma3v/international_transfers_signals/tree/ivan-experiments/output/defense_visuals/chart_evidence.json</a:t>
            </a:r>
          </a:p>
          <a:p xmlns:a="http://schemas.openxmlformats.org/drawingml/2006/main">
            <a:r>
              <a:t>Исходное изображение пользователя сохраняется без изменений. Это иллюстрация AP50 temperature и AP37 push после публикации. 6/6 попаданий на фрагменте не означает 100% точности модели. Нельзя причинно интерпретировать наложение осей разного масштаба.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https://github.com/tarma3v/international_transfers_signals/tree/ivan-experiments/model/final_temperature_model_v1.json</a:t>
            </a:r>
            <a:endParaRPr/>
          </a:p>
          <a:p xmlns:a="http://schemas.openxmlformats.org/drawingml/2006/main">
            <a:r>
              <a:t>T4: HistGradientBoosting на 53 признаках. T5: causally ranked CNY/RUB basis + поквартальная логистическая калибровка по валюте/горизонту. T14 добавляет ранний CNY perpetual только h1/h3, если завершённая свеча доступна. T16 вечером улучшает только оценку размера эффекта h3/h5, не заменяет температуру и не переносит автоматически AP37 lift на каждый час. 15:30 — срез выбранной модели, не конец всей торговой сессии.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https://github.com/tarma3v/international_transfers_signals/tree/ivan-experiments/model/final_temperature_model_v1.json</a:t>
            </a:r>
            <a:endParaRPr/>
          </a:p>
          <a:p xmlns:a="http://schemas.openxmlformats.org/drawingml/2006/main">
            <a:r>
              <a:t>Экран 03 исходного прототипа показывает желаемое обновление пуша. Оно не является гарантией доставки или замены на iOS/Android. Реализация транспорта вне скоупа.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https://github.com/tarma3v/international_transfers_signals/blob/3263473/design/pushi-100-variantov.md</a:t>
            </a:r>
            <a:endParaRPr/>
          </a:p>
          <a:p xmlns:a="http://schemas.openxmlformats.org/drawingml/2006/main">
            <a:r>
              <a:t>Числа и даты примеров в этой таблице демонстрационные. В пилоте обязательны актуальный источник, проверка истины каждого факта и согласование банка.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  <a:endParaRPr/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  <a:endParaRPr/>
          </a:p>
          <a:p xmlns:a="http://schemas.openxmlformats.org/drawingml/2006/main">
            <a:r>
              <a:t>Реальные объёмы, маржа, согласия, адресаты и комиссии не предоставлены. Нет обещания срока окупаемости или статистической мощности пилота без этих данных.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Исследования с клиентами и боевые интеграции в скоуп хакатона не входят.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  <a:endParaRPr/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  <a:endParaRPr/>
          </a:p>
          <a:p xmlns:a="http://schemas.openxmlformats.org/drawingml/2006/main">
            <a:r>
              <a:t>Температура=100×калиброванная вероятность. Это внутренняя модельная оценка, а не новая пользовательская метрика. Полный интерфейс наследуем из main.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  <a:endParaRPr/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  <a:endParaRPr/>
          </a:p>
          <a:p xmlns:a="http://schemas.openxmlformats.org/drawingml/2006/main">
            <a:r>
              <a:t>https://github.com/tarma3v/international_transfers_signals/tree/ivan-experiments/tests/test_final_temperature_model.py</a:t>
            </a:r>
            <a:endParaRPr/>
          </a:p>
          <a:p xmlns:a="http://schemas.openxmlformats.org/drawingml/2006/main">
            <a:r>
              <a:t>https://github.com/tarma3v/international_transfers_signals/tree/ivan-experiments/model/final_temperature_model_v1.json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  <a:endParaRPr/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  <a:endParaRPr/>
          </a:p>
          <a:p xmlns:a="http://schemas.openxmlformats.org/drawingml/2006/main">
            <a:r>
              <a:t>Q&amp;A 05.09 с.3–5. Симметричная разметка локального минимума ±h присутствует в исследовании отдельно от headline lift. Для сообщения «окно закрывается» применяется другой таргет. Полная матрица: https://github.com/tarma3v/international_transfers_signals/tree/ivan-experiments/results/research/final_case_metric_matrix.csv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  <a:endParaRPr/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  <a:endParaRPr/>
          </a:p>
          <a:p xmlns:a="http://schemas.openxmlformats.org/drawingml/2006/main">
            <a:r>
              <a:t>Все пять горизонтов: [{"candidate":"ap26_core_mature_precision_calendar_fallback_cap2","h":"1","n_scope":"3280","n_signals":"695","first":"2024-01-09","last":"2026-08-31","hit_rate":"1.0","base_rate":"0.5161585365853658","pooled_lift":"1.9373892498523333","adjusted_lift":"1.9435228980650257","frequency":"1.031813361611877","currency_rate_min":"1.016967126193001","currency_rate_max":"1.0540827147401908","symmetric_bps":"31.438854227192166","forward_bps":"95.36018083744467"},{"candidate":"ap26_core_mature_precision_calendar_fallback_cap2","h":"3","n_scope":"3270","n_signals":"695","first":"2024-01-09","last":"2026-08-27","hit_rate":"0.8561151079136691","base_rate":"0.354434250764526","pooled_lift":"2.4154412449333025","adjusted_lift":"2.428673730515981","frequency":"1.0362087326943556","currency_rate_min":"1.0212992545260917","currency_rate_max":"1.058572949946752","symmetric_bps":"61.96540813077257","forward_bps":"124.18698865290492"},{"candidate":"ap26_core_mature_precision_calendar_fallback_cap2","h":"5","n_scope":"3260","n_signals":"695","first":"2024-01-09","last":"2026-08-25","hit_rate":"0.7338129496402878","base_rate":"0.294478527607362","pooled_lift":"2.491906474820144","adjusted_lift":"2.5091882251629154","frequency":"1.038420490928495","currency_rate_min":"1.023479188900747","currency_rate_max":"1.0608324439701173","symmetric_bps":"74.55139335041945","forward_bps":"133.73372418970007"},{"candidate":"ap26_core_mature_precision_calendar_fallback_cap2","h":"10","n_scope":"3235","n_signals":"685","first":"2024-01-09","last":"2026-08-18","hit_rate":"0.5591240875912409","base_rate":"0.22812982998454404","pooled_lift":"2.450903012679762","adjusted_lift":"2.479315705615442","frequency":"1.0311827956989248","currency_rate_min":"1.0161290322580645","currency_rate_max":"1.053763440860215","symmetric_bps":"79.46991513903394","forward_bps":"133.10413607007362"},{"candidate":"ap26_core_mature_precision_calendar_fallback_cap2","h":"20","n_scope":"3185","n_signals":"671","first":"2024-01-09","last":"2026-08-04","hit_rate":"0.4113263785394933","base_rate":"0.165149136577708","pooled_lift":"2.490635961308529","adjusted_lift":"2.5249873834516006","frequency":"1.0255458515283842","currency_rate_min":"1.0087336244541485","currency_rate_max":"1.046943231441048","symmetric_bps":"88.54723544975964","forward_bps":"130.23124876097734"}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Источник: main 3263473 и https://github.com/tarma3v/international_transfers_signals/tree/ivan-experiments/research/version_b_honest_audit.py</a:t>
            </a:r>
            <a:endParaRPr/>
          </a:p>
          <a:p xmlns:a="http://schemas.openxmlformats.org/drawingml/2006/main">
            <a:r>
              <a:t>Числа таблицы сохранены как исторический результат version_b (Даниил Недайборщ). Порог top15% вычислен по тестовым оценкам, поэтому это post-hoc политика, даже если сами признаки причинные. Честный фиксированный online порог может дать иной результат.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https://github.com/tarma3v/international_transfers_signals/tree/ivan-experiments/research/temperature_t5_market_grid.py</a:t>
            </a:r>
            <a:endParaRPr/>
          </a:p>
          <a:p xmlns:a="http://schemas.openxmlformats.org/drawingml/2006/main">
            <a:r>
              <a:t>https://github.com/tarma3v/international_transfers_signals/tree/ivan-experiments/results/research/temperature/t5_market_grid/calibration_metrics.csv</a:t>
            </a:r>
            <a:endParaRPr/>
          </a:p>
          <a:p xmlns:a="http://schemas.openxmlformats.org/drawingml/2006/main">
            <a:r>
              <a:t>https://github.com/tarma3v/international_transfers_signals/tree/ivan-experiments/research/temperature_t46_local_pair_fallback_report.md</a:t>
            </a:r>
            <a:endParaRPr/>
          </a:p>
          <a:p xmlns:a="http://schemas.openxmlformats.org/drawingml/2006/main">
            <a:r>
              <a:t>CNY/RUB не создаёт арбитраж и не задаёт один-к-одному остальные валюты. Это ликвидный рублёвый индикатор относительно медленного публичного ориентира. Дневной Brier не следует сравнивать с вечерним без одинаковой выборки.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Источник: main 3263473, submission/figures/06-makety-interfeysa.png. Изображение сохранено, поверх тела нижнего пуша добавлен редактируемый факт редкости вместо «ждать чаще не помогало».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  <a:endParaRPr/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  <a:endParaRPr/>
          </a:p>
          <a:p xmlns:a="http://schemas.openxmlformats.org/drawingml/2006/main">
            <a:r>
              <a:t>Роли и выполненные зоны работы по источникам main и ivan-experiments. Численные доли участия не указаны: инструкция ZAGRUZKA.md называет 33/33/33 заглушкой, фактические значения должны подтвердить участники.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</a:p>
          <a:p xmlns:a="http://schemas.openxmlformats.org/drawingml/2006/main">
            <a:r>
              <a:t>https://github.com/tarma3v/international_transfers_signals/tree/ivan-experiments/output/defense_visuals/chart_evidence.json</a:t>
            </a:r>
          </a:p>
          <a:p xmlns:a="http://schemas.openxmlformats.org/drawingml/2006/main">
            <a:r>
              <a:t>https://github.com/tarma3v/international_transfers_signals/tree/ivan-experiments/results/research/after_publication/ap37_effective/diagnostic_breakdown.csv</a:t>
            </a:r>
          </a:p>
          <a:p xmlns:a="http://schemas.openxmlformats.org/drawingml/2006/main">
            <a:r>
              <a:t>Коридоры связаны общим движением рубля. Пять валют не являются пятью независимыми рынками.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455: https://talenttrack.aitalenthub.ru/hackathon/cases/455</a:t>
            </a:r>
          </a:p>
          <a:p xmlns:a="http://schemas.openxmlformats.org/drawingml/2006/main">
            <a:r>
              <a:t>Q&amp;A 04.09.2026 и 05.09.2026: главная метрика lift по hit rate, выгода ±h отдельно. Только факты о прошлом и настоящем в клиентском тексте. Данные, доступные на дату T, включая уже опубликованный курс на завтра, допустимы. Курс ЦБ не является курсом исполнения.</a:t>
            </a:r>
          </a:p>
          <a:p xmlns:a="http://schemas.openxmlformats.org/drawingml/2006/main">
            <a:r>
              <a:t>Источник: https://github.com/tarma3v/international_transfers_signals/tree/ivan-experiments/results/research/after_publication/ap37_effective/retrospective_all_horizons.csv</a:t>
            </a:r>
          </a:p>
          <a:p xmlns:a="http://schemas.openxmlformats.org/drawingml/2006/main">
            <a:r>
              <a:t>Зафиксированный кандидат ap26_core_mature_precision_calendar_fallback_cap2. База: действующий сегодня курс ЦБ, будущие публикации. h5: 2024-01-09..2026-08-25, 3260 строк, 695 сигналов. Параметры причинные, но семейство выбрано после многих опытов на уже открывавшейся истории. Это ретроспектива, не новый независимый holdout. Исторический receipt предполагается по календарю (18:30 МСК), фактический журнал получения не сертифицирован. В рабочем контракте обязателен verified_receipt_at.</a:t>
            </a:r>
          </a:p>
          <a:p xmlns:a="http://schemas.openxmlformats.org/drawingml/2006/main">
            <a:r>
              <a:t>https://github.com/tarma3v/international_transfers_signals/tree/ivan-experiments/research/after_publication_ap49_effective.py</a:t>
            </a:r>
          </a:p>
          <a:p xmlns:a="http://schemas.openxmlformats.org/drawingml/2006/main">
            <a:r>
              <a:t>https://github.com/tarma3v/international_transfers_signals/tree/ivan-experiments/research/after_publication_ap50_temperature_models.py</a:t>
            </a:r>
          </a:p>
          <a:p xmlns:a="http://schemas.openxmlformats.org/drawingml/2006/main">
            <a:r>
              <a:t>https://github.com/tarma3v/international_transfers_signals/tree/ivan-experiments/research/after_publication_ap37_effective_models.py</a:t>
            </a:r>
          </a:p>
          <a:p xmlns:a="http://schemas.openxmlformats.org/drawingml/2006/main">
            <a:r>
              <a:t>Эксперты AP37: ap26_y20, ridge_survival, distributional_cat. Качество резервной группы: созревшие исходы h20 до даты T минус 2 дня, сглаживание глобальной и локальной частоты. Резерв после разогрева84д, при trailing rate&lt;1 и отсутствии ядра, при тишине&gt;=10д или конце недели с достаточным качеством.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2528e3c844cd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b7367cc47042f5" /><Relationship Type="http://schemas.openxmlformats.org/officeDocument/2006/relationships/slideLayout" Target="/ppt/slideLayouts/slideLayout1.xml" Id="Rab463ad3fdc64f7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463ad3fdc64f7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524adda9d42cb" /><Relationship Type="http://schemas.openxmlformats.org/officeDocument/2006/relationships/notesSlide" Target="/ppt/notesSlides/notesSlide1.xml" Id="Ra6e60386de2c44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8a93aef784b32" /><Relationship Type="http://schemas.openxmlformats.org/officeDocument/2006/relationships/notesSlide" Target="/ppt/notesSlides/notesSlide2.xml" Id="Rd9f5a15b1dc543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ac66ceb8541de" /><Relationship Type="http://schemas.openxmlformats.org/officeDocument/2006/relationships/notesSlide" Target="/ppt/notesSlides/notesSlide3.xml" Id="R4cfa49b0d6d949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33c099b5543f1" /><Relationship Type="http://schemas.openxmlformats.org/officeDocument/2006/relationships/notesSlide" Target="/ppt/notesSlides/notesSlide4.xml" Id="Rcf23e18cb4ea47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527567c7e4e14" /><Relationship Type="http://schemas.openxmlformats.org/officeDocument/2006/relationships/image" Target="/ppt/media/image.png" Id="R7693fa76573f4692" /><Relationship Type="http://schemas.openxmlformats.org/officeDocument/2006/relationships/notesSlide" Target="/ppt/notesSlides/notesSlide5.xml" Id="Re8bb0dca9acb4d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8433f123f4f3a" /><Relationship Type="http://schemas.openxmlformats.org/officeDocument/2006/relationships/image" Target="/ppt/media/image2.png" Id="R83d875fe698943fb" /><Relationship Type="http://schemas.openxmlformats.org/officeDocument/2006/relationships/notesSlide" Target="/ppt/notesSlides/notesSlide6.xml" Id="Rd9f08e1d20f742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659f41de04879" /><Relationship Type="http://schemas.openxmlformats.org/officeDocument/2006/relationships/image" Target="/ppt/media/image3.png" Id="Rde3b4faa253043dc" /><Relationship Type="http://schemas.openxmlformats.org/officeDocument/2006/relationships/notesSlide" Target="/ppt/notesSlides/notesSlide7.xml" Id="Rc861b3efa90a40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9be5df9b44573" /><Relationship Type="http://schemas.openxmlformats.org/officeDocument/2006/relationships/image" Target="/ppt/media/image4.png" Id="Rdeb52e25b18d4b30" /><Relationship Type="http://schemas.openxmlformats.org/officeDocument/2006/relationships/notesSlide" Target="/ppt/notesSlides/notesSlide8.xml" Id="Rb57a196d323449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c407ce2274f5a" /><Relationship Type="http://schemas.openxmlformats.org/officeDocument/2006/relationships/chart" Target="/ppt/slides/charts/chart1.xml" Id="R5d8b17cb950545d9" /><Relationship Type="http://schemas.openxmlformats.org/officeDocument/2006/relationships/notesSlide" Target="/ppt/notesSlides/notesSlide9.xml" Id="Ra5274f51c0bc40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baf5aef364133" /><Relationship Type="http://schemas.openxmlformats.org/officeDocument/2006/relationships/image" Target="/ppt/media/image5.png" Id="R487d56a98aa74985" /><Relationship Type="http://schemas.openxmlformats.org/officeDocument/2006/relationships/notesSlide" Target="/ppt/notesSlides/notesSlide10.xml" Id="R0cadf57c16f442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a3c89929c46fb" /><Relationship Type="http://schemas.openxmlformats.org/officeDocument/2006/relationships/notesSlide" Target="/ppt/notesSlides/notesSlide11.xml" Id="R3d7b870eb28f4d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e278c44d7453a" /><Relationship Type="http://schemas.openxmlformats.org/officeDocument/2006/relationships/image" Target="/ppt/media/image6.png" Id="Rbc0a8ca95ff94b19" /><Relationship Type="http://schemas.openxmlformats.org/officeDocument/2006/relationships/image" Target="/ppt/media/image7.png" Id="R0f44f78bba954af9" /><Relationship Type="http://schemas.openxmlformats.org/officeDocument/2006/relationships/notesSlide" Target="/ppt/notesSlides/notesSlide12.xml" Id="R41a698caeaf74b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05e8a4e8d47cf" /><Relationship Type="http://schemas.openxmlformats.org/officeDocument/2006/relationships/notesSlide" Target="/ppt/notesSlides/notesSlide13.xml" Id="Rb9038269dd6144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2d9cfc0534972" /><Relationship Type="http://schemas.openxmlformats.org/officeDocument/2006/relationships/notesSlide" Target="/ppt/notesSlides/notesSlide14.xml" Id="R9f4ccfc2219b45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b8d2524844334" /><Relationship Type="http://schemas.openxmlformats.org/officeDocument/2006/relationships/notesSlide" Target="/ppt/notesSlides/notesSlide15.xml" Id="Rc18432bd83db40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29d33ca944aa1" /><Relationship Type="http://schemas.openxmlformats.org/officeDocument/2006/relationships/notesSlide" Target="/ppt/notesSlides/notesSlide16.xml" Id="Rfdcc8264781a4c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4b084ce0c4d8c" /><Relationship Type="http://schemas.openxmlformats.org/officeDocument/2006/relationships/notesSlide" Target="/ppt/notesSlides/notesSlide17.xml" Id="R94bee54a050947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4809400e74b91" /><Relationship Type="http://schemas.openxmlformats.org/officeDocument/2006/relationships/notesSlide" Target="/ppt/notesSlides/notesSlide18.xml" Id="Ra4e91128a18345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5c1d80d9d46ea" /><Relationship Type="http://schemas.openxmlformats.org/officeDocument/2006/relationships/notesSlide" Target="/ppt/notesSlides/notesSlide19.xml" Id="R770d02e4fa224f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5157957b44eaf" /><Relationship Type="http://schemas.openxmlformats.org/officeDocument/2006/relationships/notesSlide" Target="/ppt/notesSlides/notesSlide20.xml" Id="Ra9c3ec017c6540b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98fce87774ca7" /><Relationship Type="http://schemas.openxmlformats.org/officeDocument/2006/relationships/chart" Target="/ppt/slides/charts/chart2.xml" Id="Rb31a8bf3f27d45e4" /><Relationship Type="http://schemas.openxmlformats.org/officeDocument/2006/relationships/notesSlide" Target="/ppt/notesSlides/notesSlide21.xml" Id="Rcc64d7f3856d4a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bc1f8c46a411b" /><Relationship Type="http://schemas.openxmlformats.org/officeDocument/2006/relationships/notesSlide" Target="/ppt/notesSlides/notesSlide22.xml" Id="Rfb959d3b0ebb46c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0b6c367fd4598" /><Relationship Type="http://schemas.openxmlformats.org/officeDocument/2006/relationships/notesSlide" Target="/ppt/notesSlides/notesSlide23.xml" Id="R8c3b346abe564c2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4134cdf2d4107" /><Relationship Type="http://schemas.openxmlformats.org/officeDocument/2006/relationships/image" Target="/ppt/media/image8.png" Id="R1d50d6832b7240e9" /><Relationship Type="http://schemas.openxmlformats.org/officeDocument/2006/relationships/notesSlide" Target="/ppt/notesSlides/notesSlide24.xml" Id="R228657fb581c452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92f7efd1c432a" /><Relationship Type="http://schemas.openxmlformats.org/officeDocument/2006/relationships/notesSlide" Target="/ppt/notesSlides/notesSlide25.xml" Id="Rf63348eab82147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51814fb404e0c" /><Relationship Type="http://schemas.openxmlformats.org/officeDocument/2006/relationships/chart" Target="/ppt/slides/charts/chart3.xml" Id="R9e764a7274c64645" /><Relationship Type="http://schemas.openxmlformats.org/officeDocument/2006/relationships/notesSlide" Target="/ppt/notesSlides/notesSlide26.xml" Id="R236b2cc27b3a4fa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9891dbc534f86" /><Relationship Type="http://schemas.openxmlformats.org/officeDocument/2006/relationships/notesSlide" Target="/ppt/notesSlides/notesSlide27.xml" Id="R34c188d67991466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Попадание на следующих пяти публикациях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A2530"/>
              </a:solidFill>
              <a:latin typeface="Cambria"/>
              <a:ea typeface="Cambria"/>
              <a:cs typeface="Cambria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Сигналы AP37</c:v>
          </c:tx>
          <c:spPr>
            <a:solidFill xmlns:a="http://schemas.openxmlformats.org/drawingml/2006/main">
              <a:srgbClr val="16674F"/>
            </a:solidFill>
          </c:spPr>
          <c:cat>
            <c:strRef>
              <c:f>'Chart Data'!$A$2:$A$2</c:f>
              <c:strCache>
                <c:ptCount val="1"/>
                <c:pt idx="0">
                  <c:v>h = 5</c:v>
                </c:pt>
              </c:strCache>
            </c:strRef>
          </c:cat>
          <c:val>
            <c:numRef>
              <c:f>'Chart Data'!$B$2:$B$2</c:f>
              <c:numCache>
                <c:formatCode>0.0%</c:formatCode>
                <c:ptCount val="1"/>
                <c:pt idx="0">
                  <c:v>0.73381294964</c:v>
                </c:pt>
              </c:numCache>
            </c:numRef>
          </c:val>
        </c:ser>
        <c:ser>
          <c:idx val="1"/>
          <c:order val="1"/>
          <c:tx>
            <c:v>Случайный день</c:v>
          </c:tx>
          <c:spPr>
            <a:solidFill xmlns:a="http://schemas.openxmlformats.org/drawingml/2006/main">
              <a:srgbClr val="A6AFB8"/>
            </a:solidFill>
          </c:spPr>
          <c:cat>
            <c:strRef>
              <c:f>'Chart Data'!$C$2:$C$2</c:f>
              <c:strCache>
                <c:ptCount val="1"/>
                <c:pt idx="0">
                  <c:v>h = 5</c:v>
                </c:pt>
              </c:strCache>
            </c:strRef>
          </c:cat>
          <c:val>
            <c:numRef>
              <c:f>'Chart Data'!$D$2:$D$2</c:f>
              <c:numCache>
                <c:formatCode>0.0%</c:formatCode>
                <c:ptCount val="1"/>
                <c:pt idx="0">
                  <c:v>0.294478527607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4E5966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BFC7C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8ECEF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4E5966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Доля удачных дней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A2530"/>
              </a:solidFill>
              <a:latin typeface="Cambria"/>
              <a:ea typeface="Cambria"/>
              <a:cs typeface="Cambria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Сигналы AP37</c:v>
          </c:tx>
          <c:spPr>
            <a:solidFill xmlns:a="http://schemas.openxmlformats.org/drawingml/2006/main">
              <a:srgbClr val="16674F"/>
            </a:solidFill>
          </c:spPr>
          <c:cat>
            <c:strRef>
              <c:f>'Chart Data'!$A$2:$A$5</c:f>
              <c:strCache>
                <c:ptCount val="4"/>
                <c:pt idx="0">
                  <c:v>3 публикации</c:v>
                </c:pt>
                <c:pt idx="1">
                  <c:v>5 публикаций</c:v>
                </c:pt>
                <c:pt idx="2">
                  <c:v>10 публикаций</c:v>
                </c:pt>
                <c:pt idx="3">
                  <c:v>20 публикаций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0.856115107914</c:v>
                </c:pt>
                <c:pt idx="1">
                  <c:v>0.73381294964</c:v>
                </c:pt>
                <c:pt idx="2">
                  <c:v>0.559124087591</c:v>
                </c:pt>
                <c:pt idx="3">
                  <c:v>0.411326378539</c:v>
                </c:pt>
              </c:numCache>
            </c:numRef>
          </c:val>
        </c:ser>
        <c:ser>
          <c:idx val="1"/>
          <c:order val="1"/>
          <c:tx>
            <c:v>Случайный день</c:v>
          </c:tx>
          <c:spPr>
            <a:solidFill xmlns:a="http://schemas.openxmlformats.org/drawingml/2006/main">
              <a:srgbClr val="A6AFB8"/>
            </a:solidFill>
          </c:spPr>
          <c:cat>
            <c:strRef>
              <c:f>'Chart Data'!$C$2:$C$5</c:f>
              <c:strCache>
                <c:ptCount val="4"/>
                <c:pt idx="0">
                  <c:v>3 публикации</c:v>
                </c:pt>
                <c:pt idx="1">
                  <c:v>5 публикаций</c:v>
                </c:pt>
                <c:pt idx="2">
                  <c:v>10 публикаций</c:v>
                </c:pt>
                <c:pt idx="3">
                  <c:v>20 публикаций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0.354434250765</c:v>
                </c:pt>
                <c:pt idx="1">
                  <c:v>0.294478527607</c:v>
                </c:pt>
                <c:pt idx="2">
                  <c:v>0.228129829985</c:v>
                </c:pt>
                <c:pt idx="3">
                  <c:v>0.165149136578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4E5966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BFC7C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8ECEF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4E5966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Попадание на следующих пяти публикациях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A2530"/>
              </a:solidFill>
              <a:latin typeface="Cambria"/>
              <a:ea typeface="Cambria"/>
              <a:cs typeface="Cambria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Сигналы AP37</c:v>
          </c:tx>
          <c:spPr>
            <a:solidFill xmlns:a="http://schemas.openxmlformats.org/drawingml/2006/main">
              <a:srgbClr val="16674F"/>
            </a:solidFill>
          </c:spPr>
          <c:cat>
            <c:strRef>
              <c:f>'Chart Data'!$A$2:$A$6</c:f>
              <c:strCache>
                <c:ptCount val="5"/>
                <c:pt idx="0">
                  <c:v>AMD</c:v>
                </c:pt>
                <c:pt idx="1">
                  <c:v>KGS</c:v>
                </c:pt>
                <c:pt idx="2">
                  <c:v>KZT</c:v>
                </c:pt>
                <c:pt idx="3">
                  <c:v>TJS</c:v>
                </c:pt>
                <c:pt idx="4">
                  <c:v>UZS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0.746478873239</c:v>
                </c:pt>
                <c:pt idx="1">
                  <c:v>0.726618705036</c:v>
                </c:pt>
                <c:pt idx="2">
                  <c:v>0.68115942029</c:v>
                </c:pt>
                <c:pt idx="3">
                  <c:v>0.748201438849</c:v>
                </c:pt>
                <c:pt idx="4">
                  <c:v>0.766423357664</c:v>
                </c:pt>
              </c:numCache>
            </c:numRef>
          </c:val>
        </c:ser>
        <c:ser>
          <c:idx val="1"/>
          <c:order val="1"/>
          <c:tx>
            <c:v>Случайный день</c:v>
          </c:tx>
          <c:spPr>
            <a:solidFill xmlns:a="http://schemas.openxmlformats.org/drawingml/2006/main">
              <a:srgbClr val="A6AFB8"/>
            </a:solidFill>
          </c:spPr>
          <c:cat>
            <c:strRef>
              <c:f>'Chart Data'!$C$2:$C$6</c:f>
              <c:strCache>
                <c:ptCount val="5"/>
                <c:pt idx="0">
                  <c:v>AMD</c:v>
                </c:pt>
                <c:pt idx="1">
                  <c:v>KGS</c:v>
                </c:pt>
                <c:pt idx="2">
                  <c:v>KZT</c:v>
                </c:pt>
                <c:pt idx="3">
                  <c:v>TJS</c:v>
                </c:pt>
                <c:pt idx="4">
                  <c:v>UZS</c:v>
                </c:pt>
              </c:strCache>
            </c:strRef>
          </c:cat>
          <c:val>
            <c:numRef>
              <c:f>'Chart Data'!$D$2:$D$6</c:f>
              <c:numCache>
                <c:formatCode>0.0%</c:formatCode>
                <c:ptCount val="5"/>
                <c:pt idx="0">
                  <c:v>0.29754601227</c:v>
                </c:pt>
                <c:pt idx="1">
                  <c:v>0.292944785276</c:v>
                </c:pt>
                <c:pt idx="2">
                  <c:v>0.266871165644</c:v>
                </c:pt>
                <c:pt idx="3">
                  <c:v>0.320552147239</c:v>
                </c:pt>
                <c:pt idx="4">
                  <c:v>0.294478527607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4E5966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BFC7C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E8ECEF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4E5966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2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FDEB87-0B22-495E-88A8-7DA8DE8C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9C5B12"/>
                </a:solidFill>
                <a:latin typeface="Calibri"/>
                <a:ea typeface="Calibri"/>
                <a:cs typeface="Calibri"/>
              </a:rPr>
              <a:t>ФИНАЛЬНАЯ ЗАЩИТА · 07.09.2026 · КОМАНДА 11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76B032-B1C7-49BF-8454-DF9AA793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40280"/>
            <a:ext cx="10881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600"/>
              </a:lnSpc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Как поймать выгодный момент</a:t>
            </a:r>
            <a:endParaRPr sz="4000"/>
          </a:p>
          <a:p xmlns:a="http://schemas.openxmlformats.org/drawingml/2006/main">
            <a:pPr marL="0" indent="0">
              <a:lnSpc>
                <a:spcPts val="4600"/>
              </a:lnSpc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для перевода за рубеж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C74765E-9739-47FA-BAF3-5606FD25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Сигнальный слой над существующим переводом: RUB → TJS, UZS, KGS, AMD, KZT. Модель выбирает момент, а клиент видит понятный факт о текущем курсе и истории.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49053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0A85BC1-1F96-4B77-9596-414E2864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376CC0-E9EE-456A-8837-1C851ECF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2842730-85ED-4F04-9342-CF40870B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Ценность: клиент перестаёт выбирать момент вслепую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56499BC-52C5-4854-9398-A8885BB6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Клиент видит, сколько получит семья и как текущий курс выглядит на фоне истории. Банк выбирает редкий повод напомнить о переводе.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E029BE9-8C35-4DA9-A278-CDA50F54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00784"/>
            <a:ext cx="3520440" cy="1700784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5A7BA44-47E9-4F75-9553-ABBCFE90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65376"/>
            <a:ext cx="34838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2,492 lift</a:t>
            </a:r>
            <a:endParaRPr sz="3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1806C4-C345-4CB2-B29F-5C7CAA5E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615184"/>
            <a:ext cx="3118104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Попадание: 73,38 % против 29,45 % у случайного дня. Горизонт: следующие пять публикаций ЦБ.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C0EAD4-95C5-42DF-A1F0-AAEDF0CB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700784"/>
            <a:ext cx="3520440" cy="1700784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B3FAEC-F94C-4E15-B9B7-69E5714C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5376"/>
            <a:ext cx="34838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+74,55 б. п.</a:t>
            </a:r>
            <a:endParaRPr sz="3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F110C7C-AA89-48C8-B603-4E6C0C00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615184"/>
            <a:ext cx="3118104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Выгода момента в окне ±5 публикаций. Это результат по публичному курсу ЦБ, не обещанная экономия клиента.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5A8F195-0D2F-4DE7-A4FC-68751FC2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00784"/>
            <a:ext cx="3520440" cy="1700784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290744-A6E0-4515-93F9-F03E205A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865376"/>
            <a:ext cx="34838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1,04 / нед.</a:t>
            </a:r>
            <a:endParaRPr sz="3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8371ADC-5985-4579-A674-7203AF6C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2615184"/>
            <a:ext cx="3118104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Столько сигналов приходится на валюту в среднем. Не больше двух за календарную неделю.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25E3045-17B2-42C8-AE30-5DDC4A76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12464"/>
            <a:ext cx="3520440" cy="1956816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EDE3B40-2EA8-4AE2-B919-F1A682EA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895344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1 · Индикатор на экране суммы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A07E3BD-B8B2-4506-A963-322AA86B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25696"/>
            <a:ext cx="3008376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Сумма получателя и сравнение с историей. Температура модели остаётся внутренней оценкой.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103FEBC-6F5F-4CAA-820A-921482C7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712464"/>
            <a:ext cx="3520440" cy="1956816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1A27117-175C-48DB-9EB6-F8A45B88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895344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2 · Оповещение об уровне</a:t>
            </a:r>
            <a:endParaRPr sz="15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D3E8E5-D2FB-4F05-8D7E-3FAA289A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425696"/>
            <a:ext cx="3008376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Порог называет сам клиент. Он получает возможность дождаться нужного курса, а банк – данные о намерении, которых у него нет.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A640DAE-AB12-44AD-9DBD-CC6C85C0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2464"/>
            <a:ext cx="3520440" cy="1956816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76C8CE9-47CE-4080-8EC8-62FF4783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3895344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3 · Отбор адресата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99CD497-8EB7-4A39-BF22-BC8386A7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4425696"/>
            <a:ext cx="3008376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В пилоте банк добавит согласие клиента и общий лимит сообщений. Клиентских данных на хакатоне нет.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EB03D9-5E3E-4C52-A131-E14F24D5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AP37, h=5, 09.01.2024–25.08.2026. Открытая ретроспектива после получения нового курса ЦБ.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84130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89C2964-94CB-4598-A5CD-8C3F9B55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E66FB4-F93F-460F-B62F-F0ABFE3B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2187979-FDD9-472D-8DF7-175AA9DC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Триггер: что вообще становится сигналом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5C0AA43-0AC9-4FD4-BF50-000ECCBE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9C5B12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F65E21-C657-4D5F-8C68-38F46C62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Триггер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CE46C0-BA16-4F10-83BA-1ED657E0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0E33367-6FB3-489A-A499-4892BADC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49BE620-3D40-444A-9AB0-DB0403DC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2 · Фильтр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37F499-D88C-4F3C-894A-82E679A8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1294267-3DD2-4EF3-A72C-B9D45716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B08BE2B-4834-425F-9667-D2B0149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3 · Пуш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2F353C9-A657-43DF-BD09-5326E3B6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EDA4B77-4861-47AF-8925-51F708A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55422B6-D488-4141-B787-DD982DAF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4 · Экран перевода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49D939E-E751-4885-96FC-C4C3FD9C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1151CA2-FEDA-441B-BA51-051D6BE3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4284FCD-B4CE-45EA-8516-6BD925BD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5 · Решение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2C21D07-F9FF-4F76-BB3B-8FF60ED6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DDD7809-6943-48FF-894B-0E3CBA6F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5C9CF2B-D4C6-4467-BFDA-66AE290E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6 · Удержание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392DE1B-9E2A-424C-91AD-65F929E4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Первые два шага клиент не видит. Модель обновляется по мере поступления данных: история ЦБ, завершённые биржевые свечи, затем новый опубликованный курс.</a:t>
            </a:r>
            <a:endParaRPr sz="13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1B23BD2-34C0-4011-B5FA-04C983D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66544"/>
            <a:ext cx="352044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555B284-3612-4345-A295-5694CB74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249424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Модель момента</a:t>
            </a:r>
            <a:endParaRPr sz="15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C7C94E3-850C-4703-A8E3-24314C26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779776"/>
            <a:ext cx="3008376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Оценка удачности перевода на ближайшие пять публикаций. Отдельный фильтр решает, нужен ли пуш.</a:t>
            </a:r>
            <a:endParaRPr sz="12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82635A0-274D-4CC1-9853-A18070D1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066544"/>
            <a:ext cx="352044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75AA993-3AE3-4D34-9D45-377D9276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249424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Факт для клиента</a:t>
            </a:r>
            <a:endParaRPr sz="15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C4777BD-676F-4218-91CB-873D012C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779776"/>
            <a:ext cx="3008376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Уровень относительно прошлых 90 дней, изменение за неделю или достигнутый порог клиента. Только проверяемый факт.</a:t>
            </a:r>
            <a:endParaRPr sz="12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649DF89-7066-41E2-8851-752ED36C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66544"/>
            <a:ext cx="3520440" cy="201168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EF9E1C8-E623-403D-8EFB-717BA9D3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2249424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Свой уровень</a:t>
            </a:r>
            <a:endParaRPr sz="15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7BBF6FF-F0FB-4571-8729-131BF76C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2779776"/>
            <a:ext cx="3008376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Клиент сам называет нужную сумму получателю. Это дополнительная ветка продукта, отдельно от качества модели.</a:t>
            </a:r>
            <a:endParaRPr sz="12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A19E8E6-2A25-4648-A37E-F45A2891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15968"/>
            <a:ext cx="1088136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A2530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95431C6-F236-40AA-B040-5108D354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1416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Модель выбирает момент, текст объясняет настоящее</a:t>
            </a:r>
            <a:endParaRPr sz="15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756B851-3922-4D78-88D1-16DBA9AD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6320"/>
            <a:ext cx="103327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Температура 0–100 используется внутри системы. В пуш и виджет не выводим вероятность будущего курса. Если для сильного сигнала нет подходящего факта, коммуникацию пропускаем.</a:t>
            </a:r>
            <a:endParaRPr sz="12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966DB1F-E544-48A8-8FCF-5B400F5B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Частоту после клиентских фильтров нужно отдельно измерить в пилоте. Метрики модели считаются до них.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71899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AD9234F-CA3D-4177-A300-D1CF9BE5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970F8A6-C720-4A6B-9A72-324D92ED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43C0DE-E75B-4175-A140-735BB81F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Фильтр: что отсеивается до отправки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8DC6574-870B-4667-BE0D-56DFC18C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AC066C-C616-404C-8855-1749AE05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1 · Триггер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3F6B7F3-8084-47B7-B630-3ECF6C09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97D6D63-3F0A-4ACA-87F5-C9C4B0FB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9C5B12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9EC4136-BF61-4AC8-9637-0F7E3132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Фильтр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9FD39CE-B370-4570-A18B-31C7060E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19EECC5-E5C4-4B12-A252-136584E8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0BDC346-78A2-4BA7-883D-FE0ABE4F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3 · Пуш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5BDCDBA-802E-4619-A56C-FFBCA73E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F303A22-8D1C-47A2-B3E5-AACCC48C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840DA76-E9BF-43A1-B141-578DA0DA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4 · Экран перевода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FF386EA-476E-4BD4-B8F0-4362809F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45685A4-79F8-4E8B-9DD7-E0DD629E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D1C1527-5FA9-46DF-8279-1790ED9B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5 · Решение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AA1F901-D270-4FFB-BF84-1C304294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1C9A788-9AAE-4B2F-B9C0-FBF65043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C04959F-8883-4F13-AE77-AC995969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6 · Удержание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48BBB89-6B8F-44A7-AF74-DEA0C076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Из сработавших оставляем те, что дойдут живыми и вовремя. Второй шаг клиент тоже не видит – но именно он решает, станет ли продукт спамом.</a:t>
            </a:r>
            <a:endParaRPr sz="13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72DEB66-B0E1-480A-B811-3EF53016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48256"/>
            <a:ext cx="5367528" cy="1572768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03B01A6-85D1-46C0-A623-63E5DB1B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231136"/>
            <a:ext cx="48554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Прореживание серий</a:t>
            </a:r>
            <a:endParaRPr sz="15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A22B007-8D62-4C4C-B8BE-C92C78D6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761488"/>
            <a:ext cx="485546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AP37 ограничивает поток двумя сигналами в неделю на валюту. Сильное ядро дополняется резервным сигналом при долгой тишине.</a:t>
            </a:r>
            <a:endParaRPr sz="12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841536A-DC82-4040-A4A8-9320E09D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2048256"/>
            <a:ext cx="5367528" cy="1572768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BADEAF1-0D94-4D91-ABA2-729D2F4F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231136"/>
            <a:ext cx="48554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Календарные ограничения</a:t>
            </a:r>
            <a:endParaRPr sz="15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718D42E-4EC2-4AC7-84E6-DB59C2DA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761488"/>
            <a:ext cx="485546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Продуктовое правило: учитываем значимые даты коридора. Например, не используем поздравительный повод 24 апреля для Армении.</a:t>
            </a:r>
            <a:endParaRPr sz="12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73A2DCC-2202-4412-94ED-72F6E140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30752"/>
            <a:ext cx="5367528" cy="1572768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4FBF6C2-58CF-414D-8BB9-8A1EF976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913632"/>
            <a:ext cx="48554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Часовые пояса</a:t>
            </a:r>
            <a:endParaRPr sz="15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8B665CD-0710-4204-A3AD-0E24E5BC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43984"/>
            <a:ext cx="485546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Отправка по местному времени клиента. Если вечерняя публикация попала в ночь, утром заново проверяем сигнал и курс.</a:t>
            </a:r>
            <a:endParaRPr sz="12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25500F5-D53B-48C5-9D70-B92366AD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3730752"/>
            <a:ext cx="5367528" cy="1572768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55FB4D2-E3AF-4FE5-9148-30B43A19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913632"/>
            <a:ext cx="48554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Достоверность и свежесть</a:t>
            </a:r>
            <a:endParaRPr sz="15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BF5743A-B2B1-4637-A0A4-C8288032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443984"/>
            <a:ext cx="485546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Не получен источник, нет сильного сигнала или безопасного текста: молчим. Слабый сигнал не отправляем ради плана.</a:t>
            </a:r>
            <a:endParaRPr sz="12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6979E29-5C1E-42FD-8A40-201366B8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58384"/>
            <a:ext cx="10881360" cy="1133856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A2530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B7A5CD1-372E-4A81-928E-A041BC3A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3832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E89484"/>
                </a:solidFill>
                <a:latin typeface="Cambria"/>
                <a:ea typeface="Cambria"/>
                <a:cs typeface="Cambria"/>
              </a:rPr>
              <a:t>Граница прототипа и пилота</a:t>
            </a:r>
            <a:endParaRPr sz="15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301F2EE-2C09-41BC-91BC-BAEA3D62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8736"/>
            <a:ext cx="103327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Фильтр AP37 уже реализован: в среднем 1,04 сигнала на валюту в неделю. Общий лимит на клиента, время отправки и разрешения должен подключить банк.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414150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D0393D-A399-4AF3-9CD4-87836E5E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5592CB-0740-4709-8E6C-D9A0FD09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A456DC0-9239-4EF7-8180-7C5F224E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Пуш: одно сообщение, одно число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3E9EEA4-7595-41CC-BEB3-082096C3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C432919-0D64-4022-881C-77773471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1 · Триггер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C21F17D-764B-44AD-9856-5573953D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7218229-4CD5-4B8F-A24D-4774ED1D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E5EEE34-B9F0-4B30-9558-1391D50A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2 · Фильтр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E75DA44-F4D4-42E8-A603-00D0D017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3DEFB84-51F0-4F72-843E-893CB22C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9C5B12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B6EA2C8-AEE2-4FDA-8DCA-7F6B208E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Пуш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0BB0514-056E-46FC-BBE9-38F2CC4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6B1CEC7-DF97-439F-B9F5-852D02E8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BC0DAC-2117-462D-915B-61CEBC9E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4 · Экран перевода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8AFEE15-174D-4554-8164-C52DBE42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4A01311-A947-47BE-BF59-E12469DF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46BD9C1-7586-4581-8D3C-9960746A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5 · Решение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81BDC16-A9CD-4EF8-A022-5D727B41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5C5DD45-1D06-4790-8074-D32D8BDA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A411C0F-2C36-4C9F-A9D2-16F6A56F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6 · Удержание</a:t>
            </a:r>
            <a:endParaRPr sz="1050"/>
          </a:p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3fa76573f4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627632"/>
            <a:ext cx="2194560" cy="2975823"/>
          </a:xfrm>
          <a:prstGeom xmlns:a="http://schemas.openxmlformats.org/drawingml/2006/main" prst="rect">
            <a:avLst/>
          </a:prstGeom>
        </p:spPr>
      </p:pic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14A9415-BD3C-4739-9FDD-5DFDDC81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627632"/>
            <a:ext cx="4069080" cy="1975104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7742747-6080-4BD5-8040-B9408603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810512"/>
            <a:ext cx="355701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Единица – сумма получателя</a:t>
            </a:r>
            <a:endParaRPr sz="15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F03A4E3-00E7-4817-8C8C-4D999E29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340864"/>
            <a:ext cx="3557016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На первом месте сумма получателя. В макете она иллюстративная, по ЦБ. В пилоте нужна актуальная котировка банка.</a:t>
            </a:r>
            <a:endParaRPr sz="12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DEC77F61-7063-4E86-BDF4-D2FB6309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627632"/>
            <a:ext cx="4069080" cy="1975104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1E21027-3358-4954-ADA2-55FE111E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810512"/>
            <a:ext cx="355701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Дата курса вместо «сегодня»</a:t>
            </a:r>
            <a:endParaRPr sz="15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3F9DB75-FB29-457B-AC56-1B2D0A31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340864"/>
            <a:ext cx="3557016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«Курс ЦБ на 4 сентября» остаётся правдой и через неделю. Слово «сегодня» ломается от задержки и от часовых поясов.</a:t>
            </a:r>
            <a:endParaRPr sz="12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B879C59-5251-4A2A-90A1-F82616A7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49040"/>
            <a:ext cx="4069080" cy="1975104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2475BFC-8BA1-40CC-AD5F-CC63CDD9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931920"/>
            <a:ext cx="355701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Деньги первыми, дата в конце</a:t>
            </a:r>
            <a:endParaRPr sz="15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7E3422B8-636B-4806-A08A-A6CD1665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4462272"/>
            <a:ext cx="3557016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Проверка на читателе: дата в начале читается как срок платежа. Клиент, открывший пуш назавтра, решает, что опоздал.</a:t>
            </a:r>
            <a:endParaRPr sz="125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A63419D5-AC34-4DC1-BAF7-85E3E824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749040"/>
            <a:ext cx="4069080" cy="1975104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C348B7D-6759-47C4-BD9A-72A1C932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931920"/>
            <a:ext cx="355701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Температура остаётся внутри</a:t>
            </a:r>
            <a:endParaRPr sz="155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2496937-F7BF-4181-868B-8562636B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4462272"/>
            <a:ext cx="3557016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Пользователь видит сумму, дату и факт о прошлом. Не показываем ему «80 % шанса» или утверждение «курс вырастет».</a:t>
            </a:r>
            <a:endParaRPr sz="12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20E2BED-E2D1-4E18-83D1-4FFB1368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Макет команды сохранён. Числа в экранах иллюстративные, по ЦБ, а не реальная банковская котировка.</a:t>
            </a:r>
            <a:endParaRPr sz="1050"/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5F3941-2D9C-4F38-97A0-76D42690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" y="3657600"/>
            <a:ext cx="1522476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C4A3BD-B870-4666-935B-D7079AB3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" y="3664915"/>
            <a:ext cx="1495044" cy="300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">
                <a:solidFill>
                  <a:srgbClr val="30353B"/>
                </a:solidFill>
                <a:latin typeface="Calibri"/>
                <a:ea typeface="Calibri"/>
                <a:cs typeface="Calibri"/>
              </a:defRPr>
            </a:pPr>
            <a:r>
              <a:rPr sz="540">
                <a:solidFill>
                  <a:srgbClr val="30353B"/>
                </a:solidFill>
                <a:latin typeface="Calibri"/>
                <a:ea typeface="Calibri"/>
                <a:cs typeface="Calibri"/>
              </a:rPr>
              <a:t>За 30 000 ₽ — 3 198 сомони.</a:t>
            </a:r>
          </a:p>
          <a:p xmlns:a="http://schemas.openxmlformats.org/drawingml/2006/main">
            <a:pPr>
              <a:defRPr sz="540">
                <a:solidFill>
                  <a:srgbClr val="30353B"/>
                </a:solidFill>
                <a:latin typeface="Calibri"/>
                <a:ea typeface="Calibri"/>
                <a:cs typeface="Calibri"/>
              </a:defRPr>
            </a:pPr>
            <a:r>
              <a:rPr sz="540">
                <a:solidFill>
                  <a:srgbClr val="30353B"/>
                </a:solidFill>
                <a:latin typeface="Calibri"/>
                <a:ea typeface="Calibri"/>
                <a:cs typeface="Calibri"/>
              </a:rPr>
              <a:t>Лучше было 8 дней из 90.</a:t>
            </a:r>
          </a:p>
          <a:p xmlns:a="http://schemas.openxmlformats.org/drawingml/2006/main">
            <a:pPr>
              <a:defRPr sz="540">
                <a:solidFill>
                  <a:srgbClr val="30353B"/>
                </a:solidFill>
                <a:latin typeface="Calibri"/>
                <a:ea typeface="Calibri"/>
                <a:cs typeface="Calibri"/>
              </a:defRPr>
            </a:pPr>
            <a:r>
              <a:rPr sz="540">
                <a:solidFill>
                  <a:srgbClr val="30353B"/>
                </a:solidFill>
                <a:latin typeface="Calibri"/>
                <a:ea typeface="Calibri"/>
                <a:cs typeface="Calibri"/>
              </a:rPr>
              <a:t>Курс ЦБ на 4 сентября.</a:t>
            </a:r>
          </a:p>
        </p:txBody>
      </p:sp>
    </p:spTree>
    <p:extLst>
      <p:ext uri="{BB962C8B-B14F-4D97-AF65-F5344CB8AC3E}">
        <p14:creationId xmlns:p14="http://schemas.microsoft.com/office/powerpoint/2010/main" val="1761833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5A15F08-E8F8-48DD-89D6-4579D99C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082C6A-F055-48B8-81AD-BAB0D010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C64BAD-9169-4A5E-94EA-F2B8DB5D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Экран перевода: клиент попадает не на главную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11A5D72-9597-4A20-9360-8B06AAF6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0E705AB-4083-4081-A159-5FC08776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1 · Триггер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4322CF3-9666-42A1-A2A7-5545E797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1A7361C-9910-4089-9840-32EE4B17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8AA6613-2A8A-4E23-A03A-17D0CA54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2 · Фильтр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ADD7DC2-3F57-465C-B142-2453BD20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292FB3E-19FD-4805-B32A-AE4E1981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3CC1B90-6829-4677-AA81-6A13BFD5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3 · Пуш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6404EF8-DD69-4201-9CA4-724ACBF4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08D51B1-5887-4FA7-8E3F-573DE21C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9C5B12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F97F35A-F6E3-424F-968F-D4285919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· Экран перевода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508D65-8B7D-4A06-B1DD-F0544ADA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70B02A0-6C10-4AD1-95CF-2236051B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BA6F98A-EC33-479F-ADCF-2D739A49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5 · Решение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1A91FAE-12D4-4BF4-A9D0-12AE7E56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CA7D52D-8138-4E8E-8764-6F8C7C9C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71DBD3A-9971-4C6C-AE70-CAE9CA55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6 · Удержание</a:t>
            </a:r>
            <a:endParaRPr sz="1050"/>
          </a:p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875fe698943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627632"/>
            <a:ext cx="2194560" cy="4081882"/>
          </a:xfrm>
          <a:prstGeom xmlns:a="http://schemas.openxmlformats.org/drawingml/2006/main" prst="rect">
            <a:avLst/>
          </a:prstGeom>
        </p:spPr>
      </p:pic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0B8DAEA-2839-422F-9484-EA829FCC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627632"/>
            <a:ext cx="8366760" cy="1426464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BAC0EA5-20E4-4052-9C9A-A84ED280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810512"/>
            <a:ext cx="78546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Предзаполнение вместо ввода с нуля</a:t>
            </a:r>
            <a:endParaRPr sz="15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8027016-AB78-49F7-9EA1-80B53149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340864"/>
            <a:ext cx="78546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Тап открывает перевод по тому коридору, о котором был пуш. Получатель и сумма – из последнего перевода. Клиент меняет, но не набирает заново.</a:t>
            </a:r>
            <a:endParaRPr sz="12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B9CCFA5-AFAE-47E6-BE00-19B3EC48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200400"/>
            <a:ext cx="8366760" cy="1481328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4278DF3-188A-4CA0-AD80-933EDAE3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383280"/>
            <a:ext cx="78546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Число пересчитывается при открытии</a:t>
            </a:r>
            <a:endParaRPr sz="15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7ACF19D-FCAE-4BF7-ADB1-64814B63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913632"/>
            <a:ext cx="785469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При открытии заново получаем котировку банка и внутреннюю оценку момента. Сохраняем контекст пуша, но показываем актуальные условия.</a:t>
            </a:r>
            <a:endParaRPr sz="12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108BD1BE-3E2B-4323-AFB7-B9BDA8EC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828032"/>
            <a:ext cx="8366760" cy="1426464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9E9CC4B5-E8CE-40FA-AC17-54618F8F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5010912"/>
            <a:ext cx="78546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E3226"/>
                </a:solidFill>
                <a:latin typeface="Cambria"/>
                <a:ea typeface="Cambria"/>
                <a:cs typeface="Cambria"/>
              </a:rPr>
              <a:t>Курс приложения не равен курсу ЦБ</a:t>
            </a:r>
            <a:endParaRPr sz="15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86CCB23-A096-439B-9C41-E76F8A24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5541264"/>
            <a:ext cx="78546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Бэктест выполнен по ЦБ. Суммы в макете примерные. Перед подтверждением клиент должен увидеть реальный курс, комиссию и итоговую сумму.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576642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807FB7-A06A-45C8-B3A9-4F73E9AA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7B063F-DCA5-44E1-A8FC-D5E8B3D2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0E7D29-022D-46DB-A8FB-E303356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Решение: «подождать» – не поражение продукта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534F8D6-AFBF-441A-9D69-CF4C726C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612E22-2533-4D1F-A373-39D93683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1 · Триггер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4C4863B-9F66-442E-A6DF-4451AB53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ECF2361-0FDF-4077-93DF-68E4C610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7C2ED71-3EE9-4A8F-8700-FD7B1E45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2 · Фильтр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37CA4E7-57FA-46D5-9678-7166541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6433BDB-4C2C-4C95-AE79-21D6309E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FCEDDF1-C91D-48E9-9B93-D767ACEC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3 · Пуш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D9DF718-A097-4F27-8073-63075DE4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8ED18C4-2E1E-4E63-B877-2E671B12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FEF58D9-1732-4861-BF5F-F5CE61F3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4 · Экран перевода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66C6FE6-BA8A-4734-860B-DA1F38E3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DF6FCBC-3F7E-414D-B5F4-2529FA11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9C5B12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65FA76D-156B-47B4-8BF8-949F970A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· Решение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B93ABDB-058B-4E65-9D11-7EDA09EB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1215D1A-2F8A-4753-A464-C8553D00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EFCAE3C-29D7-4DAF-BA64-DD9E40A8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97A1AC"/>
                </a:solidFill>
                <a:latin typeface="Calibri"/>
                <a:ea typeface="Calibri"/>
                <a:cs typeface="Calibri"/>
              </a:rPr>
              <a:t>6 · Удержание</a:t>
            </a:r>
            <a:endParaRPr sz="1050"/>
          </a:p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b4faa253043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627632"/>
            <a:ext cx="2194560" cy="4476902"/>
          </a:xfrm>
          <a:prstGeom xmlns:a="http://schemas.openxmlformats.org/drawingml/2006/main" prst="rect">
            <a:avLst/>
          </a:prstGeom>
        </p:spPr>
      </p:pic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275468E-1A2C-453C-A0AA-81BD3D4E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627632"/>
            <a:ext cx="8366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Три равноправных исхода. Перевести, задать свой уровень или ничего не делать. Клиент сам принимает решение.</a:t>
            </a:r>
            <a:endParaRPr sz="13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E04F7D8B-C867-46E5-8DAD-231D451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103120"/>
            <a:ext cx="2651760" cy="1755648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BFCCD79-3B6F-45B4-9B6B-9EE78BE0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286000"/>
            <a:ext cx="21396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Перевести сейчас</a:t>
            </a:r>
            <a:endParaRPr sz="15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935DDDE-A07A-483A-B11D-C972DD3D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816352"/>
            <a:ext cx="21396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Основной исход. Экран уже предзаполнен, решение одно и в один тап.</a:t>
            </a:r>
            <a:endParaRPr sz="12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E096BD6F-1DA5-4E94-97A1-C5257FDB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2103120"/>
            <a:ext cx="2651760" cy="1755648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A4EFA652-FB3E-457A-8B28-47064190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286000"/>
            <a:ext cx="21396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Задать свой уровень</a:t>
            </a:r>
            <a:endParaRPr sz="15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4A2F2768-BA87-461F-AA76-A2EDAFE3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816352"/>
            <a:ext cx="21396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Кнопка равной величины рядом с переводом. Клиент называет сумму, при которой напишем.</a:t>
            </a:r>
            <a:endParaRPr sz="12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45D5074-B6DF-479E-96E6-D7804E2C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103120"/>
            <a:ext cx="2651760" cy="1755648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BAB3904-696E-42AC-A1D0-BC99177F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286000"/>
            <a:ext cx="213969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Ничего не делать</a:t>
            </a:r>
            <a:endParaRPr sz="15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FB0F221-36CA-43C0-83D6-563ECB6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816352"/>
            <a:ext cx="2139696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Тоже нормально. Индикатор остаётся на экране и ничего не требует.</a:t>
            </a:r>
            <a:endParaRPr sz="12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882261E7-2E14-4ABF-AD4B-1EE71B6F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005072"/>
            <a:ext cx="8366760" cy="2084832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A2530"/>
          </a:solidFill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7C04477F-B7DF-4AE9-839C-65B287FC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60520"/>
            <a:ext cx="7818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Наша развилка: куда девать честное «сейчас как обычно»</a:t>
            </a:r>
            <a:endParaRPr sz="15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0FC79B6B-E257-4BC5-A5EB-E9CDD015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35424"/>
            <a:ext cx="7818120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Если клиенту не подходит сумма, он может задать свой уровень. Оповещение сохраняет его намерение без давления.</a:t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Шкала на экране сравнивает текущую сумму с историей. Это не внутренняя температура модели и не обещание будущего.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874798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D699EC-2C12-4BF8-881C-DFD53995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BB933D-F5E7-4DB3-B391-1D28ADEA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01EAB3-F3DD-4BA0-8498-514D0A57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Удержание и ветка тишины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6DA6B23-5DDD-446C-BB63-79878AE2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BF41F0-2CEE-4FBC-82E5-E1485CDF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1 · Триггер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10A42E-A9FB-4B61-A8DE-5A1EE948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167A787-1CC8-4DD5-B524-A3F92CDE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9BAE259-32CC-42CE-AD08-E26C0710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2 · Фильтр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AE7DD28-3F88-4FC7-A4A1-1FCACFB6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691C489-88CA-479E-B479-3A04B084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08172EB-CA49-4D57-B908-76C3062C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3 · Пуш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B4FAF1-49AE-49B8-99B6-9695B200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57FE554-02BF-49DD-9828-F9CA07B0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272628D-1C1A-42CE-AAFE-9F6C517A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4 · Экран перевода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EFFE7B9-BD58-46FD-8BB1-CA07CB6A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6EB0BEC-575C-4238-8D19-259A65DE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D8DEE4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B25E294-596A-47E8-AE1D-A1119877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672"/>
                </a:solidFill>
                <a:latin typeface="Calibri"/>
                <a:ea typeface="Calibri"/>
                <a:cs typeface="Calibri"/>
              </a:rPr>
              <a:t>5 · Решение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7F5DA65-2BFC-4150-B5C8-8C4E477A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987552"/>
            <a:ext cx="146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B6BEC7"/>
                </a:solidFill>
                <a:latin typeface="Calibri"/>
                <a:ea typeface="Calibri"/>
                <a:cs typeface="Calibri"/>
              </a:rPr>
              <a:t>›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72814B2-555F-4114-9D7D-B539F719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9C5B12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5D42F5C-9679-4C2A-AD4A-20272A66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987552"/>
            <a:ext cx="1600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· Удержание</a:t>
            </a:r>
            <a:endParaRPr sz="1050"/>
          </a:p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52e25b18d4b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627632"/>
            <a:ext cx="2194560" cy="4064325"/>
          </a:xfrm>
          <a:prstGeom xmlns:a="http://schemas.openxmlformats.org/drawingml/2006/main" prst="rect">
            <a:avLst/>
          </a:prstGeom>
        </p:spPr>
      </p:pic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DF1E1D4-06E6-4CB9-9A3D-711AC271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627632"/>
            <a:ext cx="4069080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B3BF8ED-B976-487B-ABC2-953FA7E8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810512"/>
            <a:ext cx="355701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Оповещение живёт 30 дней</a:t>
            </a:r>
            <a:endParaRPr sz="15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D45D47E-1B71-4DCC-BC59-80E66FC6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340864"/>
            <a:ext cx="3557016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Дальше переспрашиваем. Бессрочное оповещение через полгода станет спамом по поводу, который клиент уже забыл.</a:t>
            </a:r>
            <a:endParaRPr sz="12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724CBF5-4E43-40F2-9964-2E78012E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627632"/>
            <a:ext cx="4069080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17D1C78-468A-49EA-9413-70AE8119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1810512"/>
            <a:ext cx="355701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Частота названа заранее</a:t>
            </a:r>
            <a:endParaRPr sz="15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387DD9F-78B3-4681-A875-267EC212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340864"/>
            <a:ext cx="3557016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«Столько давали 14 дней из последних девяноста». Клиент сам решает, реалистичен ли его уровень, – и не ждёт напрасно.</a:t>
            </a:r>
            <a:endParaRPr sz="12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3A26C65-F622-40EF-97E3-A3D0BEAE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401568"/>
            <a:ext cx="8366760" cy="2249424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1A2530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C377A91-6475-44C2-8036-E039E38B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57016"/>
            <a:ext cx="7818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Ветка тишины: что происходит, когда сигнала нет</a:t>
            </a:r>
            <a:endParaRPr sz="15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4B209F4-AEF8-499C-865D-B0017399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31920"/>
            <a:ext cx="78181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В большинство дней модель не создаёт пуш. Исторический индикатор на экране и оповещение об уровне продолжают работать.</a:t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Отключение модельных подсказок не должно удалять уровень, который клиент задал сам. Это отдельные настройки.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848919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57DCC5-95FD-4BF5-BD91-F63858B3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AF21C3-23EA-434C-BAE4-FC928C40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7C72AA9-6A2C-4030-B324-B4E3B532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Сигнал: 73,38 % удачных дней вместо 29,45 %</a:t>
            </a:r>
            <a:endParaRPr sz="27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5966A-9BF2-4E67-A532-72DB2364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После получения нового курса ЦБ. Оцениваем относительно курса, действующего сегодня.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40080" y="1737360"/>
          <a:ext xmlns:a="http://schemas.openxmlformats.org/drawingml/2006/main" cx="5852160" cy="4160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8b17cb950545d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CDD1C-301C-4C30-916E-F45CC011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755648"/>
            <a:ext cx="4754880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C8795-3F92-441A-B4CC-80CB5A52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1938528"/>
            <a:ext cx="4242816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6674F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Что добавил отбор сигналов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73E7B-A0FD-4C49-B8FD-06D50B3C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514600"/>
            <a:ext cx="4242816" cy="694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Простое правило «завтра не дешевле»: lift 1,962. Итоговый AP37: 2,492.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279A3-18DF-4B14-ABA8-207C1540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547872"/>
            <a:ext cx="4754880" cy="2029968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6297A-E747-4F65-B660-5DEFABA9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730752"/>
            <a:ext cx="4242816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A2530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Сравнение по одной базе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95B51-2DAD-41BA-A9E4-F8D1CD5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306824"/>
            <a:ext cx="4242816" cy="1115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Один период, пять валют, действующий курс ЦБ. У AP37 695 сигналов и 1,04 сигнала в неделю. У простого правила 1,43.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E9426-3C16-4164-9AB7-9ADC683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6E7A88"/>
                </a:solidFill>
                <a:latin typeface="Calibri"/>
                <a:ea typeface="Calibri"/>
                <a:cs typeface="Calibri"/>
              </a:defRPr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09.01.2024–25.08.2026. Открытая ретроспектива. Это не банковская доходность и не новый независимый тест.</a:t>
            </a:r>
          </a:p>
        </p:txBody>
      </p:sp>
    </p:spTree>
    <p:extLst>
      <p:ext uri="{BB962C8B-B14F-4D97-AF65-F5344CB8AC3E}">
        <p14:creationId xmlns:p14="http://schemas.microsoft.com/office/powerpoint/2010/main" val="1923367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A38CD-8DC1-4344-B8B6-B5F49021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41D20-9784-4AB3-A7F2-31078D5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8386C-F7A1-45A6-8952-CA52F02F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2530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Температура и курс: пример для узбекского сума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d56a98aa74985"/>
          <a:stretch xmlns:a="http://schemas.openxmlformats.org/drawingml/2006/main"/>
        </p:blipFill>
        <p:spPr>
          <a:xfrm xmlns:a="http://schemas.openxmlformats.org/drawingml/2006/main">
            <a:off x="1807570" y="1124712"/>
            <a:ext cx="8546381" cy="48097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31267-E123-4CFA-9F43-F5CD8B0D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6E7A88"/>
                </a:solidFill>
                <a:latin typeface="Calibri"/>
                <a:ea typeface="Calibri"/>
                <a:cs typeface="Calibri"/>
              </a:defRPr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Выбранный удачный фрагмент открытой ретроспективы, 18.05–23.06.2026. Температура внутренняя. Общие метрики — на всём периоде.</a:t>
            </a:r>
          </a:p>
        </p:txBody>
      </p:sp>
    </p:spTree>
    <p:extLst>
      <p:ext uri="{BB962C8B-B14F-4D97-AF65-F5344CB8AC3E}">
        <p14:creationId xmlns:p14="http://schemas.microsoft.com/office/powerpoint/2010/main" val="16127251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986998B-29C1-4F49-A06F-6BB3AA2F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3E7435-2F55-49CD-9285-5CC1BF5B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8FA839B-C337-40BB-B705-38130525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Модель в течение дня: какой источник уже доступен</a:t>
            </a:r>
            <a:endParaRPr sz="27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DD227-2B01-40F5-9A26-B9834503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Часы задают срез данных. Переключение после ЦБ запускает факт получения, а не наступление 18:00.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4D5A7-181F-44D7-9E24-FB63B7D9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2606040" cy="29718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2031D-1BC0-44C7-8288-29336646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65960"/>
            <a:ext cx="2093976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A2530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До рынка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B22E2-5BDB-4419-8880-C8BE3C18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542032"/>
            <a:ext cx="2093976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История ЦБ.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Бустинг по трендам, уровням, волатильности и календарю.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Ограниченная уверенность.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E39FB-6245-439D-AADA-4A103B53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783080"/>
            <a:ext cx="2606040" cy="29718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B59AE-677C-4711-BFFC-09F3FF15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65960"/>
            <a:ext cx="2093976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6674F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10:30–15:30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E9848-CD09-4BFF-AF03-202F8E86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42032"/>
            <a:ext cx="2093976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Завершённые свечи CNY/RUB начиная с 10:00.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Средняя цена к текущему ЦБ, ранг по прошлым дням и калибровка.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08ACA-A678-4477-AF2B-FD518FE3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783080"/>
            <a:ext cx="2606040" cy="29718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42E1F-AEBD-445C-ADC9-0E0EF03E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65960"/>
            <a:ext cx="2093976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9C5B12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15:30–получение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340B8-2484-4EBD-9230-E759D8F6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542032"/>
            <a:ext cx="2093976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Удерживаем последний доступный дневной прогноз.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Без новых данных не изображаем обновление.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34272-91E1-4048-BA13-8414282A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44" y="1783080"/>
            <a:ext cx="2606040" cy="29718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543BC-7184-4A2A-954B-047B0D8D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965960"/>
            <a:ext cx="2093976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6674F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После получения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0FE56-EBB4-4460-98CF-8319E32D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2542032"/>
            <a:ext cx="2093976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Уже известное изменение ЦБ на завтра и исторические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CatBoost оценивает вероятность, AP37 отдельно отбирает пуш.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94553-1A28-44FB-A910-C33A4210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92624"/>
            <a:ext cx="10881360" cy="1152144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A253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3AA63-3375-4EC6-9DAB-DA61D96D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8072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E0A75E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E0A75E"/>
                </a:solidFill>
                <a:latin typeface="Cambria"/>
                <a:ea typeface="Cambria"/>
                <a:cs typeface="Cambria"/>
              </a:rPr>
              <a:t>Когда отправляем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51C07-C93E-4E53-889A-2EE67980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8696"/>
            <a:ext cx="1033272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Сильный сигнал после получения ЦБ, затем проверка местного времени и условий банка. При переносе на утро считаем заново.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7133F-6573-4C1E-A2C4-49A9B017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6E7A88"/>
                </a:solidFill>
                <a:latin typeface="Calibri"/>
                <a:ea typeface="Calibri"/>
                <a:cs typeface="Calibri"/>
              </a:defRPr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Выходной или сбой источника: история и последнее доступное состояние. Нет новых данных — нет фиктивного обновления.</a:t>
            </a:r>
          </a:p>
        </p:txBody>
      </p:sp>
    </p:spTree>
    <p:extLst>
      <p:ext uri="{BB962C8B-B14F-4D97-AF65-F5344CB8AC3E}">
        <p14:creationId xmlns:p14="http://schemas.microsoft.com/office/powerpoint/2010/main" val="2116518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DB2A00-9B56-4041-8222-4D7A752F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3C177C-D240-4558-82B0-239C0414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DBA8352-4062-4D69-AE37-8DC443CF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Пуш: что происходит, если его открыли не сразу</a:t>
            </a:r>
            <a:endParaRPr sz="2700"/>
          </a:p>
        </p:txBody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a8ca95ff94b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188720"/>
            <a:ext cx="2468880" cy="2676266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4f78bba954a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46120" y="1188720"/>
            <a:ext cx="2468880" cy="5036515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E39509B-0C17-42E4-B2AB-46CF55D6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188720"/>
            <a:ext cx="5669280" cy="1572768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4E44D5F-E67B-4BC2-8F4C-CF2EF053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1371600"/>
            <a:ext cx="515721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Обновляем контекст при открытии</a:t>
            </a:r>
            <a:endParaRPr sz="15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9B63CB1-CB66-4AFF-A4DD-5075DC85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1901952"/>
            <a:ext cx="515721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Не рассчитываем, что старый пуш обязательно заменится на устройстве. По нажатию всегда загружаем свежие условия и показываем изменение суммы.</a:t>
            </a:r>
            <a:endParaRPr sz="125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2EB08E2-449A-4188-8F51-841660D3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926080"/>
            <a:ext cx="5669280" cy="1572768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51C31B6-FEDB-4886-A927-3F66311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3108960"/>
            <a:ext cx="515721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E3226"/>
                </a:solidFill>
                <a:latin typeface="Cambria"/>
                <a:ea typeface="Cambria"/>
                <a:cs typeface="Cambria"/>
              </a:rPr>
              <a:t>Дата и источник в сообщении</a:t>
            </a:r>
            <a:endParaRPr sz="155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22840B7-88FE-4FB4-A218-88B9BE6F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3639312"/>
            <a:ext cx="515721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Пуш остаётся историческим сообщением. Дата курса позволяет понять, к какому моменту относилась сумма.</a:t>
            </a:r>
            <a:endParaRPr sz="12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B92732E-6480-468F-B18D-261EC4CB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663440"/>
            <a:ext cx="5669280" cy="1572768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328998F-4562-4844-8D4E-0BE87BB5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4846320"/>
            <a:ext cx="515721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Свежая оценка вместо срока «сутки»</a:t>
            </a:r>
            <a:endParaRPr sz="15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674EE9D-7020-45FA-B2BA-77C1567E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5376672"/>
            <a:ext cx="515721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Температуру пересчитываем из доступных данных. Если источник устарел, не показываем старую оценку как новую и не обещаем прежние условия.</a:t>
            </a:r>
            <a:endParaRPr sz="125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06F178B-A886-47BA-9461-03424B4D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Макеты сценария «момент изменился». Суммы по ЦБ иллюстративные. В пилоте используем актуальные условия банка.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090730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F8A18EF-F5B1-4086-B97B-55B2776A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271CC0-2175-48A5-9FEF-ADF0FCCA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B68D28-A18E-49D8-A898-70F51373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Тексты: сто вариантов, девятнадцать в пилот</a:t>
            </a:r>
            <a:endParaRPr sz="2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EB6E5A8-98D2-4B39-8014-C2CC5F9F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Для каждого сообщения проверяем факт, дату и источник. Примеры ниже иллюстративные, с расчётом по ЦБ.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F2C61EA-CA39-4177-96CD-B68D9860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26464"/>
            <a:ext cx="3520440" cy="1481328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3C05B00-4E6A-4ACC-B1F2-AEC7DBD6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09344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Понятная сумма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0925C07-07B4-47B1-9BA5-076CEF5D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0083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В пилоте сумма из котировки банка. В прототипе расчёт по ЦБ явно назван ориентиром.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64AE9C2-355D-4614-8F16-6203875E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426464"/>
            <a:ext cx="3520440" cy="1481328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497CB07-207C-451E-8326-C9B3B51C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1609344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Дата последней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5E85C34-2170-4C30-94D2-B2B553CE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139696"/>
            <a:ext cx="30083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В начале она читается как срок платежа: «вижу 4 сентября – значит, опоздал».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5F31455-F04D-4996-9A57-49C1A0E5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6464"/>
            <a:ext cx="3520440" cy="1481328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727528D-34A1-422F-888F-33FE2518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609344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Только проверяемые факты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1B907A2-DC35-4EBC-B6D8-2FC7D7B0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2139696"/>
            <a:ext cx="30083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Историческое сравнение не заменяем прогнозом. Если подходящего факта нет, модельный пуш пропускаем.</a:t>
            </a:r>
            <a:endParaRPr sz="1250"/>
          </a:p>
        </p:txBody>
      </p:sp>
      <p:graphicFrame>
        <p:nvGraphicFramePr>
          <p:cNvPr id="33" name="Table 0"/>
          <p:cNvGraphicFramePr/>
          <p:nvPr/>
        </p:nvGraphicFramePr>
        <p:xfrm>
          <a:off xmlns:a="http://schemas.openxmlformats.org/drawingml/2006/main" x="640080" y="3035808"/>
          <a:ext xmlns:a="http://schemas.openxmlformats.org/drawingml/2006/main" cx="108813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3120"/>
                <a:gridCol w="2926080"/>
                <a:gridCol w="585216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Повод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Заголовок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Текст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Уровень достигнут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Дошло до вашего уровня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По ЦБ за 30 000 ₽: 4 402 000 сум. Ваш ориентир: 4 400 000. Курс на 4 сентября.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Редкий момент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Такой курс бывает нечасто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По ЦБ за 30 000 ₽: 3 198 сомони. Лучше было 8 дней из 90. Курс на 4 сентября.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Изменение за неделю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Рубль укрепился к сому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За неделю на 2,1 % по ЦБ. Условия перевода по курсу банка: в приложении.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Праздник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Навруз муборак!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Пусть близкие будут рядом. Условия перевода: в приложении.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Свой уровень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Сколько должно дойти домой?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Задайте нужную сумму получателю. Сообщим о достижении вашего уровня.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ADF1550-D625-4235-94DB-22D7B0F2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30368"/>
            <a:ext cx="10881360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A2530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C9119D4-8B53-4EAB-AE31-E8CABDDD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5816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E89484"/>
                </a:solidFill>
                <a:latin typeface="Cambria"/>
                <a:ea typeface="Cambria"/>
                <a:cs typeface="Cambria"/>
              </a:rPr>
              <a:t>Чего в наборе нет и не будет</a:t>
            </a:r>
            <a:endParaRPr sz="15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D4A9C26-DB00-421B-9ABF-B77D6273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0720"/>
            <a:ext cx="10332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Не используем «курс вырастет», «успейте, пока не подорожало», «гарантируем лучший курс». Прогноз остаётся внутри модели, клиент получает факт.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2799119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05A642-BACC-4487-9610-B5B3999D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4E1C98-F408-466C-BB4C-833DA022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379CDC2-6916-4423-BC0D-EC54DD5E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Что мы предлагаем запускать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C03B6DD-A9EA-4CF4-829B-983FD4C8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5367528" cy="3127248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66D4CC0-2BC6-4F73-B066-53466A49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298448"/>
            <a:ext cx="48554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Основное: пилот сигнального слоя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96FEF7-7E4C-42CB-BCFC-B56FDBEE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28800"/>
            <a:ext cx="4855464" cy="2231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Финальный кандидат объединяет доступные источники и отбирает редкие сигналы. Главный горизонт для объяснения: пять публикаций.</a:t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Сначала сопоставляем сигнал с реальной котировкой банка. Затем проверяем на клиентах дополнительный объём переводов против контрольной группы.</a:t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Код работает на исторических данных. Подключение боевых источников и отправки ещё требуется.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4B6E11E-154F-461D-BA0C-DE940BE3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1115568"/>
            <a:ext cx="5367528" cy="3127248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C5A545-BDD3-4C14-8FDF-45AF0B77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298448"/>
            <a:ext cx="48554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Дополнительно: уровень и интерфейс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96BD34-919E-400A-BE1B-E42A50F9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828800"/>
            <a:ext cx="4855464" cy="22311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Клиент задаёт нужную сумму получателю. При открытии пуша видит актуальные условия, историческое сравнение и возможность оставить оповещение.</a:t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Температура помогает системе оценить состояние в любой момент. В интерфейсе сохраняются факты, а не вероятность будущего.</a:t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Календарные поводы проверяем отдельно, не прибавляем их к измеренной точности модели.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98AEE2E-FF6D-4E67-A1E0-74D8C5F3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07408"/>
            <a:ext cx="10881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Допущения, на которых всё держится</a:t>
            </a:r>
            <a:endParaRPr sz="1450"/>
          </a:p>
        </p:txBody>
      </p:sp>
      <p:graphicFrame>
        <p:nvGraphicFramePr>
          <p:cNvPr id="23" name="Table 0"/>
          <p:cNvGraphicFramePr/>
          <p:nvPr/>
        </p:nvGraphicFramePr>
        <p:xfrm>
          <a:off xmlns:a="http://schemas.openxmlformats.org/drawingml/2006/main" x="640080" y="4754880"/>
          <a:ext xmlns:a="http://schemas.openxmlformats.org/drawingml/2006/main" cx="108813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69280"/>
                <a:gridCol w="521208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Публичный курс и курс перевода могут расходиться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Нужна проверка на котировках банка, комиссиях и сроке действия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Историческая связь может измениться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Новый период и пилот без перенастройки на результатах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Пуш может сдвинуть уже запланированный перевод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Меряем дополнительный объём и каннибализацию за полный период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5155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71A017A-5DC4-43B9-A4E2-5F692ECD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51D359-F797-423A-9DDB-0C010731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880313A-4B36-468F-ABE7-0738A28E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Следующие шаги</a:t>
            </a:r>
            <a:endParaRPr sz="2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B6EEFB1-B1E3-41E8-B216-D7595A50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3520440" cy="2231136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1C5470B-3A61-4AC2-8C6F-821455C7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298448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1 · Новый период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9C331A2-3F9F-4749-8E55-4217259F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28800"/>
            <a:ext cx="3008376" cy="1335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Зафиксировать модель и собирать новые результаты без подбора по ним. Хранить точное время получения каждого курса и свечи.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CB2D382-9525-40A2-9D47-116850CA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115568"/>
            <a:ext cx="3520440" cy="2231136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A7498AD-FD58-4680-98C4-CE74A42D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1298448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2 · Общий лимит клиента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51E4D0D-E39A-455C-A3AD-11608C95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1828800"/>
            <a:ext cx="3008376" cy="1335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Подключить разрешения и общую коммуникационную политику банка. Проверить частоту после текстового фильтра и переноса по часовым поясам.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7DF5A4-EFF3-405F-BC38-FBE21444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15568"/>
            <a:ext cx="3520440" cy="2231136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A8B1CE9-3042-4C97-92D1-71B63F71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298448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3 · Курс поставщика</a:t>
            </a:r>
            <a:endParaRPr sz="15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8EA3E0F-C7B4-416A-9E2F-E3D7F66F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828800"/>
            <a:ext cx="3008376" cy="1335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Измерить сигнал на исполнимой котировке, с комиссией и сроком действия. Не переносить базисные пункты ЦБ в обещания клиенту.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8914315-C5B6-44EB-AE9C-CDCFEDEF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47872"/>
            <a:ext cx="3520440" cy="2231136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91E68BB-F3FB-46AB-829A-D16F3CD7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30752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4 · Пилот с холдаутом</a:t>
            </a:r>
            <a:endParaRPr sz="15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E7E3603-3D6C-407E-8366-8F2F61EE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61104"/>
            <a:ext cx="3008376" cy="1335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Сравнить модельные пуши, оповещения об уровне и контроль без новых сообщений. Главная бизнес-метрика: дополнительный net-объём переводов.</a:t>
            </a:r>
            <a:endParaRPr sz="12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C80D6D5-947F-47F4-84AD-81BDADEC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547872"/>
            <a:ext cx="3520440" cy="2231136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3400632-28AB-462C-A5DC-DC8428AB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730752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5 · Тексты в продакшн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284FC55-0326-40E7-A3DC-DA9EAC36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261104"/>
            <a:ext cx="3008376" cy="1335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Падежный словарь валют и праздников в коде, проверка приветствий носителем языка, рубрикатор комплаенса по группам текстов.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C9B9A18-BA21-45A6-BC85-20590530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7872"/>
            <a:ext cx="3520440" cy="2231136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68AE82D-6A9D-4BDB-9921-784BB890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3730752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6 · Отбор адресата</a:t>
            </a:r>
            <a:endParaRPr sz="15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030910B-6BB3-431C-87D9-17BA71E7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4261104"/>
            <a:ext cx="3008376" cy="1335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Сегодня спроектирован, но не написан: близость к дате выплаты, баланс, календарь коридора. Он же снижает частоту без потери охвата.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EF1450A-9CE6-4ECE-B8E5-7CE3C396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Пилоту нужны банковские котировки, согласия и контрольная группа. Размер и срок определяем по трафику банка.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568129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B1B340F-26EF-44C0-90D1-6BD98C9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5B1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08DB0A-EEAD-4BBE-947D-8C1A0308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946C3FE-0A91-4E26-88D7-8B0F92F4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Температура внутри, понятные факты на экране</a:t>
            </a:r>
            <a:endParaRPr sz="27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D513A-E7D9-402D-9F3E-9B36BB36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5367528" cy="3072384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73B15-5775-4FC3-A02F-7155F771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08760"/>
            <a:ext cx="4855464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6674F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Что рассчитывает система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8B448-7766-4568-8923-DA809BAB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84832"/>
            <a:ext cx="4855464" cy="2157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Температура от 0 до 100: оценка вероятности, что на выбранном горизонте более дешёвого дня не будет.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Отдельно оцениваем размер изменения и свежесть источника. Для пуша используем собственный строгий фильтр.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7BEC5-00E5-49BB-9270-C12F2A39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1325880"/>
            <a:ext cx="5367528" cy="3072384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2CFB8-C7EF-4C57-A691-6EB4E292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508760"/>
            <a:ext cx="4855464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A2530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Что видит клиент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5913D-B726-4EA0-B8F7-08C382BC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84832"/>
            <a:ext cx="4855464" cy="2157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Сколько получит близкий человек. Как текущий курс выглядит на фоне истории. Достигнут ли его собственный уровень.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Шкала в макете сравнивает с прошлыми днями. Температуру, вероятность и обещание будущего не выводим.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5B286-1982-418C-8E48-DD72061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81728"/>
            <a:ext cx="1088136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A25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EC660-1C7A-4A8C-A62B-E92768A5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7176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E0A75E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E0A75E"/>
                </a:solidFill>
                <a:latin typeface="Cambria"/>
                <a:ea typeface="Cambria"/>
                <a:cs typeface="Cambria"/>
              </a:rPr>
              <a:t>Результат для кейса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A143B-F041-43E0-971E-1CDA60ED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332720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Сигнальный слой, редкий поток событий и готовый сценарий открытия пуша. Доказательство на публичных курсах есть, проверка денежного эффекта остаётся за пилотом.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A2507-58FE-490F-AF8F-9355E044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6E7A88"/>
                </a:solidFill>
                <a:latin typeface="Calibri"/>
                <a:ea typeface="Calibri"/>
                <a:cs typeface="Calibri"/>
              </a:defRPr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AP37: lift 2,492, выгода ±5 +74,55 б. п., частота 1,04 на валюту в неделю. Открытая ретроспектива.</a:t>
            </a:r>
          </a:p>
        </p:txBody>
      </p:sp>
    </p:spTree>
    <p:extLst>
      <p:ext uri="{BB962C8B-B14F-4D97-AF65-F5344CB8AC3E}">
        <p14:creationId xmlns:p14="http://schemas.microsoft.com/office/powerpoint/2010/main" val="2279605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A2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994ADF5-F2EE-4869-B144-FA47F0BC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9C5B12"/>
                </a:solidFill>
                <a:latin typeface="Calibri"/>
                <a:ea typeface="Calibri"/>
                <a:cs typeface="Calibri"/>
              </a:rPr>
              <a:t>КОМАНДА 11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A28FF5-ECAF-4360-AA16-D7A8FF7A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40280"/>
            <a:ext cx="10881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600"/>
              </a:lnSpc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Ваши вопросы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B6726CF-94F4-407B-9EF2-59D59D0D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Дальше: проверка доступности данных, определения метрик, результаты по горизонтам и валютам, состав моделей и интерфейс.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3127859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A2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6F74AD-D38A-42C8-93D3-EA1B4424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10881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9C5B12"/>
                </a:solidFill>
                <a:latin typeface="Calibri"/>
                <a:ea typeface="Calibri"/>
                <a:cs typeface="Calibri"/>
              </a:rPr>
              <a:t>ДОПОЛНИТЕЛЬНЫЕ МАТЕРИАЛЫ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BAE720C-5D23-45C4-BF5E-2BFA5365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40280"/>
            <a:ext cx="10881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600"/>
              </a:lnSpc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Материал для ответов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6B51A60-E1F4-44E7-A480-25746FEF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Доступность данных, определения метрик, результаты по горизонтам, сравнение подходов команды, устройство модели и интерфейс.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885377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CEFD1C5-C2D4-42A9-B4CC-5DD78089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A88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3B8FB0-2D86-4F8E-9495-CED6F4C2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П1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F207291-02AD-44CE-B7A0-243D39AE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Как мы контролируем доступность данных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4BA7AC-DAD3-4E02-9393-D08B3DA4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Каждый прогноз должен использовать только то, что уже доступно на момент запроса. Проверяем границы источников и созревание ответов.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8793515-7426-4878-A91C-59481E63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91056"/>
            <a:ext cx="3520440" cy="2121408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ED310EE-0689-4C24-8172-D525DA0C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773936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Срез на произвольный момент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337C20-8B4D-4BCA-8A94-B80068CC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04288"/>
            <a:ext cx="3008376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Завершение свечи и получение курса должны быть не позже запроса. Новый курс ЦБ не включается автоматически в 18:00.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1854D64-2112-4CBA-84BE-E2C2979E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591056"/>
            <a:ext cx="3520440" cy="2121408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9C46DDB-872C-4A89-9006-AF490563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1773936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Обучение только на прошлом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F6477CB-F80F-4BB7-B5AD-D26C934F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304288"/>
            <a:ext cx="3008376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Квартальное обучение. Только ответы, для которых весь горизонт уже завершён. Дополнительный зазор в два дня.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E9E52B9-D87A-4713-9ECF-B814328F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91056"/>
            <a:ext cx="3520440" cy="2121408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2324C58-DD0E-4C22-8298-D67F2B23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773936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Проверки неизменности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8DF4DD9-394C-411F-9A38-46C6D417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2304288"/>
            <a:ext cx="3008376" cy="1225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Меняем будущие данные и убеждаемся, что прогноз для более раннего среза не изменился. Отдельно проверяем защиту нового курса ЦБ.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406FEFF-186F-430C-A6DE-A00DBCCF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95344"/>
            <a:ext cx="10881360" cy="2322576"/>
          </a:xfrm>
          <a:prstGeom xmlns:a="http://schemas.openxmlformats.org/drawingml/2006/main" prst="roundRect">
            <a:avLst>
              <a:gd name="adj" fmla="val 2362"/>
            </a:avLst>
          </a:prstGeom>
          <a:solidFill xmlns:a="http://schemas.openxmlformats.org/drawingml/2006/main">
            <a:srgbClr val="1A253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9E4001-C93E-4825-BF6B-CBC11DC1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0792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Что ещё нельзя считать доказанным</a:t>
            </a:r>
            <a:endParaRPr sz="15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CACDB67-4911-47AD-88F9-AE9B89E9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5696"/>
            <a:ext cx="10332720" cy="1627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Оценки 2024–2026 относятся к открытой ретроспективе: период уже использовался в исследованиях. Новый независимый тест ещё нужен.</a:t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Историческое время получения курса в бэктесте моделируется по календарю. Для пилота нужен журнал реальных получений, котировки банка и проверка полной цепочки отправки.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F9485FC-46B7-474D-8B25-173CEB2E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Финальный кандидат: model/final_temperature_model_v1.json. Тесты причинности не заменяют новый независимый период.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2983947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7F691E1-143E-4CFF-838F-5E26D98B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A88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2B5F06-E6FC-4F6E-A45B-79D04ADB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П2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302297-81D7-4C91-B6C0-F058E9B8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Какие метрики считаем и что они означают</a:t>
            </a:r>
            <a:endParaRPr sz="2500"/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40080" y="1325880"/>
          <a:ext xmlns:a="http://schemas.openxmlformats.org/drawingml/2006/main" cx="10881360" cy="27889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3160"/>
                <a:gridCol w="5486400"/>
                <a:gridCol w="2971800"/>
              </a:tblGrid>
              <a:tr h="4648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Метрика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Определение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Итог при h = 5</a:t>
                      </a:r>
                    </a:p>
                  </a:txBody>
                  <a:tcPr marL="91440" marR="91440" marT="45720" marB="45720">
                    <a:solidFill>
                      <a:srgbClr val="F4F6F8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Hit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Сегодняшний курс не выше любого из следующих h курсов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73,3813 %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Lift по точности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Hit rate сигнала / hit rate случайного дня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2,491906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Выгода момента ±h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Средний курс вокруг дня сигнала, 95 % ДИ: +59,38…+92,46 б. п.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+74,5514 б. п.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Выгода только вперёд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Сравнение со средним следующих h курсов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+133,7337 б. п.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Частота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Сигналов на валюту в календарную неделю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1,03842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FCAD9-6C3D-428B-933F-849ED378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07408"/>
            <a:ext cx="10881360" cy="1609344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1A253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8839A-BC15-4E58-AC89-6C895F45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856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E0A75E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E0A75E"/>
                </a:solidFill>
                <a:latin typeface="Cambria"/>
                <a:ea typeface="Cambria"/>
                <a:cs typeface="Cambria"/>
              </a:rPr>
              <a:t>Почему в отчётах встречается ещё 2,509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2081E-C2BA-4B12-B9A0-7C1BE363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3480"/>
            <a:ext cx="1033272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2,492 получается из общих долей 73,38 % и 29,45 %. 2,509 использует базу с поправкой на коридор и период. Это две агрегации одних сигналов, не два разных результата модели.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C4D93-7372-4CD2-AC7B-C7B52004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6E7A88"/>
                </a:solidFill>
                <a:latin typeface="Calibri"/>
                <a:ea typeface="Calibri"/>
                <a:cs typeface="Calibri"/>
              </a:defRPr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Q&amp;A: lift по попаданию в будущее, выгода ±h отдельно. h считаем в публикациях. Курс в рублях за единицу валюты.</a:t>
            </a:r>
          </a:p>
        </p:txBody>
      </p:sp>
    </p:spTree>
    <p:extLst>
      <p:ext uri="{BB962C8B-B14F-4D97-AF65-F5344CB8AC3E}">
        <p14:creationId xmlns:p14="http://schemas.microsoft.com/office/powerpoint/2010/main" val="6004084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9C13C6-BE8E-42D4-8269-F325D7AD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A88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9BE67C-F542-46AB-B68B-8EA2623D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П3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72CB56-CC2B-4E28-BCC6-E730D92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Попадания сохраняются на разных горизонтах</a:t>
            </a:r>
            <a:endParaRPr sz="2500"/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40080" y="1143000"/>
          <a:ext xmlns:a="http://schemas.openxmlformats.org/drawingml/2006/main" cx="10881360" cy="44074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1a8bf3f27d45e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59D87-7347-4475-98F3-200E7512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h=1: 100 % у сигналов, 51,62 % у случайного дня. Следующий курс уже известен, поэтому это не доказательство прогноза.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B75C1-2E2A-4447-A9C4-E57BF661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6E7A88"/>
                </a:solidFill>
                <a:latin typeface="Calibri"/>
                <a:ea typeface="Calibri"/>
                <a:cs typeface="Calibri"/>
              </a:defRPr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2024–2026, открытая ретроспектива. Для h=3/5/10/20 остаётся неизвестная часть будущего. Разные h имеют разную дату конца.</a:t>
            </a:r>
          </a:p>
        </p:txBody>
      </p:sp>
    </p:spTree>
    <p:extLst>
      <p:ext uri="{BB962C8B-B14F-4D97-AF65-F5344CB8AC3E}">
        <p14:creationId xmlns:p14="http://schemas.microsoft.com/office/powerpoint/2010/main" val="17668445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2B8602-6567-4F87-AB1A-EBCF7D00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A88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6E0E5D-AE23-473B-B695-F89DFC80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П4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20BD794-0DD0-4DC4-B238-37D4C946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Решение Даниила: вторая кодовая база</a:t>
            </a:r>
            <a:endParaRPr sz="2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8ACDE7-84CF-4BCF-A463-766C03C3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108813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30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Отдельная реализация той же задачи, написанная независимо от нашей: свои признаки, свой walk-forward с очисткой, набор ML-моделей, cost-sensitive пороги.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38A0327-3FFE-4EB8-B445-E42EDDE7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91056"/>
            <a:ext cx="5367528" cy="2066544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2329C6F-79F9-4456-8509-F06FB8CF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773936"/>
            <a:ext cx="48554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Независимая реализация</a:t>
            </a:r>
            <a:endParaRPr sz="15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F6BD98C-8792-4235-8953-C5E8166E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04288"/>
            <a:ext cx="4855464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Код писался без сверки с нашим. Определение признака pct_range_90 совпало в двух репозиториях дословно, включая обработку вырожденного окна, – мы этого не согласовывали.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4A6A0A9-1CBD-45F1-9B61-B0E566D2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1591056"/>
            <a:ext cx="5367528" cy="2066544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A929A0E-EE1F-4432-9B8B-F555474A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773936"/>
            <a:ext cx="48554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Что проверили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0F74282-302F-459B-98B7-56E07FA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04288"/>
            <a:ext cx="4855464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Сверили признаки и расчёт показателей. Совпадение близких чисел помогает проверить код, но не создаёт независимый тест данных.</a:t>
            </a:r>
            <a:endParaRPr sz="125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640080" y="3858768"/>
          <a:ext xmlns:a="http://schemas.openxmlformats.org/drawingml/2006/main" cx="108813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46320"/>
                <a:gridCol w="2011680"/>
                <a:gridCol w="2011680"/>
                <a:gridCol w="201168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Прогон в его harness, горизонт 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средний lift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мин. lift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выгода вперёд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Наше правило pct_range_90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1,353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1,266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+47,5 б. п.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Его логистическая регрессия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1,450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1,319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+60,6 б. п.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Его случайный лес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1,291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1,141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4E5966"/>
                          </a:solidFill>
                          <a:latin typeface="Calibri"/>
                          <a:ea typeface="Calibri"/>
                          <a:cs typeface="Calibri"/>
                        </a:rPr>
                        <a:t>+49,4 б. п.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50" cmpd="sng">
                      <a:solidFill>
                        <a:srgbClr val="DCE2E8"/>
                      </a:solidFill>
                      <a:prstDash val="solid"/>
                    </a:lnL>
                    <a:lnR w="6350" cmpd="sng">
                      <a:solidFill>
                        <a:srgbClr val="DCE2E8"/>
                      </a:solidFill>
                      <a:prstDash val="solid"/>
                    </a:lnR>
                    <a:lnT w="6350" cmpd="sng">
                      <a:solidFill>
                        <a:srgbClr val="DCE2E8"/>
                      </a:solidFill>
                      <a:prstDash val="solid"/>
                    </a:lnT>
                    <a:lnB w="6350" cmpd="sng">
                      <a:solidFill>
                        <a:srgbClr val="DC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65E659B-4C4B-481E-99AA-2B47383F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93792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A2530"/>
                </a:solidFill>
                <a:latin typeface="Calibri"/>
                <a:ea typeface="Calibri"/>
                <a:cs typeface="Calibri"/>
              </a:rPr>
              <a:t>Эти цифры используют верхние 15 % тестовых оценок. Это ретроспективное ранжирование, не порог для реальной отправки.</a:t>
            </a:r>
            <a:endParaRPr sz="1250"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464FA-375B-42B0-9923-B8563C4D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24144"/>
            <a:ext cx="108813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9E322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9E3226"/>
                </a:solidFill>
                <a:latin typeface="Calibri"/>
                <a:ea typeface="Calibri"/>
                <a:cs typeface="Calibri"/>
              </a:rPr>
              <a:t>С нашим 2,492 напрямую не сравниваем: отличаются время сигнала, опорный курс, период и правило отбора.</a:t>
            </a:r>
          </a:p>
        </p:txBody>
      </p:sp>
    </p:spTree>
    <p:extLst>
      <p:ext uri="{BB962C8B-B14F-4D97-AF65-F5344CB8AC3E}">
        <p14:creationId xmlns:p14="http://schemas.microsoft.com/office/powerpoint/2010/main" val="17045341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58DEB5-B5B6-490B-930D-4E518C63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A88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00AE3CE-B928-4EBA-B03D-EB8201D5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П5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ADB03A-6E92-4466-AD31-1511773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Днём: юань как датчик движения рубля</a:t>
            </a:r>
            <a:endParaRPr sz="2500"/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5415A-ABA1-4FDB-BC74-7DD5AD5E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98448"/>
            <a:ext cx="5367528" cy="1993392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F884D-7FFF-4AC5-A909-63388F59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481328"/>
            <a:ext cx="4855464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6674F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1. Берём завершённые свечи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F3C9B-A221-4354-AF3B-589D9367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57400"/>
            <a:ext cx="4855464" cy="1078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CNY/RUB с 10:00 до текущего среза, максимум до 15:30. Считаем среднюю доступную цену. Незавершённую свечу не используем.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DE0EF-F9A4-40D5-B109-F77A169A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1298448"/>
            <a:ext cx="5367528" cy="1993392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C7F2C-3FBE-418B-92F2-BE4DB0B9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481328"/>
            <a:ext cx="4855464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6674F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2. Сравниваем с официальным курсом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C5122-76A3-44CB-B3D2-E8513803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57400"/>
            <a:ext cx="4855464" cy="1078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Отношение биржевой средней к доступному ЦБ CNY показывает, куда уже сдвинулся рынок относительно дневного ориентира.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DF73E-5508-4F8D-9BDB-82123FE9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5367528" cy="1993392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1E262-BD34-4881-98CF-5F6D4A21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39312"/>
            <a:ext cx="4855464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A2530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3. Переводим в вероятность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D9A8C-A1A5-4059-9EA7-1D400E49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15384"/>
            <a:ext cx="4855464" cy="1078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Ранг среди прошлых значений и логистическая калибровка отдельно по валюте и горизонту. Параметры обновляем поквартально.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36A50-78B8-4B2F-B5F5-EFAA657F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3456432"/>
            <a:ext cx="5367528" cy="1993392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15E2B-222E-4F9F-9A5B-D32E1DB6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639312"/>
            <a:ext cx="4855464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A2530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4. Не усложняем без выигрыша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7DBF9-58DB-4C8E-A557-566FFBA7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215384"/>
            <a:ext cx="4855464" cy="1078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Прямые AMD/RUB и KZT/RUB проверили. Вероятностная модель с KZT ухудшилась в 2025 году, поэтому в итоговую температуру её не включили.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6A1F6-7FFD-43DA-921F-28146870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6E7A88"/>
                </a:solidFill>
                <a:latin typeface="Calibri"/>
                <a:ea typeface="Calibri"/>
                <a:cs typeface="Calibri"/>
              </a:defRPr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15:30, h=5, 2025–2026: ошибка вероятности Brier 0,1572 против 0,1999 у базовой частоты. Меньше — лучше.</a:t>
            </a:r>
          </a:p>
        </p:txBody>
      </p:sp>
    </p:spTree>
    <p:extLst>
      <p:ext uri="{BB962C8B-B14F-4D97-AF65-F5344CB8AC3E}">
        <p14:creationId xmlns:p14="http://schemas.microsoft.com/office/powerpoint/2010/main" val="7536156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198B8F8-4A9F-474B-801C-882E7433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A88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C8CD1D-A2BA-41B5-95A0-B6A60A5C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П6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EB62B3B-1E5A-4687-9837-2AB29D4B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Интерфейс: семь экранов существующего флоу</a:t>
            </a:r>
            <a:endParaRPr sz="25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0d6832b7240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463040"/>
            <a:ext cx="10881360" cy="324612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803FA73-2001-41E0-8600-896493A8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01184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Семь исходных экранов команды. Шкала показывает положение суммы в историческом диапазоне, а не температуру. Числа иллюстративные по ЦБ, в пилоте нужны реальные условия банка.</a:t>
            </a:r>
            <a:endParaRPr sz="1250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227E4-B91B-4EDF-83A5-E6CC7D06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366" y="3012948"/>
            <a:ext cx="1036015" cy="209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97634-01C4-4B81-B7FE-06427BA8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082" y="3020263"/>
            <a:ext cx="1008583" cy="194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">
                <a:solidFill>
                  <a:srgbClr val="30353B"/>
                </a:solidFill>
                <a:latin typeface="Calibri"/>
                <a:ea typeface="Calibri"/>
                <a:cs typeface="Calibri"/>
              </a:defRPr>
            </a:pPr>
            <a:r>
              <a:rPr sz="360">
                <a:solidFill>
                  <a:srgbClr val="30353B"/>
                </a:solidFill>
                <a:latin typeface="Calibri"/>
                <a:ea typeface="Calibri"/>
                <a:cs typeface="Calibri"/>
              </a:rPr>
              <a:t>За 30 000 ₽ — 3 198 сомони.</a:t>
            </a:r>
          </a:p>
          <a:p xmlns:a="http://schemas.openxmlformats.org/drawingml/2006/main">
            <a:pPr>
              <a:defRPr sz="360">
                <a:solidFill>
                  <a:srgbClr val="30353B"/>
                </a:solidFill>
                <a:latin typeface="Calibri"/>
                <a:ea typeface="Calibri"/>
                <a:cs typeface="Calibri"/>
              </a:defRPr>
            </a:pPr>
            <a:r>
              <a:rPr sz="360">
                <a:solidFill>
                  <a:srgbClr val="30353B"/>
                </a:solidFill>
                <a:latin typeface="Calibri"/>
                <a:ea typeface="Calibri"/>
                <a:cs typeface="Calibri"/>
              </a:rPr>
              <a:t>Лучше было 8 дней из 90.</a:t>
            </a:r>
          </a:p>
          <a:p xmlns:a="http://schemas.openxmlformats.org/drawingml/2006/main">
            <a:pPr>
              <a:defRPr sz="360">
                <a:solidFill>
                  <a:srgbClr val="30353B"/>
                </a:solidFill>
                <a:latin typeface="Calibri"/>
                <a:ea typeface="Calibri"/>
                <a:cs typeface="Calibri"/>
              </a:defRPr>
            </a:pPr>
            <a:r>
              <a:rPr sz="360">
                <a:solidFill>
                  <a:srgbClr val="30353B"/>
                </a:solidFill>
                <a:latin typeface="Calibri"/>
                <a:ea typeface="Calibri"/>
                <a:cs typeface="Calibri"/>
              </a:rPr>
              <a:t>Курс ЦБ на 4 сентября.</a:t>
            </a:r>
          </a:p>
        </p:txBody>
      </p:sp>
    </p:spTree>
    <p:extLst>
      <p:ext uri="{BB962C8B-B14F-4D97-AF65-F5344CB8AC3E}">
        <p14:creationId xmlns:p14="http://schemas.microsoft.com/office/powerpoint/2010/main" val="10989417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B80F8B6-AE03-4BF8-9A28-FE603666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A88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5A0FB8-BC72-4383-8D20-82E98E5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П7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09F44B7-7A55-4547-B63B-C2088418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Команда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0734734-274A-4F03-A47A-19131D5C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3520440" cy="22860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3F9E89D-B865-4C9E-A47B-130BACDA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463040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Александр Тармаев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9ACD906-8BF6-4AA5-BF5A-9A663A16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93392"/>
            <a:ext cx="300837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AI Product. Продуктовая постановка, клиентский путь, макеты, тексты, базовые индикаторы и комплект материалов.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9E031D1-36B0-4E29-8404-3168AFE8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280160"/>
            <a:ext cx="3520440" cy="22860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36F7EC0-FF17-4B92-9D98-A759B318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1463040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Даниил Недайборщ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EA83F7C-2D77-46BF-91D8-5647F390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1993392"/>
            <a:ext cx="300837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AI Engineer. Данные и признаки, независимая реализация version_b, модели и проверка расчётов.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2CF8A75-7A6A-4E36-AA88-9D288AB9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80160"/>
            <a:ext cx="3520440" cy="22860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4F6F8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E1E5CC2-0195-48F1-B9C5-8BE0712A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463040"/>
            <a:ext cx="30083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Иван Калинин</a:t>
            </a:r>
            <a:endParaRPr sz="15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53B7C26-2903-463D-B96E-350FBE19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993392"/>
            <a:ext cx="3008376" cy="1389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AI Engineer. Внутридневные и вечерние модели, эксперименты, контроль доступности данных, температура и редкие сигналы.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3DA2142-1014-4068-BCA9-4E0C58CE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10881360" cy="210312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A2530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B5A6769-AF37-4608-89BD-D25F4D50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5928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9C5B12"/>
                </a:solidFill>
                <a:latin typeface="Cambria"/>
                <a:ea typeface="Cambria"/>
                <a:cs typeface="Cambria"/>
              </a:rPr>
              <a:t>Вклад команды в итоговое решение</a:t>
            </a:r>
            <a:endParaRPr sz="15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09CA6CB-F147-4F29-BB85-F022119A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0832"/>
            <a:ext cx="10332720" cy="1408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Продуктовая часть сохраняет существующий путь перевода и безопасные формулировки. Независимые реализации помогли проверить признаки и обнаружить различия в оценке.</a:t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lnSpc>
                <a:spcPts val="1700"/>
              </a:lnSpc>
              <a:buNone/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Финальное исследование добавило работу по доступности данных, оценку момента в течение дня и управляемый поток сигналов.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0047590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6662F-4E80-4A9E-8C4E-2C83D7DD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A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09595-B756-4750-83B8-56C2B2C1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2C2DD-B375-481F-94F9-A297B969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2530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Результат на всех пяти валютах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40080" y="1280160"/>
          <a:ext xmlns:a="http://schemas.openxmlformats.org/drawingml/2006/main" cx="10881360" cy="44805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764a7274c6464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B8943-F55F-43AE-8339-5A786B8A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6E7A88"/>
                </a:solidFill>
                <a:latin typeface="Calibri"/>
                <a:ea typeface="Calibri"/>
                <a:cs typeface="Calibri"/>
              </a:defRPr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2024–2026, открытая ретроспектива после получения ЦБ. На каждой валюте около 1,02–1,06 сигнала в неделю.</a:t>
            </a:r>
          </a:p>
        </p:txBody>
      </p:sp>
    </p:spTree>
    <p:extLst>
      <p:ext uri="{BB962C8B-B14F-4D97-AF65-F5344CB8AC3E}">
        <p14:creationId xmlns:p14="http://schemas.microsoft.com/office/powerpoint/2010/main" val="20861163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CF499-7F61-42AE-9003-C44D31D4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7A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F44D3-6A11-4B97-9A15-7DAD7FF8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50F07-6440-4319-98AB-3754A821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02336"/>
            <a:ext cx="1033272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A2530"/>
                </a:solidFill>
                <a:latin typeface="Cambria"/>
                <a:ea typeface="Cambria"/>
                <a:cs typeface="Cambria"/>
              </a:defRPr>
            </a:pPr>
            <a:r>
              <a:rPr sz="270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После публикации: температура и отбор пушей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2ED62-1870-4DC5-BD6C-4E563FB6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5367528" cy="3502152"/>
          </a:xfrm>
          <a:prstGeom xmlns:a="http://schemas.openxmlformats.org/drawingml/2006/main" prst="roundRect">
            <a:avLst>
              <a:gd name="adj" fmla="val 15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615B7-19AD-44B7-93C9-C65F01C0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08760"/>
            <a:ext cx="4855464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6674F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6674F"/>
                </a:solidFill>
                <a:latin typeface="Cambria"/>
                <a:ea typeface="Cambria"/>
                <a:cs typeface="Cambria"/>
              </a:rPr>
              <a:t>Температура: CatBoost + калибровка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B5830-A256-4F98-8F92-170BFF35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84832"/>
            <a:ext cx="4855464" cy="2587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Входы: известное изменение ЦБ на завтра, ранги трёх исторических моделей и их согласие, недавняя частота сигналов, календарь и валюта.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Отдельные модели на 3, 5, 10 и 20 публикаций. Калибровка превращает оценку в вероятность.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Признак «курс завтра» включается только после получения.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E51E0-C3A5-4183-A508-D5AC1A01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1325880"/>
            <a:ext cx="5367528" cy="3502152"/>
          </a:xfrm>
          <a:prstGeom xmlns:a="http://schemas.openxmlformats.org/drawingml/2006/main" prst="roundRect">
            <a:avLst>
              <a:gd name="adj" fmla="val 15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D345C-562A-40F2-B7B4-E52C0B87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508760"/>
            <a:ext cx="4855464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1A2530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1A2530"/>
                </a:solidFill>
                <a:latin typeface="Cambria"/>
                <a:ea typeface="Cambria"/>
                <a:cs typeface="Cambria"/>
              </a:rPr>
              <a:t>Пуш: AP37, отдельное правило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E3B62-9421-4498-96C9-0EA8AA23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84832"/>
            <a:ext cx="4855464" cy="2587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Сильное ядро из исторических экспертов. Резервный сигнал при низкой частоте или длительной тишине.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Качество резерва оцениваем по уже завершённым прошлым случаям, с учётом валюты. Не более двух событий в неделю.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50">
                <a:solidFill>
                  <a:srgbClr val="4E5966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4E5966"/>
                </a:solidFill>
                <a:latin typeface="Calibri"/>
                <a:ea typeface="Calibri"/>
                <a:cs typeface="Calibri"/>
              </a:rPr>
              <a:t>Пуш не равен условию «температура выше 70».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36D17-4DFC-477C-A41E-33071CCA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10881360" cy="1069848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A253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BAC8C-0CC9-4CD2-A16B-D3A22EE5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4648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50" b="1">
                <a:solidFill>
                  <a:srgbClr val="E0A75E"/>
                </a:solidFill>
                <a:latin typeface="Cambria"/>
                <a:ea typeface="Cambria"/>
                <a:cs typeface="Cambria"/>
              </a:defRPr>
            </a:pPr>
            <a:r>
              <a:rPr sz="1550" b="1">
                <a:solidFill>
                  <a:srgbClr val="E0A75E"/>
                </a:solidFill>
                <a:latin typeface="Cambria"/>
                <a:ea typeface="Cambria"/>
                <a:cs typeface="Cambria"/>
              </a:rPr>
              <a:t>Почему помогает новый курс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E4614-8AE0-42CE-BBE4-02888E12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5272"/>
            <a:ext cx="1033272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C7CFD8"/>
                </a:solidFill>
                <a:latin typeface="Calibri"/>
                <a:ea typeface="Calibri"/>
                <a:cs typeface="Calibri"/>
              </a:defRPr>
            </a:pPr>
            <a:r>
              <a:rPr sz="1250">
                <a:solidFill>
                  <a:srgbClr val="C7CFD8"/>
                </a:solidFill>
                <a:latin typeface="Calibri"/>
                <a:ea typeface="Calibri"/>
                <a:cs typeface="Calibri"/>
              </a:rPr>
              <a:t>Одна часть ближайшего будущего уже стала известным фактом. Модель оценивает оставшиеся дни, а базой сравнения остаётся действующий сегодня курс.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B632C-9F46-47A0-A50E-970D2F9D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0936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6E7A88"/>
                </a:solidFill>
                <a:latin typeface="Calibri"/>
                <a:ea typeface="Calibri"/>
                <a:cs typeface="Calibri"/>
              </a:defRPr>
            </a:pPr>
            <a:r>
              <a:rPr sz="1050" i="1">
                <a:solidFill>
                  <a:srgbClr val="6E7A88"/>
                </a:solidFill>
                <a:latin typeface="Calibri"/>
                <a:ea typeface="Calibri"/>
                <a:cs typeface="Calibri"/>
              </a:rPr>
              <a:t>Температура AP49/AP50. Пуш AP37. Модельные метрики ЦБ не доказывают возможность перевода по старой цене банка.</a:t>
            </a:r>
          </a:p>
        </p:txBody>
      </p:sp>
    </p:spTree>
    <p:extLst>
      <p:ext uri="{BB962C8B-B14F-4D97-AF65-F5344CB8AC3E}">
        <p14:creationId xmlns:p14="http://schemas.microsoft.com/office/powerpoint/2010/main" val="17784680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2026-09-07T03:00:19.1330000Z</dcterms:created>
  <dcterms:modified xsi:type="dcterms:W3CDTF">2026-09-07T03:00:19.1330000Z</dcterms:modified>
</coreProperties>
</file>