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2.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3.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Default Extension="xlsx" ContentType="application/vnd.openxmlformats-officedocument.spreadsheetml.sheet"/>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7bf4194d074129" /><Relationship Type="http://schemas.openxmlformats.org/officeDocument/2006/relationships/extended-properties" Target="/docProps/app.xml" Id="R35c287e954604c98" /><Relationship Type="http://schemas.openxmlformats.org/officeDocument/2006/relationships/officeDocument" Target="/ppt/presentation.xml" Id="Rb19c40a3853e4015" /></Relationships>
</file>

<file path=ppt/presentation.xml><?xml version="1.0" encoding="utf-8"?>
<p:presentation xmlns:p="http://schemas.openxmlformats.org/presentationml/2006/main">
  <p:sldMasterIdLst>
    <p:sldMasterId xmlns:r="http://schemas.openxmlformats.org/officeDocument/2006/relationships" id="2147483648" r:id="Rc8889575a70f4fc6"/>
  </p:sldMasterIdLst>
  <p:notesMasterIdLst>
    <p:notesMasterId xmlns:r="http://schemas.openxmlformats.org/officeDocument/2006/relationships" r:id="R76fa9575e8a64648"/>
  </p:notesMasterIdLst>
  <p:sldIdLst>
    <p:sldId xmlns:r="http://schemas.openxmlformats.org/officeDocument/2006/relationships" id="256" r:id="Rb8fac63c1cf540d4"/>
    <p:sldId xmlns:r="http://schemas.openxmlformats.org/officeDocument/2006/relationships" id="257" r:id="R1442ffc11a554b8c"/>
    <p:sldId xmlns:r="http://schemas.openxmlformats.org/officeDocument/2006/relationships" id="258" r:id="R6c71a0c5586e4027"/>
    <p:sldId xmlns:r="http://schemas.openxmlformats.org/officeDocument/2006/relationships" id="259" r:id="R4e787efb13c244f2"/>
    <p:sldId xmlns:r="http://schemas.openxmlformats.org/officeDocument/2006/relationships" id="260" r:id="Re2508d8b6cef4f44"/>
    <p:sldId xmlns:r="http://schemas.openxmlformats.org/officeDocument/2006/relationships" id="261" r:id="R307af5e500934f68"/>
    <p:sldId xmlns:r="http://schemas.openxmlformats.org/officeDocument/2006/relationships" id="262" r:id="R75cea6c4e6f44252"/>
    <p:sldId xmlns:r="http://schemas.openxmlformats.org/officeDocument/2006/relationships" id="266" r:id="R06c3980e96024d57"/>
    <p:sldId xmlns:r="http://schemas.openxmlformats.org/officeDocument/2006/relationships" id="278" r:id="Rddadb6cea4234c22"/>
    <p:sldId xmlns:r="http://schemas.openxmlformats.org/officeDocument/2006/relationships" id="282" r:id="R1dc8a4fb9f3443de"/>
    <p:sldId xmlns:r="http://schemas.openxmlformats.org/officeDocument/2006/relationships" id="271" r:id="Rbd79ec17263e44a9"/>
    <p:sldId xmlns:r="http://schemas.openxmlformats.org/officeDocument/2006/relationships" id="265" r:id="R86a8d029b7ac4bda"/>
    <p:sldId xmlns:r="http://schemas.openxmlformats.org/officeDocument/2006/relationships" id="264" r:id="Re16ea8073cc84014"/>
    <p:sldId xmlns:r="http://schemas.openxmlformats.org/officeDocument/2006/relationships" id="263" r:id="R0204cf3bcb49452d"/>
    <p:sldId xmlns:r="http://schemas.openxmlformats.org/officeDocument/2006/relationships" id="267" r:id="R8497fc862f774a2c"/>
    <p:sldId xmlns:r="http://schemas.openxmlformats.org/officeDocument/2006/relationships" id="268" r:id="R570ce773a4224620"/>
    <p:sldId xmlns:r="http://schemas.openxmlformats.org/officeDocument/2006/relationships" id="269" r:id="R9f8b372b94d546af"/>
    <p:sldId xmlns:r="http://schemas.openxmlformats.org/officeDocument/2006/relationships" id="270" r:id="Rc24f0a09eafd4f60"/>
    <p:sldId xmlns:r="http://schemas.openxmlformats.org/officeDocument/2006/relationships" id="272" r:id="Rf3ca6a03ff744869"/>
    <p:sldId xmlns:r="http://schemas.openxmlformats.org/officeDocument/2006/relationships" id="273" r:id="R5505b18a76f34bc8"/>
    <p:sldId xmlns:r="http://schemas.openxmlformats.org/officeDocument/2006/relationships" id="274" r:id="Refc7a64b90d946b8"/>
    <p:sldId xmlns:r="http://schemas.openxmlformats.org/officeDocument/2006/relationships" id="275" r:id="Reb54e1d06bce4fb1"/>
    <p:sldId xmlns:r="http://schemas.openxmlformats.org/officeDocument/2006/relationships" id="276" r:id="Rf64d806fc4a74305"/>
    <p:sldId xmlns:r="http://schemas.openxmlformats.org/officeDocument/2006/relationships" id="277" r:id="R74a2e6dd09da4680"/>
    <p:sldId xmlns:r="http://schemas.openxmlformats.org/officeDocument/2006/relationships" id="279" r:id="Rc34375d5918441fb"/>
    <p:sldId xmlns:r="http://schemas.openxmlformats.org/officeDocument/2006/relationships" id="280" r:id="R6f04bf2737e84adb"/>
    <p:sldId xmlns:r="http://schemas.openxmlformats.org/officeDocument/2006/relationships" id="281" r:id="R0f5d97019fec49a0"/>
    <p:sldId xmlns:ns0="http://schemas.openxmlformats.org/officeDocument/2006/relationships" id="283" ns0:id="rIdItmoAppend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Relationships xmlns="http://schemas.openxmlformats.org/package/2006/relationships"><Relationship Type="http://schemas.openxmlformats.org/officeDocument/2006/relationships/theme" Target="/ppt/theme/theme1.xml" Id="R727dbb0e6ff1414f"/><Relationship Type="http://schemas.openxmlformats.org/officeDocument/2006/relationships/slideMaster" Target="/ppt/slideMasters/slideMaster1.xml" Id="Rc8889575a70f4fc6"/><Relationship Type="http://schemas.openxmlformats.org/officeDocument/2006/relationships/notesMaster" Target="/ppt/notesMasters/notesMaster1.xml" Id="R76fa9575e8a64648"/><Relationship Type="http://schemas.openxmlformats.org/officeDocument/2006/relationships/presProps" Target="/ppt/presProps.xml" Id="R6ad3ed7f7fcb4147"/><Relationship Type="http://schemas.openxmlformats.org/officeDocument/2006/relationships/viewProps" Target="/ppt/viewProps.xml" Id="R0fa0cc09b8304eae"/><Relationship Type="http://schemas.openxmlformats.org/officeDocument/2006/relationships/tableStyles" Target="/ppt/tableStyles.xml" Id="R343fa51ce87a4199"/><Relationship Type="http://schemas.openxmlformats.org/officeDocument/2006/relationships/slide" Target="/ppt/slides/slide1.xml" Id="Rb8fac63c1cf540d4"/><Relationship Type="http://schemas.openxmlformats.org/officeDocument/2006/relationships/slide" Target="/ppt/slides/slide2.xml" Id="R1442ffc11a554b8c"/><Relationship Type="http://schemas.openxmlformats.org/officeDocument/2006/relationships/slide" Target="/ppt/slides/slide3.xml" Id="R6c71a0c5586e4027"/><Relationship Type="http://schemas.openxmlformats.org/officeDocument/2006/relationships/slide" Target="/ppt/slides/slide4.xml" Id="R4e787efb13c244f2"/><Relationship Type="http://schemas.openxmlformats.org/officeDocument/2006/relationships/slide" Target="/ppt/slides/slide5.xml" Id="Re2508d8b6cef4f44"/><Relationship Type="http://schemas.openxmlformats.org/officeDocument/2006/relationships/slide" Target="/ppt/slides/slide6.xml" Id="R307af5e500934f68"/><Relationship Type="http://schemas.openxmlformats.org/officeDocument/2006/relationships/slide" Target="/ppt/slides/slide7.xml" Id="R75cea6c4e6f44252"/><Relationship Type="http://schemas.openxmlformats.org/officeDocument/2006/relationships/slide" Target="/ppt/slides/slide8.xml" Id="R0204cf3bcb49452d"/><Relationship Type="http://schemas.openxmlformats.org/officeDocument/2006/relationships/slide" Target="/ppt/slides/slide9.xml" Id="Re16ea8073cc84014"/><Relationship Type="http://schemas.openxmlformats.org/officeDocument/2006/relationships/slide" Target="/ppt/slides/slide10.xml" Id="R86a8d029b7ac4bda"/><Relationship Type="http://schemas.openxmlformats.org/officeDocument/2006/relationships/slide" Target="/ppt/slides/slide11.xml" Id="R06c3980e96024d57"/><Relationship Type="http://schemas.openxmlformats.org/officeDocument/2006/relationships/slide" Target="/ppt/slides/slide12.xml" Id="R8497fc862f774a2c"/><Relationship Type="http://schemas.openxmlformats.org/officeDocument/2006/relationships/slide" Target="/ppt/slides/slide13.xml" Id="R570ce773a4224620"/><Relationship Type="http://schemas.openxmlformats.org/officeDocument/2006/relationships/slide" Target="/ppt/slides/slide14.xml" Id="R9f8b372b94d546af"/><Relationship Type="http://schemas.openxmlformats.org/officeDocument/2006/relationships/slide" Target="/ppt/slides/slide15.xml" Id="Rc24f0a09eafd4f60"/><Relationship Type="http://schemas.openxmlformats.org/officeDocument/2006/relationships/slide" Target="/ppt/slides/slide16.xml" Id="Rbd79ec17263e44a9"/><Relationship Type="http://schemas.openxmlformats.org/officeDocument/2006/relationships/slide" Target="/ppt/slides/slide17.xml" Id="Rf3ca6a03ff744869"/><Relationship Type="http://schemas.openxmlformats.org/officeDocument/2006/relationships/slide" Target="/ppt/slides/slide18.xml" Id="R5505b18a76f34bc8"/><Relationship Type="http://schemas.openxmlformats.org/officeDocument/2006/relationships/slide" Target="/ppt/slides/slide19.xml" Id="Refc7a64b90d946b8"/><Relationship Type="http://schemas.openxmlformats.org/officeDocument/2006/relationships/slide" Target="/ppt/slides/slide20.xml" Id="Reb54e1d06bce4fb1"/><Relationship Type="http://schemas.openxmlformats.org/officeDocument/2006/relationships/slide" Target="/ppt/slides/slide21.xml" Id="Rf64d806fc4a74305"/><Relationship Type="http://schemas.openxmlformats.org/officeDocument/2006/relationships/slide" Target="/ppt/slides/slide22.xml" Id="R74a2e6dd09da4680"/><Relationship Type="http://schemas.openxmlformats.org/officeDocument/2006/relationships/slide" Target="/ppt/slides/slide23.xml" Id="Rddadb6cea4234c22"/><Relationship Type="http://schemas.openxmlformats.org/officeDocument/2006/relationships/slide" Target="/ppt/slides/slide24.xml" Id="Rc34375d5918441fb"/><Relationship Type="http://schemas.openxmlformats.org/officeDocument/2006/relationships/slide" Target="/ppt/slides/slide25.xml" Id="R6f04bf2737e84adb"/><Relationship Type="http://schemas.openxmlformats.org/officeDocument/2006/relationships/slide" Target="/ppt/slides/slide26.xml" Id="R0f5d97019fec49a0"/><Relationship Type="http://schemas.openxmlformats.org/officeDocument/2006/relationships/slide" Target="/ppt/slides/slide27.xml" Id="R1dc8a4fb9f3443de"/><Relationship Id="rIdItmoAppend28" Type="http://schemas.openxmlformats.org/officeDocument/2006/relationships/slide" Target="/ppt/slides/slide28.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fdab8dae4e44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cf6db174624f8c" /><Relationship Type="http://schemas.openxmlformats.org/officeDocument/2006/relationships/notesMaster" Target="/ppt/notesMasters/notesMaster1.xml" Id="R75935daf580543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4f6c185ac64561" /><Relationship Type="http://schemas.openxmlformats.org/officeDocument/2006/relationships/notesMaster" Target="/ppt/notesMasters/notesMaster1.xml" Id="Ra3a64f4b75224f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d0188b911c4958" /><Relationship Type="http://schemas.openxmlformats.org/officeDocument/2006/relationships/notesMaster" Target="/ppt/notesMasters/notesMaster1.xml" Id="R1f332b3015714d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1be508052e4e81" /><Relationship Type="http://schemas.openxmlformats.org/officeDocument/2006/relationships/notesMaster" Target="/ppt/notesMasters/notesMaster1.xml" Id="Rd6d6cf1d81f044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3ffeb1065914569" /><Relationship Type="http://schemas.openxmlformats.org/officeDocument/2006/relationships/notesMaster" Target="/ppt/notesMasters/notesMaster1.xml" Id="R7c145cb3140544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2315647f0142fb" /><Relationship Type="http://schemas.openxmlformats.org/officeDocument/2006/relationships/notesMaster" Target="/ppt/notesMasters/notesMaster1.xml" Id="Rca297ee776d54f8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8e039ae8c440d2" /><Relationship Type="http://schemas.openxmlformats.org/officeDocument/2006/relationships/notesMaster" Target="/ppt/notesMasters/notesMaster1.xml" Id="R3f3df7ccb2984d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d7df8046f984f18" /><Relationship Type="http://schemas.openxmlformats.org/officeDocument/2006/relationships/notesMaster" Target="/ppt/notesMasters/notesMaster1.xml" Id="Rc3413cd53e7542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ce91182a9649c6" /><Relationship Type="http://schemas.openxmlformats.org/officeDocument/2006/relationships/notesMaster" Target="/ppt/notesMasters/notesMaster1.xml" Id="Rd136cab60dc8470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185663db30b43ae" /><Relationship Type="http://schemas.openxmlformats.org/officeDocument/2006/relationships/notesMaster" Target="/ppt/notesMasters/notesMaster1.xml" Id="R59dc6d0f358945b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78ab94a38a4482" /><Relationship Type="http://schemas.openxmlformats.org/officeDocument/2006/relationships/notesMaster" Target="/ppt/notesMasters/notesMaster1.xml" Id="Rf67a203faef84da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a1a09059f04ac4" /><Relationship Type="http://schemas.openxmlformats.org/officeDocument/2006/relationships/notesMaster" Target="/ppt/notesMasters/notesMaster1.xml" Id="R84e8c25340fb400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8303c4f0747416f" /><Relationship Type="http://schemas.openxmlformats.org/officeDocument/2006/relationships/notesMaster" Target="/ppt/notesMasters/notesMaster1.xml" Id="R37bcf32e9402421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585df7aa1364234" /><Relationship Type="http://schemas.openxmlformats.org/officeDocument/2006/relationships/notesMaster" Target="/ppt/notesMasters/notesMaster1.xml" Id="R9c6f61de11ce488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ebc35bb0e644205" /><Relationship Type="http://schemas.openxmlformats.org/officeDocument/2006/relationships/notesMaster" Target="/ppt/notesMasters/notesMaster1.xml" Id="R697988e2a63848e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8be2558c6e54c13" /><Relationship Type="http://schemas.openxmlformats.org/officeDocument/2006/relationships/notesMaster" Target="/ppt/notesMasters/notesMaster1.xml" Id="Re2b6f834cd7e43e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10410e737d141c1" /><Relationship Type="http://schemas.openxmlformats.org/officeDocument/2006/relationships/notesMaster" Target="/ppt/notesMasters/notesMaster1.xml" Id="R5b45638cce9b493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66faeab27ab4a91" /><Relationship Type="http://schemas.openxmlformats.org/officeDocument/2006/relationships/notesMaster" Target="/ppt/notesMasters/notesMaster1.xml" Id="R92148e2a733b4e0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a62e9c3b8764b63" /><Relationship Type="http://schemas.openxmlformats.org/officeDocument/2006/relationships/notesMaster" Target="/ppt/notesMasters/notesMaster1.xml" Id="R02d509f29e4d42e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2bd2ab1c421473f" /><Relationship Type="http://schemas.openxmlformats.org/officeDocument/2006/relationships/notesMaster" Target="/ppt/notesMasters/notesMaster1.xml" Id="Rf5ed749477b94fb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d38973adc3d46b0" /><Relationship Type="http://schemas.openxmlformats.org/officeDocument/2006/relationships/notesMaster" Target="/ppt/notesMasters/notesMaster1.xml" Id="R9d5244f76b9b492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fa8f86838464306" /><Relationship Type="http://schemas.openxmlformats.org/officeDocument/2006/relationships/notesMaster" Target="/ppt/notesMasters/notesMaster1.xml" Id="R5686a87e682141b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9d8dc0a9ac84a69" /><Relationship Type="http://schemas.openxmlformats.org/officeDocument/2006/relationships/notesMaster" Target="/ppt/notesMasters/notesMaster1.xml" Id="Rf29e00c271a24fd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e12de3304464c44" /><Relationship Type="http://schemas.openxmlformats.org/officeDocument/2006/relationships/notesMaster" Target="/ppt/notesMasters/notesMaster1.xml" Id="R396dab3b669f454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016c9e9c3c04d82" /><Relationship Type="http://schemas.openxmlformats.org/officeDocument/2006/relationships/notesMaster" Target="/ppt/notesMasters/notesMaster1.xml" Id="R45fdc90363a1471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86f095a73d44ca1" /><Relationship Type="http://schemas.openxmlformats.org/officeDocument/2006/relationships/notesMaster" Target="/ppt/notesMasters/notesMaster1.xml" Id="R7d51c96dbffa407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e6c98b093704bb1" /><Relationship Type="http://schemas.openxmlformats.org/officeDocument/2006/relationships/notesMaster" Target="/ppt/notesMasters/notesMaster1.xml" Id="Ra154a8b7ce3c4c7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2d6280c545745a5" /><Relationship Type="http://schemas.openxmlformats.org/officeDocument/2006/relationships/notesMaster" Target="/ppt/notesMasters/notesMaster1.xml" Id="R29f2532bfa1d42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Итоговая оценка AP37: {"candidate":"ap26_core_mature_precision_calendar_fallback_cap2","h":"5","n_scope":"3260","n_signals":"695","first":"2024-01-09","last":"2026-08-25","hit_rate":"0.7338129496402878","base_rate":"0.294478527607362","pooled_lift":"2.491906474820144","adjusted_lift":"2.5091882251629154","frequency":"1.038420490928495","currency_rate_min":"1.023479188900747","currency_rate_max":"1.0608324439701173","symmetric_bps":"74.55139335041945","forward_bps":"133.73372418970007"}</a:t>
            </a:r>
            <a:endParaRPr/>
          </a:p>
          <a:p xmlns:a="http://schemas.openxmlformats.org/drawingml/2006/main">
            <a:r>
              <a:t>Источник: results/research/after_publication/ap37_effective/retrospective_all_horizons.csv. Пять валют, 695 сигналов. Первый следующий курс уже опубликован. Известный первый шаг помогает оценке. Это метрика относительно действующего сегодня официального курса ЦБ, не доказанная экономия на банковской котировке. Параметры причинные, но открытая история многократно использовалась в исследовании.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Lift на слайде pooled=0.7338129496402878/0.294478527607362=2.491906474820144. Adjusted по коридору/периоду=2.5091882251629154, это другая агрегация. Выгода ±h=74.55139335041945 б.п. Клиентскую выгоду/выручку ещё нужно измерить в пилоте.</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https://github.com/tarma3v/international_transfers_signals/tree/ivan-experiments/model/final_temperature_model_v1.json</a:t>
            </a:r>
            <a:endParaRPr/>
          </a:p>
          <a:p xmlns:a="http://schemas.openxmlformats.org/drawingml/2006/main">
            <a:r>
              <a:t>https://github.com/tarma3v/international_transfers_signals/tree/ivan-experiments/model/final_temperature_model_v1.json</a:t>
            </a:r>
            <a:endParaRPr/>
          </a:p>
          <a:p xmlns:a="http://schemas.openxmlformats.org/drawingml/2006/main">
            <a:r>
              <a:t>Фильтр клиентского текста, местного времени и общего лимита банка — продуктовый контракт, его влияние не включено в AP37 scorecard.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https://github.com/tarma3v/international_transfers_signals/tree/ivan-experiments/research/after_publication_ap37_effective_models.py</a:t>
            </a:r>
            <a:endParaRPr/>
          </a:p>
          <a:p xmlns:a="http://schemas.openxmlformats.org/drawingml/2006/main">
            <a:r>
              <a:t>Календарная неделя ISO, cap2 не означает автоматический cap2 на любом скользящем семидневном окне. Для клиента общий лимит банка суммарный.</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https://github.com/tarma3v/international_transfers_signals/blob/3263473/design/pushi-100-variantov.md</a:t>
            </a:r>
            <a:endParaRPr/>
          </a:p>
          <a:p xmlns:a="http://schemas.openxmlformats.org/drawingml/2006/main">
            <a:r>
              <a:t>UI-изображения main 3263473. В нижнем пуше фраза «ждать чаще не помогало» заменена редактируемым фактом редкости без намёка на будущее. Для пилота исторические шаблоны проверяются на фактах и используют банковскую котировку.</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https://github.com/tarma3v/international_transfers_signals/blob/3263473/submission/12-dizayn-interfeysa.md</a:t>
            </a:r>
            <a:endParaRPr/>
          </a:p>
          <a:p xmlns:a="http://schemas.openxmlformats.org/drawingml/2006/main">
            <a:r>
              <a:t>Q&amp;A 05.09, с.7: курс приложения в реальном времени и связан с поставщиками ликвидности.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https://github.com/tarma3v/international_transfers_signals/blob/3263473/submission/12-dizayn-interfeysa.md</a:t>
            </a:r>
            <a:endParaRPr/>
          </a:p>
          <a:p xmlns:a="http://schemas.openxmlformats.org/drawingml/2006/main">
            <a:r>
              <a:t>Важно различать положение суммы в историческом диапазоне и вероятность future-only события. Визуальный индикатор из main менять для температуры не требуется.</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30 дней жизни заявки — продуктовая гипотеза команды, не условие ТЗ.</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Простой контроль known_next_not_lower_cd3: hit 0.5778474399164054, pooled lift 1.9622735980494599, frequency 1.4298826040554962. Разная частота оговорена, это не изолированная абляция при одинаковом бюджете.</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p>
          <a:p xmlns:a="http://schemas.openxmlformats.org/drawingml/2006/main">
            <a:r>
              <a:t>Источник: https://github.com/tarma3v/international_transfers_signals/tree/ivan-experiments/results/research/after_publication/ap37_effective/retrospective_all_horizons.csv</a:t>
            </a: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p>
          <a:p xmlns:a="http://schemas.openxmlformats.org/drawingml/2006/main">
            <a:r>
              <a:t>https://github.com/tarma3v/international_transfers_signals/tree/ivan-experiments/output/defense_visuals/chart_evidence.json</a:t>
            </a:r>
          </a:p>
          <a:p xmlns:a="http://schemas.openxmlformats.org/drawingml/2006/main">
            <a:r>
              <a:t>Исходное изображение пользователя сохраняется без изменений. Это иллюстрация AP50 temperature и AP37 push после публикации. 6/6 попаданий на фрагменте не означает 100% точности модели. Нельзя причинно интерпретировать наложение осей разного масштаба.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https://github.com/tarma3v/international_transfers_signals/tree/ivan-experiments/model/final_temperature_model_v1.json</a:t>
            </a:r>
            <a:endParaRPr/>
          </a:p>
          <a:p xmlns:a="http://schemas.openxmlformats.org/drawingml/2006/main">
            <a:r>
              <a:t>T4: HistGradientBoosting на 53 признаках. T5: causally ranked CNY/RUB basis + поквартальная логистическая калибровка по валюте/горизонту. T14 добавляет ранний CNY perpetual только h1/h3, если завершённая свеча доступна. T16 вечером улучшает только оценку размера эффекта h3/h5, не заменяет температуру и не переносит автоматически AP37 lift на каждый час. 15:30 — срез выбранной модели, не конец всей торговой сессии.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https://github.com/tarma3v/international_transfers_signals/tree/ivan-experiments/model/final_temperature_model_v1.json</a:t>
            </a:r>
            <a:endParaRPr/>
          </a:p>
          <a:p xmlns:a="http://schemas.openxmlformats.org/drawingml/2006/main">
            <a:r>
              <a:t>Экран 03 исходного прототипа показывает желаемое обновление пуша. Оно не является гарантией доставки или замены на iOS/Android. Реализация транспорта вне скоупа.</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https://github.com/tarma3v/international_transfers_signals/blob/3263473/design/pushi-100-variantov.md</a:t>
            </a:r>
            <a:endParaRPr/>
          </a:p>
          <a:p xmlns:a="http://schemas.openxmlformats.org/drawingml/2006/main">
            <a:r>
              <a:t>Числа и даты примеров в этой таблице демонстрационные. В пилоте обязательны актуальный источник, проверка истины каждого факта и согласование банка.</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Реальные объёмы, маржа, согласия, адресаты и комиссии не предоставлены. Нет обещания срока окупаемости или статистической мощности пилота без этих данных.</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Исследования с клиентами и боевые интеграции в скоуп хакатона не входят.</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Температура=100×калиброванная вероятность. Это внутренняя модельная оценка, а не новая пользовательская метрика. Полный интерфейс наследуем из main.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https://github.com/tarma3v/international_transfers_signals/tree/ivan-experiments/tests/test_final_temperature_model.py</a:t>
            </a:r>
            <a:endParaRPr/>
          </a:p>
          <a:p xmlns:a="http://schemas.openxmlformats.org/drawingml/2006/main">
            <a:r>
              <a:t>https://github.com/tarma3v/international_transfers_signals/tree/ivan-experiments/model/final_temperature_model_v1.json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Q&amp;A 05.09 с.3–5. Симметричная разметка локального минимума ±h присутствует в исследовании отдельно от headline lift. Для сообщения «окно закрывается» применяется другой таргет. Полная матрица: https://github.com/tarma3v/international_transfers_signals/tree/ivan-experiments/results/research/final_case_metric_matrix.csv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Все пять горизонтов: [{"candidate":"ap26_core_mature_precision_calendar_fallback_cap2","h":"1","n_scope":"3280","n_signals":"695","first":"2024-01-09","last":"2026-08-31","hit_rate":"1.0","base_rate":"0.5161585365853658","pooled_lift":"1.9373892498523333","adjusted_lift":"1.9435228980650257","frequency":"1.031813361611877","currency_rate_min":"1.016967126193001","currency_rate_max":"1.0540827147401908","symmetric_bps":"31.438854227192166","forward_bps":"95.36018083744467"},{"candidate":"ap26_core_mature_precision_calendar_fallback_cap2","h":"3","n_scope":"3270","n_signals":"695","first":"2024-01-09","last":"2026-08-27","hit_rate":"0.8561151079136691","base_rate":"0.354434250764526","pooled_lift":"2.4154412449333025","adjusted_lift":"2.428673730515981","frequency":"1.0362087326943556","currency_rate_min":"1.0212992545260917","currency_rate_max":"1.058572949946752","symmetric_bps":"61.96540813077257","forward_bps":"124.18698865290492"},{"candidate":"ap26_core_mature_precision_calendar_fallback_cap2","h":"5","n_scope":"3260","n_signals":"695","first":"2024-01-09","last":"2026-08-25","hit_rate":"0.7338129496402878","base_rate":"0.294478527607362","pooled_lift":"2.491906474820144","adjusted_lift":"2.5091882251629154","frequency":"1.038420490928495","currency_rate_min":"1.023479188900747","currency_rate_max":"1.0608324439701173","symmetric_bps":"74.55139335041945","forward_bps":"133.73372418970007"},{"candidate":"ap26_core_mature_precision_calendar_fallback_cap2","h":"10","n_scope":"3235","n_signals":"685","first":"2024-01-09","last":"2026-08-18","hit_rate":"0.5591240875912409","base_rate":"0.22812982998454404","pooled_lift":"2.450903012679762","adjusted_lift":"2.479315705615442","frequency":"1.0311827956989248","currency_rate_min":"1.0161290322580645","currency_rate_max":"1.053763440860215","symmetric_bps":"79.46991513903394","forward_bps":"133.10413607007362"},{"candidate":"ap26_core_mature_precision_calendar_fallback_cap2","h":"20","n_scope":"3185","n_signals":"671","first":"2024-01-09","last":"2026-08-04","hit_rate":"0.4113263785394933","base_rate":"0.165149136577708","pooled_lift":"2.490635961308529","adjusted_lift":"2.5249873834516006","frequency":"1.0255458515283842","currency_rate_min":"1.0087336244541485","currency_rate_max":"1.046943231441048","symmetric_bps":"88.54723544975964","forward_bps":"130.23124876097734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 https://github.com/tarma3v/international_transfers_signals/blob/ivan-experiments/results/research/round7/audit/breakdown_h5.csv</a:t>
            </a:r>
            <a:endParaRPr/>
          </a:p>
          <a:p xmlns:a="http://schemas.openxmlformats.org/drawingml/2006/main">
            <a:r>
              <a:t>Границы периода: results/research/round7/audit/period.json. 2025-01-10..2026-08-26, 2020 строк валюта-дата. Коридоры AMD, KGS, KZT, TJS, UZS.</a:t>
            </a:r>
            <a:endParaRPr/>
          </a:p>
          <a:p xmlns:a="http://schemas.openxmlformats.org/drawingml/2006/main">
            <a:r>
              <a:t>Сохранённая политика incumbent, CNY availability-router. h=5 следующих публикаций. Hit = текущий действующий курс ЦБ не выше минимума следующих пяти курсов. Pooled lift = 0.5513833992094862 / 0.26782178217821784 = 2.0587698085086177. 279 попаданий / 506 сигналов. Частота 1.1946037099494098.</a:t>
            </a:r>
            <a:endParaRPr/>
          </a:p>
          <a:p xmlns:a="http://schemas.openxmlformats.org/drawingml/2006/main">
            <a:r>
              <a:t>Lift с поправкой на состав валют и периодов 2.0529084958019066 отличается от pooled lift способом агрегации. Симметричная выгода 47.9081165161289 б.п., future-only 95.20087810368796 б.п. Обе оценки от действующего ЦБ, не банковская экономия.</a:t>
            </a:r>
            <a:endParaRPr/>
          </a:p>
          <a:p xmlns:a="http://schemas.openxmlformats.org/drawingml/2006/main">
            <a:r>
              <a:t>Это не модель совсем без ЦБ: исторический и действующий ЦБ остаются входами. Исключён следующий, ещё не опубликованный курс. Завершённые свечи CNY/RUB, геометрическая средняя к CBR и ранг на предыдущих 250 наблюдениях. Причинный порог по предыдущим 20 оценкам, верхние 22%. При отсутствии сессии noon fallback. Общая цифра включает дни с биржей и резервные дни.</a:t>
            </a:r>
            <a:endParaRPr/>
          </a:p>
          <a:p xmlns:a="http://schemas.openxmlformats.org/drawingml/2006/main">
            <a:r>
              <a:t>Политика редких дневных сигналов отличается от калибровки вероятностей T5 на следующем слайде. Основной итоговый поток AP37 после получения ЦБ не изменён. Дневной вариант показан как проверенный резерв, не как заново объединённая политика отправки.</a:t>
            </a:r>
            <a:endParaRPr/>
          </a:p>
          <a:p xmlns:a="http://schemas.openxmlformats.org/drawingml/2006/main">
            <a:r>
              <a:t>Период неоднократно использовался в исследованиях, новый независимый тест нужен. Публикационная задержка бесплатного биржевого источника не сертифицирована, в пилоте нужен фактический as-of журнал.</a:t>
            </a:r>
            <a:endParaRPr/>
          </a:p>
          <a:p xmlns:a="http://schemas.openxmlformats.org/drawingml/2006/main">
            <a:r>
              <a:t>Прежний слайд о version_b заменён для ясности финальной защиты. Исследование и авторство Даниила сохранены в research/version_b_honest_audit.py и предыдущем файле презентации.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https://github.com/tarma3v/international_transfers_signals/tree/ivan-experiments/research/temperature_t5_market_grid.py</a:t>
            </a:r>
            <a:endParaRPr/>
          </a:p>
          <a:p xmlns:a="http://schemas.openxmlformats.org/drawingml/2006/main">
            <a:r>
              <a:t>https://github.com/tarma3v/international_transfers_signals/tree/ivan-experiments/results/research/temperature/t5_market_grid/calibration_metrics.csv</a:t>
            </a:r>
            <a:endParaRPr/>
          </a:p>
          <a:p xmlns:a="http://schemas.openxmlformats.org/drawingml/2006/main">
            <a:r>
              <a:t>https://github.com/tarma3v/international_transfers_signals/tree/ivan-experiments/research/temperature_t46_local_pair_fallback_report.md</a:t>
            </a:r>
            <a:endParaRPr/>
          </a:p>
          <a:p xmlns:a="http://schemas.openxmlformats.org/drawingml/2006/main">
            <a:r>
              <a:t>CNY/RUB не создаёт арбитраж и не задаёт один-к-одному остальные валюты. Это ликвидный рублёвый индикатор относительно медленного публичного ориентира. Дневной Brier не следует сравнивать с вечерним без одинаковой выборки.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main 3263473, submission/figures/06-makety-interfeysa.png. Изображение сохранено, поверх тела нижнего пуша добавлен редактируемый факт редкости вместо «ждать чаще не помогало».</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Роли и выполненные зоны работы по источникам main и ivan-experiments. Численные доли участия не указаны: инструкция ZAGRUZKA.md называет 33/33/33 заглушкой, фактические значения должны подтвердить участники.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p>
          <a:p xmlns:a="http://schemas.openxmlformats.org/drawingml/2006/main">
            <a:r>
              <a:t>Источник: https://github.com/tarma3v/international_transfers_signals/tree/ivan-experiments/results/research/after_publication/ap37_effective/retrospective_all_horizons.csv</a:t>
            </a: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p>
          <a:p xmlns:a="http://schemas.openxmlformats.org/drawingml/2006/main">
            <a:r>
              <a:t>https://github.com/tarma3v/international_transfers_signals/tree/ivan-experiments/output/defense_visuals/chart_evidence.json</a:t>
            </a:r>
          </a:p>
          <a:p xmlns:a="http://schemas.openxmlformats.org/drawingml/2006/main">
            <a:r>
              <a:t>https://github.com/tarma3v/international_transfers_signals/tree/ivan-experiments/results/research/after_publication/ap37_effective/diagnostic_breakdown.csv</a:t>
            </a:r>
          </a:p>
          <a:p xmlns:a="http://schemas.openxmlformats.org/drawingml/2006/main">
            <a:r>
              <a:t>Коридоры связаны общим движением рубля. Пять валют не являются пятью независимыми рынками.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p>
          <a:p xmlns:a="http://schemas.openxmlformats.org/drawingml/2006/main">
            <a:r>
              <a:t>Источник: https://github.com/tarma3v/international_transfers_signals/tree/ivan-experiments/results/research/after_publication/ap37_effective/retrospective_all_horizons.csv</a:t>
            </a: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p>
          <a:p xmlns:a="http://schemas.openxmlformats.org/drawingml/2006/main">
            <a:r>
              <a:t>https://github.com/tarma3v/international_transfers_signals/tree/ivan-experiments/research/after_publication_ap49_effective.py</a:t>
            </a:r>
          </a:p>
          <a:p xmlns:a="http://schemas.openxmlformats.org/drawingml/2006/main">
            <a:r>
              <a:t>https://github.com/tarma3v/international_transfers_signals/tree/ivan-experiments/research/after_publication_ap50_temperature_models.py</a:t>
            </a:r>
          </a:p>
          <a:p xmlns:a="http://schemas.openxmlformats.org/drawingml/2006/main">
            <a:r>
              <a:t>https://github.com/tarma3v/international_transfers_signals/tree/ivan-experiments/research/after_publication_ap37_effective_models.py</a:t>
            </a:r>
          </a:p>
          <a:p xmlns:a="http://schemas.openxmlformats.org/drawingml/2006/main">
            <a:r>
              <a:t>Эксперты AP37: ap26_y20, ridge_survival, distributional_cat. Качество резервной группы: созревшие исходы h20 до даты T минус 2 дня, сглаживание глобальной и локальной частоты. Резерв после разогрева84д, при trailing rate&lt;1 и отсутствии ядра, при тишине&gt;=10д или конце недели с достаточным качеством.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Таблица: results/research/round7/direct_pairs/later_by_horizon.csv и results/research/round7/residual_floor/later_by_horizon.csv. [["Вариант","Lift*"],["CNY/RUB с резервом на истории","2,053"],["Добавка прямой пары 25 %","2,043"],["Общая модель поправки к CNY","2,038"],["Индивидуальные веса валют","1,978"]]</a:t>
            </a:r>
          </a:p>
          <a:p xmlns:a="http://schemas.openxmlformats.org/drawingml/2006/main">
            <a:r>
              <a:t>Политики выбраны на очищенном 2024 и оценены на уже изученной ретроспективе 2025–2026. Первый вариант incumbent, второй last_basis_soft_w025, третий global_quantile_w10, четвёртый per_currency_weights. Поправка к CNY обучает квантиль будущего минимума глобально по валютам, добавляется с весом 10%.</a:t>
            </a:r>
          </a:p>
          <a:p xmlns:a="http://schemas.openxmlformats.org/drawingml/2006/main">
            <a:r>
              <a:t>Список других семейств: EXPERIMENTS_SUMMARY.md, разделы «Что не дало устойчивого выигрыша» и AP34-E/AP36-E. Их цифры не смешиваются с этой таблицей из-за разных периодов и целей. Таблица не доказывает, что все ансамбли хуже: она показывает конкретную проверку прямых пар. Свежие источники, калибровка и отбор по созревшим ответам входят в итоговый контракт model/final_temperature_model_v1.json. Все оценки ЦБ являются исследовательскими, не исполнимой котировкой.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e2528e3c844cdf"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b7367cc47042f5" /><Relationship Type="http://schemas.openxmlformats.org/officeDocument/2006/relationships/slideLayout" Target="/ppt/slideLayouts/slideLayout1.xml" Id="Rab463ad3fdc64f7d"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463ad3fdc64f7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df524adda9d42cb" /><Relationship Type="http://schemas.openxmlformats.org/officeDocument/2006/relationships/notesSlide" Target="/ppt/notesSlides/notesSlide1.xml" Id="Ra6e60386de2c44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bf8a93aef784b32" /><Relationship Type="http://schemas.openxmlformats.org/officeDocument/2006/relationships/notesSlide" Target="/ppt/notesSlides/notesSlide2.xml" Id="Rd9f5a15b1dc543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1fac66ceb8541de" /><Relationship Type="http://schemas.openxmlformats.org/officeDocument/2006/relationships/notesSlide" Target="/ppt/notesSlides/notesSlide3.xml" Id="R4cfa49b0d6d949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2a33c099b5543f1" /><Relationship Type="http://schemas.openxmlformats.org/officeDocument/2006/relationships/notesSlide" Target="/ppt/notesSlides/notesSlide4.xml" Id="Rcf23e18cb4ea47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32527567c7e4e14" /><Relationship Type="http://schemas.openxmlformats.org/officeDocument/2006/relationships/image" Target="/ppt/media/image.png" Id="R7693fa76573f4692" /><Relationship Type="http://schemas.openxmlformats.org/officeDocument/2006/relationships/notesSlide" Target="/ppt/notesSlides/notesSlide5.xml" Id="Re8bb0dca9acb4d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6a8433f123f4f3a" /><Relationship Type="http://schemas.openxmlformats.org/officeDocument/2006/relationships/image" Target="/ppt/media/image2.png" Id="R83d875fe698943fb" /><Relationship Type="http://schemas.openxmlformats.org/officeDocument/2006/relationships/notesSlide" Target="/ppt/notesSlides/notesSlide6.xml" Id="Rd9f08e1d20f742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bf659f41de04879" /><Relationship Type="http://schemas.openxmlformats.org/officeDocument/2006/relationships/image" Target="/ppt/media/image3.png" Id="Rde3b4faa253043dc" /><Relationship Type="http://schemas.openxmlformats.org/officeDocument/2006/relationships/notesSlide" Target="/ppt/notesSlides/notesSlide7.xml" Id="Rc861b3efa90a40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459be5df9b44573" /><Relationship Type="http://schemas.openxmlformats.org/officeDocument/2006/relationships/image" Target="/ppt/media/image4.png" Id="Rdeb52e25b18d4b30" /><Relationship Type="http://schemas.openxmlformats.org/officeDocument/2006/relationships/notesSlide" Target="/ppt/notesSlides/notesSlide8.xml" Id="Rb57a196d323449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47c407ce2274f5a" /><Relationship Type="http://schemas.openxmlformats.org/officeDocument/2006/relationships/chart" Target="/ppt/slides/charts/chart1.xml" Id="R5d8b17cb950545d9" /><Relationship Type="http://schemas.openxmlformats.org/officeDocument/2006/relationships/notesSlide" Target="/ppt/notesSlides/notesSlide9.xml" Id="Ra5274f51c0bc402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dfbaf5aef364133" /><Relationship Type="http://schemas.openxmlformats.org/officeDocument/2006/relationships/image" Target="/ppt/media/image5.png" Id="R487d56a98aa74985" /><Relationship Type="http://schemas.openxmlformats.org/officeDocument/2006/relationships/notesSlide" Target="/ppt/notesSlides/notesSlide10.xml" Id="R0cadf57c16f4421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1fa3c89929c46fb" /><Relationship Type="http://schemas.openxmlformats.org/officeDocument/2006/relationships/notesSlide" Target="/ppt/notesSlides/notesSlide11.xml" Id="R3d7b870eb28f4d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0de278c44d7453a" /><Relationship Type="http://schemas.openxmlformats.org/officeDocument/2006/relationships/image" Target="/ppt/media/image6.png" Id="Rbc0a8ca95ff94b19" /><Relationship Type="http://schemas.openxmlformats.org/officeDocument/2006/relationships/image" Target="/ppt/media/image7.png" Id="R0f44f78bba954af9" /><Relationship Type="http://schemas.openxmlformats.org/officeDocument/2006/relationships/notesSlide" Target="/ppt/notesSlides/notesSlide12.xml" Id="R41a698caeaf74bc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4105e8a4e8d47cf" /><Relationship Type="http://schemas.openxmlformats.org/officeDocument/2006/relationships/notesSlide" Target="/ppt/notesSlides/notesSlide13.xml" Id="Rb9038269dd6144d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782d9cfc0534972" /><Relationship Type="http://schemas.openxmlformats.org/officeDocument/2006/relationships/notesSlide" Target="/ppt/notesSlides/notesSlide14.xml" Id="R9f4ccfc2219b45f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6eb8d2524844334" /><Relationship Type="http://schemas.openxmlformats.org/officeDocument/2006/relationships/notesSlide" Target="/ppt/notesSlides/notesSlide15.xml" Id="Rc18432bd83db4062" /></Relationships>
</file>

<file path=ppt/slides/_rels/slide16.xml.rels><?xml version='1.0' encoding='utf-8'?>
<Relationships xmlns="http://schemas.openxmlformats.org/package/2006/relationships"><Relationship Type="http://schemas.openxmlformats.org/officeDocument/2006/relationships/slideLayout" Target="/ppt/slideLayouts/slideLayout1.xml" Id="R87b29d33ca944aa1"/><Relationship Type="http://schemas.openxmlformats.org/officeDocument/2006/relationships/notesSlide" Target="/ppt/notesSlides/notesSlide16.xml" Id="Rfdcc8264781a4cdb"/><Relationship Id="rIdTemperatureClientExample" Type="http://schemas.openxmlformats.org/officeDocument/2006/relationships/image" Target="/ppt/media/image3.png"/></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844b084ce0c4d8c" /><Relationship Type="http://schemas.openxmlformats.org/officeDocument/2006/relationships/notesSlide" Target="/ppt/notesSlides/notesSlide17.xml" Id="R94bee54a0509477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ff4809400e74b91" /><Relationship Type="http://schemas.openxmlformats.org/officeDocument/2006/relationships/notesSlide" Target="/ppt/notesSlides/notesSlide18.xml" Id="Ra4e91128a183455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325c1d80d9d46ea" /><Relationship Type="http://schemas.openxmlformats.org/officeDocument/2006/relationships/notesSlide" Target="/ppt/notesSlides/notesSlide19.xml" Id="R770d02e4fa224f5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c25157957b44eaf" /><Relationship Type="http://schemas.openxmlformats.org/officeDocument/2006/relationships/notesSlide" Target="/ppt/notesSlides/notesSlide20.xml" Id="Ra9c3ec017c6540b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e898fce87774ca7" /><Relationship Type="http://schemas.openxmlformats.org/officeDocument/2006/relationships/chart" Target="/ppt/slides/charts/chart2.xml" Id="Rb31a8bf3f27d45e4" /><Relationship Type="http://schemas.openxmlformats.org/officeDocument/2006/relationships/notesSlide" Target="/ppt/notesSlides/notesSlide21.xml" Id="Rcc64d7f3856d4ae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d9bc1f8c46a411b" /><Relationship Type="http://schemas.openxmlformats.org/officeDocument/2006/relationships/notesSlide" Target="/ppt/notesSlides/notesSlide22.xml" Id="Rfb959d3b0ebb46c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b40b6c367fd4598" /><Relationship Type="http://schemas.openxmlformats.org/officeDocument/2006/relationships/notesSlide" Target="/ppt/notesSlides/notesSlide23.xml" Id="R8c3b346abe564c2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334134cdf2d4107" /><Relationship Type="http://schemas.openxmlformats.org/officeDocument/2006/relationships/image" Target="/ppt/media/image8.png" Id="R1d50d6832b7240e9" /><Relationship Type="http://schemas.openxmlformats.org/officeDocument/2006/relationships/notesSlide" Target="/ppt/notesSlides/notesSlide24.xml" Id="R228657fb581c452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a492f7efd1c432a" /><Relationship Type="http://schemas.openxmlformats.org/officeDocument/2006/relationships/notesSlide" Target="/ppt/notesSlides/notesSlide25.xml" Id="Rf63348eab82147a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6051814fb404e0c" /><Relationship Type="http://schemas.openxmlformats.org/officeDocument/2006/relationships/chart" Target="/ppt/slides/charts/chart3.xml" Id="R9e764a7274c64645" /><Relationship Type="http://schemas.openxmlformats.org/officeDocument/2006/relationships/notesSlide" Target="/ppt/notesSlides/notesSlide26.xml" Id="R236b2cc27b3a4fa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759891dbc534f86" /><Relationship Type="http://schemas.openxmlformats.org/officeDocument/2006/relationships/notesSlide" Target="/ppt/notesSlides/notesSlide27.xml" Id="R34c188d67991466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a554bf1a68d493c" /><Relationship Type="http://schemas.openxmlformats.org/officeDocument/2006/relationships/notesSlide" Target="/ppt/notesSlides/notesSlide28.xml" Id="Rb40ea28b1129400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b="1">
                <a:solidFill>
                  <a:srgbClr val="1A2530"/>
                </a:solidFill>
                <a:latin typeface="Cambria"/>
                <a:ea typeface="Cambria"/>
                <a:cs typeface="Cambria"/>
              </a:rPr>
              <a:t>Попадание на следующих пяти публикациях</a:t>
            </a:r>
          </a:p>
        </c:rich>
      </c:tx>
      <c:overlay val="0"/>
      <c:txPr>
        <a:bodyPr xmlns:a="http://schemas.openxmlformats.org/drawingml/2006/main" anchorCtr="1"/>
        <a:lstStyle xmlns:a="http://schemas.openxmlformats.org/drawingml/2006/main"/>
        <a:p xmlns:a="http://schemas.openxmlformats.org/drawingml/2006/main">
          <a:pPr>
            <a:defRPr sz="1575" b="1">
              <a:solidFill>
                <a:srgbClr val="1A2530"/>
              </a:solidFill>
              <a:latin typeface="Cambria"/>
              <a:ea typeface="Cambria"/>
              <a:cs typeface="Cambria"/>
            </a:defRPr>
          </a:pPr>
        </a:p>
      </c:txPr>
    </c:title>
    <c:plotArea>
      <c:barChart>
        <c:barDir val="col"/>
        <c:grouping val="clustered"/>
        <c:varyColors val="0"/>
        <c:ser>
          <c:idx val="0"/>
          <c:order val="0"/>
          <c:tx>
            <c:v>Сигналы ансамбля</c:v>
          </c:tx>
          <c:spPr>
            <a:solidFill xmlns:a="http://schemas.openxmlformats.org/drawingml/2006/main">
              <a:srgbClr val="16674F"/>
            </a:solidFill>
          </c:spPr>
          <c:cat>
            <c:strRef>
              <c:f>'Chart Data'!$A$2:$A$2</c:f>
              <c:strCache>
                <c:ptCount val="1"/>
                <c:pt idx="0">
                  <c:v>h = 5</c:v>
                </c:pt>
              </c:strCache>
            </c:strRef>
          </c:cat>
          <c:val>
            <c:numRef>
              <c:f>'Chart Data'!$B$2:$B$2</c:f>
              <c:numCache>
                <c:formatCode>0.0%</c:formatCode>
                <c:ptCount val="1"/>
                <c:pt idx="0">
                  <c:v>0.73381294964</c:v>
                </c:pt>
              </c:numCache>
            </c:numRef>
          </c:val>
        </c:ser>
        <c:ser>
          <c:idx val="1"/>
          <c:order val="1"/>
          <c:tx>
            <c:v>Случайный день</c:v>
          </c:tx>
          <c:spPr>
            <a:solidFill xmlns:a="http://schemas.openxmlformats.org/drawingml/2006/main">
              <a:srgbClr val="A6AFB8"/>
            </a:solidFill>
          </c:spPr>
          <c:cat>
            <c:strRef>
              <c:f>'Chart Data'!$C$2:$C$2</c:f>
              <c:strCache>
                <c:ptCount val="1"/>
                <c:pt idx="0">
                  <c:v>h = 5</c:v>
                </c:pt>
              </c:strCache>
            </c:strRef>
          </c:cat>
          <c:val>
            <c:numRef>
              <c:f>'Chart Data'!$D$2:$D$2</c:f>
              <c:numCache>
                <c:formatCode>0.0%</c:formatCode>
                <c:ptCount val="1"/>
                <c:pt idx="0">
                  <c:v>0.294478527607</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4E5966"/>
                  </a:solidFill>
                  <a:latin typeface="Calibri"/>
                  <a:ea typeface="Calibri"/>
                  <a:cs typeface="Calibri"/>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5715">
            <a:solidFill>
              <a:srgbClr val="BFC7CE"/>
            </a:solidFill>
          </a:ln>
        </c:spPr>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crossAx val="48672768"/>
      </c:catAx>
      <c:valAx>
        <c:axId val="48672768"/>
        <c:scaling>
          <c:orientation val="minMax"/>
          <c:max val="1"/>
          <c:min val="0"/>
        </c:scaling>
        <c:delete val="0"/>
        <c:axPos val="l"/>
        <c:majorGridlines>
          <c:spPr>
            <a:ln xmlns:a="http://schemas.openxmlformats.org/drawingml/2006/main" w="5715">
              <a:solidFill>
                <a:srgbClr val="E8EC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b="1">
                <a:solidFill>
                  <a:srgbClr val="1A2530"/>
                </a:solidFill>
                <a:latin typeface="Cambria"/>
                <a:ea typeface="Cambria"/>
                <a:cs typeface="Cambria"/>
              </a:rPr>
              <a:t>Доля удачных дней</a:t>
            </a:r>
          </a:p>
        </c:rich>
      </c:tx>
      <c:overlay val="0"/>
      <c:txPr>
        <a:bodyPr xmlns:a="http://schemas.openxmlformats.org/drawingml/2006/main" anchorCtr="1"/>
        <a:lstStyle xmlns:a="http://schemas.openxmlformats.org/drawingml/2006/main"/>
        <a:p xmlns:a="http://schemas.openxmlformats.org/drawingml/2006/main">
          <a:pPr>
            <a:defRPr sz="1575" b="1">
              <a:solidFill>
                <a:srgbClr val="1A2530"/>
              </a:solidFill>
              <a:latin typeface="Cambria"/>
              <a:ea typeface="Cambria"/>
              <a:cs typeface="Cambria"/>
            </a:defRPr>
          </a:pPr>
        </a:p>
      </c:txPr>
    </c:title>
    <c:plotArea>
      <c:barChart>
        <c:barDir val="col"/>
        <c:grouping val="clustered"/>
        <c:varyColors val="0"/>
        <c:ser>
          <c:idx val="0"/>
          <c:order val="0"/>
          <c:tx>
            <c:v>Сигналы ансамбля</c:v>
          </c:tx>
          <c:spPr>
            <a:solidFill xmlns:a="http://schemas.openxmlformats.org/drawingml/2006/main">
              <a:srgbClr val="16674F"/>
            </a:solidFill>
          </c:spPr>
          <c:cat>
            <c:strRef>
              <c:f>'Chart Data'!$A$2:$A$5</c:f>
              <c:strCache>
                <c:ptCount val="4"/>
                <c:pt idx="0">
                  <c:v>3 публикации</c:v>
                </c:pt>
                <c:pt idx="1">
                  <c:v>5 публикаций</c:v>
                </c:pt>
                <c:pt idx="2">
                  <c:v>10 публикаций</c:v>
                </c:pt>
                <c:pt idx="3">
                  <c:v>20 публикаций</c:v>
                </c:pt>
              </c:strCache>
            </c:strRef>
          </c:cat>
          <c:val>
            <c:numRef>
              <c:f>'Chart Data'!$B$2:$B$5</c:f>
              <c:numCache>
                <c:formatCode>0.0%</c:formatCode>
                <c:ptCount val="4"/>
                <c:pt idx="0">
                  <c:v>0.856115107914</c:v>
                </c:pt>
                <c:pt idx="1">
                  <c:v>0.73381294964</c:v>
                </c:pt>
                <c:pt idx="2">
                  <c:v>0.559124087591</c:v>
                </c:pt>
                <c:pt idx="3">
                  <c:v>0.411326378539</c:v>
                </c:pt>
              </c:numCache>
            </c:numRef>
          </c:val>
        </c:ser>
        <c:ser>
          <c:idx val="1"/>
          <c:order val="1"/>
          <c:tx>
            <c:v>Случайный день</c:v>
          </c:tx>
          <c:spPr>
            <a:solidFill xmlns:a="http://schemas.openxmlformats.org/drawingml/2006/main">
              <a:srgbClr val="A6AFB8"/>
            </a:solidFill>
          </c:spPr>
          <c:cat>
            <c:strRef>
              <c:f>'Chart Data'!$C$2:$C$5</c:f>
              <c:strCache>
                <c:ptCount val="4"/>
                <c:pt idx="0">
                  <c:v>3 публикации</c:v>
                </c:pt>
                <c:pt idx="1">
                  <c:v>5 публикаций</c:v>
                </c:pt>
                <c:pt idx="2">
                  <c:v>10 публикаций</c:v>
                </c:pt>
                <c:pt idx="3">
                  <c:v>20 публикаций</c:v>
                </c:pt>
              </c:strCache>
            </c:strRef>
          </c:cat>
          <c:val>
            <c:numRef>
              <c:f>'Chart Data'!$D$2:$D$5</c:f>
              <c:numCache>
                <c:formatCode>0.0%</c:formatCode>
                <c:ptCount val="4"/>
                <c:pt idx="0">
                  <c:v>0.354434250765</c:v>
                </c:pt>
                <c:pt idx="1">
                  <c:v>0.294478527607</c:v>
                </c:pt>
                <c:pt idx="2">
                  <c:v>0.228129829985</c:v>
                </c:pt>
                <c:pt idx="3">
                  <c:v>0.165149136578</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4E5966"/>
                  </a:solidFill>
                  <a:latin typeface="Calibri"/>
                  <a:ea typeface="Calibri"/>
                  <a:cs typeface="Calibri"/>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5715">
            <a:solidFill>
              <a:srgbClr val="BFC7CE"/>
            </a:solidFill>
          </a:ln>
        </c:spPr>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crossAx val="48672768"/>
      </c:catAx>
      <c:valAx>
        <c:axId val="48672768"/>
        <c:scaling>
          <c:orientation val="minMax"/>
          <c:max val="1"/>
          <c:min val="0"/>
        </c:scaling>
        <c:delete val="0"/>
        <c:axPos val="l"/>
        <c:majorGridlines>
          <c:spPr>
            <a:ln xmlns:a="http://schemas.openxmlformats.org/drawingml/2006/main" w="5715">
              <a:solidFill>
                <a:srgbClr val="E8EC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b="1">
                <a:solidFill>
                  <a:srgbClr val="1A2530"/>
                </a:solidFill>
                <a:latin typeface="Cambria"/>
                <a:ea typeface="Cambria"/>
                <a:cs typeface="Cambria"/>
              </a:rPr>
              <a:t>Попадание на следующих пяти публикациях</a:t>
            </a:r>
          </a:p>
        </c:rich>
      </c:tx>
      <c:overlay val="0"/>
      <c:txPr>
        <a:bodyPr xmlns:a="http://schemas.openxmlformats.org/drawingml/2006/main" anchorCtr="1"/>
        <a:lstStyle xmlns:a="http://schemas.openxmlformats.org/drawingml/2006/main"/>
        <a:p xmlns:a="http://schemas.openxmlformats.org/drawingml/2006/main">
          <a:pPr>
            <a:defRPr sz="1575" b="1">
              <a:solidFill>
                <a:srgbClr val="1A2530"/>
              </a:solidFill>
              <a:latin typeface="Cambria"/>
              <a:ea typeface="Cambria"/>
              <a:cs typeface="Cambria"/>
            </a:defRPr>
          </a:pPr>
        </a:p>
      </c:txPr>
    </c:title>
    <c:plotArea>
      <c:barChart>
        <c:barDir val="col"/>
        <c:grouping val="clustered"/>
        <c:varyColors val="0"/>
        <c:ser>
          <c:idx val="0"/>
          <c:order val="0"/>
          <c:tx>
            <c:v>Сигналы ансамбля</c:v>
          </c:tx>
          <c:spPr>
            <a:solidFill xmlns:a="http://schemas.openxmlformats.org/drawingml/2006/main">
              <a:srgbClr val="16674F"/>
            </a:solidFill>
          </c:spPr>
          <c:cat>
            <c:strRef>
              <c:f>'Chart Data'!$A$2:$A$6</c:f>
              <c:strCache>
                <c:ptCount val="5"/>
                <c:pt idx="0">
                  <c:v>AMD</c:v>
                </c:pt>
                <c:pt idx="1">
                  <c:v>KGS</c:v>
                </c:pt>
                <c:pt idx="2">
                  <c:v>KZT</c:v>
                </c:pt>
                <c:pt idx="3">
                  <c:v>TJS</c:v>
                </c:pt>
                <c:pt idx="4">
                  <c:v>UZS</c:v>
                </c:pt>
              </c:strCache>
            </c:strRef>
          </c:cat>
          <c:val>
            <c:numRef>
              <c:f>'Chart Data'!$B$2:$B$6</c:f>
              <c:numCache>
                <c:formatCode>0.0%</c:formatCode>
                <c:ptCount val="5"/>
                <c:pt idx="0">
                  <c:v>0.746478873239</c:v>
                </c:pt>
                <c:pt idx="1">
                  <c:v>0.726618705036</c:v>
                </c:pt>
                <c:pt idx="2">
                  <c:v>0.68115942029</c:v>
                </c:pt>
                <c:pt idx="3">
                  <c:v>0.748201438849</c:v>
                </c:pt>
                <c:pt idx="4">
                  <c:v>0.766423357664</c:v>
                </c:pt>
              </c:numCache>
            </c:numRef>
          </c:val>
        </c:ser>
        <c:ser>
          <c:idx val="1"/>
          <c:order val="1"/>
          <c:tx>
            <c:v>Случайный день</c:v>
          </c:tx>
          <c:spPr>
            <a:solidFill xmlns:a="http://schemas.openxmlformats.org/drawingml/2006/main">
              <a:srgbClr val="A6AFB8"/>
            </a:solidFill>
          </c:spPr>
          <c:cat>
            <c:strRef>
              <c:f>'Chart Data'!$C$2:$C$6</c:f>
              <c:strCache>
                <c:ptCount val="5"/>
                <c:pt idx="0">
                  <c:v>AMD</c:v>
                </c:pt>
                <c:pt idx="1">
                  <c:v>KGS</c:v>
                </c:pt>
                <c:pt idx="2">
                  <c:v>KZT</c:v>
                </c:pt>
                <c:pt idx="3">
                  <c:v>TJS</c:v>
                </c:pt>
                <c:pt idx="4">
                  <c:v>UZS</c:v>
                </c:pt>
              </c:strCache>
            </c:strRef>
          </c:cat>
          <c:val>
            <c:numRef>
              <c:f>'Chart Data'!$D$2:$D$6</c:f>
              <c:numCache>
                <c:formatCode>0.0%</c:formatCode>
                <c:ptCount val="5"/>
                <c:pt idx="0">
                  <c:v>0.29754601227</c:v>
                </c:pt>
                <c:pt idx="1">
                  <c:v>0.292944785276</c:v>
                </c:pt>
                <c:pt idx="2">
                  <c:v>0.266871165644</c:v>
                </c:pt>
                <c:pt idx="3">
                  <c:v>0.320552147239</c:v>
                </c:pt>
                <c:pt idx="4">
                  <c:v>0.294478527607</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4E5966"/>
                  </a:solidFill>
                  <a:latin typeface="Calibri"/>
                  <a:ea typeface="Calibri"/>
                  <a:cs typeface="Calibri"/>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5715">
            <a:solidFill>
              <a:srgbClr val="BFC7CE"/>
            </a:solidFill>
          </a:ln>
        </c:spPr>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crossAx val="48672768"/>
      </c:catAx>
      <c:valAx>
        <c:axId val="48672768"/>
        <c:scaling>
          <c:orientation val="minMax"/>
          <c:max val="1"/>
          <c:min val="0"/>
        </c:scaling>
        <c:delete val="0"/>
        <c:axPos val="l"/>
        <c:majorGridlines>
          <c:spPr>
            <a:ln xmlns:a="http://schemas.openxmlformats.org/drawingml/2006/main" w="5715">
              <a:solidFill>
                <a:srgbClr val="E8EC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A253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EFDEB87-0B22-495E-88A8-7DA8DE8C456D}"/>
              </a:ext>
            </a:extLst>
          </p:cNvPr>
          <p:cNvSpPr>
            <a:spLocks xmlns:a="http://schemas.openxmlformats.org/drawingml/2006/main" noGrp="1"/>
          </p:cNvSpPr>
          <p:nvPr/>
        </p:nvSpPr>
        <p:spPr>
          <a:xfrm xmlns:a="http://schemas.openxmlformats.org/drawingml/2006/main">
            <a:off x="640080" y="1874520"/>
            <a:ext cx="10881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9C5B12"/>
                </a:solidFill>
                <a:latin typeface="Calibri"/>
                <a:ea typeface="Calibri"/>
                <a:cs typeface="Calibri"/>
              </a:rPr>
              <a:t>ФИНАЛЬНАЯ ЗАЩИТА · 07.09.2026 · КОМАНДА 11</a:t>
            </a:r>
            <a:endParaRPr sz="1300"/>
          </a:p>
        </p:txBody>
      </p:sp>
      <p:sp>
        <p:nvSpPr>
          <p:cNvPr id="3" name="Text 1">
            <a:extLst xmlns:a="http://schemas.openxmlformats.org/drawingml/2006/main">
              <a:ext uri="{FF2B5EF4-FFF2-40B4-BE49-F238E27FC236}">
                <a16:creationId xmlns:a16="http://schemas.microsoft.com/office/drawing/2014/main" id="{7676B032-B1C7-49BF-8454-DF9AA793576D}"/>
              </a:ext>
            </a:extLst>
          </p:cNvPr>
          <p:cNvSpPr>
            <a:spLocks xmlns:a="http://schemas.openxmlformats.org/drawingml/2006/main" noGrp="1"/>
          </p:cNvSpPr>
          <p:nvPr/>
        </p:nvSpPr>
        <p:spPr>
          <a:xfrm xmlns:a="http://schemas.openxmlformats.org/drawingml/2006/main">
            <a:off x="640080" y="2240280"/>
            <a:ext cx="1088136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4600"/>
              </a:lnSpc>
              <a:buNone/>
            </a:pPr>
            <a:r>
              <a:rPr sz="4000" b="1">
                <a:solidFill>
                  <a:srgbClr val="FFFFFF"/>
                </a:solidFill>
                <a:latin typeface="Cambria"/>
                <a:ea typeface="Cambria"/>
                <a:cs typeface="Cambria"/>
              </a:rPr>
              <a:t>Как поймать выгодный момент</a:t>
            </a:r>
            <a:endParaRPr sz="4000"/>
          </a:p>
          <a:p xmlns:a="http://schemas.openxmlformats.org/drawingml/2006/main">
            <a:pPr marL="0" indent="0">
              <a:lnSpc>
                <a:spcPts val="4600"/>
              </a:lnSpc>
              <a:buNone/>
            </a:pPr>
            <a:r>
              <a:rPr sz="4000" b="1">
                <a:solidFill>
                  <a:srgbClr val="FFFFFF"/>
                </a:solidFill>
                <a:latin typeface="Cambria"/>
                <a:ea typeface="Cambria"/>
                <a:cs typeface="Cambria"/>
              </a:rPr>
              <a:t>для перевода за рубеж</a:t>
            </a:r>
            <a:endParaRPr sz="4000"/>
          </a:p>
        </p:txBody>
      </p:sp>
      <p:sp>
        <p:nvSpPr>
          <p:cNvPr id="4" name="Text 2">
            <a:extLst xmlns:a="http://schemas.openxmlformats.org/drawingml/2006/main">
              <a:ext uri="{FF2B5EF4-FFF2-40B4-BE49-F238E27FC236}">
                <a16:creationId xmlns:a16="http://schemas.microsoft.com/office/drawing/2014/main" id="{3C74765E-9739-47FA-BAF3-5606FD25F8E9}"/>
              </a:ext>
            </a:extLst>
          </p:cNvPr>
          <p:cNvSpPr>
            <a:spLocks xmlns:a="http://schemas.openxmlformats.org/drawingml/2006/main" noGrp="1"/>
          </p:cNvSpPr>
          <p:nvPr/>
        </p:nvSpPr>
        <p:spPr>
          <a:xfrm xmlns:a="http://schemas.openxmlformats.org/drawingml/2006/main">
            <a:off x="640080" y="4069080"/>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400"/>
              </a:lnSpc>
              <a:buNone/>
            </a:pPr>
            <a:r>
              <a:rPr sz="1500">
                <a:solidFill>
                  <a:srgbClr val="C7CFD8"/>
                </a:solidFill>
                <a:latin typeface="Calibri"/>
                <a:ea typeface="Calibri"/>
                <a:cs typeface="Calibri"/>
              </a:rPr>
              <a:t>Сигнальный слой над существующим переводом: RUB → TJS, UZS, KGS, AMD, KZT. Модель выбирает момент, а клиент видит понятный факт о текущем курсе и истории.</a:t>
            </a:r>
            <a:endParaRPr sz="1500"/>
          </a:p>
        </p:txBody>
      </p:sp>
      <p:sp>
        <p:nvSpPr>
          <p:cNvPr id="5" name="">
            <a:extLst xmlns:a="http://schemas.openxmlformats.org/drawingml/2006/main">
              <a:ext uri="{FF2B5EF4-FFF2-40B4-BE49-F238E27FC236}">
                <a16:creationId xmlns:a16="http://schemas.microsoft.com/office/drawing/2014/main" id="{D37EBC64-1230-4823-8B75-10B2BE3B6256}"/>
              </a:ext>
            </a:extLst>
          </p:cNvPr>
          <p:cNvSpPr>
            <a:spLocks xmlns:a="http://schemas.openxmlformats.org/drawingml/2006/main" noGrp="1"/>
          </p:cNvSpPr>
          <p:nvPr/>
        </p:nvSpPr>
        <p:spPr>
          <a:xfrm xmlns:a="http://schemas.openxmlformats.org/drawingml/2006/main">
            <a:off x="640080" y="5056632"/>
            <a:ext cx="342900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800" b="1">
                <a:solidFill>
                  <a:srgbClr val="6FBFA1"/>
                </a:solidFill>
                <a:latin typeface="Cambria"/>
                <a:ea typeface="Cambria"/>
                <a:cs typeface="Cambria"/>
              </a:defRPr>
            </a:pPr>
            <a:r>
              <a:rPr sz="2800" b="1">
                <a:solidFill>
                  <a:srgbClr val="6FBFA1"/>
                </a:solidFill>
                <a:latin typeface="Cambria"/>
                <a:ea typeface="Cambria"/>
                <a:cs typeface="Cambria"/>
              </a:rPr>
              <a:t>2,492 lift</a:t>
            </a:r>
          </a:p>
        </p:txBody>
      </p:sp>
      <p:sp>
        <p:nvSpPr>
          <p:cNvPr id="6" name="">
            <a:extLst xmlns:a="http://schemas.openxmlformats.org/drawingml/2006/main">
              <a:ext uri="{FF2B5EF4-FFF2-40B4-BE49-F238E27FC236}">
                <a16:creationId xmlns:a16="http://schemas.microsoft.com/office/drawing/2014/main" id="{F868D920-E0AF-418D-9D68-9EF9EE115085}"/>
              </a:ext>
            </a:extLst>
          </p:cNvPr>
          <p:cNvSpPr>
            <a:spLocks xmlns:a="http://schemas.openxmlformats.org/drawingml/2006/main" noGrp="1"/>
          </p:cNvSpPr>
          <p:nvPr/>
        </p:nvSpPr>
        <p:spPr>
          <a:xfrm xmlns:a="http://schemas.openxmlformats.org/drawingml/2006/main">
            <a:off x="640080" y="5660136"/>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73,38 % удачных сигналов</a:t>
            </a:r>
          </a:p>
        </p:txBody>
      </p:sp>
      <p:sp>
        <p:nvSpPr>
          <p:cNvPr id="7" name="">
            <a:extLst xmlns:a="http://schemas.openxmlformats.org/drawingml/2006/main">
              <a:ext uri="{FF2B5EF4-FFF2-40B4-BE49-F238E27FC236}">
                <a16:creationId xmlns:a16="http://schemas.microsoft.com/office/drawing/2014/main" id="{D9557E94-6550-43A4-BB6C-8DC2AE061C48}"/>
              </a:ext>
            </a:extLst>
          </p:cNvPr>
          <p:cNvSpPr>
            <a:spLocks xmlns:a="http://schemas.openxmlformats.org/drawingml/2006/main" noGrp="1"/>
          </p:cNvSpPr>
          <p:nvPr/>
        </p:nvSpPr>
        <p:spPr>
          <a:xfrm xmlns:a="http://schemas.openxmlformats.org/drawingml/2006/main">
            <a:off x="4370832" y="5056632"/>
            <a:ext cx="342900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800" b="1">
                <a:solidFill>
                  <a:srgbClr val="FFFFFF"/>
                </a:solidFill>
                <a:latin typeface="Cambria"/>
                <a:ea typeface="Cambria"/>
                <a:cs typeface="Cambria"/>
              </a:defRPr>
            </a:pPr>
            <a:r>
              <a:rPr sz="2800" b="1">
                <a:solidFill>
                  <a:srgbClr val="FFFFFF"/>
                </a:solidFill>
                <a:latin typeface="Cambria"/>
                <a:ea typeface="Cambria"/>
                <a:cs typeface="Cambria"/>
              </a:rPr>
              <a:t>+74,55 б.п.</a:t>
            </a:r>
          </a:p>
        </p:txBody>
      </p:sp>
      <p:sp>
        <p:nvSpPr>
          <p:cNvPr id="8" name="">
            <a:extLst xmlns:a="http://schemas.openxmlformats.org/drawingml/2006/main">
              <a:ext uri="{FF2B5EF4-FFF2-40B4-BE49-F238E27FC236}">
                <a16:creationId xmlns:a16="http://schemas.microsoft.com/office/drawing/2014/main" id="{EFF3656A-39F7-4BF6-90B8-42C30F9C6B65}"/>
              </a:ext>
            </a:extLst>
          </p:cNvPr>
          <p:cNvSpPr>
            <a:spLocks xmlns:a="http://schemas.openxmlformats.org/drawingml/2006/main" noGrp="1"/>
          </p:cNvSpPr>
          <p:nvPr/>
        </p:nvSpPr>
        <p:spPr>
          <a:xfrm xmlns:a="http://schemas.openxmlformats.org/drawingml/2006/main">
            <a:off x="4370832" y="5660136"/>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Выгода момента в окне ±5</a:t>
            </a:r>
          </a:p>
        </p:txBody>
      </p:sp>
      <p:sp>
        <p:nvSpPr>
          <p:cNvPr id="9" name="">
            <a:extLst xmlns:a="http://schemas.openxmlformats.org/drawingml/2006/main">
              <a:ext uri="{FF2B5EF4-FFF2-40B4-BE49-F238E27FC236}">
                <a16:creationId xmlns:a16="http://schemas.microsoft.com/office/drawing/2014/main" id="{0C0F26E3-E951-4B74-AE75-B7AF4A382D31}"/>
              </a:ext>
            </a:extLst>
          </p:cNvPr>
          <p:cNvSpPr>
            <a:spLocks xmlns:a="http://schemas.openxmlformats.org/drawingml/2006/main" noGrp="1"/>
          </p:cNvSpPr>
          <p:nvPr/>
        </p:nvSpPr>
        <p:spPr>
          <a:xfrm xmlns:a="http://schemas.openxmlformats.org/drawingml/2006/main">
            <a:off x="8101584" y="5056632"/>
            <a:ext cx="342900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800" b="1">
                <a:solidFill>
                  <a:srgbClr val="E0A75E"/>
                </a:solidFill>
                <a:latin typeface="Cambria"/>
                <a:ea typeface="Cambria"/>
                <a:cs typeface="Cambria"/>
              </a:defRPr>
            </a:pPr>
            <a:r>
              <a:rPr sz="2800" b="1">
                <a:solidFill>
                  <a:srgbClr val="E0A75E"/>
                </a:solidFill>
                <a:latin typeface="Cambria"/>
                <a:ea typeface="Cambria"/>
                <a:cs typeface="Cambria"/>
              </a:rPr>
              <a:t>1,04 / нед.</a:t>
            </a:r>
          </a:p>
        </p:txBody>
      </p:sp>
      <p:sp>
        <p:nvSpPr>
          <p:cNvPr id="10" name="">
            <a:extLst xmlns:a="http://schemas.openxmlformats.org/drawingml/2006/main">
              <a:ext uri="{FF2B5EF4-FFF2-40B4-BE49-F238E27FC236}">
                <a16:creationId xmlns:a16="http://schemas.microsoft.com/office/drawing/2014/main" id="{DBC35FD5-7FEB-4FC3-9ADE-D6E3C0790398}"/>
              </a:ext>
            </a:extLst>
          </p:cNvPr>
          <p:cNvSpPr>
            <a:spLocks xmlns:a="http://schemas.openxmlformats.org/drawingml/2006/main" noGrp="1"/>
          </p:cNvSpPr>
          <p:nvPr/>
        </p:nvSpPr>
        <p:spPr>
          <a:xfrm xmlns:a="http://schemas.openxmlformats.org/drawingml/2006/main">
            <a:off x="8101584" y="5660136"/>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Сигналов на валюту, в среднем</a:t>
            </a:r>
          </a:p>
        </p:txBody>
      </p:sp>
      <p:sp>
        <p:nvSpPr>
          <p:cNvPr id="11" name="">
            <a:extLst xmlns:a="http://schemas.openxmlformats.org/drawingml/2006/main">
              <a:ext uri="{FF2B5EF4-FFF2-40B4-BE49-F238E27FC236}">
                <a16:creationId xmlns:a16="http://schemas.microsoft.com/office/drawing/2014/main" id="{055B7F08-3FFE-47B7-B206-BE0E760016AD}"/>
              </a:ext>
            </a:extLst>
          </p:cNvPr>
          <p:cNvSpPr>
            <a:spLocks xmlns:a="http://schemas.openxmlformats.org/drawingml/2006/main" noGrp="1"/>
          </p:cNvSpPr>
          <p:nvPr/>
        </p:nvSpPr>
        <p:spPr>
          <a:xfrm xmlns:a="http://schemas.openxmlformats.org/drawingml/2006/main">
            <a:off x="640080" y="6345936"/>
            <a:ext cx="1088136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a:solidFill>
                  <a:srgbClr val="AAB6C3"/>
                </a:solidFill>
                <a:latin typeface="Calibri"/>
                <a:ea typeface="Calibri"/>
                <a:cs typeface="Calibri"/>
              </a:defRPr>
            </a:pPr>
            <a:r>
              <a:rPr sz="1000">
                <a:solidFill>
                  <a:srgbClr val="AAB6C3"/>
                </a:solidFill>
                <a:latin typeface="Calibri"/>
                <a:ea typeface="Calibri"/>
                <a:cs typeface="Calibri"/>
              </a:rPr>
              <a:t>h=5. 09.01.2024–25.08.2026. После получения ЦБ, от действующего курса. Открытая ретроспектива, не банковская экономия.</a:t>
            </a:r>
          </a:p>
        </p:txBody>
      </p:sp>
    </p:spTree>
    <p:extLst>
      <p:ext uri="{BB962C8B-B14F-4D97-AF65-F5344CB8AC3E}">
        <p14:creationId xmlns:p14="http://schemas.microsoft.com/office/powerpoint/2010/main" val="4490537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0A85BC1-1F96-4B77-9596-414E2864468E}"/>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74376CC0-E9EE-456A-8837-1C851ECF5E0A}"/>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1</a:t>
            </a:r>
            <a:endParaRPr sz="1400"/>
          </a:p>
        </p:txBody>
      </p:sp>
      <p:sp>
        <p:nvSpPr>
          <p:cNvPr id="4" name="Text 2">
            <a:extLst xmlns:a="http://schemas.openxmlformats.org/drawingml/2006/main">
              <a:ext uri="{FF2B5EF4-FFF2-40B4-BE49-F238E27FC236}">
                <a16:creationId xmlns:a16="http://schemas.microsoft.com/office/drawing/2014/main" id="{D2842730-85ED-4F04-9342-CF40870BF1E6}"/>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Ценность: клиент перестаёт выбирать момент вслепую</a:t>
            </a:r>
            <a:endParaRPr sz="2700"/>
          </a:p>
        </p:txBody>
      </p:sp>
      <p:sp>
        <p:nvSpPr>
          <p:cNvPr id="5" name="Text 3">
            <a:extLst xmlns:a="http://schemas.openxmlformats.org/drawingml/2006/main">
              <a:ext uri="{FF2B5EF4-FFF2-40B4-BE49-F238E27FC236}">
                <a16:creationId xmlns:a16="http://schemas.microsoft.com/office/drawing/2014/main" id="{C56499BC-52C5-4854-9398-A8885BB6E970}"/>
              </a:ext>
            </a:extLst>
          </p:cNvPr>
          <p:cNvSpPr>
            <a:spLocks xmlns:a="http://schemas.openxmlformats.org/drawingml/2006/main" noGrp="1"/>
          </p:cNvSpPr>
          <p:nvPr/>
        </p:nvSpPr>
        <p:spPr>
          <a:xfrm xmlns:a="http://schemas.openxmlformats.org/drawingml/2006/main">
            <a:off x="640080" y="1097280"/>
            <a:ext cx="1088136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350">
                <a:solidFill>
                  <a:srgbClr val="4E5966"/>
                </a:solidFill>
                <a:latin typeface="Calibri"/>
                <a:ea typeface="Calibri"/>
                <a:cs typeface="Calibri"/>
              </a:rPr>
              <a:t>Клиент видит, сколько получит семья и как текущий курс выглядит на фоне истории. Банк выбирает редкий повод напомнить о переводе.</a:t>
            </a:r>
            <a:endParaRPr sz="1350"/>
          </a:p>
        </p:txBody>
      </p:sp>
      <p:sp>
        <p:nvSpPr>
          <p:cNvPr id="6" name="Shape 4">
            <a:extLst xmlns:a="http://schemas.openxmlformats.org/drawingml/2006/main">
              <a:ext uri="{FF2B5EF4-FFF2-40B4-BE49-F238E27FC236}">
                <a16:creationId xmlns:a16="http://schemas.microsoft.com/office/drawing/2014/main" id="{2E029BE9-8C35-4DA9-A278-CDA50F54EE4C}"/>
              </a:ext>
            </a:extLst>
          </p:cNvPr>
          <p:cNvSpPr>
            <a:spLocks xmlns:a="http://schemas.openxmlformats.org/drawingml/2006/main" noGrp="1"/>
          </p:cNvSpPr>
          <p:nvPr/>
        </p:nvSpPr>
        <p:spPr>
          <a:xfrm xmlns:a="http://schemas.openxmlformats.org/drawingml/2006/main">
            <a:off x="640080" y="1700784"/>
            <a:ext cx="3520440" cy="1700784"/>
          </a:xfrm>
          <a:prstGeom xmlns:a="http://schemas.openxmlformats.org/drawingml/2006/main" prst="roundRect">
            <a:avLst>
              <a:gd name="adj" fmla="val 3226"/>
            </a:avLst>
          </a:prstGeom>
          <a:solidFill xmlns:a="http://schemas.openxmlformats.org/drawingml/2006/main">
            <a:srgbClr val="F4F6F8"/>
          </a:solidFill>
        </p:spPr>
      </p:sp>
      <p:sp>
        <p:nvSpPr>
          <p:cNvPr id="7" name="Text 5">
            <a:extLst xmlns:a="http://schemas.openxmlformats.org/drawingml/2006/main">
              <a:ext uri="{FF2B5EF4-FFF2-40B4-BE49-F238E27FC236}">
                <a16:creationId xmlns:a16="http://schemas.microsoft.com/office/drawing/2014/main" id="{75A7BA44-47E9-4F75-9553-ABBCFE909660}"/>
              </a:ext>
            </a:extLst>
          </p:cNvPr>
          <p:cNvSpPr>
            <a:spLocks xmlns:a="http://schemas.openxmlformats.org/drawingml/2006/main" noGrp="1"/>
          </p:cNvSpPr>
          <p:nvPr/>
        </p:nvSpPr>
        <p:spPr>
          <a:xfrm xmlns:a="http://schemas.openxmlformats.org/drawingml/2006/main">
            <a:off x="658368" y="1865376"/>
            <a:ext cx="348386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3400" b="1">
                <a:solidFill>
                  <a:srgbClr val="16674F"/>
                </a:solidFill>
                <a:latin typeface="Cambria"/>
                <a:ea typeface="Cambria"/>
                <a:cs typeface="Cambria"/>
              </a:rPr>
              <a:t>2,492 lift</a:t>
            </a:r>
            <a:endParaRPr sz="3400"/>
          </a:p>
        </p:txBody>
      </p:sp>
      <p:sp>
        <p:nvSpPr>
          <p:cNvPr id="8" name="Text 6">
            <a:extLst xmlns:a="http://schemas.openxmlformats.org/drawingml/2006/main">
              <a:ext uri="{FF2B5EF4-FFF2-40B4-BE49-F238E27FC236}">
                <a16:creationId xmlns:a16="http://schemas.microsoft.com/office/drawing/2014/main" id="{1B1806C4-C345-4CB2-B29F-5C7CAA5E7144}"/>
              </a:ext>
            </a:extLst>
          </p:cNvPr>
          <p:cNvSpPr>
            <a:spLocks xmlns:a="http://schemas.openxmlformats.org/drawingml/2006/main" noGrp="1"/>
          </p:cNvSpPr>
          <p:nvPr/>
        </p:nvSpPr>
        <p:spPr>
          <a:xfrm xmlns:a="http://schemas.openxmlformats.org/drawingml/2006/main">
            <a:off x="841248" y="2615184"/>
            <a:ext cx="3118104"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150">
                <a:solidFill>
                  <a:srgbClr val="4E5966"/>
                </a:solidFill>
                <a:latin typeface="Calibri"/>
                <a:ea typeface="Calibri"/>
                <a:cs typeface="Calibri"/>
              </a:rPr>
              <a:t>Попадание: 73,38 % против 29,45 % у случайного дня. Горизонт: следующие пять публикаций ЦБ.</a:t>
            </a:r>
            <a:endParaRPr sz="1150"/>
          </a:p>
        </p:txBody>
      </p:sp>
      <p:sp>
        <p:nvSpPr>
          <p:cNvPr id="9" name="Shape 7">
            <a:extLst xmlns:a="http://schemas.openxmlformats.org/drawingml/2006/main">
              <a:ext uri="{FF2B5EF4-FFF2-40B4-BE49-F238E27FC236}">
                <a16:creationId xmlns:a16="http://schemas.microsoft.com/office/drawing/2014/main" id="{30C0EAD4-95C5-42DF-A1F0-AAEDF0CBDE54}"/>
              </a:ext>
            </a:extLst>
          </p:cNvPr>
          <p:cNvSpPr>
            <a:spLocks xmlns:a="http://schemas.openxmlformats.org/drawingml/2006/main" noGrp="1"/>
          </p:cNvSpPr>
          <p:nvPr/>
        </p:nvSpPr>
        <p:spPr>
          <a:xfrm xmlns:a="http://schemas.openxmlformats.org/drawingml/2006/main">
            <a:off x="4325112" y="1700784"/>
            <a:ext cx="3520440" cy="1700784"/>
          </a:xfrm>
          <a:prstGeom xmlns:a="http://schemas.openxmlformats.org/drawingml/2006/main" prst="roundRect">
            <a:avLst>
              <a:gd name="adj" fmla="val 3226"/>
            </a:avLst>
          </a:prstGeom>
          <a:solidFill xmlns:a="http://schemas.openxmlformats.org/drawingml/2006/main">
            <a:srgbClr val="F4F6F8"/>
          </a:solidFill>
        </p:spPr>
      </p:sp>
      <p:sp>
        <p:nvSpPr>
          <p:cNvPr id="10" name="Text 8">
            <a:extLst xmlns:a="http://schemas.openxmlformats.org/drawingml/2006/main">
              <a:ext uri="{FF2B5EF4-FFF2-40B4-BE49-F238E27FC236}">
                <a16:creationId xmlns:a16="http://schemas.microsoft.com/office/drawing/2014/main" id="{7CB3FAEC-F94C-4E15-B9B7-69E5714CC2D1}"/>
              </a:ext>
            </a:extLst>
          </p:cNvPr>
          <p:cNvSpPr>
            <a:spLocks xmlns:a="http://schemas.openxmlformats.org/drawingml/2006/main" noGrp="1"/>
          </p:cNvSpPr>
          <p:nvPr/>
        </p:nvSpPr>
        <p:spPr>
          <a:xfrm xmlns:a="http://schemas.openxmlformats.org/drawingml/2006/main">
            <a:off x="4343400" y="1865376"/>
            <a:ext cx="348386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3400" b="1">
                <a:solidFill>
                  <a:srgbClr val="1A2530"/>
                </a:solidFill>
                <a:latin typeface="Cambria"/>
                <a:ea typeface="Cambria"/>
                <a:cs typeface="Cambria"/>
              </a:rPr>
              <a:t>+74,55 б. п.</a:t>
            </a:r>
            <a:endParaRPr sz="3400"/>
          </a:p>
        </p:txBody>
      </p:sp>
      <p:sp>
        <p:nvSpPr>
          <p:cNvPr id="11" name="Text 9">
            <a:extLst xmlns:a="http://schemas.openxmlformats.org/drawingml/2006/main">
              <a:ext uri="{FF2B5EF4-FFF2-40B4-BE49-F238E27FC236}">
                <a16:creationId xmlns:a16="http://schemas.microsoft.com/office/drawing/2014/main" id="{CF110C7C-AA89-48C8-B603-4E6C0C005CB4}"/>
              </a:ext>
            </a:extLst>
          </p:cNvPr>
          <p:cNvSpPr>
            <a:spLocks xmlns:a="http://schemas.openxmlformats.org/drawingml/2006/main" noGrp="1"/>
          </p:cNvSpPr>
          <p:nvPr/>
        </p:nvSpPr>
        <p:spPr>
          <a:xfrm xmlns:a="http://schemas.openxmlformats.org/drawingml/2006/main">
            <a:off x="4526280" y="2615184"/>
            <a:ext cx="3118104"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150">
                <a:solidFill>
                  <a:srgbClr val="4E5966"/>
                </a:solidFill>
                <a:latin typeface="Calibri"/>
                <a:ea typeface="Calibri"/>
                <a:cs typeface="Calibri"/>
              </a:rPr>
              <a:t>Выгода момента в окне ±5 публикаций. Это результат по публичному курсу ЦБ, не обещанная экономия клиента.</a:t>
            </a:r>
            <a:endParaRPr sz="1150"/>
          </a:p>
        </p:txBody>
      </p:sp>
      <p:sp>
        <p:nvSpPr>
          <p:cNvPr id="12" name="Shape 10">
            <a:extLst xmlns:a="http://schemas.openxmlformats.org/drawingml/2006/main">
              <a:ext uri="{FF2B5EF4-FFF2-40B4-BE49-F238E27FC236}">
                <a16:creationId xmlns:a16="http://schemas.microsoft.com/office/drawing/2014/main" id="{15A8F195-0D2F-4DE7-A4FC-68751FC207BE}"/>
              </a:ext>
            </a:extLst>
          </p:cNvPr>
          <p:cNvSpPr>
            <a:spLocks xmlns:a="http://schemas.openxmlformats.org/drawingml/2006/main" noGrp="1"/>
          </p:cNvSpPr>
          <p:nvPr/>
        </p:nvSpPr>
        <p:spPr>
          <a:xfrm xmlns:a="http://schemas.openxmlformats.org/drawingml/2006/main">
            <a:off x="8001000" y="1700784"/>
            <a:ext cx="3520440" cy="1700784"/>
          </a:xfrm>
          <a:prstGeom xmlns:a="http://schemas.openxmlformats.org/drawingml/2006/main" prst="roundRect">
            <a:avLst>
              <a:gd name="adj" fmla="val 3226"/>
            </a:avLst>
          </a:prstGeom>
          <a:solidFill xmlns:a="http://schemas.openxmlformats.org/drawingml/2006/main">
            <a:srgbClr val="F4F6F8"/>
          </a:solidFill>
        </p:spPr>
      </p:sp>
      <p:sp>
        <p:nvSpPr>
          <p:cNvPr id="13" name="Text 11">
            <a:extLst xmlns:a="http://schemas.openxmlformats.org/drawingml/2006/main">
              <a:ext uri="{FF2B5EF4-FFF2-40B4-BE49-F238E27FC236}">
                <a16:creationId xmlns:a16="http://schemas.microsoft.com/office/drawing/2014/main" id="{00290744-A6E0-4515-93F9-F03E205A3514}"/>
              </a:ext>
            </a:extLst>
          </p:cNvPr>
          <p:cNvSpPr>
            <a:spLocks xmlns:a="http://schemas.openxmlformats.org/drawingml/2006/main" noGrp="1"/>
          </p:cNvSpPr>
          <p:nvPr/>
        </p:nvSpPr>
        <p:spPr>
          <a:xfrm xmlns:a="http://schemas.openxmlformats.org/drawingml/2006/main">
            <a:off x="8019288" y="1865376"/>
            <a:ext cx="348386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3400" b="1">
                <a:solidFill>
                  <a:srgbClr val="9C5B12"/>
                </a:solidFill>
                <a:latin typeface="Cambria"/>
                <a:ea typeface="Cambria"/>
                <a:cs typeface="Cambria"/>
              </a:rPr>
              <a:t>1,04 / нед.</a:t>
            </a:r>
            <a:endParaRPr sz="3400"/>
          </a:p>
        </p:txBody>
      </p:sp>
      <p:sp>
        <p:nvSpPr>
          <p:cNvPr id="14" name="Text 12">
            <a:extLst xmlns:a="http://schemas.openxmlformats.org/drawingml/2006/main">
              <a:ext uri="{FF2B5EF4-FFF2-40B4-BE49-F238E27FC236}">
                <a16:creationId xmlns:a16="http://schemas.microsoft.com/office/drawing/2014/main" id="{98371ADC-5985-4579-A674-7203AF6C216E}"/>
              </a:ext>
            </a:extLst>
          </p:cNvPr>
          <p:cNvSpPr>
            <a:spLocks xmlns:a="http://schemas.openxmlformats.org/drawingml/2006/main" noGrp="1"/>
          </p:cNvSpPr>
          <p:nvPr/>
        </p:nvSpPr>
        <p:spPr>
          <a:xfrm xmlns:a="http://schemas.openxmlformats.org/drawingml/2006/main">
            <a:off x="8202168" y="2615184"/>
            <a:ext cx="3118104"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150">
                <a:solidFill>
                  <a:srgbClr val="4E5966"/>
                </a:solidFill>
                <a:latin typeface="Calibri"/>
                <a:ea typeface="Calibri"/>
                <a:cs typeface="Calibri"/>
              </a:rPr>
              <a:t>Столько сигналов приходится на валюту в среднем. Не больше двух за календарную неделю.</a:t>
            </a:r>
            <a:endParaRPr sz="1150"/>
          </a:p>
        </p:txBody>
      </p:sp>
      <p:sp>
        <p:nvSpPr>
          <p:cNvPr id="15" name="Shape 13">
            <a:extLst xmlns:a="http://schemas.openxmlformats.org/drawingml/2006/main">
              <a:ext uri="{FF2B5EF4-FFF2-40B4-BE49-F238E27FC236}">
                <a16:creationId xmlns:a16="http://schemas.microsoft.com/office/drawing/2014/main" id="{625E3045-17B2-42C8-AE30-5DDC4A76B964}"/>
              </a:ext>
            </a:extLst>
          </p:cNvPr>
          <p:cNvSpPr>
            <a:spLocks xmlns:a="http://schemas.openxmlformats.org/drawingml/2006/main" noGrp="1"/>
          </p:cNvSpPr>
          <p:nvPr/>
        </p:nvSpPr>
        <p:spPr>
          <a:xfrm xmlns:a="http://schemas.openxmlformats.org/drawingml/2006/main">
            <a:off x="640080" y="3712464"/>
            <a:ext cx="3520440" cy="1956816"/>
          </a:xfrm>
          <a:prstGeom xmlns:a="http://schemas.openxmlformats.org/drawingml/2006/main" prst="roundRect">
            <a:avLst>
              <a:gd name="adj" fmla="val 2804"/>
            </a:avLst>
          </a:prstGeom>
          <a:solidFill xmlns:a="http://schemas.openxmlformats.org/drawingml/2006/main">
            <a:srgbClr val="F4F6F8"/>
          </a:solidFill>
        </p:spPr>
      </p:sp>
      <p:sp>
        <p:nvSpPr>
          <p:cNvPr id="16" name="Text 14">
            <a:extLst xmlns:a="http://schemas.openxmlformats.org/drawingml/2006/main">
              <a:ext uri="{FF2B5EF4-FFF2-40B4-BE49-F238E27FC236}">
                <a16:creationId xmlns:a16="http://schemas.microsoft.com/office/drawing/2014/main" id="{5EDE3B40-2EA8-4AE2-B919-F1A682EA806C}"/>
              </a:ext>
            </a:extLst>
          </p:cNvPr>
          <p:cNvSpPr>
            <a:spLocks xmlns:a="http://schemas.openxmlformats.org/drawingml/2006/main" noGrp="1"/>
          </p:cNvSpPr>
          <p:nvPr/>
        </p:nvSpPr>
        <p:spPr>
          <a:xfrm xmlns:a="http://schemas.openxmlformats.org/drawingml/2006/main">
            <a:off x="896112" y="389534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1 · Индикатор на экране суммы</a:t>
            </a:r>
            <a:endParaRPr sz="1550"/>
          </a:p>
        </p:txBody>
      </p:sp>
      <p:sp>
        <p:nvSpPr>
          <p:cNvPr id="17" name="Text 15">
            <a:extLst xmlns:a="http://schemas.openxmlformats.org/drawingml/2006/main">
              <a:ext uri="{FF2B5EF4-FFF2-40B4-BE49-F238E27FC236}">
                <a16:creationId xmlns:a16="http://schemas.microsoft.com/office/drawing/2014/main" id="{EA07E3BD-B8B2-4506-A963-322AA86B73CF}"/>
              </a:ext>
            </a:extLst>
          </p:cNvPr>
          <p:cNvSpPr>
            <a:spLocks xmlns:a="http://schemas.openxmlformats.org/drawingml/2006/main" noGrp="1"/>
          </p:cNvSpPr>
          <p:nvPr/>
        </p:nvSpPr>
        <p:spPr>
          <a:xfrm xmlns:a="http://schemas.openxmlformats.org/drawingml/2006/main">
            <a:off x="896112" y="4425696"/>
            <a:ext cx="3008376"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Сумма получателя и сравнение с историей. Температура модели остаётся внутренней оценкой.</a:t>
            </a:r>
            <a:endParaRPr sz="1250"/>
          </a:p>
        </p:txBody>
      </p:sp>
      <p:sp>
        <p:nvSpPr>
          <p:cNvPr id="18" name="Shape 16">
            <a:extLst xmlns:a="http://schemas.openxmlformats.org/drawingml/2006/main">
              <a:ext uri="{FF2B5EF4-FFF2-40B4-BE49-F238E27FC236}">
                <a16:creationId xmlns:a16="http://schemas.microsoft.com/office/drawing/2014/main" id="{2103FEBC-6F5F-4CAA-820A-921482C71FD0}"/>
              </a:ext>
            </a:extLst>
          </p:cNvPr>
          <p:cNvSpPr>
            <a:spLocks xmlns:a="http://schemas.openxmlformats.org/drawingml/2006/main" noGrp="1"/>
          </p:cNvSpPr>
          <p:nvPr/>
        </p:nvSpPr>
        <p:spPr>
          <a:xfrm xmlns:a="http://schemas.openxmlformats.org/drawingml/2006/main">
            <a:off x="4325112" y="3712464"/>
            <a:ext cx="3520440" cy="1956816"/>
          </a:xfrm>
          <a:prstGeom xmlns:a="http://schemas.openxmlformats.org/drawingml/2006/main" prst="roundRect">
            <a:avLst>
              <a:gd name="adj" fmla="val 2804"/>
            </a:avLst>
          </a:prstGeom>
          <a:solidFill xmlns:a="http://schemas.openxmlformats.org/drawingml/2006/main">
            <a:srgbClr val="F4F6F8"/>
          </a:solidFill>
        </p:spPr>
      </p:sp>
      <p:sp>
        <p:nvSpPr>
          <p:cNvPr id="19" name="Text 17">
            <a:extLst xmlns:a="http://schemas.openxmlformats.org/drawingml/2006/main">
              <a:ext uri="{FF2B5EF4-FFF2-40B4-BE49-F238E27FC236}">
                <a16:creationId xmlns:a16="http://schemas.microsoft.com/office/drawing/2014/main" id="{D1A27117-175C-48DB-9EB6-F8A45B88E97A}"/>
              </a:ext>
            </a:extLst>
          </p:cNvPr>
          <p:cNvSpPr>
            <a:spLocks xmlns:a="http://schemas.openxmlformats.org/drawingml/2006/main" noGrp="1"/>
          </p:cNvSpPr>
          <p:nvPr/>
        </p:nvSpPr>
        <p:spPr>
          <a:xfrm xmlns:a="http://schemas.openxmlformats.org/drawingml/2006/main">
            <a:off x="4581144" y="389534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2 · Оповещение об уровне</a:t>
            </a:r>
            <a:endParaRPr sz="1550"/>
          </a:p>
        </p:txBody>
      </p:sp>
      <p:sp>
        <p:nvSpPr>
          <p:cNvPr id="20" name="Text 18">
            <a:extLst xmlns:a="http://schemas.openxmlformats.org/drawingml/2006/main">
              <a:ext uri="{FF2B5EF4-FFF2-40B4-BE49-F238E27FC236}">
                <a16:creationId xmlns:a16="http://schemas.microsoft.com/office/drawing/2014/main" id="{BBD3E8E5-D2FB-4F05-8D7E-3FAA289ACCC1}"/>
              </a:ext>
            </a:extLst>
          </p:cNvPr>
          <p:cNvSpPr>
            <a:spLocks xmlns:a="http://schemas.openxmlformats.org/drawingml/2006/main" noGrp="1"/>
          </p:cNvSpPr>
          <p:nvPr/>
        </p:nvSpPr>
        <p:spPr>
          <a:xfrm xmlns:a="http://schemas.openxmlformats.org/drawingml/2006/main">
            <a:off x="4581144" y="4425696"/>
            <a:ext cx="3008376"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Порог называет сам клиент. Он получает возможность дождаться нужного курса, а банк – данные о намерении, которых у него нет.</a:t>
            </a:r>
            <a:endParaRPr sz="1250"/>
          </a:p>
        </p:txBody>
      </p:sp>
      <p:sp>
        <p:nvSpPr>
          <p:cNvPr id="21" name="Shape 19">
            <a:extLst xmlns:a="http://schemas.openxmlformats.org/drawingml/2006/main">
              <a:ext uri="{FF2B5EF4-FFF2-40B4-BE49-F238E27FC236}">
                <a16:creationId xmlns:a16="http://schemas.microsoft.com/office/drawing/2014/main" id="{0A640DAE-AB12-44AD-9DBD-CC6C85C06F24}"/>
              </a:ext>
            </a:extLst>
          </p:cNvPr>
          <p:cNvSpPr>
            <a:spLocks xmlns:a="http://schemas.openxmlformats.org/drawingml/2006/main" noGrp="1"/>
          </p:cNvSpPr>
          <p:nvPr/>
        </p:nvSpPr>
        <p:spPr>
          <a:xfrm xmlns:a="http://schemas.openxmlformats.org/drawingml/2006/main">
            <a:off x="8001000" y="3712464"/>
            <a:ext cx="3520440" cy="1956816"/>
          </a:xfrm>
          <a:prstGeom xmlns:a="http://schemas.openxmlformats.org/drawingml/2006/main" prst="roundRect">
            <a:avLst>
              <a:gd name="adj" fmla="val 2804"/>
            </a:avLst>
          </a:prstGeom>
          <a:solidFill xmlns:a="http://schemas.openxmlformats.org/drawingml/2006/main">
            <a:srgbClr val="F4F6F8"/>
          </a:solidFill>
        </p:spPr>
      </p:sp>
      <p:sp>
        <p:nvSpPr>
          <p:cNvPr id="22" name="Text 20">
            <a:extLst xmlns:a="http://schemas.openxmlformats.org/drawingml/2006/main">
              <a:ext uri="{FF2B5EF4-FFF2-40B4-BE49-F238E27FC236}">
                <a16:creationId xmlns:a16="http://schemas.microsoft.com/office/drawing/2014/main" id="{376C8CE9-47CE-4080-8EC8-62FF47838841}"/>
              </a:ext>
            </a:extLst>
          </p:cNvPr>
          <p:cNvSpPr>
            <a:spLocks xmlns:a="http://schemas.openxmlformats.org/drawingml/2006/main" noGrp="1"/>
          </p:cNvSpPr>
          <p:nvPr/>
        </p:nvSpPr>
        <p:spPr>
          <a:xfrm xmlns:a="http://schemas.openxmlformats.org/drawingml/2006/main">
            <a:off x="8257032" y="389534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3 · Отбор адресата</a:t>
            </a:r>
            <a:endParaRPr sz="1550"/>
          </a:p>
        </p:txBody>
      </p:sp>
      <p:sp>
        <p:nvSpPr>
          <p:cNvPr id="23" name="Text 21">
            <a:extLst xmlns:a="http://schemas.openxmlformats.org/drawingml/2006/main">
              <a:ext uri="{FF2B5EF4-FFF2-40B4-BE49-F238E27FC236}">
                <a16:creationId xmlns:a16="http://schemas.microsoft.com/office/drawing/2014/main" id="{E99CD497-8EB7-4A39-BF22-BC8386A74F3A}"/>
              </a:ext>
            </a:extLst>
          </p:cNvPr>
          <p:cNvSpPr>
            <a:spLocks xmlns:a="http://schemas.openxmlformats.org/drawingml/2006/main" noGrp="1"/>
          </p:cNvSpPr>
          <p:nvPr/>
        </p:nvSpPr>
        <p:spPr>
          <a:xfrm xmlns:a="http://schemas.openxmlformats.org/drawingml/2006/main">
            <a:off x="8257032" y="4425696"/>
            <a:ext cx="3008376"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В пилоте банк добавит согласие клиента и общий лимит сообщений. Клиентских данных на хакатоне нет.</a:t>
            </a:r>
            <a:endParaRPr sz="1250"/>
          </a:p>
        </p:txBody>
      </p:sp>
      <p:sp>
        <p:nvSpPr>
          <p:cNvPr id="24" name="Text 22">
            <a:extLst xmlns:a="http://schemas.openxmlformats.org/drawingml/2006/main">
              <a:ext uri="{FF2B5EF4-FFF2-40B4-BE49-F238E27FC236}">
                <a16:creationId xmlns:a16="http://schemas.microsoft.com/office/drawing/2014/main" id="{52EB03D9-5E3E-4C52-A131-E14F24D5553F}"/>
              </a:ext>
            </a:extLst>
          </p:cNvPr>
          <p:cNvSpPr>
            <a:spLocks xmlns:a="http://schemas.openxmlformats.org/drawingml/2006/main" noGrp="1"/>
          </p:cNvSpPr>
          <p:nvPr/>
        </p:nvSpPr>
        <p:spPr>
          <a:xfrm xmlns:a="http://schemas.openxmlformats.org/drawingml/2006/main">
            <a:off x="640080" y="6309360"/>
            <a:ext cx="10881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6E7A88"/>
                </a:solidFill>
                <a:latin typeface="Calibri"/>
                <a:ea typeface="Calibri"/>
                <a:cs typeface="Calibri"/>
              </a:rPr>
              <a:t>Ансамбль с отбором сигналов, h=5, 09.01.2024–25.08.2026. Открытая ретроспектива после получения нового курса ЦБ.</a:t>
            </a:r>
            <a:endParaRPr sz="1050"/>
          </a:p>
        </p:txBody>
      </p:sp>
    </p:spTree>
    <p:extLst>
      <p:ext uri="{BB962C8B-B14F-4D97-AF65-F5344CB8AC3E}">
        <p14:creationId xmlns:p14="http://schemas.microsoft.com/office/powerpoint/2010/main" val="13841300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89C2964-94CB-4598-A5CD-8C3F9B55EA3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4BE66FB4-F93F-460F-B62F-F0ABFE3BBF9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1</a:t>
            </a:r>
            <a:endParaRPr sz="1400"/>
          </a:p>
        </p:txBody>
      </p:sp>
      <p:sp>
        <p:nvSpPr>
          <p:cNvPr id="4" name="Text 2">
            <a:extLst xmlns:a="http://schemas.openxmlformats.org/drawingml/2006/main">
              <a:ext uri="{FF2B5EF4-FFF2-40B4-BE49-F238E27FC236}">
                <a16:creationId xmlns:a16="http://schemas.microsoft.com/office/drawing/2014/main" id="{62187979-FDD9-472D-8DF7-175AA9DCA23E}"/>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Триггер: что вообще становится сигналом</a:t>
            </a:r>
            <a:endParaRPr sz="2700"/>
          </a:p>
        </p:txBody>
      </p:sp>
      <p:sp>
        <p:nvSpPr>
          <p:cNvPr id="5" name="Shape 3">
            <a:extLst xmlns:a="http://schemas.openxmlformats.org/drawingml/2006/main">
              <a:ext uri="{FF2B5EF4-FFF2-40B4-BE49-F238E27FC236}">
                <a16:creationId xmlns:a16="http://schemas.microsoft.com/office/drawing/2014/main" id="{25C0AA43-0AC9-4FD4-BF50-000ECCBE919B}"/>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6" name="Text 4">
            <a:extLst xmlns:a="http://schemas.openxmlformats.org/drawingml/2006/main">
              <a:ext uri="{FF2B5EF4-FFF2-40B4-BE49-F238E27FC236}">
                <a16:creationId xmlns:a16="http://schemas.microsoft.com/office/drawing/2014/main" id="{1CF65E21-C657-4D5F-8C68-38F46C62D696}"/>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1 · Триггер</a:t>
            </a:r>
            <a:endParaRPr sz="1050"/>
          </a:p>
        </p:txBody>
      </p:sp>
      <p:sp>
        <p:nvSpPr>
          <p:cNvPr id="7" name="Text 5">
            <a:extLst xmlns:a="http://schemas.openxmlformats.org/drawingml/2006/main">
              <a:ext uri="{FF2B5EF4-FFF2-40B4-BE49-F238E27FC236}">
                <a16:creationId xmlns:a16="http://schemas.microsoft.com/office/drawing/2014/main" id="{FDCE46C0-BA16-4F10-83BA-1ED657E0FA75}"/>
              </a:ext>
            </a:extLst>
          </p:cNvPr>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8" name="Shape 6">
            <a:extLst xmlns:a="http://schemas.openxmlformats.org/drawingml/2006/main">
              <a:ext uri="{FF2B5EF4-FFF2-40B4-BE49-F238E27FC236}">
                <a16:creationId xmlns:a16="http://schemas.microsoft.com/office/drawing/2014/main" id="{50E33367-6FB3-489A-A499-4892BADC4F60}"/>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9" name="Text 7">
            <a:extLst xmlns:a="http://schemas.openxmlformats.org/drawingml/2006/main">
              <a:ext uri="{FF2B5EF4-FFF2-40B4-BE49-F238E27FC236}">
                <a16:creationId xmlns:a16="http://schemas.microsoft.com/office/drawing/2014/main" id="{D49BE620-3D40-444A-9AB0-DB0403DC8EA8}"/>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2 · Фильтр</a:t>
            </a:r>
            <a:endParaRPr sz="1050"/>
          </a:p>
        </p:txBody>
      </p:sp>
      <p:sp>
        <p:nvSpPr>
          <p:cNvPr id="10" name="Text 8">
            <a:extLst xmlns:a="http://schemas.openxmlformats.org/drawingml/2006/main">
              <a:ext uri="{FF2B5EF4-FFF2-40B4-BE49-F238E27FC236}">
                <a16:creationId xmlns:a16="http://schemas.microsoft.com/office/drawing/2014/main" id="{0937F499-D88C-4F3C-894A-82E679A893C0}"/>
              </a:ext>
            </a:extLst>
          </p:cNvPr>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1" name="Shape 9">
            <a:extLst xmlns:a="http://schemas.openxmlformats.org/drawingml/2006/main">
              <a:ext uri="{FF2B5EF4-FFF2-40B4-BE49-F238E27FC236}">
                <a16:creationId xmlns:a16="http://schemas.microsoft.com/office/drawing/2014/main" id="{41294267-3DD2-4EF3-A72C-B9D4571694D7}"/>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2" name="Text 10">
            <a:extLst xmlns:a="http://schemas.openxmlformats.org/drawingml/2006/main">
              <a:ext uri="{FF2B5EF4-FFF2-40B4-BE49-F238E27FC236}">
                <a16:creationId xmlns:a16="http://schemas.microsoft.com/office/drawing/2014/main" id="{8B08BE2B-4834-425F-9667-D2B0149A93C8}"/>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3 · Пуш</a:t>
            </a:r>
            <a:endParaRPr sz="1050"/>
          </a:p>
        </p:txBody>
      </p:sp>
      <p:sp>
        <p:nvSpPr>
          <p:cNvPr id="13" name="Text 11">
            <a:extLst xmlns:a="http://schemas.openxmlformats.org/drawingml/2006/main">
              <a:ext uri="{FF2B5EF4-FFF2-40B4-BE49-F238E27FC236}">
                <a16:creationId xmlns:a16="http://schemas.microsoft.com/office/drawing/2014/main" id="{D2F353C9-A657-43DF-BD09-5326E3B6BBD5}"/>
              </a:ext>
            </a:extLst>
          </p:cNvPr>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4" name="Shape 12">
            <a:extLst xmlns:a="http://schemas.openxmlformats.org/drawingml/2006/main">
              <a:ext uri="{FF2B5EF4-FFF2-40B4-BE49-F238E27FC236}">
                <a16:creationId xmlns:a16="http://schemas.microsoft.com/office/drawing/2014/main" id="{DEDA4B77-4861-47AF-8925-51F708AAE9B5}"/>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5" name="Text 13">
            <a:extLst xmlns:a="http://schemas.openxmlformats.org/drawingml/2006/main">
              <a:ext uri="{FF2B5EF4-FFF2-40B4-BE49-F238E27FC236}">
                <a16:creationId xmlns:a16="http://schemas.microsoft.com/office/drawing/2014/main" id="{B55422B6-D488-4141-B787-DD982DAF58FC}"/>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4 · Экран перевода</a:t>
            </a:r>
            <a:endParaRPr sz="1050"/>
          </a:p>
        </p:txBody>
      </p:sp>
      <p:sp>
        <p:nvSpPr>
          <p:cNvPr id="16" name="Text 14">
            <a:extLst xmlns:a="http://schemas.openxmlformats.org/drawingml/2006/main">
              <a:ext uri="{FF2B5EF4-FFF2-40B4-BE49-F238E27FC236}">
                <a16:creationId xmlns:a16="http://schemas.microsoft.com/office/drawing/2014/main" id="{749D939E-E751-4885-96FC-C4C3FD9C1147}"/>
              </a:ext>
            </a:extLst>
          </p:cNvPr>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7" name="Shape 15">
            <a:extLst xmlns:a="http://schemas.openxmlformats.org/drawingml/2006/main">
              <a:ext uri="{FF2B5EF4-FFF2-40B4-BE49-F238E27FC236}">
                <a16:creationId xmlns:a16="http://schemas.microsoft.com/office/drawing/2014/main" id="{81151CA2-FEDA-441B-BA51-051D6BE3104F}"/>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8" name="Text 16">
            <a:extLst xmlns:a="http://schemas.openxmlformats.org/drawingml/2006/main">
              <a:ext uri="{FF2B5EF4-FFF2-40B4-BE49-F238E27FC236}">
                <a16:creationId xmlns:a16="http://schemas.microsoft.com/office/drawing/2014/main" id="{A4284FCD-B4CE-45EA-8516-6BD925BD2800}"/>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5 · Решение</a:t>
            </a:r>
            <a:endParaRPr sz="1050"/>
          </a:p>
        </p:txBody>
      </p:sp>
      <p:sp>
        <p:nvSpPr>
          <p:cNvPr id="19" name="Text 17">
            <a:extLst xmlns:a="http://schemas.openxmlformats.org/drawingml/2006/main">
              <a:ext uri="{FF2B5EF4-FFF2-40B4-BE49-F238E27FC236}">
                <a16:creationId xmlns:a16="http://schemas.microsoft.com/office/drawing/2014/main" id="{B2C21D07-F9FF-4F76-BB3B-8FF60ED6106D}"/>
              </a:ext>
            </a:extLst>
          </p:cNvPr>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0" name="Shape 18">
            <a:extLst xmlns:a="http://schemas.openxmlformats.org/drawingml/2006/main">
              <a:ext uri="{FF2B5EF4-FFF2-40B4-BE49-F238E27FC236}">
                <a16:creationId xmlns:a16="http://schemas.microsoft.com/office/drawing/2014/main" id="{1DDD7809-6943-48FF-894B-0E3CBA6F2536}"/>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21" name="Text 19">
            <a:extLst xmlns:a="http://schemas.openxmlformats.org/drawingml/2006/main">
              <a:ext uri="{FF2B5EF4-FFF2-40B4-BE49-F238E27FC236}">
                <a16:creationId xmlns:a16="http://schemas.microsoft.com/office/drawing/2014/main" id="{95C9CF2B-D4C6-4467-BFDA-66AE290E5BB0}"/>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sp>
        <p:nvSpPr>
          <p:cNvPr id="22" name="Text 20">
            <a:extLst xmlns:a="http://schemas.openxmlformats.org/drawingml/2006/main">
              <a:ext uri="{FF2B5EF4-FFF2-40B4-BE49-F238E27FC236}">
                <a16:creationId xmlns:a16="http://schemas.microsoft.com/office/drawing/2014/main" id="{2392DE1B-9E2A-424C-91AD-65F929E4E511}"/>
              </a:ext>
            </a:extLst>
          </p:cNvPr>
          <p:cNvSpPr>
            <a:spLocks xmlns:a="http://schemas.openxmlformats.org/drawingml/2006/main" noGrp="1"/>
          </p:cNvSpPr>
          <p:nvPr/>
        </p:nvSpPr>
        <p:spPr>
          <a:xfrm xmlns:a="http://schemas.openxmlformats.org/drawingml/2006/main">
            <a:off x="640080" y="1481328"/>
            <a:ext cx="10881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350">
                <a:solidFill>
                  <a:srgbClr val="4E5966"/>
                </a:solidFill>
                <a:latin typeface="Calibri"/>
                <a:ea typeface="Calibri"/>
                <a:cs typeface="Calibri"/>
              </a:rPr>
              <a:t>Первые два шага клиент не видит. Модель обновляется по мере поступления данных: история ЦБ, завершённые биржевые свечи, затем новый опубликованный курс.</a:t>
            </a:r>
            <a:endParaRPr sz="1350"/>
          </a:p>
        </p:txBody>
      </p:sp>
      <p:sp>
        <p:nvSpPr>
          <p:cNvPr id="23" name="Shape 21">
            <a:extLst xmlns:a="http://schemas.openxmlformats.org/drawingml/2006/main">
              <a:ext uri="{FF2B5EF4-FFF2-40B4-BE49-F238E27FC236}">
                <a16:creationId xmlns:a16="http://schemas.microsoft.com/office/drawing/2014/main" id="{91B23BD2-34C0-4011-B5FA-04C983DE5578}"/>
              </a:ext>
            </a:extLst>
          </p:cNvPr>
          <p:cNvSpPr>
            <a:spLocks xmlns:a="http://schemas.openxmlformats.org/drawingml/2006/main" noGrp="1"/>
          </p:cNvSpPr>
          <p:nvPr/>
        </p:nvSpPr>
        <p:spPr>
          <a:xfrm xmlns:a="http://schemas.openxmlformats.org/drawingml/2006/main">
            <a:off x="640080" y="2066544"/>
            <a:ext cx="3520440" cy="2011680"/>
          </a:xfrm>
          <a:prstGeom xmlns:a="http://schemas.openxmlformats.org/drawingml/2006/main" prst="roundRect">
            <a:avLst>
              <a:gd name="adj" fmla="val 2727"/>
            </a:avLst>
          </a:prstGeom>
          <a:solidFill xmlns:a="http://schemas.openxmlformats.org/drawingml/2006/main">
            <a:srgbClr val="F4F6F8"/>
          </a:solidFill>
        </p:spPr>
      </p:sp>
      <p:sp>
        <p:nvSpPr>
          <p:cNvPr id="24" name="Text 22">
            <a:extLst xmlns:a="http://schemas.openxmlformats.org/drawingml/2006/main">
              <a:ext uri="{FF2B5EF4-FFF2-40B4-BE49-F238E27FC236}">
                <a16:creationId xmlns:a16="http://schemas.microsoft.com/office/drawing/2014/main" id="{7555B284-3612-4345-A295-5694CB74BBD7}"/>
              </a:ext>
            </a:extLst>
          </p:cNvPr>
          <p:cNvSpPr>
            <a:spLocks xmlns:a="http://schemas.openxmlformats.org/drawingml/2006/main" noGrp="1"/>
          </p:cNvSpPr>
          <p:nvPr/>
        </p:nvSpPr>
        <p:spPr>
          <a:xfrm xmlns:a="http://schemas.openxmlformats.org/drawingml/2006/main">
            <a:off x="896112" y="224942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Модель момента</a:t>
            </a:r>
            <a:endParaRPr sz="1550"/>
          </a:p>
        </p:txBody>
      </p:sp>
      <p:sp>
        <p:nvSpPr>
          <p:cNvPr id="25" name="Text 23">
            <a:extLst xmlns:a="http://schemas.openxmlformats.org/drawingml/2006/main">
              <a:ext uri="{FF2B5EF4-FFF2-40B4-BE49-F238E27FC236}">
                <a16:creationId xmlns:a16="http://schemas.microsoft.com/office/drawing/2014/main" id="{EC7C94E3-850C-4703-A8E3-24314C26F228}"/>
              </a:ext>
            </a:extLst>
          </p:cNvPr>
          <p:cNvSpPr>
            <a:spLocks xmlns:a="http://schemas.openxmlformats.org/drawingml/2006/main" noGrp="1"/>
          </p:cNvSpPr>
          <p:nvPr/>
        </p:nvSpPr>
        <p:spPr>
          <a:xfrm xmlns:a="http://schemas.openxmlformats.org/drawingml/2006/main">
            <a:off x="896112" y="2779776"/>
            <a:ext cx="3008376" cy="11155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Оценка удачности перевода на ближайшие пять публикаций. Отдельный фильтр решает, нужен ли пуш.</a:t>
            </a:r>
            <a:endParaRPr sz="1250"/>
          </a:p>
        </p:txBody>
      </p:sp>
      <p:sp>
        <p:nvSpPr>
          <p:cNvPr id="26" name="Shape 24">
            <a:extLst xmlns:a="http://schemas.openxmlformats.org/drawingml/2006/main">
              <a:ext uri="{FF2B5EF4-FFF2-40B4-BE49-F238E27FC236}">
                <a16:creationId xmlns:a16="http://schemas.microsoft.com/office/drawing/2014/main" id="{C82635A0-274D-4CC1-9853-A18070D11F35}"/>
              </a:ext>
            </a:extLst>
          </p:cNvPr>
          <p:cNvSpPr>
            <a:spLocks xmlns:a="http://schemas.openxmlformats.org/drawingml/2006/main" noGrp="1"/>
          </p:cNvSpPr>
          <p:nvPr/>
        </p:nvSpPr>
        <p:spPr>
          <a:xfrm xmlns:a="http://schemas.openxmlformats.org/drawingml/2006/main">
            <a:off x="4325112" y="2066544"/>
            <a:ext cx="3520440" cy="2011680"/>
          </a:xfrm>
          <a:prstGeom xmlns:a="http://schemas.openxmlformats.org/drawingml/2006/main" prst="roundRect">
            <a:avLst>
              <a:gd name="adj" fmla="val 2727"/>
            </a:avLst>
          </a:prstGeom>
          <a:solidFill xmlns:a="http://schemas.openxmlformats.org/drawingml/2006/main">
            <a:srgbClr val="F4F6F8"/>
          </a:solidFill>
        </p:spPr>
      </p:sp>
      <p:sp>
        <p:nvSpPr>
          <p:cNvPr id="27" name="Text 25">
            <a:extLst xmlns:a="http://schemas.openxmlformats.org/drawingml/2006/main">
              <a:ext uri="{FF2B5EF4-FFF2-40B4-BE49-F238E27FC236}">
                <a16:creationId xmlns:a16="http://schemas.microsoft.com/office/drawing/2014/main" id="{475AA993-3AE3-4D34-9D45-377D92762895}"/>
              </a:ext>
            </a:extLst>
          </p:cNvPr>
          <p:cNvSpPr>
            <a:spLocks xmlns:a="http://schemas.openxmlformats.org/drawingml/2006/main" noGrp="1"/>
          </p:cNvSpPr>
          <p:nvPr/>
        </p:nvSpPr>
        <p:spPr>
          <a:xfrm xmlns:a="http://schemas.openxmlformats.org/drawingml/2006/main">
            <a:off x="4581144" y="224942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Факт для клиента</a:t>
            </a:r>
            <a:endParaRPr sz="1550"/>
          </a:p>
        </p:txBody>
      </p:sp>
      <p:sp>
        <p:nvSpPr>
          <p:cNvPr id="28" name="Text 26">
            <a:extLst xmlns:a="http://schemas.openxmlformats.org/drawingml/2006/main">
              <a:ext uri="{FF2B5EF4-FFF2-40B4-BE49-F238E27FC236}">
                <a16:creationId xmlns:a16="http://schemas.microsoft.com/office/drawing/2014/main" id="{5C4777BD-676F-4218-91CB-873D012CA6C3}"/>
              </a:ext>
            </a:extLst>
          </p:cNvPr>
          <p:cNvSpPr>
            <a:spLocks xmlns:a="http://schemas.openxmlformats.org/drawingml/2006/main" noGrp="1"/>
          </p:cNvSpPr>
          <p:nvPr/>
        </p:nvSpPr>
        <p:spPr>
          <a:xfrm xmlns:a="http://schemas.openxmlformats.org/drawingml/2006/main">
            <a:off x="4581144" y="2779776"/>
            <a:ext cx="3008376" cy="11155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Уровень относительно прошлых 90 дней, изменение за неделю или достигнутый порог клиента. Только проверяемый факт.</a:t>
            </a:r>
            <a:endParaRPr sz="1250"/>
          </a:p>
        </p:txBody>
      </p:sp>
      <p:sp>
        <p:nvSpPr>
          <p:cNvPr id="29" name="Shape 27">
            <a:extLst xmlns:a="http://schemas.openxmlformats.org/drawingml/2006/main">
              <a:ext uri="{FF2B5EF4-FFF2-40B4-BE49-F238E27FC236}">
                <a16:creationId xmlns:a16="http://schemas.microsoft.com/office/drawing/2014/main" id="{E649DF89-7066-41E2-8851-752ED36C71CE}"/>
              </a:ext>
            </a:extLst>
          </p:cNvPr>
          <p:cNvSpPr>
            <a:spLocks xmlns:a="http://schemas.openxmlformats.org/drawingml/2006/main" noGrp="1"/>
          </p:cNvSpPr>
          <p:nvPr/>
        </p:nvSpPr>
        <p:spPr>
          <a:xfrm xmlns:a="http://schemas.openxmlformats.org/drawingml/2006/main">
            <a:off x="8001000" y="2066544"/>
            <a:ext cx="3520440" cy="2011680"/>
          </a:xfrm>
          <a:prstGeom xmlns:a="http://schemas.openxmlformats.org/drawingml/2006/main" prst="roundRect">
            <a:avLst>
              <a:gd name="adj" fmla="val 2727"/>
            </a:avLst>
          </a:prstGeom>
          <a:solidFill xmlns:a="http://schemas.openxmlformats.org/drawingml/2006/main">
            <a:srgbClr val="F4F6F8"/>
          </a:solidFill>
        </p:spPr>
      </p:sp>
      <p:sp>
        <p:nvSpPr>
          <p:cNvPr id="30" name="Text 28">
            <a:extLst xmlns:a="http://schemas.openxmlformats.org/drawingml/2006/main">
              <a:ext uri="{FF2B5EF4-FFF2-40B4-BE49-F238E27FC236}">
                <a16:creationId xmlns:a16="http://schemas.microsoft.com/office/drawing/2014/main" id="{EEF9E1C8-E623-403D-8EFB-717BA9D364D4}"/>
              </a:ext>
            </a:extLst>
          </p:cNvPr>
          <p:cNvSpPr>
            <a:spLocks xmlns:a="http://schemas.openxmlformats.org/drawingml/2006/main" noGrp="1"/>
          </p:cNvSpPr>
          <p:nvPr/>
        </p:nvSpPr>
        <p:spPr>
          <a:xfrm xmlns:a="http://schemas.openxmlformats.org/drawingml/2006/main">
            <a:off x="8257032" y="224942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Свой уровень</a:t>
            </a:r>
            <a:endParaRPr sz="1550"/>
          </a:p>
        </p:txBody>
      </p:sp>
      <p:sp>
        <p:nvSpPr>
          <p:cNvPr id="31" name="Text 29">
            <a:extLst xmlns:a="http://schemas.openxmlformats.org/drawingml/2006/main">
              <a:ext uri="{FF2B5EF4-FFF2-40B4-BE49-F238E27FC236}">
                <a16:creationId xmlns:a16="http://schemas.microsoft.com/office/drawing/2014/main" id="{37BBF6FF-F0FB-4571-8729-131BF76CF9F2}"/>
              </a:ext>
            </a:extLst>
          </p:cNvPr>
          <p:cNvSpPr>
            <a:spLocks xmlns:a="http://schemas.openxmlformats.org/drawingml/2006/main" noGrp="1"/>
          </p:cNvSpPr>
          <p:nvPr/>
        </p:nvSpPr>
        <p:spPr>
          <a:xfrm xmlns:a="http://schemas.openxmlformats.org/drawingml/2006/main">
            <a:off x="8257032" y="2779776"/>
            <a:ext cx="3008376" cy="11155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Клиент сам называет нужную сумму получателю. Это дополнительная ветка продукта, отдельно от качества модели.</a:t>
            </a:r>
            <a:endParaRPr sz="1250"/>
          </a:p>
        </p:txBody>
      </p:sp>
      <p:sp>
        <p:nvSpPr>
          <p:cNvPr id="32" name="Shape 30">
            <a:extLst xmlns:a="http://schemas.openxmlformats.org/drawingml/2006/main">
              <a:ext uri="{FF2B5EF4-FFF2-40B4-BE49-F238E27FC236}">
                <a16:creationId xmlns:a16="http://schemas.microsoft.com/office/drawing/2014/main" id="{BA19E8E6-2A25-4648-A37E-F45A289179C0}"/>
              </a:ext>
            </a:extLst>
          </p:cNvPr>
          <p:cNvSpPr>
            <a:spLocks xmlns:a="http://schemas.openxmlformats.org/drawingml/2006/main" noGrp="1"/>
          </p:cNvSpPr>
          <p:nvPr/>
        </p:nvSpPr>
        <p:spPr>
          <a:xfrm xmlns:a="http://schemas.openxmlformats.org/drawingml/2006/main">
            <a:off x="640080" y="4315968"/>
            <a:ext cx="10881360" cy="1371600"/>
          </a:xfrm>
          <a:prstGeom xmlns:a="http://schemas.openxmlformats.org/drawingml/2006/main" prst="roundRect">
            <a:avLst>
              <a:gd name="adj" fmla="val 4000"/>
            </a:avLst>
          </a:prstGeom>
          <a:solidFill xmlns:a="http://schemas.openxmlformats.org/drawingml/2006/main">
            <a:srgbClr val="1A2530"/>
          </a:solidFill>
        </p:spPr>
      </p:sp>
      <p:sp>
        <p:nvSpPr>
          <p:cNvPr id="33" name="Text 31">
            <a:extLst xmlns:a="http://schemas.openxmlformats.org/drawingml/2006/main">
              <a:ext uri="{FF2B5EF4-FFF2-40B4-BE49-F238E27FC236}">
                <a16:creationId xmlns:a16="http://schemas.microsoft.com/office/drawing/2014/main" id="{895431C6-F236-40AA-B040-5108D3549B07}"/>
              </a:ext>
            </a:extLst>
          </p:cNvPr>
          <p:cNvSpPr>
            <a:spLocks xmlns:a="http://schemas.openxmlformats.org/drawingml/2006/main" noGrp="1"/>
          </p:cNvSpPr>
          <p:nvPr/>
        </p:nvSpPr>
        <p:spPr>
          <a:xfrm xmlns:a="http://schemas.openxmlformats.org/drawingml/2006/main">
            <a:off x="914400" y="4471416"/>
            <a:ext cx="103327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Модель выбирает момент, текст объясняет настоящее</a:t>
            </a:r>
            <a:endParaRPr sz="1550"/>
          </a:p>
        </p:txBody>
      </p:sp>
      <p:sp>
        <p:nvSpPr>
          <p:cNvPr id="34" name="Text 32">
            <a:extLst xmlns:a="http://schemas.openxmlformats.org/drawingml/2006/main">
              <a:ext uri="{FF2B5EF4-FFF2-40B4-BE49-F238E27FC236}">
                <a16:creationId xmlns:a16="http://schemas.microsoft.com/office/drawing/2014/main" id="{7756B851-3922-4D78-88D1-16DBA9AD6C2B}"/>
              </a:ext>
            </a:extLst>
          </p:cNvPr>
          <p:cNvSpPr>
            <a:spLocks xmlns:a="http://schemas.openxmlformats.org/drawingml/2006/main" noGrp="1"/>
          </p:cNvSpPr>
          <p:nvPr/>
        </p:nvSpPr>
        <p:spPr>
          <a:xfrm xmlns:a="http://schemas.openxmlformats.org/drawingml/2006/main">
            <a:off x="914400" y="4846320"/>
            <a:ext cx="1033272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C7CFD8"/>
                </a:solidFill>
                <a:latin typeface="Calibri"/>
                <a:ea typeface="Calibri"/>
                <a:cs typeface="Calibri"/>
              </a:rPr>
              <a:t>Температура 0–100 используется внутри системы. В пуш и виджет не выводим вероятность будущего курса. Если для сильного сигнала нет подходящего факта, коммуникацию пропускаем.</a:t>
            </a:r>
            <a:endParaRPr sz="1250"/>
          </a:p>
        </p:txBody>
      </p:sp>
      <p:sp>
        <p:nvSpPr>
          <p:cNvPr id="35" name="Text 33">
            <a:extLst xmlns:a="http://schemas.openxmlformats.org/drawingml/2006/main">
              <a:ext uri="{FF2B5EF4-FFF2-40B4-BE49-F238E27FC236}">
                <a16:creationId xmlns:a16="http://schemas.microsoft.com/office/drawing/2014/main" id="{C966DB1F-E544-48A8-8FCF-5B400F5B0CB7}"/>
              </a:ext>
            </a:extLst>
          </p:cNvPr>
          <p:cNvSpPr>
            <a:spLocks xmlns:a="http://schemas.openxmlformats.org/drawingml/2006/main" noGrp="1"/>
          </p:cNvSpPr>
          <p:nvPr/>
        </p:nvSpPr>
        <p:spPr>
          <a:xfrm xmlns:a="http://schemas.openxmlformats.org/drawingml/2006/main">
            <a:off x="640080" y="6309360"/>
            <a:ext cx="10881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6E7A88"/>
                </a:solidFill>
                <a:latin typeface="Calibri"/>
                <a:ea typeface="Calibri"/>
                <a:cs typeface="Calibri"/>
              </a:rPr>
              <a:t>Частоту после клиентских фильтров нужно отдельно измерить в пилоте. Метрики модели считаются до них.</a:t>
            </a:r>
            <a:endParaRPr sz="1050"/>
          </a:p>
        </p:txBody>
      </p:sp>
    </p:spTree>
    <p:extLst>
      <p:ext uri="{BB962C8B-B14F-4D97-AF65-F5344CB8AC3E}">
        <p14:creationId xmlns:p14="http://schemas.microsoft.com/office/powerpoint/2010/main" val="67189958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AD9234F-CA3D-4177-A300-D1CF9BE529F1}"/>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5970F8A6-C720-4A6B-9A72-324D92EDF618}"/>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4" name="Text 2">
            <a:extLst xmlns:a="http://schemas.openxmlformats.org/drawingml/2006/main">
              <a:ext uri="{FF2B5EF4-FFF2-40B4-BE49-F238E27FC236}">
                <a16:creationId xmlns:a16="http://schemas.microsoft.com/office/drawing/2014/main" id="{6343C0DE-E75B-4175-A140-735BB81FBC99}"/>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Фильтр: что отсеивается до отправки</a:t>
            </a:r>
            <a:endParaRPr sz="2700"/>
          </a:p>
        </p:txBody>
      </p:sp>
      <p:sp>
        <p:nvSpPr>
          <p:cNvPr id="5" name="Shape 3">
            <a:extLst xmlns:a="http://schemas.openxmlformats.org/drawingml/2006/main">
              <a:ext uri="{FF2B5EF4-FFF2-40B4-BE49-F238E27FC236}">
                <a16:creationId xmlns:a16="http://schemas.microsoft.com/office/drawing/2014/main" id="{78DC6574-870B-4667-BE0D-56DFC18C4897}"/>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6" name="Text 4">
            <a:extLst xmlns:a="http://schemas.openxmlformats.org/drawingml/2006/main">
              <a:ext uri="{FF2B5EF4-FFF2-40B4-BE49-F238E27FC236}">
                <a16:creationId xmlns:a16="http://schemas.microsoft.com/office/drawing/2014/main" id="{6BAC066C-C616-404C-8855-1749AE05E487}"/>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7" name="Text 5">
            <a:extLst xmlns:a="http://schemas.openxmlformats.org/drawingml/2006/main">
              <a:ext uri="{FF2B5EF4-FFF2-40B4-BE49-F238E27FC236}">
                <a16:creationId xmlns:a16="http://schemas.microsoft.com/office/drawing/2014/main" id="{63F6B7F3-8084-47B7-B630-3ECF6C094A69}"/>
              </a:ext>
            </a:extLst>
          </p:cNvPr>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8" name="Shape 6">
            <a:extLst xmlns:a="http://schemas.openxmlformats.org/drawingml/2006/main">
              <a:ext uri="{FF2B5EF4-FFF2-40B4-BE49-F238E27FC236}">
                <a16:creationId xmlns:a16="http://schemas.microsoft.com/office/drawing/2014/main" id="{A97D6D63-3F0A-4ACA-87F5-C9C4B0FB2306}"/>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9" name="Text 7">
            <a:extLst xmlns:a="http://schemas.openxmlformats.org/drawingml/2006/main">
              <a:ext uri="{FF2B5EF4-FFF2-40B4-BE49-F238E27FC236}">
                <a16:creationId xmlns:a16="http://schemas.microsoft.com/office/drawing/2014/main" id="{A9EC4136-BF61-4AC8-9637-0F7E3132A9FE}"/>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2 · Фильтр</a:t>
            </a:r>
            <a:endParaRPr sz="1050"/>
          </a:p>
        </p:txBody>
      </p:sp>
      <p:sp>
        <p:nvSpPr>
          <p:cNvPr id="10" name="Text 8">
            <a:extLst xmlns:a="http://schemas.openxmlformats.org/drawingml/2006/main">
              <a:ext uri="{FF2B5EF4-FFF2-40B4-BE49-F238E27FC236}">
                <a16:creationId xmlns:a16="http://schemas.microsoft.com/office/drawing/2014/main" id="{79FD39CE-B370-4570-A18B-31C7060E777F}"/>
              </a:ext>
            </a:extLst>
          </p:cNvPr>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1" name="Shape 9">
            <a:extLst xmlns:a="http://schemas.openxmlformats.org/drawingml/2006/main">
              <a:ext uri="{FF2B5EF4-FFF2-40B4-BE49-F238E27FC236}">
                <a16:creationId xmlns:a16="http://schemas.microsoft.com/office/drawing/2014/main" id="{719EECC5-E5C4-4B12-A252-136584E81434}"/>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2" name="Text 10">
            <a:extLst xmlns:a="http://schemas.openxmlformats.org/drawingml/2006/main">
              <a:ext uri="{FF2B5EF4-FFF2-40B4-BE49-F238E27FC236}">
                <a16:creationId xmlns:a16="http://schemas.microsoft.com/office/drawing/2014/main" id="{F0BDC346-78A2-4BA7-883D-FE0ABE4F70C6}"/>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3 · Пуш</a:t>
            </a:r>
            <a:endParaRPr sz="1050"/>
          </a:p>
        </p:txBody>
      </p:sp>
      <p:sp>
        <p:nvSpPr>
          <p:cNvPr id="13" name="Text 11">
            <a:extLst xmlns:a="http://schemas.openxmlformats.org/drawingml/2006/main">
              <a:ext uri="{FF2B5EF4-FFF2-40B4-BE49-F238E27FC236}">
                <a16:creationId xmlns:a16="http://schemas.microsoft.com/office/drawing/2014/main" id="{55BDCDBA-802E-4619-A56C-FFBCA73E5176}"/>
              </a:ext>
            </a:extLst>
          </p:cNvPr>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4" name="Shape 12">
            <a:extLst xmlns:a="http://schemas.openxmlformats.org/drawingml/2006/main">
              <a:ext uri="{FF2B5EF4-FFF2-40B4-BE49-F238E27FC236}">
                <a16:creationId xmlns:a16="http://schemas.microsoft.com/office/drawing/2014/main" id="{DF303A22-8D1C-47A2-B3E5-AACCC48C5E68}"/>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5" name="Text 13">
            <a:extLst xmlns:a="http://schemas.openxmlformats.org/drawingml/2006/main">
              <a:ext uri="{FF2B5EF4-FFF2-40B4-BE49-F238E27FC236}">
                <a16:creationId xmlns:a16="http://schemas.microsoft.com/office/drawing/2014/main" id="{8840DA76-E9BF-43A1-B141-578DA0DACF9D}"/>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4 · Экран перевода</a:t>
            </a:r>
            <a:endParaRPr sz="1050"/>
          </a:p>
        </p:txBody>
      </p:sp>
      <p:sp>
        <p:nvSpPr>
          <p:cNvPr id="16" name="Text 14">
            <a:extLst xmlns:a="http://schemas.openxmlformats.org/drawingml/2006/main">
              <a:ext uri="{FF2B5EF4-FFF2-40B4-BE49-F238E27FC236}">
                <a16:creationId xmlns:a16="http://schemas.microsoft.com/office/drawing/2014/main" id="{EFF386EA-476E-4BD4-B8F0-4362809F4206}"/>
              </a:ext>
            </a:extLst>
          </p:cNvPr>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7" name="Shape 15">
            <a:extLst xmlns:a="http://schemas.openxmlformats.org/drawingml/2006/main">
              <a:ext uri="{FF2B5EF4-FFF2-40B4-BE49-F238E27FC236}">
                <a16:creationId xmlns:a16="http://schemas.microsoft.com/office/drawing/2014/main" id="{945685A4-79F8-4E8B-9DD7-E0DD629E305A}"/>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8" name="Text 16">
            <a:extLst xmlns:a="http://schemas.openxmlformats.org/drawingml/2006/main">
              <a:ext uri="{FF2B5EF4-FFF2-40B4-BE49-F238E27FC236}">
                <a16:creationId xmlns:a16="http://schemas.microsoft.com/office/drawing/2014/main" id="{1D1C1527-5FA9-46DF-8279-1790ED9B6669}"/>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5 · Решение</a:t>
            </a:r>
            <a:endParaRPr sz="1050"/>
          </a:p>
        </p:txBody>
      </p:sp>
      <p:sp>
        <p:nvSpPr>
          <p:cNvPr id="19" name="Text 17">
            <a:extLst xmlns:a="http://schemas.openxmlformats.org/drawingml/2006/main">
              <a:ext uri="{FF2B5EF4-FFF2-40B4-BE49-F238E27FC236}">
                <a16:creationId xmlns:a16="http://schemas.microsoft.com/office/drawing/2014/main" id="{FAA1F901-D270-4FFB-BF84-1C304294C1F1}"/>
              </a:ext>
            </a:extLst>
          </p:cNvPr>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0" name="Shape 18">
            <a:extLst xmlns:a="http://schemas.openxmlformats.org/drawingml/2006/main">
              <a:ext uri="{FF2B5EF4-FFF2-40B4-BE49-F238E27FC236}">
                <a16:creationId xmlns:a16="http://schemas.microsoft.com/office/drawing/2014/main" id="{E1C9A788-9AAE-4B2F-B9C0-FBF65043652A}"/>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21" name="Text 19">
            <a:extLst xmlns:a="http://schemas.openxmlformats.org/drawingml/2006/main">
              <a:ext uri="{FF2B5EF4-FFF2-40B4-BE49-F238E27FC236}">
                <a16:creationId xmlns:a16="http://schemas.microsoft.com/office/drawing/2014/main" id="{6C04959F-8883-4F13-AE77-AC9959695100}"/>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sp>
        <p:nvSpPr>
          <p:cNvPr id="22" name="Text 20">
            <a:extLst xmlns:a="http://schemas.openxmlformats.org/drawingml/2006/main">
              <a:ext uri="{FF2B5EF4-FFF2-40B4-BE49-F238E27FC236}">
                <a16:creationId xmlns:a16="http://schemas.microsoft.com/office/drawing/2014/main" id="{B48BBB89-6B8F-44A7-AF74-DEA0C07656E9}"/>
              </a:ext>
            </a:extLst>
          </p:cNvPr>
          <p:cNvSpPr>
            <a:spLocks xmlns:a="http://schemas.openxmlformats.org/drawingml/2006/main" noGrp="1"/>
          </p:cNvSpPr>
          <p:nvPr/>
        </p:nvSpPr>
        <p:spPr>
          <a:xfrm xmlns:a="http://schemas.openxmlformats.org/drawingml/2006/main">
            <a:off x="640080" y="1481328"/>
            <a:ext cx="10881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350">
                <a:solidFill>
                  <a:srgbClr val="4E5966"/>
                </a:solidFill>
                <a:latin typeface="Calibri"/>
                <a:ea typeface="Calibri"/>
                <a:cs typeface="Calibri"/>
              </a:rPr>
              <a:t>Из сработавших оставляем те, что дойдут живыми и вовремя. Второй шаг клиент тоже не видит – но именно он решает, станет ли продукт спамом.</a:t>
            </a:r>
            <a:endParaRPr sz="1350"/>
          </a:p>
        </p:txBody>
      </p:sp>
      <p:sp>
        <p:nvSpPr>
          <p:cNvPr id="23" name="Shape 21">
            <a:extLst xmlns:a="http://schemas.openxmlformats.org/drawingml/2006/main">
              <a:ext uri="{FF2B5EF4-FFF2-40B4-BE49-F238E27FC236}">
                <a16:creationId xmlns:a16="http://schemas.microsoft.com/office/drawing/2014/main" id="{772DEB66-B0E1-480A-B811-3EF53016E7C2}"/>
              </a:ext>
            </a:extLst>
          </p:cNvPr>
          <p:cNvSpPr>
            <a:spLocks xmlns:a="http://schemas.openxmlformats.org/drawingml/2006/main" noGrp="1"/>
          </p:cNvSpPr>
          <p:nvPr/>
        </p:nvSpPr>
        <p:spPr>
          <a:xfrm xmlns:a="http://schemas.openxmlformats.org/drawingml/2006/main">
            <a:off x="640080" y="2048256"/>
            <a:ext cx="5367528" cy="1572768"/>
          </a:xfrm>
          <a:prstGeom xmlns:a="http://schemas.openxmlformats.org/drawingml/2006/main" prst="roundRect">
            <a:avLst>
              <a:gd name="adj" fmla="val 3488"/>
            </a:avLst>
          </a:prstGeom>
          <a:solidFill xmlns:a="http://schemas.openxmlformats.org/drawingml/2006/main">
            <a:srgbClr val="F4F6F8"/>
          </a:solidFill>
        </p:spPr>
      </p:sp>
      <p:sp>
        <p:nvSpPr>
          <p:cNvPr id="24" name="Text 22">
            <a:extLst xmlns:a="http://schemas.openxmlformats.org/drawingml/2006/main">
              <a:ext uri="{FF2B5EF4-FFF2-40B4-BE49-F238E27FC236}">
                <a16:creationId xmlns:a16="http://schemas.microsoft.com/office/drawing/2014/main" id="{803B01A6-85D1-46C0-A623-63E5DB1BBC2F}"/>
              </a:ext>
            </a:extLst>
          </p:cNvPr>
          <p:cNvSpPr>
            <a:spLocks xmlns:a="http://schemas.openxmlformats.org/drawingml/2006/main" noGrp="1"/>
          </p:cNvSpPr>
          <p:nvPr/>
        </p:nvSpPr>
        <p:spPr>
          <a:xfrm xmlns:a="http://schemas.openxmlformats.org/drawingml/2006/main">
            <a:off x="896112" y="2231136"/>
            <a:ext cx="485546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Прореживание серий</a:t>
            </a:r>
            <a:endParaRPr sz="1550"/>
          </a:p>
        </p:txBody>
      </p:sp>
      <p:sp>
        <p:nvSpPr>
          <p:cNvPr id="25" name="Text 23">
            <a:extLst xmlns:a="http://schemas.openxmlformats.org/drawingml/2006/main">
              <a:ext uri="{FF2B5EF4-FFF2-40B4-BE49-F238E27FC236}">
                <a16:creationId xmlns:a16="http://schemas.microsoft.com/office/drawing/2014/main" id="{3A22B007-8D62-4C4C-B8BE-C92C78D6D393}"/>
              </a:ext>
            </a:extLst>
          </p:cNvPr>
          <p:cNvSpPr>
            <a:spLocks xmlns:a="http://schemas.openxmlformats.org/drawingml/2006/main" noGrp="1"/>
          </p:cNvSpPr>
          <p:nvPr/>
        </p:nvSpPr>
        <p:spPr>
          <a:xfrm xmlns:a="http://schemas.openxmlformats.org/drawingml/2006/main">
            <a:off x="896112" y="2761488"/>
            <a:ext cx="4855464"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Ансамбль ограничивает поток двумя сигналами за календарную неделю на валюту. Основной отбор дополняется резервом при долгой тишине.</a:t>
            </a:r>
            <a:endParaRPr sz="1250"/>
          </a:p>
        </p:txBody>
      </p:sp>
      <p:sp>
        <p:nvSpPr>
          <p:cNvPr id="26" name="Shape 24">
            <a:extLst xmlns:a="http://schemas.openxmlformats.org/drawingml/2006/main">
              <a:ext uri="{FF2B5EF4-FFF2-40B4-BE49-F238E27FC236}">
                <a16:creationId xmlns:a16="http://schemas.microsoft.com/office/drawing/2014/main" id="{1841536A-DC82-4040-A4A8-9320E09D4AE4}"/>
              </a:ext>
            </a:extLst>
          </p:cNvPr>
          <p:cNvSpPr>
            <a:spLocks xmlns:a="http://schemas.openxmlformats.org/drawingml/2006/main" noGrp="1"/>
          </p:cNvSpPr>
          <p:nvPr/>
        </p:nvSpPr>
        <p:spPr>
          <a:xfrm xmlns:a="http://schemas.openxmlformats.org/drawingml/2006/main">
            <a:off x="6153912" y="2048256"/>
            <a:ext cx="5367528" cy="1572768"/>
          </a:xfrm>
          <a:prstGeom xmlns:a="http://schemas.openxmlformats.org/drawingml/2006/main" prst="roundRect">
            <a:avLst>
              <a:gd name="adj" fmla="val 3488"/>
            </a:avLst>
          </a:prstGeom>
          <a:solidFill xmlns:a="http://schemas.openxmlformats.org/drawingml/2006/main">
            <a:srgbClr val="F4F6F8"/>
          </a:solidFill>
        </p:spPr>
      </p:sp>
      <p:sp>
        <p:nvSpPr>
          <p:cNvPr id="27" name="Text 25">
            <a:extLst xmlns:a="http://schemas.openxmlformats.org/drawingml/2006/main">
              <a:ext uri="{FF2B5EF4-FFF2-40B4-BE49-F238E27FC236}">
                <a16:creationId xmlns:a16="http://schemas.microsoft.com/office/drawing/2014/main" id="{6BADEAF1-0D94-4D91-ABA2-729D2F4F58D8}"/>
              </a:ext>
            </a:extLst>
          </p:cNvPr>
          <p:cNvSpPr>
            <a:spLocks xmlns:a="http://schemas.openxmlformats.org/drawingml/2006/main" noGrp="1"/>
          </p:cNvSpPr>
          <p:nvPr/>
        </p:nvSpPr>
        <p:spPr>
          <a:xfrm xmlns:a="http://schemas.openxmlformats.org/drawingml/2006/main">
            <a:off x="6409944" y="2231136"/>
            <a:ext cx="485546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Календарные ограничения</a:t>
            </a:r>
            <a:endParaRPr sz="1550"/>
          </a:p>
        </p:txBody>
      </p:sp>
      <p:sp>
        <p:nvSpPr>
          <p:cNvPr id="28" name="Text 26">
            <a:extLst xmlns:a="http://schemas.openxmlformats.org/drawingml/2006/main">
              <a:ext uri="{FF2B5EF4-FFF2-40B4-BE49-F238E27FC236}">
                <a16:creationId xmlns:a16="http://schemas.microsoft.com/office/drawing/2014/main" id="{1718D42E-4EC2-4AC7-84E6-DB59C2DA8747}"/>
              </a:ext>
            </a:extLst>
          </p:cNvPr>
          <p:cNvSpPr>
            <a:spLocks xmlns:a="http://schemas.openxmlformats.org/drawingml/2006/main" noGrp="1"/>
          </p:cNvSpPr>
          <p:nvPr/>
        </p:nvSpPr>
        <p:spPr>
          <a:xfrm xmlns:a="http://schemas.openxmlformats.org/drawingml/2006/main">
            <a:off x="6409944" y="2761488"/>
            <a:ext cx="4855464"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Продуктовое правило: учитываем значимые даты коридора. Например, не используем поздравительный повод 24 апреля для Армении.</a:t>
            </a:r>
            <a:endParaRPr sz="1250"/>
          </a:p>
        </p:txBody>
      </p:sp>
      <p:sp>
        <p:nvSpPr>
          <p:cNvPr id="29" name="Shape 27">
            <a:extLst xmlns:a="http://schemas.openxmlformats.org/drawingml/2006/main">
              <a:ext uri="{FF2B5EF4-FFF2-40B4-BE49-F238E27FC236}">
                <a16:creationId xmlns:a16="http://schemas.microsoft.com/office/drawing/2014/main" id="{273A2DCC-2202-4412-94ED-72F6E140ADAB}"/>
              </a:ext>
            </a:extLst>
          </p:cNvPr>
          <p:cNvSpPr>
            <a:spLocks xmlns:a="http://schemas.openxmlformats.org/drawingml/2006/main" noGrp="1"/>
          </p:cNvSpPr>
          <p:nvPr/>
        </p:nvSpPr>
        <p:spPr>
          <a:xfrm xmlns:a="http://schemas.openxmlformats.org/drawingml/2006/main">
            <a:off x="640080" y="3730752"/>
            <a:ext cx="5367528" cy="1572768"/>
          </a:xfrm>
          <a:prstGeom xmlns:a="http://schemas.openxmlformats.org/drawingml/2006/main" prst="roundRect">
            <a:avLst>
              <a:gd name="adj" fmla="val 3488"/>
            </a:avLst>
          </a:prstGeom>
          <a:solidFill xmlns:a="http://schemas.openxmlformats.org/drawingml/2006/main">
            <a:srgbClr val="F4F6F8"/>
          </a:solidFill>
        </p:spPr>
      </p:sp>
      <p:sp>
        <p:nvSpPr>
          <p:cNvPr id="30" name="Text 28">
            <a:extLst xmlns:a="http://schemas.openxmlformats.org/drawingml/2006/main">
              <a:ext uri="{FF2B5EF4-FFF2-40B4-BE49-F238E27FC236}">
                <a16:creationId xmlns:a16="http://schemas.microsoft.com/office/drawing/2014/main" id="{A4FBF6C2-58CF-414D-8BB9-8A1EF976D6DD}"/>
              </a:ext>
            </a:extLst>
          </p:cNvPr>
          <p:cNvSpPr>
            <a:spLocks xmlns:a="http://schemas.openxmlformats.org/drawingml/2006/main" noGrp="1"/>
          </p:cNvSpPr>
          <p:nvPr/>
        </p:nvSpPr>
        <p:spPr>
          <a:xfrm xmlns:a="http://schemas.openxmlformats.org/drawingml/2006/main">
            <a:off x="896112" y="3913632"/>
            <a:ext cx="485546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Часовые пояса</a:t>
            </a:r>
            <a:endParaRPr sz="1550"/>
          </a:p>
        </p:txBody>
      </p:sp>
      <p:sp>
        <p:nvSpPr>
          <p:cNvPr id="31" name="Text 29">
            <a:extLst xmlns:a="http://schemas.openxmlformats.org/drawingml/2006/main">
              <a:ext uri="{FF2B5EF4-FFF2-40B4-BE49-F238E27FC236}">
                <a16:creationId xmlns:a16="http://schemas.microsoft.com/office/drawing/2014/main" id="{B8B665CD-0710-4204-A3AD-0E24E5BC6F26}"/>
              </a:ext>
            </a:extLst>
          </p:cNvPr>
          <p:cNvSpPr>
            <a:spLocks xmlns:a="http://schemas.openxmlformats.org/drawingml/2006/main" noGrp="1"/>
          </p:cNvSpPr>
          <p:nvPr/>
        </p:nvSpPr>
        <p:spPr>
          <a:xfrm xmlns:a="http://schemas.openxmlformats.org/drawingml/2006/main">
            <a:off x="896112" y="4443984"/>
            <a:ext cx="4855464"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Отправка по местному времени клиента. Если вечерняя публикация попала в ночь, утром заново проверяем сигнал и курс.</a:t>
            </a:r>
            <a:endParaRPr sz="1250"/>
          </a:p>
        </p:txBody>
      </p:sp>
      <p:sp>
        <p:nvSpPr>
          <p:cNvPr id="32" name="Shape 30">
            <a:extLst xmlns:a="http://schemas.openxmlformats.org/drawingml/2006/main">
              <a:ext uri="{FF2B5EF4-FFF2-40B4-BE49-F238E27FC236}">
                <a16:creationId xmlns:a16="http://schemas.microsoft.com/office/drawing/2014/main" id="{725500F5-D53B-48C5-9D70-B92366ADDF0E}"/>
              </a:ext>
            </a:extLst>
          </p:cNvPr>
          <p:cNvSpPr>
            <a:spLocks xmlns:a="http://schemas.openxmlformats.org/drawingml/2006/main" noGrp="1"/>
          </p:cNvSpPr>
          <p:nvPr/>
        </p:nvSpPr>
        <p:spPr>
          <a:xfrm xmlns:a="http://schemas.openxmlformats.org/drawingml/2006/main">
            <a:off x="6153912" y="3730752"/>
            <a:ext cx="5367528" cy="1572768"/>
          </a:xfrm>
          <a:prstGeom xmlns:a="http://schemas.openxmlformats.org/drawingml/2006/main" prst="roundRect">
            <a:avLst>
              <a:gd name="adj" fmla="val 3488"/>
            </a:avLst>
          </a:prstGeom>
          <a:solidFill xmlns:a="http://schemas.openxmlformats.org/drawingml/2006/main">
            <a:srgbClr val="F4F6F8"/>
          </a:solidFill>
        </p:spPr>
      </p:sp>
      <p:sp>
        <p:nvSpPr>
          <p:cNvPr id="33" name="Text 31">
            <a:extLst xmlns:a="http://schemas.openxmlformats.org/drawingml/2006/main">
              <a:ext uri="{FF2B5EF4-FFF2-40B4-BE49-F238E27FC236}">
                <a16:creationId xmlns:a16="http://schemas.microsoft.com/office/drawing/2014/main" id="{855FB4D2-E3AF-4FE5-9148-30B43A19B10A}"/>
              </a:ext>
            </a:extLst>
          </p:cNvPr>
          <p:cNvSpPr>
            <a:spLocks xmlns:a="http://schemas.openxmlformats.org/drawingml/2006/main" noGrp="1"/>
          </p:cNvSpPr>
          <p:nvPr/>
        </p:nvSpPr>
        <p:spPr>
          <a:xfrm xmlns:a="http://schemas.openxmlformats.org/drawingml/2006/main">
            <a:off x="6409944" y="3913632"/>
            <a:ext cx="485546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Достоверность и свежесть</a:t>
            </a:r>
            <a:endParaRPr sz="1550"/>
          </a:p>
        </p:txBody>
      </p:sp>
      <p:sp>
        <p:nvSpPr>
          <p:cNvPr id="34" name="Text 32">
            <a:extLst xmlns:a="http://schemas.openxmlformats.org/drawingml/2006/main">
              <a:ext uri="{FF2B5EF4-FFF2-40B4-BE49-F238E27FC236}">
                <a16:creationId xmlns:a16="http://schemas.microsoft.com/office/drawing/2014/main" id="{8BF5743A-B2B1-4637-A0A4-C8288032171A}"/>
              </a:ext>
            </a:extLst>
          </p:cNvPr>
          <p:cNvSpPr>
            <a:spLocks xmlns:a="http://schemas.openxmlformats.org/drawingml/2006/main" noGrp="1"/>
          </p:cNvSpPr>
          <p:nvPr/>
        </p:nvSpPr>
        <p:spPr>
          <a:xfrm xmlns:a="http://schemas.openxmlformats.org/drawingml/2006/main">
            <a:off x="6409944" y="4443984"/>
            <a:ext cx="4855464"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Не получен источник, нет сильного сигнала или безопасного текста: молчим. Слабый сигнал не отправляем ради плана.</a:t>
            </a:r>
            <a:endParaRPr sz="1250"/>
          </a:p>
        </p:txBody>
      </p:sp>
      <p:sp>
        <p:nvSpPr>
          <p:cNvPr id="35" name="Shape 33">
            <a:extLst xmlns:a="http://schemas.openxmlformats.org/drawingml/2006/main">
              <a:ext uri="{FF2B5EF4-FFF2-40B4-BE49-F238E27FC236}">
                <a16:creationId xmlns:a16="http://schemas.microsoft.com/office/drawing/2014/main" id="{76979E29-5C1E-42FD-8A40-201366B8B936}"/>
              </a:ext>
            </a:extLst>
          </p:cNvPr>
          <p:cNvSpPr>
            <a:spLocks xmlns:a="http://schemas.openxmlformats.org/drawingml/2006/main" noGrp="1"/>
          </p:cNvSpPr>
          <p:nvPr/>
        </p:nvSpPr>
        <p:spPr>
          <a:xfrm xmlns:a="http://schemas.openxmlformats.org/drawingml/2006/main">
            <a:off x="640080" y="5358384"/>
            <a:ext cx="10881360" cy="1133856"/>
          </a:xfrm>
          <a:prstGeom xmlns:a="http://schemas.openxmlformats.org/drawingml/2006/main" prst="roundRect">
            <a:avLst>
              <a:gd name="adj" fmla="val 4839"/>
            </a:avLst>
          </a:prstGeom>
          <a:solidFill xmlns:a="http://schemas.openxmlformats.org/drawingml/2006/main">
            <a:srgbClr val="1A2530"/>
          </a:solidFill>
        </p:spPr>
      </p:sp>
      <p:sp>
        <p:nvSpPr>
          <p:cNvPr id="36" name="Text 34">
            <a:extLst xmlns:a="http://schemas.openxmlformats.org/drawingml/2006/main">
              <a:ext uri="{FF2B5EF4-FFF2-40B4-BE49-F238E27FC236}">
                <a16:creationId xmlns:a16="http://schemas.microsoft.com/office/drawing/2014/main" id="{6B7A5CD1-372E-4A81-928E-A041BC3AE9A5}"/>
              </a:ext>
            </a:extLst>
          </p:cNvPr>
          <p:cNvSpPr>
            <a:spLocks xmlns:a="http://schemas.openxmlformats.org/drawingml/2006/main" noGrp="1"/>
          </p:cNvSpPr>
          <p:nvPr/>
        </p:nvSpPr>
        <p:spPr>
          <a:xfrm xmlns:a="http://schemas.openxmlformats.org/drawingml/2006/main">
            <a:off x="914400" y="5513832"/>
            <a:ext cx="103327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E89484"/>
                </a:solidFill>
                <a:latin typeface="Cambria"/>
                <a:ea typeface="Cambria"/>
                <a:cs typeface="Cambria"/>
              </a:rPr>
              <a:t>Граница прототипа и пилота</a:t>
            </a:r>
            <a:endParaRPr sz="1550"/>
          </a:p>
        </p:txBody>
      </p:sp>
      <p:sp>
        <p:nvSpPr>
          <p:cNvPr id="37" name="Text 35">
            <a:extLst xmlns:a="http://schemas.openxmlformats.org/drawingml/2006/main">
              <a:ext uri="{FF2B5EF4-FFF2-40B4-BE49-F238E27FC236}">
                <a16:creationId xmlns:a16="http://schemas.microsoft.com/office/drawing/2014/main" id="{2301F2EE-2C09-41BC-91BC-BAEA3D620076}"/>
              </a:ext>
            </a:extLst>
          </p:cNvPr>
          <p:cNvSpPr>
            <a:spLocks xmlns:a="http://schemas.openxmlformats.org/drawingml/2006/main" noGrp="1"/>
          </p:cNvSpPr>
          <p:nvPr/>
        </p:nvSpPr>
        <p:spPr>
          <a:xfrm xmlns:a="http://schemas.openxmlformats.org/drawingml/2006/main">
            <a:off x="914400" y="5888736"/>
            <a:ext cx="103327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C7CFD8"/>
                </a:solidFill>
                <a:latin typeface="Calibri"/>
                <a:ea typeface="Calibri"/>
                <a:cs typeface="Calibri"/>
              </a:rPr>
              <a:t>В ретроспективе — 1,04 сигнала на валюту в неделю. Общий лимит на клиента, время отправки и разрешения подключает банк в пилоте.</a:t>
            </a:r>
            <a:endParaRPr sz="1250"/>
          </a:p>
        </p:txBody>
      </p:sp>
    </p:spTree>
    <p:extLst>
      <p:ext uri="{BB962C8B-B14F-4D97-AF65-F5344CB8AC3E}">
        <p14:creationId xmlns:p14="http://schemas.microsoft.com/office/powerpoint/2010/main" val="14141502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9D0393D-A399-4AF3-9CD4-87836E5E202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955592CB-0740-4709-8E6C-D9A0FD097C2E}"/>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3</a:t>
            </a:r>
            <a:endParaRPr sz="1400"/>
          </a:p>
        </p:txBody>
      </p:sp>
      <p:sp>
        <p:nvSpPr>
          <p:cNvPr id="4" name="Text 2">
            <a:extLst xmlns:a="http://schemas.openxmlformats.org/drawingml/2006/main">
              <a:ext uri="{FF2B5EF4-FFF2-40B4-BE49-F238E27FC236}">
                <a16:creationId xmlns:a16="http://schemas.microsoft.com/office/drawing/2014/main" id="{EA456DC0-9239-4EF7-8180-7C5F224ED06C}"/>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Пуш: одно сообщение, одно число</a:t>
            </a:r>
            <a:endParaRPr sz="2700"/>
          </a:p>
        </p:txBody>
      </p:sp>
      <p:sp>
        <p:nvSpPr>
          <p:cNvPr id="5" name="Shape 3">
            <a:extLst xmlns:a="http://schemas.openxmlformats.org/drawingml/2006/main">
              <a:ext uri="{FF2B5EF4-FFF2-40B4-BE49-F238E27FC236}">
                <a16:creationId xmlns:a16="http://schemas.microsoft.com/office/drawing/2014/main" id="{73E9EEA4-7595-41CC-BEB3-082096C31462}"/>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6" name="Text 4">
            <a:extLst xmlns:a="http://schemas.openxmlformats.org/drawingml/2006/main">
              <a:ext uri="{FF2B5EF4-FFF2-40B4-BE49-F238E27FC236}">
                <a16:creationId xmlns:a16="http://schemas.microsoft.com/office/drawing/2014/main" id="{7C432919-0D64-4022-881C-777734712216}"/>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7" name="Text 5">
            <a:extLst xmlns:a="http://schemas.openxmlformats.org/drawingml/2006/main">
              <a:ext uri="{FF2B5EF4-FFF2-40B4-BE49-F238E27FC236}">
                <a16:creationId xmlns:a16="http://schemas.microsoft.com/office/drawing/2014/main" id="{DC21F17D-764B-44AD-9856-5573953DCA38}"/>
              </a:ext>
            </a:extLst>
          </p:cNvPr>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8" name="Shape 6">
            <a:extLst xmlns:a="http://schemas.openxmlformats.org/drawingml/2006/main">
              <a:ext uri="{FF2B5EF4-FFF2-40B4-BE49-F238E27FC236}">
                <a16:creationId xmlns:a16="http://schemas.microsoft.com/office/drawing/2014/main" id="{07218229-4CD5-4B8F-A24D-4774ED1DEC30}"/>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9" name="Text 7">
            <a:extLst xmlns:a="http://schemas.openxmlformats.org/drawingml/2006/main">
              <a:ext uri="{FF2B5EF4-FFF2-40B4-BE49-F238E27FC236}">
                <a16:creationId xmlns:a16="http://schemas.microsoft.com/office/drawing/2014/main" id="{AE5EEE34-B9F0-4B30-9558-1391D50AF6DF}"/>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10" name="Text 8">
            <a:extLst xmlns:a="http://schemas.openxmlformats.org/drawingml/2006/main">
              <a:ext uri="{FF2B5EF4-FFF2-40B4-BE49-F238E27FC236}">
                <a16:creationId xmlns:a16="http://schemas.microsoft.com/office/drawing/2014/main" id="{1E75DA44-F4D4-42E8-A603-00D0D0178D9B}"/>
              </a:ext>
            </a:extLst>
          </p:cNvPr>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1" name="Shape 9">
            <a:extLst xmlns:a="http://schemas.openxmlformats.org/drawingml/2006/main">
              <a:ext uri="{FF2B5EF4-FFF2-40B4-BE49-F238E27FC236}">
                <a16:creationId xmlns:a16="http://schemas.microsoft.com/office/drawing/2014/main" id="{23DEFB84-51F0-4F72-843E-893CB22CBB3A}"/>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12" name="Text 10">
            <a:extLst xmlns:a="http://schemas.openxmlformats.org/drawingml/2006/main">
              <a:ext uri="{FF2B5EF4-FFF2-40B4-BE49-F238E27FC236}">
                <a16:creationId xmlns:a16="http://schemas.microsoft.com/office/drawing/2014/main" id="{8B6EA2C8-AEE2-4FDA-8DCA-7F6B208EE5E2}"/>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3 · Пуш</a:t>
            </a:r>
            <a:endParaRPr sz="1050"/>
          </a:p>
        </p:txBody>
      </p:sp>
      <p:sp>
        <p:nvSpPr>
          <p:cNvPr id="13" name="Text 11">
            <a:extLst xmlns:a="http://schemas.openxmlformats.org/drawingml/2006/main">
              <a:ext uri="{FF2B5EF4-FFF2-40B4-BE49-F238E27FC236}">
                <a16:creationId xmlns:a16="http://schemas.microsoft.com/office/drawing/2014/main" id="{30BB0514-056E-46FC-BBE9-38F2CC4A08FC}"/>
              </a:ext>
            </a:extLst>
          </p:cNvPr>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4" name="Shape 12">
            <a:extLst xmlns:a="http://schemas.openxmlformats.org/drawingml/2006/main">
              <a:ext uri="{FF2B5EF4-FFF2-40B4-BE49-F238E27FC236}">
                <a16:creationId xmlns:a16="http://schemas.microsoft.com/office/drawing/2014/main" id="{06B1CEC7-DF97-439F-B9F5-852D02E85205}"/>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5" name="Text 13">
            <a:extLst xmlns:a="http://schemas.openxmlformats.org/drawingml/2006/main">
              <a:ext uri="{FF2B5EF4-FFF2-40B4-BE49-F238E27FC236}">
                <a16:creationId xmlns:a16="http://schemas.microsoft.com/office/drawing/2014/main" id="{F7BC0DAC-2117-462D-915B-61CEBC9EFEA8}"/>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4 · Экран перевода</a:t>
            </a:r>
            <a:endParaRPr sz="1050"/>
          </a:p>
        </p:txBody>
      </p:sp>
      <p:sp>
        <p:nvSpPr>
          <p:cNvPr id="16" name="Text 14">
            <a:extLst xmlns:a="http://schemas.openxmlformats.org/drawingml/2006/main">
              <a:ext uri="{FF2B5EF4-FFF2-40B4-BE49-F238E27FC236}">
                <a16:creationId xmlns:a16="http://schemas.microsoft.com/office/drawing/2014/main" id="{58AFEE15-174D-4554-8164-C52DBE42FD44}"/>
              </a:ext>
            </a:extLst>
          </p:cNvPr>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7" name="Shape 15">
            <a:extLst xmlns:a="http://schemas.openxmlformats.org/drawingml/2006/main">
              <a:ext uri="{FF2B5EF4-FFF2-40B4-BE49-F238E27FC236}">
                <a16:creationId xmlns:a16="http://schemas.microsoft.com/office/drawing/2014/main" id="{04A01311-A947-47BE-BF59-E12469DF9A7A}"/>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8" name="Text 16">
            <a:extLst xmlns:a="http://schemas.openxmlformats.org/drawingml/2006/main">
              <a:ext uri="{FF2B5EF4-FFF2-40B4-BE49-F238E27FC236}">
                <a16:creationId xmlns:a16="http://schemas.microsoft.com/office/drawing/2014/main" id="{E46BD9C1-7586-4581-8D3C-9960746A73E9}"/>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5 · Решение</a:t>
            </a:r>
            <a:endParaRPr sz="1050"/>
          </a:p>
        </p:txBody>
      </p:sp>
      <p:sp>
        <p:nvSpPr>
          <p:cNvPr id="19" name="Text 17">
            <a:extLst xmlns:a="http://schemas.openxmlformats.org/drawingml/2006/main">
              <a:ext uri="{FF2B5EF4-FFF2-40B4-BE49-F238E27FC236}">
                <a16:creationId xmlns:a16="http://schemas.microsoft.com/office/drawing/2014/main" id="{481BDC16-A9CD-4EF8-A022-5D727B412CB7}"/>
              </a:ext>
            </a:extLst>
          </p:cNvPr>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0" name="Shape 18">
            <a:extLst xmlns:a="http://schemas.openxmlformats.org/drawingml/2006/main">
              <a:ext uri="{FF2B5EF4-FFF2-40B4-BE49-F238E27FC236}">
                <a16:creationId xmlns:a16="http://schemas.microsoft.com/office/drawing/2014/main" id="{75C5DD45-1D06-4790-8074-D32D8BDA115F}"/>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21" name="Text 19">
            <a:extLst xmlns:a="http://schemas.openxmlformats.org/drawingml/2006/main">
              <a:ext uri="{FF2B5EF4-FFF2-40B4-BE49-F238E27FC236}">
                <a16:creationId xmlns:a16="http://schemas.microsoft.com/office/drawing/2014/main" id="{0A411C0F-2C36-4C9F-A9D2-16F6A56F8E1F}"/>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7693fa76573f4692"/>
          <a:stretch xmlns:a="http://schemas.openxmlformats.org/drawingml/2006/main">
            <a:fillRect l="0" t="0" r="0" b="0"/>
          </a:stretch>
        </p:blipFill>
        <p:spPr>
          <a:xfrm xmlns:a="http://schemas.openxmlformats.org/drawingml/2006/main">
            <a:off x="640080" y="1627632"/>
            <a:ext cx="2194560" cy="2975823"/>
          </a:xfrm>
          <a:prstGeom xmlns:a="http://schemas.openxmlformats.org/drawingml/2006/main" prst="rect">
            <a:avLst/>
          </a:prstGeom>
        </p:spPr>
      </p:pic>
      <p:sp>
        <p:nvSpPr>
          <p:cNvPr id="23" name="Shape 20">
            <a:extLst xmlns:a="http://schemas.openxmlformats.org/drawingml/2006/main">
              <a:ext uri="{FF2B5EF4-FFF2-40B4-BE49-F238E27FC236}">
                <a16:creationId xmlns:a16="http://schemas.microsoft.com/office/drawing/2014/main" id="{714A9415-BD3C-4739-9FDD-5DFDDC81A11F}"/>
              </a:ext>
            </a:extLst>
          </p:cNvPr>
          <p:cNvSpPr>
            <a:spLocks xmlns:a="http://schemas.openxmlformats.org/drawingml/2006/main" noGrp="1"/>
          </p:cNvSpPr>
          <p:nvPr/>
        </p:nvSpPr>
        <p:spPr>
          <a:xfrm xmlns:a="http://schemas.openxmlformats.org/drawingml/2006/main">
            <a:off x="3154680" y="1627632"/>
            <a:ext cx="4069080" cy="1975104"/>
          </a:xfrm>
          <a:prstGeom xmlns:a="http://schemas.openxmlformats.org/drawingml/2006/main" prst="roundRect">
            <a:avLst>
              <a:gd name="adj" fmla="val 2778"/>
            </a:avLst>
          </a:prstGeom>
          <a:solidFill xmlns:a="http://schemas.openxmlformats.org/drawingml/2006/main">
            <a:srgbClr val="F4F6F8"/>
          </a:solidFill>
        </p:spPr>
      </p:sp>
      <p:sp>
        <p:nvSpPr>
          <p:cNvPr id="24" name="Text 21">
            <a:extLst xmlns:a="http://schemas.openxmlformats.org/drawingml/2006/main">
              <a:ext uri="{FF2B5EF4-FFF2-40B4-BE49-F238E27FC236}">
                <a16:creationId xmlns:a16="http://schemas.microsoft.com/office/drawing/2014/main" id="{47742747-6080-4BD5-8040-B94086038B18}"/>
              </a:ext>
            </a:extLst>
          </p:cNvPr>
          <p:cNvSpPr>
            <a:spLocks xmlns:a="http://schemas.openxmlformats.org/drawingml/2006/main" noGrp="1"/>
          </p:cNvSpPr>
          <p:nvPr/>
        </p:nvSpPr>
        <p:spPr>
          <a:xfrm xmlns:a="http://schemas.openxmlformats.org/drawingml/2006/main">
            <a:off x="3410712" y="1810512"/>
            <a:ext cx="35570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Единица – сумма получателя</a:t>
            </a:r>
            <a:endParaRPr sz="1550"/>
          </a:p>
        </p:txBody>
      </p:sp>
      <p:sp>
        <p:nvSpPr>
          <p:cNvPr id="25" name="Text 22">
            <a:extLst xmlns:a="http://schemas.openxmlformats.org/drawingml/2006/main">
              <a:ext uri="{FF2B5EF4-FFF2-40B4-BE49-F238E27FC236}">
                <a16:creationId xmlns:a16="http://schemas.microsoft.com/office/drawing/2014/main" id="{0F03A4E3-00E7-4817-8C8C-4D999E291F6D}"/>
              </a:ext>
            </a:extLst>
          </p:cNvPr>
          <p:cNvSpPr>
            <a:spLocks xmlns:a="http://schemas.openxmlformats.org/drawingml/2006/main" noGrp="1"/>
          </p:cNvSpPr>
          <p:nvPr/>
        </p:nvSpPr>
        <p:spPr>
          <a:xfrm xmlns:a="http://schemas.openxmlformats.org/drawingml/2006/main">
            <a:off x="3410712" y="2340864"/>
            <a:ext cx="3557016"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На первом месте сумма получателя. В макете она иллюстративная, по ЦБ. В пилоте нужна актуальная котировка банка.</a:t>
            </a:r>
            <a:endParaRPr sz="1250"/>
          </a:p>
        </p:txBody>
      </p:sp>
      <p:sp>
        <p:nvSpPr>
          <p:cNvPr id="26" name="Shape 23">
            <a:extLst xmlns:a="http://schemas.openxmlformats.org/drawingml/2006/main">
              <a:ext uri="{FF2B5EF4-FFF2-40B4-BE49-F238E27FC236}">
                <a16:creationId xmlns:a16="http://schemas.microsoft.com/office/drawing/2014/main" id="{DEC77F61-7063-4E86-BDF4-D2FB6309A3CC}"/>
              </a:ext>
            </a:extLst>
          </p:cNvPr>
          <p:cNvSpPr>
            <a:spLocks xmlns:a="http://schemas.openxmlformats.org/drawingml/2006/main" noGrp="1"/>
          </p:cNvSpPr>
          <p:nvPr/>
        </p:nvSpPr>
        <p:spPr>
          <a:xfrm xmlns:a="http://schemas.openxmlformats.org/drawingml/2006/main">
            <a:off x="7452360" y="1627632"/>
            <a:ext cx="4069080" cy="1975104"/>
          </a:xfrm>
          <a:prstGeom xmlns:a="http://schemas.openxmlformats.org/drawingml/2006/main" prst="roundRect">
            <a:avLst>
              <a:gd name="adj" fmla="val 2778"/>
            </a:avLst>
          </a:prstGeom>
          <a:solidFill xmlns:a="http://schemas.openxmlformats.org/drawingml/2006/main">
            <a:srgbClr val="F4F6F8"/>
          </a:solidFill>
        </p:spPr>
      </p:sp>
      <p:sp>
        <p:nvSpPr>
          <p:cNvPr id="27" name="Text 24">
            <a:extLst xmlns:a="http://schemas.openxmlformats.org/drawingml/2006/main">
              <a:ext uri="{FF2B5EF4-FFF2-40B4-BE49-F238E27FC236}">
                <a16:creationId xmlns:a16="http://schemas.microsoft.com/office/drawing/2014/main" id="{71E21027-3358-4954-ADA2-55FE111E95BC}"/>
              </a:ext>
            </a:extLst>
          </p:cNvPr>
          <p:cNvSpPr>
            <a:spLocks xmlns:a="http://schemas.openxmlformats.org/drawingml/2006/main" noGrp="1"/>
          </p:cNvSpPr>
          <p:nvPr/>
        </p:nvSpPr>
        <p:spPr>
          <a:xfrm xmlns:a="http://schemas.openxmlformats.org/drawingml/2006/main">
            <a:off x="7708392" y="1810512"/>
            <a:ext cx="35570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Дата курса вместо «сегодня»</a:t>
            </a:r>
            <a:endParaRPr sz="1550"/>
          </a:p>
        </p:txBody>
      </p:sp>
      <p:sp>
        <p:nvSpPr>
          <p:cNvPr id="28" name="Text 25">
            <a:extLst xmlns:a="http://schemas.openxmlformats.org/drawingml/2006/main">
              <a:ext uri="{FF2B5EF4-FFF2-40B4-BE49-F238E27FC236}">
                <a16:creationId xmlns:a16="http://schemas.microsoft.com/office/drawing/2014/main" id="{C3F9DB75-FB29-457B-AC56-1B2D0A314B39}"/>
              </a:ext>
            </a:extLst>
          </p:cNvPr>
          <p:cNvSpPr>
            <a:spLocks xmlns:a="http://schemas.openxmlformats.org/drawingml/2006/main" noGrp="1"/>
          </p:cNvSpPr>
          <p:nvPr/>
        </p:nvSpPr>
        <p:spPr>
          <a:xfrm xmlns:a="http://schemas.openxmlformats.org/drawingml/2006/main">
            <a:off x="7708392" y="2340864"/>
            <a:ext cx="3557016"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«Курс ЦБ на 4 сентября» остаётся правдой и через неделю. Слово «сегодня» ломается от задержки и от часовых поясов.</a:t>
            </a:r>
            <a:endParaRPr sz="1250"/>
          </a:p>
        </p:txBody>
      </p:sp>
      <p:sp>
        <p:nvSpPr>
          <p:cNvPr id="29" name="Shape 26">
            <a:extLst xmlns:a="http://schemas.openxmlformats.org/drawingml/2006/main">
              <a:ext uri="{FF2B5EF4-FFF2-40B4-BE49-F238E27FC236}">
                <a16:creationId xmlns:a16="http://schemas.microsoft.com/office/drawing/2014/main" id="{EB879C59-5251-4A2A-90A1-F82616A7275B}"/>
              </a:ext>
            </a:extLst>
          </p:cNvPr>
          <p:cNvSpPr>
            <a:spLocks xmlns:a="http://schemas.openxmlformats.org/drawingml/2006/main" noGrp="1"/>
          </p:cNvSpPr>
          <p:nvPr/>
        </p:nvSpPr>
        <p:spPr>
          <a:xfrm xmlns:a="http://schemas.openxmlformats.org/drawingml/2006/main">
            <a:off x="3154680" y="3749040"/>
            <a:ext cx="4069080" cy="1975104"/>
          </a:xfrm>
          <a:prstGeom xmlns:a="http://schemas.openxmlformats.org/drawingml/2006/main" prst="roundRect">
            <a:avLst>
              <a:gd name="adj" fmla="val 2778"/>
            </a:avLst>
          </a:prstGeom>
          <a:solidFill xmlns:a="http://schemas.openxmlformats.org/drawingml/2006/main">
            <a:srgbClr val="F4F6F8"/>
          </a:solidFill>
        </p:spPr>
      </p:sp>
      <p:sp>
        <p:nvSpPr>
          <p:cNvPr id="30" name="Text 27">
            <a:extLst xmlns:a="http://schemas.openxmlformats.org/drawingml/2006/main">
              <a:ext uri="{FF2B5EF4-FFF2-40B4-BE49-F238E27FC236}">
                <a16:creationId xmlns:a16="http://schemas.microsoft.com/office/drawing/2014/main" id="{32475BFC-8BA1-40CC-AD5F-CC63CDD974F5}"/>
              </a:ext>
            </a:extLst>
          </p:cNvPr>
          <p:cNvSpPr>
            <a:spLocks xmlns:a="http://schemas.openxmlformats.org/drawingml/2006/main" noGrp="1"/>
          </p:cNvSpPr>
          <p:nvPr/>
        </p:nvSpPr>
        <p:spPr>
          <a:xfrm xmlns:a="http://schemas.openxmlformats.org/drawingml/2006/main">
            <a:off x="3410712" y="3931920"/>
            <a:ext cx="35570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Когда отправляем пуш</a:t>
            </a:r>
            <a:endParaRPr sz="1550"/>
          </a:p>
        </p:txBody>
      </p:sp>
      <p:sp>
        <p:nvSpPr>
          <p:cNvPr id="31" name="Text 28">
            <a:extLst xmlns:a="http://schemas.openxmlformats.org/drawingml/2006/main">
              <a:ext uri="{FF2B5EF4-FFF2-40B4-BE49-F238E27FC236}">
                <a16:creationId xmlns:a16="http://schemas.microsoft.com/office/drawing/2014/main" id="{7E3422B8-636B-4806-A08A-A6CD16658C5D}"/>
              </a:ext>
            </a:extLst>
          </p:cNvPr>
          <p:cNvSpPr>
            <a:spLocks xmlns:a="http://schemas.openxmlformats.org/drawingml/2006/main" noGrp="1"/>
          </p:cNvSpPr>
          <p:nvPr/>
        </p:nvSpPr>
        <p:spPr>
          <a:xfrm xmlns:a="http://schemas.openxmlformats.org/drawingml/2006/main">
            <a:off x="3410712" y="4462272"/>
            <a:ext cx="3557016"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В пилоте: после получения нового курса ЦБ, если ансамбль дал сигнал и пройдены клиентские фильтры. Не автоматически в 18:00.</a:t>
            </a:r>
            <a:endParaRPr sz="1250"/>
          </a:p>
        </p:txBody>
      </p:sp>
      <p:sp>
        <p:nvSpPr>
          <p:cNvPr id="32" name="Shape 29">
            <a:extLst xmlns:a="http://schemas.openxmlformats.org/drawingml/2006/main">
              <a:ext uri="{FF2B5EF4-FFF2-40B4-BE49-F238E27FC236}">
                <a16:creationId xmlns:a16="http://schemas.microsoft.com/office/drawing/2014/main" id="{A63419D5-AC34-4DC1-BAF7-85E3E824D5E8}"/>
              </a:ext>
            </a:extLst>
          </p:cNvPr>
          <p:cNvSpPr>
            <a:spLocks xmlns:a="http://schemas.openxmlformats.org/drawingml/2006/main" noGrp="1"/>
          </p:cNvSpPr>
          <p:nvPr/>
        </p:nvSpPr>
        <p:spPr>
          <a:xfrm xmlns:a="http://schemas.openxmlformats.org/drawingml/2006/main">
            <a:off x="7452360" y="3749040"/>
            <a:ext cx="4069080" cy="1975104"/>
          </a:xfrm>
          <a:prstGeom xmlns:a="http://schemas.openxmlformats.org/drawingml/2006/main" prst="roundRect">
            <a:avLst>
              <a:gd name="adj" fmla="val 2778"/>
            </a:avLst>
          </a:prstGeom>
          <a:solidFill xmlns:a="http://schemas.openxmlformats.org/drawingml/2006/main">
            <a:srgbClr val="F4F6F8"/>
          </a:solidFill>
        </p:spPr>
      </p:sp>
      <p:sp>
        <p:nvSpPr>
          <p:cNvPr id="33" name="Text 30">
            <a:extLst xmlns:a="http://schemas.openxmlformats.org/drawingml/2006/main">
              <a:ext uri="{FF2B5EF4-FFF2-40B4-BE49-F238E27FC236}">
                <a16:creationId xmlns:a16="http://schemas.microsoft.com/office/drawing/2014/main" id="{8C348B7D-6759-47C4-BD9A-72A1C93232A5}"/>
              </a:ext>
            </a:extLst>
          </p:cNvPr>
          <p:cNvSpPr>
            <a:spLocks xmlns:a="http://schemas.openxmlformats.org/drawingml/2006/main" noGrp="1"/>
          </p:cNvSpPr>
          <p:nvPr/>
        </p:nvSpPr>
        <p:spPr>
          <a:xfrm xmlns:a="http://schemas.openxmlformats.org/drawingml/2006/main">
            <a:off x="7708392" y="3931920"/>
            <a:ext cx="35570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Температура остаётся внутри</a:t>
            </a:r>
            <a:endParaRPr sz="1550"/>
          </a:p>
        </p:txBody>
      </p:sp>
      <p:sp>
        <p:nvSpPr>
          <p:cNvPr id="34" name="Text 31">
            <a:extLst xmlns:a="http://schemas.openxmlformats.org/drawingml/2006/main">
              <a:ext uri="{FF2B5EF4-FFF2-40B4-BE49-F238E27FC236}">
                <a16:creationId xmlns:a16="http://schemas.microsoft.com/office/drawing/2014/main" id="{42496937-F7BF-4181-868B-8562636B1937}"/>
              </a:ext>
            </a:extLst>
          </p:cNvPr>
          <p:cNvSpPr>
            <a:spLocks xmlns:a="http://schemas.openxmlformats.org/drawingml/2006/main" noGrp="1"/>
          </p:cNvSpPr>
          <p:nvPr/>
        </p:nvSpPr>
        <p:spPr>
          <a:xfrm xmlns:a="http://schemas.openxmlformats.org/drawingml/2006/main">
            <a:off x="7708392" y="4462272"/>
            <a:ext cx="3557016"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Пользователь видит сумму, дату и факт о прошлом. Не показываем ему «80 % шанса» или утверждение «курс вырастет».</a:t>
            </a:r>
            <a:endParaRPr sz="1250"/>
          </a:p>
        </p:txBody>
      </p:sp>
      <p:sp>
        <p:nvSpPr>
          <p:cNvPr id="35" name="Text 32">
            <a:extLst xmlns:a="http://schemas.openxmlformats.org/drawingml/2006/main">
              <a:ext uri="{FF2B5EF4-FFF2-40B4-BE49-F238E27FC236}">
                <a16:creationId xmlns:a16="http://schemas.microsoft.com/office/drawing/2014/main" id="{220E2BED-E2D1-4E18-83D1-4FFB1368917B}"/>
              </a:ext>
            </a:extLst>
          </p:cNvPr>
          <p:cNvSpPr>
            <a:spLocks xmlns:a="http://schemas.openxmlformats.org/drawingml/2006/main" noGrp="1"/>
          </p:cNvSpPr>
          <p:nvPr/>
        </p:nvSpPr>
        <p:spPr>
          <a:xfrm xmlns:a="http://schemas.openxmlformats.org/drawingml/2006/main">
            <a:off x="640080" y="6309360"/>
            <a:ext cx="10881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6E7A88"/>
                </a:solidFill>
                <a:latin typeface="Calibri"/>
                <a:ea typeface="Calibri"/>
                <a:cs typeface="Calibri"/>
              </a:rPr>
              <a:t>Макет команды сохранён. Числа в экранах иллюстративные, по ЦБ, а не реальная банковская котировка.</a:t>
            </a:r>
            <a:endParaRPr sz="1050"/>
          </a:p>
        </p:txBody>
      </p:sp>
      <p:sp>
        <p:nvSpPr>
          <p:cNvPr id="37" name="">
            <a:extLst xmlns:a="http://schemas.openxmlformats.org/drawingml/2006/main">
              <a:ext uri="{FF2B5EF4-FFF2-40B4-BE49-F238E27FC236}">
                <a16:creationId xmlns:a16="http://schemas.microsoft.com/office/drawing/2014/main" id="{E95F3941-2D9C-4F38-97A0-76D426900741}"/>
              </a:ext>
            </a:extLst>
          </p:cNvPr>
          <p:cNvSpPr>
            <a:spLocks xmlns:a="http://schemas.openxmlformats.org/drawingml/2006/main" noGrp="1"/>
          </p:cNvSpPr>
          <p:nvPr/>
        </p:nvSpPr>
        <p:spPr>
          <a:xfrm xmlns:a="http://schemas.openxmlformats.org/drawingml/2006/main">
            <a:off x="967435" y="3657600"/>
            <a:ext cx="1522476" cy="315468"/>
          </a:xfrm>
          <a:prstGeom xmlns:a="http://schemas.openxmlformats.org/drawingml/2006/main" prst="rect">
            <a:avLst/>
          </a:prstGeom>
          <a:solidFill xmlns:a="http://schemas.openxmlformats.org/drawingml/2006/main">
            <a:srgbClr val="F2F2F2"/>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DAC4A3BD-B870-4666-935B-D7079AB3E864}"/>
              </a:ext>
            </a:extLst>
          </p:cNvPr>
          <p:cNvSpPr>
            <a:spLocks xmlns:a="http://schemas.openxmlformats.org/drawingml/2006/main" noGrp="1"/>
          </p:cNvSpPr>
          <p:nvPr/>
        </p:nvSpPr>
        <p:spPr>
          <a:xfrm xmlns:a="http://schemas.openxmlformats.org/drawingml/2006/main">
            <a:off x="981151" y="3664915"/>
            <a:ext cx="1495044" cy="3008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40">
                <a:solidFill>
                  <a:srgbClr val="30353B"/>
                </a:solidFill>
                <a:latin typeface="Calibri"/>
                <a:ea typeface="Calibri"/>
                <a:cs typeface="Calibri"/>
              </a:defRPr>
            </a:pPr>
            <a:r>
              <a:rPr sz="540">
                <a:solidFill>
                  <a:srgbClr val="30353B"/>
                </a:solidFill>
                <a:latin typeface="Calibri"/>
                <a:ea typeface="Calibri"/>
                <a:cs typeface="Calibri"/>
              </a:rPr>
              <a:t>За 30 000 ₽ — 3 198 сомони.</a:t>
            </a:r>
          </a:p>
          <a:p xmlns:a="http://schemas.openxmlformats.org/drawingml/2006/main">
            <a:pPr>
              <a:defRPr sz="540">
                <a:solidFill>
                  <a:srgbClr val="30353B"/>
                </a:solidFill>
                <a:latin typeface="Calibri"/>
                <a:ea typeface="Calibri"/>
                <a:cs typeface="Calibri"/>
              </a:defRPr>
            </a:pPr>
            <a:r>
              <a:rPr sz="540">
                <a:solidFill>
                  <a:srgbClr val="30353B"/>
                </a:solidFill>
                <a:latin typeface="Calibri"/>
                <a:ea typeface="Calibri"/>
                <a:cs typeface="Calibri"/>
              </a:rPr>
              <a:t>Лучше было 8 дней из 90.</a:t>
            </a:r>
          </a:p>
          <a:p xmlns:a="http://schemas.openxmlformats.org/drawingml/2006/main">
            <a:pPr>
              <a:defRPr sz="540">
                <a:solidFill>
                  <a:srgbClr val="30353B"/>
                </a:solidFill>
                <a:latin typeface="Calibri"/>
                <a:ea typeface="Calibri"/>
                <a:cs typeface="Calibri"/>
              </a:defRPr>
            </a:pPr>
            <a:r>
              <a:rPr sz="540">
                <a:solidFill>
                  <a:srgbClr val="30353B"/>
                </a:solidFill>
                <a:latin typeface="Calibri"/>
                <a:ea typeface="Calibri"/>
                <a:cs typeface="Calibri"/>
              </a:rPr>
              <a:t>Курс ЦБ на 4 сентября.</a:t>
            </a:r>
          </a:p>
        </p:txBody>
      </p:sp>
    </p:spTree>
    <p:extLst>
      <p:ext uri="{BB962C8B-B14F-4D97-AF65-F5344CB8AC3E}">
        <p14:creationId xmlns:p14="http://schemas.microsoft.com/office/powerpoint/2010/main" val="17618332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5A15F08-E8F8-48DD-89D6-4579D99C590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C1082C6A-F055-48B8-81AD-BAB0D010C1FC}"/>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4</a:t>
            </a:r>
            <a:endParaRPr sz="1400"/>
          </a:p>
        </p:txBody>
      </p:sp>
      <p:sp>
        <p:nvSpPr>
          <p:cNvPr id="4" name="Text 2">
            <a:extLst xmlns:a="http://schemas.openxmlformats.org/drawingml/2006/main">
              <a:ext uri="{FF2B5EF4-FFF2-40B4-BE49-F238E27FC236}">
                <a16:creationId xmlns:a16="http://schemas.microsoft.com/office/drawing/2014/main" id="{7FC64BAD-9169-4A5E-94EA-F2B8DB5D0F0A}"/>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Экран перевода: клиент попадает не на главную</a:t>
            </a:r>
            <a:endParaRPr sz="2700"/>
          </a:p>
        </p:txBody>
      </p:sp>
      <p:sp>
        <p:nvSpPr>
          <p:cNvPr id="5" name="Shape 3">
            <a:extLst xmlns:a="http://schemas.openxmlformats.org/drawingml/2006/main">
              <a:ext uri="{FF2B5EF4-FFF2-40B4-BE49-F238E27FC236}">
                <a16:creationId xmlns:a16="http://schemas.microsoft.com/office/drawing/2014/main" id="{911A5D72-9597-4A20-9360-8B06AAF60608}"/>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6" name="Text 4">
            <a:extLst xmlns:a="http://schemas.openxmlformats.org/drawingml/2006/main">
              <a:ext uri="{FF2B5EF4-FFF2-40B4-BE49-F238E27FC236}">
                <a16:creationId xmlns:a16="http://schemas.microsoft.com/office/drawing/2014/main" id="{70E705AB-4083-4081-A159-5FC087761CCD}"/>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7" name="Text 5">
            <a:extLst xmlns:a="http://schemas.openxmlformats.org/drawingml/2006/main">
              <a:ext uri="{FF2B5EF4-FFF2-40B4-BE49-F238E27FC236}">
                <a16:creationId xmlns:a16="http://schemas.microsoft.com/office/drawing/2014/main" id="{14322CF3-9666-42A1-A2A7-5545E7976386}"/>
              </a:ext>
            </a:extLst>
          </p:cNvPr>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8" name="Shape 6">
            <a:extLst xmlns:a="http://schemas.openxmlformats.org/drawingml/2006/main">
              <a:ext uri="{FF2B5EF4-FFF2-40B4-BE49-F238E27FC236}">
                <a16:creationId xmlns:a16="http://schemas.microsoft.com/office/drawing/2014/main" id="{F1A7361C-9910-4089-9840-32EE4B17E566}"/>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9" name="Text 7">
            <a:extLst xmlns:a="http://schemas.openxmlformats.org/drawingml/2006/main">
              <a:ext uri="{FF2B5EF4-FFF2-40B4-BE49-F238E27FC236}">
                <a16:creationId xmlns:a16="http://schemas.microsoft.com/office/drawing/2014/main" id="{18AA6613-2A8A-4E23-A03A-17D0CA54FCA0}"/>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10" name="Text 8">
            <a:extLst xmlns:a="http://schemas.openxmlformats.org/drawingml/2006/main">
              <a:ext uri="{FF2B5EF4-FFF2-40B4-BE49-F238E27FC236}">
                <a16:creationId xmlns:a16="http://schemas.microsoft.com/office/drawing/2014/main" id="{7ADD7DC2-3F57-465C-B142-2453BD203456}"/>
              </a:ext>
            </a:extLst>
          </p:cNvPr>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1" name="Shape 9">
            <a:extLst xmlns:a="http://schemas.openxmlformats.org/drawingml/2006/main">
              <a:ext uri="{FF2B5EF4-FFF2-40B4-BE49-F238E27FC236}">
                <a16:creationId xmlns:a16="http://schemas.microsoft.com/office/drawing/2014/main" id="{6292FB3E-19FD-4805-B32A-AE4E1981D347}"/>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2" name="Text 10">
            <a:extLst xmlns:a="http://schemas.openxmlformats.org/drawingml/2006/main">
              <a:ext uri="{FF2B5EF4-FFF2-40B4-BE49-F238E27FC236}">
                <a16:creationId xmlns:a16="http://schemas.microsoft.com/office/drawing/2014/main" id="{63CC1B90-6829-4677-AA81-6A13BFD56A61}"/>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3 · Пуш</a:t>
            </a:r>
            <a:endParaRPr sz="1050"/>
          </a:p>
        </p:txBody>
      </p:sp>
      <p:sp>
        <p:nvSpPr>
          <p:cNvPr id="13" name="Text 11">
            <a:extLst xmlns:a="http://schemas.openxmlformats.org/drawingml/2006/main">
              <a:ext uri="{FF2B5EF4-FFF2-40B4-BE49-F238E27FC236}">
                <a16:creationId xmlns:a16="http://schemas.microsoft.com/office/drawing/2014/main" id="{C6404EF8-DD69-4201-9CA4-724ACBF41AC4}"/>
              </a:ext>
            </a:extLst>
          </p:cNvPr>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4" name="Shape 12">
            <a:extLst xmlns:a="http://schemas.openxmlformats.org/drawingml/2006/main">
              <a:ext uri="{FF2B5EF4-FFF2-40B4-BE49-F238E27FC236}">
                <a16:creationId xmlns:a16="http://schemas.microsoft.com/office/drawing/2014/main" id="{308D51B1-5887-4FA7-8E3F-573DE21C5E9D}"/>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15" name="Text 13">
            <a:extLst xmlns:a="http://schemas.openxmlformats.org/drawingml/2006/main">
              <a:ext uri="{FF2B5EF4-FFF2-40B4-BE49-F238E27FC236}">
                <a16:creationId xmlns:a16="http://schemas.microsoft.com/office/drawing/2014/main" id="{FF97F35A-F6E3-424F-968F-D42859193FCB}"/>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4 · Экран перевода</a:t>
            </a:r>
            <a:endParaRPr sz="1050"/>
          </a:p>
        </p:txBody>
      </p:sp>
      <p:sp>
        <p:nvSpPr>
          <p:cNvPr id="16" name="Text 14">
            <a:extLst xmlns:a="http://schemas.openxmlformats.org/drawingml/2006/main">
              <a:ext uri="{FF2B5EF4-FFF2-40B4-BE49-F238E27FC236}">
                <a16:creationId xmlns:a16="http://schemas.microsoft.com/office/drawing/2014/main" id="{8F508D65-8B7D-4A06-B1DD-F0544ADAF278}"/>
              </a:ext>
            </a:extLst>
          </p:cNvPr>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7" name="Shape 15">
            <a:extLst xmlns:a="http://schemas.openxmlformats.org/drawingml/2006/main">
              <a:ext uri="{FF2B5EF4-FFF2-40B4-BE49-F238E27FC236}">
                <a16:creationId xmlns:a16="http://schemas.microsoft.com/office/drawing/2014/main" id="{070B02A0-6C10-4AD1-95CF-2236051B240C}"/>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8" name="Text 16">
            <a:extLst xmlns:a="http://schemas.openxmlformats.org/drawingml/2006/main">
              <a:ext uri="{FF2B5EF4-FFF2-40B4-BE49-F238E27FC236}">
                <a16:creationId xmlns:a16="http://schemas.microsoft.com/office/drawing/2014/main" id="{EBA6F98A-EC33-479F-ADCF-2D739A4962F2}"/>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5 · Решение</a:t>
            </a:r>
            <a:endParaRPr sz="1050"/>
          </a:p>
        </p:txBody>
      </p:sp>
      <p:sp>
        <p:nvSpPr>
          <p:cNvPr id="19" name="Text 17">
            <a:extLst xmlns:a="http://schemas.openxmlformats.org/drawingml/2006/main">
              <a:ext uri="{FF2B5EF4-FFF2-40B4-BE49-F238E27FC236}">
                <a16:creationId xmlns:a16="http://schemas.microsoft.com/office/drawing/2014/main" id="{31A91FAE-12D4-4BF4-A9D0-12AE7E560A2D}"/>
              </a:ext>
            </a:extLst>
          </p:cNvPr>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0" name="Shape 18">
            <a:extLst xmlns:a="http://schemas.openxmlformats.org/drawingml/2006/main">
              <a:ext uri="{FF2B5EF4-FFF2-40B4-BE49-F238E27FC236}">
                <a16:creationId xmlns:a16="http://schemas.microsoft.com/office/drawing/2014/main" id="{BCA7D52D-8138-4E8E-8764-6F8C7C9C6129}"/>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21" name="Text 19">
            <a:extLst xmlns:a="http://schemas.openxmlformats.org/drawingml/2006/main">
              <a:ext uri="{FF2B5EF4-FFF2-40B4-BE49-F238E27FC236}">
                <a16:creationId xmlns:a16="http://schemas.microsoft.com/office/drawing/2014/main" id="{E71DBD3A-9971-4C6C-AE70-CAE9CA555BAD}"/>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pic>
        <p:nvPicPr>
          <p:cNvPr id="53" name="Image 0"/>
          <p:cNvPicPr>
            <a:picLocks xmlns:a="http://schemas.openxmlformats.org/drawingml/2006/main" noChangeAspect="1"/>
          </p:cNvPicPr>
          <p:nvPr/>
        </p:nvPicPr>
        <p:blipFill>
          <a:blip xmlns:r="http://schemas.openxmlformats.org/officeDocument/2006/relationships" xmlns:a="http://schemas.openxmlformats.org/drawingml/2006/main" r:embed="R83d875fe698943fb"/>
          <a:stretch xmlns:a="http://schemas.openxmlformats.org/drawingml/2006/main">
            <a:fillRect l="0" t="0" r="0" b="0"/>
          </a:stretch>
        </p:blipFill>
        <p:spPr>
          <a:xfrm xmlns:a="http://schemas.openxmlformats.org/drawingml/2006/main">
            <a:off x="640080" y="1627632"/>
            <a:ext cx="2194560" cy="4081882"/>
          </a:xfrm>
          <a:prstGeom xmlns:a="http://schemas.openxmlformats.org/drawingml/2006/main" prst="rect">
            <a:avLst/>
          </a:prstGeom>
        </p:spPr>
      </p:pic>
      <p:sp>
        <p:nvSpPr>
          <p:cNvPr id="23" name="Shape 20">
            <a:extLst xmlns:a="http://schemas.openxmlformats.org/drawingml/2006/main">
              <a:ext uri="{FF2B5EF4-FFF2-40B4-BE49-F238E27FC236}">
                <a16:creationId xmlns:a16="http://schemas.microsoft.com/office/drawing/2014/main" id="{10B8DAEA-2839-422F-9484-EA829FCCDF26}"/>
              </a:ext>
            </a:extLst>
          </p:cNvPr>
          <p:cNvSpPr>
            <a:spLocks xmlns:a="http://schemas.openxmlformats.org/drawingml/2006/main" noGrp="1"/>
          </p:cNvSpPr>
          <p:nvPr/>
        </p:nvSpPr>
        <p:spPr>
          <a:xfrm xmlns:a="http://schemas.openxmlformats.org/drawingml/2006/main">
            <a:off x="3154680" y="1627632"/>
            <a:ext cx="8366760" cy="1426464"/>
          </a:xfrm>
          <a:prstGeom xmlns:a="http://schemas.openxmlformats.org/drawingml/2006/main" prst="roundRect">
            <a:avLst>
              <a:gd name="adj" fmla="val 3846"/>
            </a:avLst>
          </a:prstGeom>
          <a:solidFill xmlns:a="http://schemas.openxmlformats.org/drawingml/2006/main">
            <a:srgbClr val="F4F6F8"/>
          </a:solidFill>
        </p:spPr>
      </p:sp>
      <p:sp>
        <p:nvSpPr>
          <p:cNvPr id="24" name="Text 21">
            <a:extLst xmlns:a="http://schemas.openxmlformats.org/drawingml/2006/main">
              <a:ext uri="{FF2B5EF4-FFF2-40B4-BE49-F238E27FC236}">
                <a16:creationId xmlns:a16="http://schemas.microsoft.com/office/drawing/2014/main" id="{5BAC0EA5-20E4-4052-9C9A-A84ED280589F}"/>
              </a:ext>
            </a:extLst>
          </p:cNvPr>
          <p:cNvSpPr>
            <a:spLocks xmlns:a="http://schemas.openxmlformats.org/drawingml/2006/main" noGrp="1"/>
          </p:cNvSpPr>
          <p:nvPr/>
        </p:nvSpPr>
        <p:spPr>
          <a:xfrm xmlns:a="http://schemas.openxmlformats.org/drawingml/2006/main">
            <a:off x="3410712" y="1810512"/>
            <a:ext cx="78546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Предзаполнение вместо ввода с нуля</a:t>
            </a:r>
            <a:endParaRPr sz="1550"/>
          </a:p>
        </p:txBody>
      </p:sp>
      <p:sp>
        <p:nvSpPr>
          <p:cNvPr id="25" name="Text 22">
            <a:extLst xmlns:a="http://schemas.openxmlformats.org/drawingml/2006/main">
              <a:ext uri="{FF2B5EF4-FFF2-40B4-BE49-F238E27FC236}">
                <a16:creationId xmlns:a16="http://schemas.microsoft.com/office/drawing/2014/main" id="{18027016-AB78-49F7-9EA1-80B53149C97A}"/>
              </a:ext>
            </a:extLst>
          </p:cNvPr>
          <p:cNvSpPr>
            <a:spLocks xmlns:a="http://schemas.openxmlformats.org/drawingml/2006/main" noGrp="1"/>
          </p:cNvSpPr>
          <p:nvPr/>
        </p:nvSpPr>
        <p:spPr>
          <a:xfrm xmlns:a="http://schemas.openxmlformats.org/drawingml/2006/main">
            <a:off x="3410712" y="2340864"/>
            <a:ext cx="7854696"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Тап открывает перевод по тому коридору, о котором был пуш. Получатель и сумма – из последнего перевода. Клиент меняет, но не набирает заново.</a:t>
            </a:r>
            <a:endParaRPr sz="1250"/>
          </a:p>
        </p:txBody>
      </p:sp>
      <p:sp>
        <p:nvSpPr>
          <p:cNvPr id="26" name="Shape 23">
            <a:extLst xmlns:a="http://schemas.openxmlformats.org/drawingml/2006/main">
              <a:ext uri="{FF2B5EF4-FFF2-40B4-BE49-F238E27FC236}">
                <a16:creationId xmlns:a16="http://schemas.microsoft.com/office/drawing/2014/main" id="{2B9CCFA5-AFAE-47E6-BE00-19B3EC4891FE}"/>
              </a:ext>
            </a:extLst>
          </p:cNvPr>
          <p:cNvSpPr>
            <a:spLocks xmlns:a="http://schemas.openxmlformats.org/drawingml/2006/main" noGrp="1"/>
          </p:cNvSpPr>
          <p:nvPr/>
        </p:nvSpPr>
        <p:spPr>
          <a:xfrm xmlns:a="http://schemas.openxmlformats.org/drawingml/2006/main">
            <a:off x="3154680" y="3200400"/>
            <a:ext cx="8366760" cy="1481328"/>
          </a:xfrm>
          <a:prstGeom xmlns:a="http://schemas.openxmlformats.org/drawingml/2006/main" prst="roundRect">
            <a:avLst>
              <a:gd name="adj" fmla="val 3704"/>
            </a:avLst>
          </a:prstGeom>
          <a:solidFill xmlns:a="http://schemas.openxmlformats.org/drawingml/2006/main">
            <a:srgbClr val="F4F6F8"/>
          </a:solidFill>
        </p:spPr>
      </p:sp>
      <p:sp>
        <p:nvSpPr>
          <p:cNvPr id="27" name="Text 24">
            <a:extLst xmlns:a="http://schemas.openxmlformats.org/drawingml/2006/main">
              <a:ext uri="{FF2B5EF4-FFF2-40B4-BE49-F238E27FC236}">
                <a16:creationId xmlns:a16="http://schemas.microsoft.com/office/drawing/2014/main" id="{84278DF3-188A-4CA0-AD80-933EDAE3F978}"/>
              </a:ext>
            </a:extLst>
          </p:cNvPr>
          <p:cNvSpPr>
            <a:spLocks xmlns:a="http://schemas.openxmlformats.org/drawingml/2006/main" noGrp="1"/>
          </p:cNvSpPr>
          <p:nvPr/>
        </p:nvSpPr>
        <p:spPr>
          <a:xfrm xmlns:a="http://schemas.openxmlformats.org/drawingml/2006/main">
            <a:off x="3410712" y="3383280"/>
            <a:ext cx="78546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Число пересчитывается при открытии</a:t>
            </a:r>
            <a:endParaRPr sz="1550"/>
          </a:p>
        </p:txBody>
      </p:sp>
      <p:sp>
        <p:nvSpPr>
          <p:cNvPr id="28" name="Text 25">
            <a:extLst xmlns:a="http://schemas.openxmlformats.org/drawingml/2006/main">
              <a:ext uri="{FF2B5EF4-FFF2-40B4-BE49-F238E27FC236}">
                <a16:creationId xmlns:a16="http://schemas.microsoft.com/office/drawing/2014/main" id="{E7ACF19D-FCAE-4BF7-ADB1-64814B63CBBB}"/>
              </a:ext>
            </a:extLst>
          </p:cNvPr>
          <p:cNvSpPr>
            <a:spLocks xmlns:a="http://schemas.openxmlformats.org/drawingml/2006/main" noGrp="1"/>
          </p:cNvSpPr>
          <p:nvPr/>
        </p:nvSpPr>
        <p:spPr>
          <a:xfrm xmlns:a="http://schemas.openxmlformats.org/drawingml/2006/main">
            <a:off x="3410712" y="3913632"/>
            <a:ext cx="785469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При открытии заново получаем котировку банка и внутреннюю оценку момента. Сохраняем контекст пуша, но показываем актуальные условия.</a:t>
            </a:r>
            <a:endParaRPr sz="1250"/>
          </a:p>
        </p:txBody>
      </p:sp>
      <p:sp>
        <p:nvSpPr>
          <p:cNvPr id="29" name="Shape 26">
            <a:extLst xmlns:a="http://schemas.openxmlformats.org/drawingml/2006/main">
              <a:ext uri="{FF2B5EF4-FFF2-40B4-BE49-F238E27FC236}">
                <a16:creationId xmlns:a16="http://schemas.microsoft.com/office/drawing/2014/main" id="{108BD1BE-3E2B-4323-AFB7-B9BDA8EC7704}"/>
              </a:ext>
            </a:extLst>
          </p:cNvPr>
          <p:cNvSpPr>
            <a:spLocks xmlns:a="http://schemas.openxmlformats.org/drawingml/2006/main" noGrp="1"/>
          </p:cNvSpPr>
          <p:nvPr/>
        </p:nvSpPr>
        <p:spPr>
          <a:xfrm xmlns:a="http://schemas.openxmlformats.org/drawingml/2006/main">
            <a:off x="3154680" y="4828032"/>
            <a:ext cx="8366760" cy="1426464"/>
          </a:xfrm>
          <a:prstGeom xmlns:a="http://schemas.openxmlformats.org/drawingml/2006/main" prst="roundRect">
            <a:avLst>
              <a:gd name="adj" fmla="val 3846"/>
            </a:avLst>
          </a:prstGeom>
          <a:solidFill xmlns:a="http://schemas.openxmlformats.org/drawingml/2006/main">
            <a:srgbClr val="F4F6F8"/>
          </a:solidFill>
        </p:spPr>
      </p:sp>
      <p:sp>
        <p:nvSpPr>
          <p:cNvPr id="30" name="Text 27">
            <a:extLst xmlns:a="http://schemas.openxmlformats.org/drawingml/2006/main">
              <a:ext uri="{FF2B5EF4-FFF2-40B4-BE49-F238E27FC236}">
                <a16:creationId xmlns:a16="http://schemas.microsoft.com/office/drawing/2014/main" id="{9E9CC4B5-E8CE-40FA-AC17-54618F8F7CBF}"/>
              </a:ext>
            </a:extLst>
          </p:cNvPr>
          <p:cNvSpPr>
            <a:spLocks xmlns:a="http://schemas.openxmlformats.org/drawingml/2006/main" noGrp="1"/>
          </p:cNvSpPr>
          <p:nvPr/>
        </p:nvSpPr>
        <p:spPr>
          <a:xfrm xmlns:a="http://schemas.openxmlformats.org/drawingml/2006/main">
            <a:off x="3410712" y="5010912"/>
            <a:ext cx="78546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E3226"/>
                </a:solidFill>
                <a:latin typeface="Cambria"/>
                <a:ea typeface="Cambria"/>
                <a:cs typeface="Cambria"/>
              </a:rPr>
              <a:t>Курс приложения не равен курсу ЦБ</a:t>
            </a:r>
            <a:endParaRPr sz="1550"/>
          </a:p>
        </p:txBody>
      </p:sp>
      <p:sp>
        <p:nvSpPr>
          <p:cNvPr id="31" name="Text 28">
            <a:extLst xmlns:a="http://schemas.openxmlformats.org/drawingml/2006/main">
              <a:ext uri="{FF2B5EF4-FFF2-40B4-BE49-F238E27FC236}">
                <a16:creationId xmlns:a16="http://schemas.microsoft.com/office/drawing/2014/main" id="{586CCB23-A096-439B-9C41-E76F8A2495E9}"/>
              </a:ext>
            </a:extLst>
          </p:cNvPr>
          <p:cNvSpPr>
            <a:spLocks xmlns:a="http://schemas.openxmlformats.org/drawingml/2006/main" noGrp="1"/>
          </p:cNvSpPr>
          <p:nvPr/>
        </p:nvSpPr>
        <p:spPr>
          <a:xfrm xmlns:a="http://schemas.openxmlformats.org/drawingml/2006/main">
            <a:off x="3410712" y="5541264"/>
            <a:ext cx="7854696"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Бэктест выполнен по ЦБ. Суммы в макете примерные. Перед подтверждением клиент должен увидеть реальный курс, комиссию и итоговую сумму.</a:t>
            </a:r>
            <a:endParaRPr sz="1250"/>
          </a:p>
        </p:txBody>
      </p:sp>
    </p:spTree>
    <p:extLst>
      <p:ext uri="{BB962C8B-B14F-4D97-AF65-F5344CB8AC3E}">
        <p14:creationId xmlns:p14="http://schemas.microsoft.com/office/powerpoint/2010/main" val="5766421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7807FB7-A06A-45C8-B3A9-4F73E9AA54AD}"/>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277B063F-DCA5-44E1-A8FC-D5E8B3D2D034}"/>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5</a:t>
            </a:r>
            <a:endParaRPr sz="1400"/>
          </a:p>
        </p:txBody>
      </p:sp>
      <p:sp>
        <p:nvSpPr>
          <p:cNvPr id="4" name="Text 2">
            <a:extLst xmlns:a="http://schemas.openxmlformats.org/drawingml/2006/main">
              <a:ext uri="{FF2B5EF4-FFF2-40B4-BE49-F238E27FC236}">
                <a16:creationId xmlns:a16="http://schemas.microsoft.com/office/drawing/2014/main" id="{C20E7D29-022D-46DB-A8FB-E303356BB369}"/>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Решение: «подождать» – не поражение продукта</a:t>
            </a:r>
            <a:endParaRPr sz="2700"/>
          </a:p>
        </p:txBody>
      </p:sp>
      <p:sp>
        <p:nvSpPr>
          <p:cNvPr id="5" name="Shape 3">
            <a:extLst xmlns:a="http://schemas.openxmlformats.org/drawingml/2006/main">
              <a:ext uri="{FF2B5EF4-FFF2-40B4-BE49-F238E27FC236}">
                <a16:creationId xmlns:a16="http://schemas.microsoft.com/office/drawing/2014/main" id="{7534F8D6-AFBF-441A-9D69-CF4C726C78CF}"/>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6" name="Text 4">
            <a:extLst xmlns:a="http://schemas.openxmlformats.org/drawingml/2006/main">
              <a:ext uri="{FF2B5EF4-FFF2-40B4-BE49-F238E27FC236}">
                <a16:creationId xmlns:a16="http://schemas.microsoft.com/office/drawing/2014/main" id="{78612E22-2533-4D1F-A373-39D93683A8DF}"/>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7" name="Text 5">
            <a:extLst xmlns:a="http://schemas.openxmlformats.org/drawingml/2006/main">
              <a:ext uri="{FF2B5EF4-FFF2-40B4-BE49-F238E27FC236}">
                <a16:creationId xmlns:a16="http://schemas.microsoft.com/office/drawing/2014/main" id="{64C4863B-9F66-442E-A6DF-4451AB53E4A4}"/>
              </a:ext>
            </a:extLst>
          </p:cNvPr>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8" name="Shape 6">
            <a:extLst xmlns:a="http://schemas.openxmlformats.org/drawingml/2006/main">
              <a:ext uri="{FF2B5EF4-FFF2-40B4-BE49-F238E27FC236}">
                <a16:creationId xmlns:a16="http://schemas.microsoft.com/office/drawing/2014/main" id="{3ECF2361-0FDF-4077-93DF-68E4C6101ED1}"/>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9" name="Text 7">
            <a:extLst xmlns:a="http://schemas.openxmlformats.org/drawingml/2006/main">
              <a:ext uri="{FF2B5EF4-FFF2-40B4-BE49-F238E27FC236}">
                <a16:creationId xmlns:a16="http://schemas.microsoft.com/office/drawing/2014/main" id="{67C2ED71-3EE9-4A8F-8700-FD7B1E45F3DF}"/>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10" name="Text 8">
            <a:extLst xmlns:a="http://schemas.openxmlformats.org/drawingml/2006/main">
              <a:ext uri="{FF2B5EF4-FFF2-40B4-BE49-F238E27FC236}">
                <a16:creationId xmlns:a16="http://schemas.microsoft.com/office/drawing/2014/main" id="{E37CA4E7-57FA-46D5-9678-71665416849E}"/>
              </a:ext>
            </a:extLst>
          </p:cNvPr>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1" name="Shape 9">
            <a:extLst xmlns:a="http://schemas.openxmlformats.org/drawingml/2006/main">
              <a:ext uri="{FF2B5EF4-FFF2-40B4-BE49-F238E27FC236}">
                <a16:creationId xmlns:a16="http://schemas.microsoft.com/office/drawing/2014/main" id="{46433BDB-4C2C-4C95-AE79-21D6309ECC5E}"/>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2" name="Text 10">
            <a:extLst xmlns:a="http://schemas.openxmlformats.org/drawingml/2006/main">
              <a:ext uri="{FF2B5EF4-FFF2-40B4-BE49-F238E27FC236}">
                <a16:creationId xmlns:a16="http://schemas.microsoft.com/office/drawing/2014/main" id="{BFCEDDF1-C91D-48E9-9B93-D767ACEC4B74}"/>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3 · Пуш</a:t>
            </a:r>
            <a:endParaRPr sz="1050"/>
          </a:p>
        </p:txBody>
      </p:sp>
      <p:sp>
        <p:nvSpPr>
          <p:cNvPr id="13" name="Text 11">
            <a:extLst xmlns:a="http://schemas.openxmlformats.org/drawingml/2006/main">
              <a:ext uri="{FF2B5EF4-FFF2-40B4-BE49-F238E27FC236}">
                <a16:creationId xmlns:a16="http://schemas.microsoft.com/office/drawing/2014/main" id="{CD9DF718-A097-4F27-8073-63075DE4490E}"/>
              </a:ext>
            </a:extLst>
          </p:cNvPr>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4" name="Shape 12">
            <a:extLst xmlns:a="http://schemas.openxmlformats.org/drawingml/2006/main">
              <a:ext uri="{FF2B5EF4-FFF2-40B4-BE49-F238E27FC236}">
                <a16:creationId xmlns:a16="http://schemas.microsoft.com/office/drawing/2014/main" id="{B8ED18C4-2E1E-4E63-B877-2E671B121CD7}"/>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5" name="Text 13">
            <a:extLst xmlns:a="http://schemas.openxmlformats.org/drawingml/2006/main">
              <a:ext uri="{FF2B5EF4-FFF2-40B4-BE49-F238E27FC236}">
                <a16:creationId xmlns:a16="http://schemas.microsoft.com/office/drawing/2014/main" id="{9FEF58D9-1732-4861-BF5F-F5CE61F3AB58}"/>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4 · Экран перевода</a:t>
            </a:r>
            <a:endParaRPr sz="1050"/>
          </a:p>
        </p:txBody>
      </p:sp>
      <p:sp>
        <p:nvSpPr>
          <p:cNvPr id="16" name="Text 14">
            <a:extLst xmlns:a="http://schemas.openxmlformats.org/drawingml/2006/main">
              <a:ext uri="{FF2B5EF4-FFF2-40B4-BE49-F238E27FC236}">
                <a16:creationId xmlns:a16="http://schemas.microsoft.com/office/drawing/2014/main" id="{066C6FE6-BA8A-4734-860B-DA1F38E3E269}"/>
              </a:ext>
            </a:extLst>
          </p:cNvPr>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7" name="Shape 15">
            <a:extLst xmlns:a="http://schemas.openxmlformats.org/drawingml/2006/main">
              <a:ext uri="{FF2B5EF4-FFF2-40B4-BE49-F238E27FC236}">
                <a16:creationId xmlns:a16="http://schemas.microsoft.com/office/drawing/2014/main" id="{DDF6FCBC-3F7E-414D-B5F4-2529FA116728}"/>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18" name="Text 16">
            <a:extLst xmlns:a="http://schemas.openxmlformats.org/drawingml/2006/main">
              <a:ext uri="{FF2B5EF4-FFF2-40B4-BE49-F238E27FC236}">
                <a16:creationId xmlns:a16="http://schemas.microsoft.com/office/drawing/2014/main" id="{765FA76D-156B-47B4-8BF8-949F970ADB27}"/>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5 · Решение</a:t>
            </a:r>
            <a:endParaRPr sz="1050"/>
          </a:p>
        </p:txBody>
      </p:sp>
      <p:sp>
        <p:nvSpPr>
          <p:cNvPr id="19" name="Text 17">
            <a:extLst xmlns:a="http://schemas.openxmlformats.org/drawingml/2006/main">
              <a:ext uri="{FF2B5EF4-FFF2-40B4-BE49-F238E27FC236}">
                <a16:creationId xmlns:a16="http://schemas.microsoft.com/office/drawing/2014/main" id="{FB93ABDB-058B-4E65-9D11-7EDA09EB8F44}"/>
              </a:ext>
            </a:extLst>
          </p:cNvPr>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0" name="Shape 18">
            <a:extLst xmlns:a="http://schemas.openxmlformats.org/drawingml/2006/main">
              <a:ext uri="{FF2B5EF4-FFF2-40B4-BE49-F238E27FC236}">
                <a16:creationId xmlns:a16="http://schemas.microsoft.com/office/drawing/2014/main" id="{31215D1A-2F8A-4753-A464-C8553D001F92}"/>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21" name="Text 19">
            <a:extLst xmlns:a="http://schemas.openxmlformats.org/drawingml/2006/main">
              <a:ext uri="{FF2B5EF4-FFF2-40B4-BE49-F238E27FC236}">
                <a16:creationId xmlns:a16="http://schemas.microsoft.com/office/drawing/2014/main" id="{DEFCAE3C-29D7-4DAF-BA64-DD9E40A8A421}"/>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pic>
        <p:nvPicPr>
          <p:cNvPr id="57" name="Image 0"/>
          <p:cNvPicPr>
            <a:picLocks xmlns:a="http://schemas.openxmlformats.org/drawingml/2006/main" noChangeAspect="1"/>
          </p:cNvPicPr>
          <p:nvPr/>
        </p:nvPicPr>
        <p:blipFill>
          <a:blip xmlns:r="http://schemas.openxmlformats.org/officeDocument/2006/relationships" xmlns:a="http://schemas.openxmlformats.org/drawingml/2006/main" r:embed="Rde3b4faa253043dc"/>
          <a:stretch xmlns:a="http://schemas.openxmlformats.org/drawingml/2006/main">
            <a:fillRect l="0" t="0" r="0" b="0"/>
          </a:stretch>
        </p:blipFill>
        <p:spPr>
          <a:xfrm xmlns:a="http://schemas.openxmlformats.org/drawingml/2006/main">
            <a:off x="640080" y="1627632"/>
            <a:ext cx="2194560" cy="4476902"/>
          </a:xfrm>
          <a:prstGeom xmlns:a="http://schemas.openxmlformats.org/drawingml/2006/main" prst="rect">
            <a:avLst/>
          </a:prstGeom>
        </p:spPr>
      </p:pic>
      <p:sp>
        <p:nvSpPr>
          <p:cNvPr id="23" name="Text 20">
            <a:extLst xmlns:a="http://schemas.openxmlformats.org/drawingml/2006/main">
              <a:ext uri="{FF2B5EF4-FFF2-40B4-BE49-F238E27FC236}">
                <a16:creationId xmlns:a16="http://schemas.microsoft.com/office/drawing/2014/main" id="{5275468E-1A2C-453C-A0AA-81BD3D4E4EFF}"/>
              </a:ext>
            </a:extLst>
          </p:cNvPr>
          <p:cNvSpPr>
            <a:spLocks xmlns:a="http://schemas.openxmlformats.org/drawingml/2006/main" noGrp="1"/>
          </p:cNvSpPr>
          <p:nvPr/>
        </p:nvSpPr>
        <p:spPr>
          <a:xfrm xmlns:a="http://schemas.openxmlformats.org/drawingml/2006/main">
            <a:off x="3154680" y="1627632"/>
            <a:ext cx="83667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350">
                <a:solidFill>
                  <a:srgbClr val="4E5966"/>
                </a:solidFill>
                <a:latin typeface="Calibri"/>
                <a:ea typeface="Calibri"/>
                <a:cs typeface="Calibri"/>
              </a:rPr>
              <a:t>Три равноправных исхода. Перевести, задать свой уровень или ничего не делать. Клиент сам принимает решение.</a:t>
            </a:r>
            <a:endParaRPr sz="1350"/>
          </a:p>
        </p:txBody>
      </p:sp>
      <p:sp>
        <p:nvSpPr>
          <p:cNvPr id="24" name="Shape 21">
            <a:extLst xmlns:a="http://schemas.openxmlformats.org/drawingml/2006/main">
              <a:ext uri="{FF2B5EF4-FFF2-40B4-BE49-F238E27FC236}">
                <a16:creationId xmlns:a16="http://schemas.microsoft.com/office/drawing/2014/main" id="{E04F7D8B-C867-46E5-8DAD-231D45116065}"/>
              </a:ext>
            </a:extLst>
          </p:cNvPr>
          <p:cNvSpPr>
            <a:spLocks xmlns:a="http://schemas.openxmlformats.org/drawingml/2006/main" noGrp="1"/>
          </p:cNvSpPr>
          <p:nvPr/>
        </p:nvSpPr>
        <p:spPr>
          <a:xfrm xmlns:a="http://schemas.openxmlformats.org/drawingml/2006/main">
            <a:off x="3154680" y="2103120"/>
            <a:ext cx="2651760" cy="1755648"/>
          </a:xfrm>
          <a:prstGeom xmlns:a="http://schemas.openxmlformats.org/drawingml/2006/main" prst="roundRect">
            <a:avLst>
              <a:gd name="adj" fmla="val 3125"/>
            </a:avLst>
          </a:prstGeom>
          <a:solidFill xmlns:a="http://schemas.openxmlformats.org/drawingml/2006/main">
            <a:srgbClr val="F4F6F8"/>
          </a:solidFill>
        </p:spPr>
      </p:sp>
      <p:sp>
        <p:nvSpPr>
          <p:cNvPr id="25" name="Text 22">
            <a:extLst xmlns:a="http://schemas.openxmlformats.org/drawingml/2006/main">
              <a:ext uri="{FF2B5EF4-FFF2-40B4-BE49-F238E27FC236}">
                <a16:creationId xmlns:a16="http://schemas.microsoft.com/office/drawing/2014/main" id="{4BFCCD79-3B6F-45B4-9B6B-9EE78BE01035}"/>
              </a:ext>
            </a:extLst>
          </p:cNvPr>
          <p:cNvSpPr>
            <a:spLocks xmlns:a="http://schemas.openxmlformats.org/drawingml/2006/main" noGrp="1"/>
          </p:cNvSpPr>
          <p:nvPr/>
        </p:nvSpPr>
        <p:spPr>
          <a:xfrm xmlns:a="http://schemas.openxmlformats.org/drawingml/2006/main">
            <a:off x="3410712" y="2286000"/>
            <a:ext cx="21396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Перевести сейчас</a:t>
            </a:r>
            <a:endParaRPr sz="1550"/>
          </a:p>
        </p:txBody>
      </p:sp>
      <p:sp>
        <p:nvSpPr>
          <p:cNvPr id="26" name="Text 23">
            <a:extLst xmlns:a="http://schemas.openxmlformats.org/drawingml/2006/main">
              <a:ext uri="{FF2B5EF4-FFF2-40B4-BE49-F238E27FC236}">
                <a16:creationId xmlns:a16="http://schemas.microsoft.com/office/drawing/2014/main" id="{2935DDDE-A07A-483A-B11D-C972DD3D3BB9}"/>
              </a:ext>
            </a:extLst>
          </p:cNvPr>
          <p:cNvSpPr>
            <a:spLocks xmlns:a="http://schemas.openxmlformats.org/drawingml/2006/main" noGrp="1"/>
          </p:cNvSpPr>
          <p:nvPr/>
        </p:nvSpPr>
        <p:spPr>
          <a:xfrm xmlns:a="http://schemas.openxmlformats.org/drawingml/2006/main">
            <a:off x="3410712" y="2816352"/>
            <a:ext cx="2139696"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Основной исход. Экран уже предзаполнен, решение одно и в один тап.</a:t>
            </a:r>
            <a:endParaRPr sz="1250"/>
          </a:p>
        </p:txBody>
      </p:sp>
      <p:sp>
        <p:nvSpPr>
          <p:cNvPr id="27" name="Shape 24">
            <a:extLst xmlns:a="http://schemas.openxmlformats.org/drawingml/2006/main">
              <a:ext uri="{FF2B5EF4-FFF2-40B4-BE49-F238E27FC236}">
                <a16:creationId xmlns:a16="http://schemas.microsoft.com/office/drawing/2014/main" id="{E096BD6F-1DA5-4E94-97A1-C5257FDB3C2A}"/>
              </a:ext>
            </a:extLst>
          </p:cNvPr>
          <p:cNvSpPr>
            <a:spLocks xmlns:a="http://schemas.openxmlformats.org/drawingml/2006/main" noGrp="1"/>
          </p:cNvSpPr>
          <p:nvPr/>
        </p:nvSpPr>
        <p:spPr>
          <a:xfrm xmlns:a="http://schemas.openxmlformats.org/drawingml/2006/main">
            <a:off x="6016752" y="2103120"/>
            <a:ext cx="2651760" cy="1755648"/>
          </a:xfrm>
          <a:prstGeom xmlns:a="http://schemas.openxmlformats.org/drawingml/2006/main" prst="roundRect">
            <a:avLst>
              <a:gd name="adj" fmla="val 3125"/>
            </a:avLst>
          </a:prstGeom>
          <a:solidFill xmlns:a="http://schemas.openxmlformats.org/drawingml/2006/main">
            <a:srgbClr val="F4F6F8"/>
          </a:solidFill>
        </p:spPr>
      </p:sp>
      <p:sp>
        <p:nvSpPr>
          <p:cNvPr id="28" name="Text 25">
            <a:extLst xmlns:a="http://schemas.openxmlformats.org/drawingml/2006/main">
              <a:ext uri="{FF2B5EF4-FFF2-40B4-BE49-F238E27FC236}">
                <a16:creationId xmlns:a16="http://schemas.microsoft.com/office/drawing/2014/main" id="{A4EFA652-FB3E-457A-8B28-470641908093}"/>
              </a:ext>
            </a:extLst>
          </p:cNvPr>
          <p:cNvSpPr>
            <a:spLocks xmlns:a="http://schemas.openxmlformats.org/drawingml/2006/main" noGrp="1"/>
          </p:cNvSpPr>
          <p:nvPr/>
        </p:nvSpPr>
        <p:spPr>
          <a:xfrm xmlns:a="http://schemas.openxmlformats.org/drawingml/2006/main">
            <a:off x="6272784" y="2286000"/>
            <a:ext cx="21396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Задать свой уровень</a:t>
            </a:r>
            <a:endParaRPr sz="1550"/>
          </a:p>
        </p:txBody>
      </p:sp>
      <p:sp>
        <p:nvSpPr>
          <p:cNvPr id="29" name="Text 26">
            <a:extLst xmlns:a="http://schemas.openxmlformats.org/drawingml/2006/main">
              <a:ext uri="{FF2B5EF4-FFF2-40B4-BE49-F238E27FC236}">
                <a16:creationId xmlns:a16="http://schemas.microsoft.com/office/drawing/2014/main" id="{4A2F2768-BA87-461F-AA76-A2EDAFE3AC50}"/>
              </a:ext>
            </a:extLst>
          </p:cNvPr>
          <p:cNvSpPr>
            <a:spLocks xmlns:a="http://schemas.openxmlformats.org/drawingml/2006/main" noGrp="1"/>
          </p:cNvSpPr>
          <p:nvPr/>
        </p:nvSpPr>
        <p:spPr>
          <a:xfrm xmlns:a="http://schemas.openxmlformats.org/drawingml/2006/main">
            <a:off x="6272784" y="2816352"/>
            <a:ext cx="2139696"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Кнопка равной величины рядом с переводом. Клиент называет сумму, при которой напишем.</a:t>
            </a:r>
            <a:endParaRPr sz="1250"/>
          </a:p>
        </p:txBody>
      </p:sp>
      <p:sp>
        <p:nvSpPr>
          <p:cNvPr id="30" name="Shape 27">
            <a:extLst xmlns:a="http://schemas.openxmlformats.org/drawingml/2006/main">
              <a:ext uri="{FF2B5EF4-FFF2-40B4-BE49-F238E27FC236}">
                <a16:creationId xmlns:a16="http://schemas.microsoft.com/office/drawing/2014/main" id="{D45D5074-B6DF-479E-96E6-D7804E2CF705}"/>
              </a:ext>
            </a:extLst>
          </p:cNvPr>
          <p:cNvSpPr>
            <a:spLocks xmlns:a="http://schemas.openxmlformats.org/drawingml/2006/main" noGrp="1"/>
          </p:cNvSpPr>
          <p:nvPr/>
        </p:nvSpPr>
        <p:spPr>
          <a:xfrm xmlns:a="http://schemas.openxmlformats.org/drawingml/2006/main">
            <a:off x="8869680" y="2103120"/>
            <a:ext cx="2651760" cy="1755648"/>
          </a:xfrm>
          <a:prstGeom xmlns:a="http://schemas.openxmlformats.org/drawingml/2006/main" prst="roundRect">
            <a:avLst>
              <a:gd name="adj" fmla="val 3125"/>
            </a:avLst>
          </a:prstGeom>
          <a:solidFill xmlns:a="http://schemas.openxmlformats.org/drawingml/2006/main">
            <a:srgbClr val="F4F6F8"/>
          </a:solidFill>
        </p:spPr>
      </p:sp>
      <p:sp>
        <p:nvSpPr>
          <p:cNvPr id="31" name="Text 28">
            <a:extLst xmlns:a="http://schemas.openxmlformats.org/drawingml/2006/main">
              <a:ext uri="{FF2B5EF4-FFF2-40B4-BE49-F238E27FC236}">
                <a16:creationId xmlns:a16="http://schemas.microsoft.com/office/drawing/2014/main" id="{ABAB3904-696E-42AC-A1D0-BC99177FBC48}"/>
              </a:ext>
            </a:extLst>
          </p:cNvPr>
          <p:cNvSpPr>
            <a:spLocks xmlns:a="http://schemas.openxmlformats.org/drawingml/2006/main" noGrp="1"/>
          </p:cNvSpPr>
          <p:nvPr/>
        </p:nvSpPr>
        <p:spPr>
          <a:xfrm xmlns:a="http://schemas.openxmlformats.org/drawingml/2006/main">
            <a:off x="9125712" y="2286000"/>
            <a:ext cx="21396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Ничего не делать</a:t>
            </a:r>
            <a:endParaRPr sz="1550"/>
          </a:p>
        </p:txBody>
      </p:sp>
      <p:sp>
        <p:nvSpPr>
          <p:cNvPr id="32" name="Text 29">
            <a:extLst xmlns:a="http://schemas.openxmlformats.org/drawingml/2006/main">
              <a:ext uri="{FF2B5EF4-FFF2-40B4-BE49-F238E27FC236}">
                <a16:creationId xmlns:a16="http://schemas.microsoft.com/office/drawing/2014/main" id="{FFB0F221-36CA-43C0-83D6-563ECB610B81}"/>
              </a:ext>
            </a:extLst>
          </p:cNvPr>
          <p:cNvSpPr>
            <a:spLocks xmlns:a="http://schemas.openxmlformats.org/drawingml/2006/main" noGrp="1"/>
          </p:cNvSpPr>
          <p:nvPr/>
        </p:nvSpPr>
        <p:spPr>
          <a:xfrm xmlns:a="http://schemas.openxmlformats.org/drawingml/2006/main">
            <a:off x="9125712" y="2816352"/>
            <a:ext cx="2139696"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Тоже нормально. Индикатор остаётся на экране и ничего не требует.</a:t>
            </a:r>
            <a:endParaRPr sz="1250"/>
          </a:p>
        </p:txBody>
      </p:sp>
      <p:sp>
        <p:nvSpPr>
          <p:cNvPr id="33" name="Shape 30">
            <a:extLst xmlns:a="http://schemas.openxmlformats.org/drawingml/2006/main">
              <a:ext uri="{FF2B5EF4-FFF2-40B4-BE49-F238E27FC236}">
                <a16:creationId xmlns:a16="http://schemas.microsoft.com/office/drawing/2014/main" id="{882261E7-2E14-4ABF-AD4B-1EE71B6F8133}"/>
              </a:ext>
            </a:extLst>
          </p:cNvPr>
          <p:cNvSpPr>
            <a:spLocks xmlns:a="http://schemas.openxmlformats.org/drawingml/2006/main" noGrp="1"/>
          </p:cNvSpPr>
          <p:nvPr/>
        </p:nvSpPr>
        <p:spPr>
          <a:xfrm xmlns:a="http://schemas.openxmlformats.org/drawingml/2006/main">
            <a:off x="3154680" y="4005072"/>
            <a:ext cx="8366760" cy="2084832"/>
          </a:xfrm>
          <a:prstGeom xmlns:a="http://schemas.openxmlformats.org/drawingml/2006/main" prst="roundRect">
            <a:avLst>
              <a:gd name="adj" fmla="val 2632"/>
            </a:avLst>
          </a:prstGeom>
          <a:solidFill xmlns:a="http://schemas.openxmlformats.org/drawingml/2006/main">
            <a:srgbClr val="1A2530"/>
          </a:solidFill>
        </p:spPr>
      </p:sp>
      <p:sp>
        <p:nvSpPr>
          <p:cNvPr id="34" name="Text 31">
            <a:extLst xmlns:a="http://schemas.openxmlformats.org/drawingml/2006/main">
              <a:ext uri="{FF2B5EF4-FFF2-40B4-BE49-F238E27FC236}">
                <a16:creationId xmlns:a16="http://schemas.microsoft.com/office/drawing/2014/main" id="{7C04477F-B7DF-4AE9-839C-65B287FC21C3}"/>
              </a:ext>
            </a:extLst>
          </p:cNvPr>
          <p:cNvSpPr>
            <a:spLocks xmlns:a="http://schemas.openxmlformats.org/drawingml/2006/main" noGrp="1"/>
          </p:cNvSpPr>
          <p:nvPr/>
        </p:nvSpPr>
        <p:spPr>
          <a:xfrm xmlns:a="http://schemas.openxmlformats.org/drawingml/2006/main">
            <a:off x="3429000" y="4160520"/>
            <a:ext cx="7818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Наша развилка: куда девать честное «сейчас как обычно»</a:t>
            </a:r>
            <a:endParaRPr sz="1550"/>
          </a:p>
        </p:txBody>
      </p:sp>
      <p:sp>
        <p:nvSpPr>
          <p:cNvPr id="35" name="Text 32">
            <a:extLst xmlns:a="http://schemas.openxmlformats.org/drawingml/2006/main">
              <a:ext uri="{FF2B5EF4-FFF2-40B4-BE49-F238E27FC236}">
                <a16:creationId xmlns:a16="http://schemas.microsoft.com/office/drawing/2014/main" id="{0FC79B6B-E257-4BC5-A5EB-E9CDD015E58A}"/>
              </a:ext>
            </a:extLst>
          </p:cNvPr>
          <p:cNvSpPr>
            <a:spLocks xmlns:a="http://schemas.openxmlformats.org/drawingml/2006/main" noGrp="1"/>
          </p:cNvSpPr>
          <p:nvPr/>
        </p:nvSpPr>
        <p:spPr>
          <a:xfrm xmlns:a="http://schemas.openxmlformats.org/drawingml/2006/main">
            <a:off x="3429000" y="4535424"/>
            <a:ext cx="7818120" cy="138988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Если клиенту не подходит сумма, он может задать свой уровень. Оповещение сохраняет его намерение без давления.</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Шкала на экране сравнивает текущую сумму с историей. Это не внутренняя температура модели и не обещание будущего.</a:t>
            </a:r>
            <a:endParaRPr sz="1250"/>
          </a:p>
        </p:txBody>
      </p:sp>
    </p:spTree>
    <p:extLst>
      <p:ext uri="{BB962C8B-B14F-4D97-AF65-F5344CB8AC3E}">
        <p14:creationId xmlns:p14="http://schemas.microsoft.com/office/powerpoint/2010/main" val="8747983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1D699EC-2C12-4BF8-881C-DFD539955F02}"/>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88BB933D-F5E7-4DB3-B391-1D28ADEA7402}"/>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6</a:t>
            </a:r>
            <a:endParaRPr sz="1400"/>
          </a:p>
        </p:txBody>
      </p:sp>
      <p:sp>
        <p:nvSpPr>
          <p:cNvPr id="4" name="Text 2">
            <a:extLst xmlns:a="http://schemas.openxmlformats.org/drawingml/2006/main">
              <a:ext uri="{FF2B5EF4-FFF2-40B4-BE49-F238E27FC236}">
                <a16:creationId xmlns:a16="http://schemas.microsoft.com/office/drawing/2014/main" id="{FB01EAB3-F3DD-4BA0-8498-514D0A57135D}"/>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Удержание и ветка тишины</a:t>
            </a:r>
            <a:endParaRPr sz="2700"/>
          </a:p>
        </p:txBody>
      </p:sp>
      <p:sp>
        <p:nvSpPr>
          <p:cNvPr id="5" name="Shape 3">
            <a:extLst xmlns:a="http://schemas.openxmlformats.org/drawingml/2006/main">
              <a:ext uri="{FF2B5EF4-FFF2-40B4-BE49-F238E27FC236}">
                <a16:creationId xmlns:a16="http://schemas.microsoft.com/office/drawing/2014/main" id="{F6DA6B23-5DDD-446C-BB63-79878AE286A0}"/>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6" name="Text 4">
            <a:extLst xmlns:a="http://schemas.openxmlformats.org/drawingml/2006/main">
              <a:ext uri="{FF2B5EF4-FFF2-40B4-BE49-F238E27FC236}">
                <a16:creationId xmlns:a16="http://schemas.microsoft.com/office/drawing/2014/main" id="{4CBF41F0-2CEE-4FBC-82E5-E1485CDFF937}"/>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7" name="Text 5">
            <a:extLst xmlns:a="http://schemas.openxmlformats.org/drawingml/2006/main">
              <a:ext uri="{FF2B5EF4-FFF2-40B4-BE49-F238E27FC236}">
                <a16:creationId xmlns:a16="http://schemas.microsoft.com/office/drawing/2014/main" id="{6910A42E-A9FB-4B61-A8DE-5A1EE9482BB6}"/>
              </a:ext>
            </a:extLst>
          </p:cNvPr>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8" name="Shape 6">
            <a:extLst xmlns:a="http://schemas.openxmlformats.org/drawingml/2006/main">
              <a:ext uri="{FF2B5EF4-FFF2-40B4-BE49-F238E27FC236}">
                <a16:creationId xmlns:a16="http://schemas.microsoft.com/office/drawing/2014/main" id="{B167A787-1CC8-4DD5-B524-A3F92CDE6A59}"/>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9" name="Text 7">
            <a:extLst xmlns:a="http://schemas.openxmlformats.org/drawingml/2006/main">
              <a:ext uri="{FF2B5EF4-FFF2-40B4-BE49-F238E27FC236}">
                <a16:creationId xmlns:a16="http://schemas.microsoft.com/office/drawing/2014/main" id="{D9BAE259-32CC-42CE-AD08-E26C071082BA}"/>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10" name="Text 8">
            <a:extLst xmlns:a="http://schemas.openxmlformats.org/drawingml/2006/main">
              <a:ext uri="{FF2B5EF4-FFF2-40B4-BE49-F238E27FC236}">
                <a16:creationId xmlns:a16="http://schemas.microsoft.com/office/drawing/2014/main" id="{CAE7DD28-3F88-4FC7-A4A1-1FCACFB6CC9F}"/>
              </a:ext>
            </a:extLst>
          </p:cNvPr>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1" name="Shape 9">
            <a:extLst xmlns:a="http://schemas.openxmlformats.org/drawingml/2006/main">
              <a:ext uri="{FF2B5EF4-FFF2-40B4-BE49-F238E27FC236}">
                <a16:creationId xmlns:a16="http://schemas.microsoft.com/office/drawing/2014/main" id="{2691C489-88CA-479E-B479-3A04B084F4DE}"/>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2" name="Text 10">
            <a:extLst xmlns:a="http://schemas.openxmlformats.org/drawingml/2006/main">
              <a:ext uri="{FF2B5EF4-FFF2-40B4-BE49-F238E27FC236}">
                <a16:creationId xmlns:a16="http://schemas.microsoft.com/office/drawing/2014/main" id="{508172EB-CA49-4D57-B908-76C3062C330D}"/>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3 · Пуш</a:t>
            </a:r>
            <a:endParaRPr sz="1050"/>
          </a:p>
        </p:txBody>
      </p:sp>
      <p:sp>
        <p:nvSpPr>
          <p:cNvPr id="13" name="Text 11">
            <a:extLst xmlns:a="http://schemas.openxmlformats.org/drawingml/2006/main">
              <a:ext uri="{FF2B5EF4-FFF2-40B4-BE49-F238E27FC236}">
                <a16:creationId xmlns:a16="http://schemas.microsoft.com/office/drawing/2014/main" id="{C5B4FAF1-49AE-49B8-99B6-9695B2008500}"/>
              </a:ext>
            </a:extLst>
          </p:cNvPr>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4" name="Shape 12">
            <a:extLst xmlns:a="http://schemas.openxmlformats.org/drawingml/2006/main">
              <a:ext uri="{FF2B5EF4-FFF2-40B4-BE49-F238E27FC236}">
                <a16:creationId xmlns:a16="http://schemas.microsoft.com/office/drawing/2014/main" id="{857FE554-02BF-49DD-9828-F9CA07B059CD}"/>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5" name="Text 13">
            <a:extLst xmlns:a="http://schemas.openxmlformats.org/drawingml/2006/main">
              <a:ext uri="{FF2B5EF4-FFF2-40B4-BE49-F238E27FC236}">
                <a16:creationId xmlns:a16="http://schemas.microsoft.com/office/drawing/2014/main" id="{E272628D-1C1A-42CE-AAFE-9F6C517AD6CF}"/>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4 · Экран перевода</a:t>
            </a:r>
            <a:endParaRPr sz="1050"/>
          </a:p>
        </p:txBody>
      </p:sp>
      <p:sp>
        <p:nvSpPr>
          <p:cNvPr id="16" name="Text 14">
            <a:extLst xmlns:a="http://schemas.openxmlformats.org/drawingml/2006/main">
              <a:ext uri="{FF2B5EF4-FFF2-40B4-BE49-F238E27FC236}">
                <a16:creationId xmlns:a16="http://schemas.microsoft.com/office/drawing/2014/main" id="{6EFFE7B9-BD58-46FD-8BB1-CA07CB6ABC5C}"/>
              </a:ext>
            </a:extLst>
          </p:cNvPr>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7" name="Shape 15">
            <a:extLst xmlns:a="http://schemas.openxmlformats.org/drawingml/2006/main">
              <a:ext uri="{FF2B5EF4-FFF2-40B4-BE49-F238E27FC236}">
                <a16:creationId xmlns:a16="http://schemas.microsoft.com/office/drawing/2014/main" id="{86EB0BEC-575C-4238-8D19-259A65DE1BF8}"/>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8" name="Text 16">
            <a:extLst xmlns:a="http://schemas.openxmlformats.org/drawingml/2006/main">
              <a:ext uri="{FF2B5EF4-FFF2-40B4-BE49-F238E27FC236}">
                <a16:creationId xmlns:a16="http://schemas.microsoft.com/office/drawing/2014/main" id="{BB25E294-596A-47E8-AE1D-A1119877782E}"/>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5 · Решение</a:t>
            </a:r>
            <a:endParaRPr sz="1050"/>
          </a:p>
        </p:txBody>
      </p:sp>
      <p:sp>
        <p:nvSpPr>
          <p:cNvPr id="19" name="Text 17">
            <a:extLst xmlns:a="http://schemas.openxmlformats.org/drawingml/2006/main">
              <a:ext uri="{FF2B5EF4-FFF2-40B4-BE49-F238E27FC236}">
                <a16:creationId xmlns:a16="http://schemas.microsoft.com/office/drawing/2014/main" id="{F7F5DA65-2BFC-4150-B5C8-8C4E477A4370}"/>
              </a:ext>
            </a:extLst>
          </p:cNvPr>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0" name="Shape 18">
            <a:extLst xmlns:a="http://schemas.openxmlformats.org/drawingml/2006/main">
              <a:ext uri="{FF2B5EF4-FFF2-40B4-BE49-F238E27FC236}">
                <a16:creationId xmlns:a16="http://schemas.microsoft.com/office/drawing/2014/main" id="{472814B2-555F-4114-9D7D-B539F7199434}"/>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21" name="Text 19">
            <a:extLst xmlns:a="http://schemas.openxmlformats.org/drawingml/2006/main">
              <a:ext uri="{FF2B5EF4-FFF2-40B4-BE49-F238E27FC236}">
                <a16:creationId xmlns:a16="http://schemas.microsoft.com/office/drawing/2014/main" id="{65D42F5C-9679-4C2A-AD4A-20272A664EF0}"/>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6 · Удержание</a:t>
            </a:r>
            <a:endParaRPr sz="1050"/>
          </a:p>
        </p:txBody>
      </p:sp>
      <p:pic>
        <p:nvPicPr>
          <p:cNvPr id="53" name="Image 0"/>
          <p:cNvPicPr>
            <a:picLocks xmlns:a="http://schemas.openxmlformats.org/drawingml/2006/main" noChangeAspect="1"/>
          </p:cNvPicPr>
          <p:nvPr/>
        </p:nvPicPr>
        <p:blipFill>
          <a:blip xmlns:r="http://schemas.openxmlformats.org/officeDocument/2006/relationships" xmlns:a="http://schemas.openxmlformats.org/drawingml/2006/main" r:embed="Rdeb52e25b18d4b30"/>
          <a:stretch xmlns:a="http://schemas.openxmlformats.org/drawingml/2006/main">
            <a:fillRect l="0" t="0" r="0" b="0"/>
          </a:stretch>
        </p:blipFill>
        <p:spPr>
          <a:xfrm xmlns:a="http://schemas.openxmlformats.org/drawingml/2006/main">
            <a:off x="640080" y="1627632"/>
            <a:ext cx="2194560" cy="4064325"/>
          </a:xfrm>
          <a:prstGeom xmlns:a="http://schemas.openxmlformats.org/drawingml/2006/main" prst="rect">
            <a:avLst/>
          </a:prstGeom>
        </p:spPr>
      </p:pic>
      <p:sp>
        <p:nvSpPr>
          <p:cNvPr id="23" name="Shape 20">
            <a:extLst xmlns:a="http://schemas.openxmlformats.org/drawingml/2006/main">
              <a:ext uri="{FF2B5EF4-FFF2-40B4-BE49-F238E27FC236}">
                <a16:creationId xmlns:a16="http://schemas.microsoft.com/office/drawing/2014/main" id="{4DF1E1D4-06E6-4CB9-9A3D-711AC2710779}"/>
              </a:ext>
            </a:extLst>
          </p:cNvPr>
          <p:cNvSpPr>
            <a:spLocks xmlns:a="http://schemas.openxmlformats.org/drawingml/2006/main" noGrp="1"/>
          </p:cNvSpPr>
          <p:nvPr/>
        </p:nvSpPr>
        <p:spPr>
          <a:xfrm xmlns:a="http://schemas.openxmlformats.org/drawingml/2006/main">
            <a:off x="3154680" y="1627632"/>
            <a:ext cx="4069080" cy="1609344"/>
          </a:xfrm>
          <a:prstGeom xmlns:a="http://schemas.openxmlformats.org/drawingml/2006/main" prst="roundRect">
            <a:avLst>
              <a:gd name="adj" fmla="val 3409"/>
            </a:avLst>
          </a:prstGeom>
          <a:solidFill xmlns:a="http://schemas.openxmlformats.org/drawingml/2006/main">
            <a:srgbClr val="F4F6F8"/>
          </a:solidFill>
        </p:spPr>
      </p:sp>
      <p:sp>
        <p:nvSpPr>
          <p:cNvPr id="24" name="Text 21">
            <a:extLst xmlns:a="http://schemas.openxmlformats.org/drawingml/2006/main">
              <a:ext uri="{FF2B5EF4-FFF2-40B4-BE49-F238E27FC236}">
                <a16:creationId xmlns:a16="http://schemas.microsoft.com/office/drawing/2014/main" id="{FB3BF8ED-B976-487B-ABC2-953FA7E86087}"/>
              </a:ext>
            </a:extLst>
          </p:cNvPr>
          <p:cNvSpPr>
            <a:spLocks xmlns:a="http://schemas.openxmlformats.org/drawingml/2006/main" noGrp="1"/>
          </p:cNvSpPr>
          <p:nvPr/>
        </p:nvSpPr>
        <p:spPr>
          <a:xfrm xmlns:a="http://schemas.openxmlformats.org/drawingml/2006/main">
            <a:off x="3410712" y="1810512"/>
            <a:ext cx="35570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Оповещение живёт 30 дней</a:t>
            </a:r>
            <a:endParaRPr sz="1550"/>
          </a:p>
        </p:txBody>
      </p:sp>
      <p:sp>
        <p:nvSpPr>
          <p:cNvPr id="25" name="Text 22">
            <a:extLst xmlns:a="http://schemas.openxmlformats.org/drawingml/2006/main">
              <a:ext uri="{FF2B5EF4-FFF2-40B4-BE49-F238E27FC236}">
                <a16:creationId xmlns:a16="http://schemas.microsoft.com/office/drawing/2014/main" id="{5D45D47E-1B71-4DCC-BC59-80E66FC61E9D}"/>
              </a:ext>
            </a:extLst>
          </p:cNvPr>
          <p:cNvSpPr>
            <a:spLocks xmlns:a="http://schemas.openxmlformats.org/drawingml/2006/main" noGrp="1"/>
          </p:cNvSpPr>
          <p:nvPr/>
        </p:nvSpPr>
        <p:spPr>
          <a:xfrm xmlns:a="http://schemas.openxmlformats.org/drawingml/2006/main">
            <a:off x="3410712" y="2340864"/>
            <a:ext cx="3557016"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Дальше переспрашиваем. Бессрочное оповещение через полгода станет спамом по поводу, который клиент уже забыл.</a:t>
            </a:r>
            <a:endParaRPr sz="1250"/>
          </a:p>
        </p:txBody>
      </p:sp>
      <p:sp>
        <p:nvSpPr>
          <p:cNvPr id="26" name="Shape 23">
            <a:extLst xmlns:a="http://schemas.openxmlformats.org/drawingml/2006/main">
              <a:ext uri="{FF2B5EF4-FFF2-40B4-BE49-F238E27FC236}">
                <a16:creationId xmlns:a16="http://schemas.microsoft.com/office/drawing/2014/main" id="{1724CBF5-4E43-40F2-9964-2E78012E42A8}"/>
              </a:ext>
            </a:extLst>
          </p:cNvPr>
          <p:cNvSpPr>
            <a:spLocks xmlns:a="http://schemas.openxmlformats.org/drawingml/2006/main" noGrp="1"/>
          </p:cNvSpPr>
          <p:nvPr/>
        </p:nvSpPr>
        <p:spPr>
          <a:xfrm xmlns:a="http://schemas.openxmlformats.org/drawingml/2006/main">
            <a:off x="7452360" y="1627632"/>
            <a:ext cx="4069080" cy="1609344"/>
          </a:xfrm>
          <a:prstGeom xmlns:a="http://schemas.openxmlformats.org/drawingml/2006/main" prst="roundRect">
            <a:avLst>
              <a:gd name="adj" fmla="val 3409"/>
            </a:avLst>
          </a:prstGeom>
          <a:solidFill xmlns:a="http://schemas.openxmlformats.org/drawingml/2006/main">
            <a:srgbClr val="F4F6F8"/>
          </a:solidFill>
        </p:spPr>
      </p:sp>
      <p:sp>
        <p:nvSpPr>
          <p:cNvPr id="27" name="Text 24">
            <a:extLst xmlns:a="http://schemas.openxmlformats.org/drawingml/2006/main">
              <a:ext uri="{FF2B5EF4-FFF2-40B4-BE49-F238E27FC236}">
                <a16:creationId xmlns:a16="http://schemas.microsoft.com/office/drawing/2014/main" id="{317D1C78-468A-49EA-9413-70AE8119D447}"/>
              </a:ext>
            </a:extLst>
          </p:cNvPr>
          <p:cNvSpPr>
            <a:spLocks xmlns:a="http://schemas.openxmlformats.org/drawingml/2006/main" noGrp="1"/>
          </p:cNvSpPr>
          <p:nvPr/>
        </p:nvSpPr>
        <p:spPr>
          <a:xfrm xmlns:a="http://schemas.openxmlformats.org/drawingml/2006/main">
            <a:off x="7708392" y="1810512"/>
            <a:ext cx="35570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Частота названа заранее</a:t>
            </a:r>
            <a:endParaRPr sz="1550"/>
          </a:p>
        </p:txBody>
      </p:sp>
      <p:sp>
        <p:nvSpPr>
          <p:cNvPr id="28" name="Text 25">
            <a:extLst xmlns:a="http://schemas.openxmlformats.org/drawingml/2006/main">
              <a:ext uri="{FF2B5EF4-FFF2-40B4-BE49-F238E27FC236}">
                <a16:creationId xmlns:a16="http://schemas.microsoft.com/office/drawing/2014/main" id="{C387DD9F-78B3-4681-A875-267EC2121563}"/>
              </a:ext>
            </a:extLst>
          </p:cNvPr>
          <p:cNvSpPr>
            <a:spLocks xmlns:a="http://schemas.openxmlformats.org/drawingml/2006/main" noGrp="1"/>
          </p:cNvSpPr>
          <p:nvPr/>
        </p:nvSpPr>
        <p:spPr>
          <a:xfrm xmlns:a="http://schemas.openxmlformats.org/drawingml/2006/main">
            <a:off x="7708392" y="2340864"/>
            <a:ext cx="3557016"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«Столько давали 14 дней из последних девяноста». Клиент сам решает, реалистичен ли его уровень, – и не ждёт напрасно.</a:t>
            </a:r>
            <a:endParaRPr sz="1250"/>
          </a:p>
        </p:txBody>
      </p:sp>
      <p:sp>
        <p:nvSpPr>
          <p:cNvPr id="29" name="Shape 26">
            <a:extLst xmlns:a="http://schemas.openxmlformats.org/drawingml/2006/main">
              <a:ext uri="{FF2B5EF4-FFF2-40B4-BE49-F238E27FC236}">
                <a16:creationId xmlns:a16="http://schemas.microsoft.com/office/drawing/2014/main" id="{F3A26C65-F622-40EF-97E3-A3D0BEAE7F7F}"/>
              </a:ext>
            </a:extLst>
          </p:cNvPr>
          <p:cNvSpPr>
            <a:spLocks xmlns:a="http://schemas.openxmlformats.org/drawingml/2006/main" noGrp="1"/>
          </p:cNvSpPr>
          <p:nvPr/>
        </p:nvSpPr>
        <p:spPr>
          <a:xfrm xmlns:a="http://schemas.openxmlformats.org/drawingml/2006/main">
            <a:off x="3154680" y="3401568"/>
            <a:ext cx="8366760" cy="2249424"/>
          </a:xfrm>
          <a:prstGeom xmlns:a="http://schemas.openxmlformats.org/drawingml/2006/main" prst="roundRect">
            <a:avLst>
              <a:gd name="adj" fmla="val 2439"/>
            </a:avLst>
          </a:prstGeom>
          <a:solidFill xmlns:a="http://schemas.openxmlformats.org/drawingml/2006/main">
            <a:srgbClr val="1A2530"/>
          </a:solidFill>
        </p:spPr>
      </p:sp>
      <p:sp>
        <p:nvSpPr>
          <p:cNvPr id="30" name="Text 27">
            <a:extLst xmlns:a="http://schemas.openxmlformats.org/drawingml/2006/main">
              <a:ext uri="{FF2B5EF4-FFF2-40B4-BE49-F238E27FC236}">
                <a16:creationId xmlns:a16="http://schemas.microsoft.com/office/drawing/2014/main" id="{AC377A91-6475-44C2-8036-E039E38B0358}"/>
              </a:ext>
            </a:extLst>
          </p:cNvPr>
          <p:cNvSpPr>
            <a:spLocks xmlns:a="http://schemas.openxmlformats.org/drawingml/2006/main" noGrp="1"/>
          </p:cNvSpPr>
          <p:nvPr/>
        </p:nvSpPr>
        <p:spPr>
          <a:xfrm xmlns:a="http://schemas.openxmlformats.org/drawingml/2006/main">
            <a:off x="3429000" y="3557016"/>
            <a:ext cx="7818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Ветка тишины: что происходит, когда сигнала нет</a:t>
            </a:r>
            <a:endParaRPr sz="1550"/>
          </a:p>
        </p:txBody>
      </p:sp>
      <p:sp>
        <p:nvSpPr>
          <p:cNvPr id="31" name="Text 28">
            <a:extLst xmlns:a="http://schemas.openxmlformats.org/drawingml/2006/main">
              <a:ext uri="{FF2B5EF4-FFF2-40B4-BE49-F238E27FC236}">
                <a16:creationId xmlns:a16="http://schemas.microsoft.com/office/drawing/2014/main" id="{64B209F4-AEF8-499C-865D-B00173993A60}"/>
              </a:ext>
            </a:extLst>
          </p:cNvPr>
          <p:cNvSpPr>
            <a:spLocks xmlns:a="http://schemas.openxmlformats.org/drawingml/2006/main" noGrp="1"/>
          </p:cNvSpPr>
          <p:nvPr/>
        </p:nvSpPr>
        <p:spPr>
          <a:xfrm xmlns:a="http://schemas.openxmlformats.org/drawingml/2006/main">
            <a:off x="3429000" y="3931920"/>
            <a:ext cx="781812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В большинство дней модель не создаёт пуш. Исторический индикатор на экране и оповещение об уровне продолжают работать.</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Отключение модельных подсказок не должно удалять уровень, который клиент задал сам. Это отдельные настройки.</a:t>
            </a:r>
            <a:endParaRPr sz="1250"/>
          </a:p>
        </p:txBody>
      </p:sp>
    </p:spTree>
    <p:extLst>
      <p:ext uri="{BB962C8B-B14F-4D97-AF65-F5344CB8AC3E}">
        <p14:creationId xmlns:p14="http://schemas.microsoft.com/office/powerpoint/2010/main" val="18489190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657DCC5-95FD-4BF5-BD91-F63858B30522}"/>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4FAF21C3-23EA-434C-BAE4-FC928C4052BA}"/>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400" b="1">
                <a:solidFill>
                  <a:srgbClr val="FFFFFF"/>
                </a:solidFill>
                <a:latin typeface="Calibri"/>
                <a:ea typeface="Calibri"/>
                <a:cs typeface="Calibri"/>
              </a:defRPr>
            </a:pPr>
            <a:r>
              <a:rPr sz="1400" b="1">
                <a:solidFill>
                  <a:srgbClr val="FFFFFF"/>
                </a:solidFill>
                <a:latin typeface="Calibri"/>
                <a:ea typeface="Calibri"/>
                <a:cs typeface="Calibri"/>
              </a:rPr>
              <a:t>5</a:t>
            </a:r>
            <a:endParaRPr sz="1400"/>
          </a:p>
        </p:txBody>
      </p:sp>
      <p:sp>
        <p:nvSpPr>
          <p:cNvPr id="4" name="Text 2">
            <a:extLst xmlns:a="http://schemas.openxmlformats.org/drawingml/2006/main">
              <a:ext uri="{FF2B5EF4-FFF2-40B4-BE49-F238E27FC236}">
                <a16:creationId xmlns:a16="http://schemas.microsoft.com/office/drawing/2014/main" id="{D7C72AA9-6A2C-4030-B324-B4E3B532ADEE}"/>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2700" b="1">
                <a:solidFill>
                  <a:srgbClr val="1A2530"/>
                </a:solidFill>
                <a:latin typeface="Cambria"/>
                <a:ea typeface="Cambria"/>
                <a:cs typeface="Cambria"/>
              </a:defRPr>
            </a:pPr>
            <a:r>
              <a:rPr sz="2700" b="1">
                <a:solidFill>
                  <a:srgbClr val="1A2530"/>
                </a:solidFill>
                <a:latin typeface="Cambria"/>
                <a:ea typeface="Cambria"/>
                <a:cs typeface="Cambria"/>
              </a:rPr>
              <a:t>Решение: 73,38 % удачных дней вместо 29,45 %</a:t>
            </a:r>
            <a:endParaRPr sz="2700"/>
          </a:p>
        </p:txBody>
      </p:sp>
      <p:sp>
        <p:nvSpPr>
          <p:cNvPr id="5" name="">
            <a:extLst xmlns:a="http://schemas.openxmlformats.org/drawingml/2006/main">
              <a:ext uri="{FF2B5EF4-FFF2-40B4-BE49-F238E27FC236}">
                <a16:creationId xmlns:a16="http://schemas.microsoft.com/office/drawing/2014/main" id="{7A05966A-9BF2-4E67-A532-72DB2364112B}"/>
              </a:ext>
            </a:extLst>
          </p:cNvPr>
          <p:cNvSpPr>
            <a:spLocks xmlns:a="http://schemas.openxmlformats.org/drawingml/2006/main" noGrp="1"/>
          </p:cNvSpPr>
          <p:nvPr/>
        </p:nvSpPr>
        <p:spPr>
          <a:xfrm xmlns:a="http://schemas.openxmlformats.org/drawingml/2006/main">
            <a:off x="640080" y="1435608"/>
            <a:ext cx="10881360"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a:solidFill>
                  <a:srgbClr val="4E5966"/>
                </a:solidFill>
                <a:latin typeface="Calibri"/>
                <a:ea typeface="Calibri"/>
                <a:cs typeface="Calibri"/>
              </a:defRPr>
            </a:pPr>
            <a:r>
              <a:rPr sz="1350">
                <a:solidFill>
                  <a:srgbClr val="4E5966"/>
                </a:solidFill>
                <a:latin typeface="Calibri"/>
                <a:ea typeface="Calibri"/>
                <a:cs typeface="Calibri"/>
              </a:rPr>
              <a:t>После получения нового курса ЦБ. Оцениваем относительно курса, действующего сегодня.</a:t>
            </a:r>
          </a:p>
        </p:txBody>
      </p:sp>
      <p:graphicFrame>
        <p:nvGraphicFramePr>
          <p:cNvPr id="18" name="Chart"/>
          <p:cNvGraphicFramePr/>
          <p:nvPr/>
        </p:nvGraphicFramePr>
        <p:xfrm>
          <a:off xmlns:a="http://schemas.openxmlformats.org/drawingml/2006/main" x="640080" y="1737360"/>
          <a:ext xmlns:a="http://schemas.openxmlformats.org/drawingml/2006/main" cx="5852160" cy="4160520"/>
        </p:xfrm>
        <a:graphic xmlns:a="http://schemas.openxmlformats.org/drawingml/2006/main">
          <a:graphicData uri="http://schemas.openxmlformats.org/drawingml/2006/chart">
            <c:chart xmlns:r="http://schemas.openxmlformats.org/officeDocument/2006/relationships" xmlns:c="http://schemas.openxmlformats.org/drawingml/2006/chart" r:id="R5d8b17cb950545d9"/>
          </a:graphicData>
        </a:graphic>
      </p:graphicFrame>
      <p:sp>
        <p:nvSpPr>
          <p:cNvPr id="7" name="">
            <a:extLst xmlns:a="http://schemas.openxmlformats.org/drawingml/2006/main">
              <a:ext uri="{FF2B5EF4-FFF2-40B4-BE49-F238E27FC236}">
                <a16:creationId xmlns:a16="http://schemas.microsoft.com/office/drawing/2014/main" id="{2FECDD1C-301C-4C30-916E-F45CC011E7A2}"/>
              </a:ext>
            </a:extLst>
          </p:cNvPr>
          <p:cNvSpPr>
            <a:spLocks xmlns:a="http://schemas.openxmlformats.org/drawingml/2006/main" noGrp="1"/>
          </p:cNvSpPr>
          <p:nvPr/>
        </p:nvSpPr>
        <p:spPr>
          <a:xfrm xmlns:a="http://schemas.openxmlformats.org/drawingml/2006/main">
            <a:off x="6766560" y="1755648"/>
            <a:ext cx="4754880" cy="1609344"/>
          </a:xfrm>
          <a:prstGeom xmlns:a="http://schemas.openxmlformats.org/drawingml/2006/main" prst="roundRect">
            <a:avLst>
              <a:gd name="adj" fmla="val 3409"/>
            </a:avLst>
          </a:prstGeom>
          <a:solidFill xmlns:a="http://schemas.openxmlformats.org/drawingml/2006/main">
            <a:srgbClr val="F4F6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70C8795-3F92-441A-B4CC-80CB5A5263FF}"/>
              </a:ext>
            </a:extLst>
          </p:cNvPr>
          <p:cNvSpPr>
            <a:spLocks xmlns:a="http://schemas.openxmlformats.org/drawingml/2006/main" noGrp="1"/>
          </p:cNvSpPr>
          <p:nvPr/>
        </p:nvSpPr>
        <p:spPr>
          <a:xfrm xmlns:a="http://schemas.openxmlformats.org/drawingml/2006/main">
            <a:off x="7022592" y="1938528"/>
            <a:ext cx="4242816"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6674F"/>
                </a:solidFill>
                <a:latin typeface="Cambria"/>
                <a:ea typeface="Cambria"/>
                <a:cs typeface="Cambria"/>
              </a:defRPr>
            </a:pPr>
            <a:r>
              <a:rPr sz="1550" b="1">
                <a:solidFill>
                  <a:srgbClr val="16674F"/>
                </a:solidFill>
                <a:latin typeface="Cambria"/>
                <a:ea typeface="Cambria"/>
                <a:cs typeface="Cambria"/>
              </a:rPr>
              <a:t>Что добавил отбор сигналов</a:t>
            </a:r>
          </a:p>
        </p:txBody>
      </p:sp>
      <p:sp>
        <p:nvSpPr>
          <p:cNvPr id="9" name="">
            <a:extLst xmlns:a="http://schemas.openxmlformats.org/drawingml/2006/main">
              <a:ext uri="{FF2B5EF4-FFF2-40B4-BE49-F238E27FC236}">
                <a16:creationId xmlns:a16="http://schemas.microsoft.com/office/drawing/2014/main" id="{53573E7B-A0FD-4C49-B8FD-06D50B3CA40E}"/>
              </a:ext>
            </a:extLst>
          </p:cNvPr>
          <p:cNvSpPr>
            <a:spLocks xmlns:a="http://schemas.openxmlformats.org/drawingml/2006/main" noGrp="1"/>
          </p:cNvSpPr>
          <p:nvPr/>
        </p:nvSpPr>
        <p:spPr>
          <a:xfrm xmlns:a="http://schemas.openxmlformats.org/drawingml/2006/main">
            <a:off x="7022592" y="2514600"/>
            <a:ext cx="4242816" cy="6949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Простое правило «завтра не дешевле»: lift 1,962. Итоговый ансамбль: 2,492.</a:t>
            </a:r>
          </a:p>
        </p:txBody>
      </p:sp>
      <p:sp>
        <p:nvSpPr>
          <p:cNvPr id="10" name="">
            <a:extLst xmlns:a="http://schemas.openxmlformats.org/drawingml/2006/main">
              <a:ext uri="{FF2B5EF4-FFF2-40B4-BE49-F238E27FC236}">
                <a16:creationId xmlns:a16="http://schemas.microsoft.com/office/drawing/2014/main" id="{9F3279A3-18DF-4B14-ABA8-207C1540FC1C}"/>
              </a:ext>
            </a:extLst>
          </p:cNvPr>
          <p:cNvSpPr>
            <a:spLocks xmlns:a="http://schemas.openxmlformats.org/drawingml/2006/main" noGrp="1"/>
          </p:cNvSpPr>
          <p:nvPr/>
        </p:nvSpPr>
        <p:spPr>
          <a:xfrm xmlns:a="http://schemas.openxmlformats.org/drawingml/2006/main">
            <a:off x="6766560" y="3547872"/>
            <a:ext cx="4754880" cy="2029968"/>
          </a:xfrm>
          <a:prstGeom xmlns:a="http://schemas.openxmlformats.org/drawingml/2006/main" prst="roundRect">
            <a:avLst>
              <a:gd name="adj" fmla="val 2703"/>
            </a:avLst>
          </a:prstGeom>
          <a:solidFill xmlns:a="http://schemas.openxmlformats.org/drawingml/2006/main">
            <a:srgbClr val="F4F6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386297A-E747-4F65-B660-5DEFABA9916B}"/>
              </a:ext>
            </a:extLst>
          </p:cNvPr>
          <p:cNvSpPr>
            <a:spLocks xmlns:a="http://schemas.openxmlformats.org/drawingml/2006/main" noGrp="1"/>
          </p:cNvSpPr>
          <p:nvPr/>
        </p:nvSpPr>
        <p:spPr>
          <a:xfrm xmlns:a="http://schemas.openxmlformats.org/drawingml/2006/main">
            <a:off x="7022592" y="3730752"/>
            <a:ext cx="4242816"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A2530"/>
                </a:solidFill>
                <a:latin typeface="Cambria"/>
                <a:ea typeface="Cambria"/>
                <a:cs typeface="Cambria"/>
              </a:defRPr>
            </a:pPr>
            <a:r>
              <a:rPr sz="1550" b="1">
                <a:solidFill>
                  <a:srgbClr val="1A2530"/>
                </a:solidFill>
                <a:latin typeface="Cambria"/>
                <a:ea typeface="Cambria"/>
                <a:cs typeface="Cambria"/>
              </a:rPr>
              <a:t>Сравнение по одной базе</a:t>
            </a:r>
          </a:p>
        </p:txBody>
      </p:sp>
      <p:sp>
        <p:nvSpPr>
          <p:cNvPr id="12" name="">
            <a:extLst xmlns:a="http://schemas.openxmlformats.org/drawingml/2006/main">
              <a:ext uri="{FF2B5EF4-FFF2-40B4-BE49-F238E27FC236}">
                <a16:creationId xmlns:a16="http://schemas.microsoft.com/office/drawing/2014/main" id="{12B95B51-2DAD-41BA-A9E4-F8D1CD5B1003}"/>
              </a:ext>
            </a:extLst>
          </p:cNvPr>
          <p:cNvSpPr>
            <a:spLocks xmlns:a="http://schemas.openxmlformats.org/drawingml/2006/main" noGrp="1"/>
          </p:cNvSpPr>
          <p:nvPr/>
        </p:nvSpPr>
        <p:spPr>
          <a:xfrm xmlns:a="http://schemas.openxmlformats.org/drawingml/2006/main">
            <a:off x="7022592" y="4306824"/>
            <a:ext cx="4242816" cy="1115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Один период, пять валют, действующий курс ЦБ. У ансамбля 695 сигналов и 1,04 сигнала в неделю. У простого правила 1,43.</a:t>
            </a:r>
          </a:p>
        </p:txBody>
      </p:sp>
      <p:sp>
        <p:nvSpPr>
          <p:cNvPr id="13" name="">
            <a:extLst xmlns:a="http://schemas.openxmlformats.org/drawingml/2006/main">
              <a:ext uri="{FF2B5EF4-FFF2-40B4-BE49-F238E27FC236}">
                <a16:creationId xmlns:a16="http://schemas.microsoft.com/office/drawing/2014/main" id="{20AE9426-3C16-4164-9AB7-9ADC683CD9E9}"/>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09.01.2024–25.08.2026. Открытая ретроспектива. Это не банковская доходность и не новый независимый тест.</a:t>
            </a:r>
          </a:p>
        </p:txBody>
      </p:sp>
      <p:sp>
        <p:nvSpPr>
          <p:cNvPr id="19" name="Solution navigation 1"/>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0" name="Solution navigation 2"/>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21" name="Solution navigation 3"/>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2" name="Solution navigation 4"/>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3" name="Solution navigation 5"/>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24" name="Solution navigation 6"/>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5" name="Solution navigation 7"/>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6" name="Solution navigation 8"/>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3 · Пуш</a:t>
            </a:r>
            <a:endParaRPr sz="1050"/>
          </a:p>
        </p:txBody>
      </p:sp>
      <p:sp>
        <p:nvSpPr>
          <p:cNvPr id="27" name="Solution navigation 9"/>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8" name="Solution navigation 10"/>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9" name="Solution navigation 11"/>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4 · Экран перевода</a:t>
            </a:r>
            <a:endParaRPr sz="1050"/>
          </a:p>
        </p:txBody>
      </p:sp>
      <p:sp>
        <p:nvSpPr>
          <p:cNvPr id="30" name="Solution navigation 12"/>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31" name="Solution navigation 13"/>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32" name="Solution navigation 14"/>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5 · Решение</a:t>
            </a:r>
            <a:endParaRPr sz="1050"/>
          </a:p>
        </p:txBody>
      </p:sp>
      <p:sp>
        <p:nvSpPr>
          <p:cNvPr id="33" name="Solution navigation 15"/>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34" name="Solution navigation 16"/>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35" name="Solution navigation 17"/>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spTree>
    <p:extLst>
      <p:ext uri="{BB962C8B-B14F-4D97-AF65-F5344CB8AC3E}">
        <p14:creationId xmlns:p14="http://schemas.microsoft.com/office/powerpoint/2010/main" val="192336724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6CA38CD-8DC1-4344-B8B6-B5F49021CF68}"/>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141D20-9784-4AB3-A7F2-31078D5D2C64}"/>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400" b="1">
                <a:solidFill>
                  <a:srgbClr val="FFFFFF"/>
                </a:solidFill>
                <a:latin typeface="Calibri"/>
                <a:ea typeface="Calibri"/>
                <a:cs typeface="Calibri"/>
              </a:defRPr>
            </a:pPr>
            <a:r>
              <a:rPr sz="1400" b="1">
                <a:solidFill>
                  <a:srgbClr val="FFFFFF"/>
                </a:solidFill>
                <a:latin typeface="Calibri"/>
                <a:ea typeface="Calibri"/>
                <a:cs typeface="Calibri"/>
              </a:rPr>
              <a:t>5</a:t>
            </a:r>
          </a:p>
        </p:txBody>
      </p:sp>
      <p:sp>
        <p:nvSpPr>
          <p:cNvPr id="3" name="">
            <a:extLst xmlns:a="http://schemas.openxmlformats.org/drawingml/2006/main">
              <a:ext uri="{FF2B5EF4-FFF2-40B4-BE49-F238E27FC236}">
                <a16:creationId xmlns:a16="http://schemas.microsoft.com/office/drawing/2014/main" id="{1BF8386C-F7A1-45A6-8952-CA52F02F2010}"/>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buNone/>
              <a:defRPr sz="2700" b="1">
                <a:solidFill>
                  <a:srgbClr val="1A2530"/>
                </a:solidFill>
                <a:latin typeface="Cambria"/>
                <a:ea typeface="Cambria"/>
                <a:cs typeface="Cambria"/>
              </a:defRPr>
            </a:pPr>
            <a:r>
              <a:rPr sz="2700" b="1">
                <a:solidFill>
                  <a:srgbClr val="1A2530"/>
                </a:solidFill>
                <a:latin typeface="Cambria"/>
                <a:ea typeface="Cambria"/>
                <a:cs typeface="Cambria"/>
              </a:rPr>
              <a:t>Решение: температура и курс узбекского сума</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87d56a98aa74985"/>
          <a:stretch xmlns:a="http://schemas.openxmlformats.org/drawingml/2006/main"/>
        </p:blipFill>
        <p:spPr>
          <a:xfrm xmlns:a="http://schemas.openxmlformats.org/drawingml/2006/main">
            <a:off x="2034022" y="1508760"/>
            <a:ext cx="8123956" cy="457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6E31267-E123-4CFA-9F43-F5CD8B0DA1E8}"/>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Выбранный удачный фрагмент открытой ретроспективы, 18.05–23.06.2026. Температура внутренняя. Общие метрики — на всём периоде.</a:t>
            </a:r>
          </a:p>
        </p:txBody>
      </p:sp>
      <p:sp>
        <p:nvSpPr>
          <p:cNvPr id="10" name="Solution navigation 1"/>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1" name="Solution navigation 2"/>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12" name="Solution navigation 3"/>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3" name="Solution navigation 4"/>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4" name="Solution navigation 5"/>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15" name="Solution navigation 6"/>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6" name="Solution navigation 7"/>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7" name="Solution navigation 8"/>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3 · Пуш</a:t>
            </a:r>
            <a:endParaRPr sz="1050"/>
          </a:p>
        </p:txBody>
      </p:sp>
      <p:sp>
        <p:nvSpPr>
          <p:cNvPr id="18" name="Solution navigation 9"/>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9" name="Solution navigation 10"/>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0" name="Solution navigation 11"/>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4 · Экран перевода</a:t>
            </a:r>
            <a:endParaRPr sz="1050"/>
          </a:p>
        </p:txBody>
      </p:sp>
      <p:sp>
        <p:nvSpPr>
          <p:cNvPr id="21" name="Solution navigation 12"/>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2" name="Solution navigation 13"/>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23" name="Solution navigation 14"/>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5 · Решение</a:t>
            </a:r>
            <a:endParaRPr sz="1050"/>
          </a:p>
        </p:txBody>
      </p:sp>
      <p:sp>
        <p:nvSpPr>
          <p:cNvPr id="24" name="Solution navigation 15"/>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5" name="Solution navigation 16"/>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26" name="Solution navigation 17"/>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spTree>
    <p:extLst>
      <p:ext uri="{BB962C8B-B14F-4D97-AF65-F5344CB8AC3E}">
        <p14:creationId xmlns:p14="http://schemas.microsoft.com/office/powerpoint/2010/main" val="16127251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986998B-29C1-4F49-A06F-6BB3AA2F78C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133E7435-2F55-49CD-9285-5CC1BF5B7C3F}"/>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400" b="1">
                <a:solidFill>
                  <a:srgbClr val="FFFFFF"/>
                </a:solidFill>
                <a:latin typeface="Calibri"/>
                <a:ea typeface="Calibri"/>
                <a:cs typeface="Calibri"/>
              </a:defRPr>
            </a:pPr>
            <a:r>
              <a:rPr sz="1400" b="1">
                <a:solidFill>
                  <a:srgbClr val="FFFFFF"/>
                </a:solidFill>
                <a:latin typeface="Calibri"/>
                <a:ea typeface="Calibri"/>
                <a:cs typeface="Calibri"/>
              </a:rPr>
              <a:t>5</a:t>
            </a:r>
            <a:endParaRPr sz="1400"/>
          </a:p>
        </p:txBody>
      </p:sp>
      <p:sp>
        <p:nvSpPr>
          <p:cNvPr id="4" name="Text 2">
            <a:extLst xmlns:a="http://schemas.openxmlformats.org/drawingml/2006/main">
              <a:ext uri="{FF2B5EF4-FFF2-40B4-BE49-F238E27FC236}">
                <a16:creationId xmlns:a16="http://schemas.microsoft.com/office/drawing/2014/main" id="{88FA839B-C337-40BB-B705-38130525A9A3}"/>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2700" b="1">
                <a:solidFill>
                  <a:srgbClr val="1A2530"/>
                </a:solidFill>
                <a:latin typeface="Cambria"/>
                <a:ea typeface="Cambria"/>
                <a:cs typeface="Cambria"/>
              </a:defRPr>
            </a:pPr>
            <a:r>
              <a:rPr sz="2700" b="1">
                <a:solidFill>
                  <a:srgbClr val="1A2530"/>
                </a:solidFill>
                <a:latin typeface="Cambria"/>
                <a:ea typeface="Cambria"/>
                <a:cs typeface="Cambria"/>
              </a:rPr>
              <a:t>Решение: модель в течение дня</a:t>
            </a:r>
            <a:endParaRPr sz="2700"/>
          </a:p>
        </p:txBody>
      </p:sp>
      <p:sp>
        <p:nvSpPr>
          <p:cNvPr id="5" name="">
            <a:extLst xmlns:a="http://schemas.openxmlformats.org/drawingml/2006/main">
              <a:ext uri="{FF2B5EF4-FFF2-40B4-BE49-F238E27FC236}">
                <a16:creationId xmlns:a16="http://schemas.microsoft.com/office/drawing/2014/main" id="{B5CDD227-2B01-40F5-9A26-B98345038793}"/>
              </a:ext>
            </a:extLst>
          </p:cNvPr>
          <p:cNvSpPr>
            <a:spLocks xmlns:a="http://schemas.openxmlformats.org/drawingml/2006/main" noGrp="1"/>
          </p:cNvSpPr>
          <p:nvPr/>
        </p:nvSpPr>
        <p:spPr>
          <a:xfrm xmlns:a="http://schemas.openxmlformats.org/drawingml/2006/main">
            <a:off x="640080" y="1435608"/>
            <a:ext cx="10881360"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a:solidFill>
                  <a:srgbClr val="4E5966"/>
                </a:solidFill>
                <a:latin typeface="Calibri"/>
                <a:ea typeface="Calibri"/>
                <a:cs typeface="Calibri"/>
              </a:defRPr>
            </a:pPr>
            <a:r>
              <a:rPr sz="1350">
                <a:solidFill>
                  <a:srgbClr val="4E5966"/>
                </a:solidFill>
                <a:latin typeface="Calibri"/>
                <a:ea typeface="Calibri"/>
                <a:cs typeface="Calibri"/>
              </a:rPr>
              <a:t>Часы задают срез данных. Переключение после ЦБ запускает факт получения, а не наступление 18:00.</a:t>
            </a:r>
          </a:p>
        </p:txBody>
      </p:sp>
      <p:sp>
        <p:nvSpPr>
          <p:cNvPr id="6" name="">
            <a:extLst xmlns:a="http://schemas.openxmlformats.org/drawingml/2006/main">
              <a:ext uri="{FF2B5EF4-FFF2-40B4-BE49-F238E27FC236}">
                <a16:creationId xmlns:a16="http://schemas.microsoft.com/office/drawing/2014/main" id="{6194D5A7-181F-44D7-9E24-FB63B7D94616}"/>
              </a:ext>
            </a:extLst>
          </p:cNvPr>
          <p:cNvSpPr>
            <a:spLocks xmlns:a="http://schemas.openxmlformats.org/drawingml/2006/main" noGrp="1"/>
          </p:cNvSpPr>
          <p:nvPr/>
        </p:nvSpPr>
        <p:spPr>
          <a:xfrm xmlns:a="http://schemas.openxmlformats.org/drawingml/2006/main">
            <a:off x="640080" y="2011680"/>
            <a:ext cx="2606040" cy="2743200"/>
          </a:xfrm>
          <a:prstGeom xmlns:a="http://schemas.openxmlformats.org/drawingml/2006/main" prst="roundRect">
            <a:avLst>
              <a:gd name="adj" fmla="val 2105"/>
            </a:avLst>
          </a:prstGeom>
          <a:solidFill xmlns:a="http://schemas.openxmlformats.org/drawingml/2006/main">
            <a:srgbClr val="F4F6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7E2031D-1BC0-44C7-8288-29336646A5BE}"/>
              </a:ext>
            </a:extLst>
          </p:cNvPr>
          <p:cNvSpPr>
            <a:spLocks xmlns:a="http://schemas.openxmlformats.org/drawingml/2006/main" noGrp="1"/>
          </p:cNvSpPr>
          <p:nvPr/>
        </p:nvSpPr>
        <p:spPr>
          <a:xfrm xmlns:a="http://schemas.openxmlformats.org/drawingml/2006/main">
            <a:off x="896112" y="2194560"/>
            <a:ext cx="2093976"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50" b="1">
                <a:solidFill>
                  <a:srgbClr val="1A2530"/>
                </a:solidFill>
                <a:latin typeface="Cambria"/>
                <a:ea typeface="Cambria"/>
                <a:cs typeface="Cambria"/>
              </a:defRPr>
            </a:pPr>
            <a:r>
              <a:rPr sz="1550" b="1">
                <a:solidFill>
                  <a:srgbClr val="1A2530"/>
                </a:solidFill>
                <a:latin typeface="Cambria"/>
                <a:ea typeface="Cambria"/>
                <a:cs typeface="Cambria"/>
              </a:rPr>
              <a:t>До рынка</a:t>
            </a:r>
          </a:p>
        </p:txBody>
      </p:sp>
      <p:sp>
        <p:nvSpPr>
          <p:cNvPr id="8" name="">
            <a:extLst xmlns:a="http://schemas.openxmlformats.org/drawingml/2006/main">
              <a:ext uri="{FF2B5EF4-FFF2-40B4-BE49-F238E27FC236}">
                <a16:creationId xmlns:a16="http://schemas.microsoft.com/office/drawing/2014/main" id="{B9AB22E2-5BDB-4419-8880-C8BE3C18FB00}"/>
              </a:ext>
            </a:extLst>
          </p:cNvPr>
          <p:cNvSpPr>
            <a:spLocks xmlns:a="http://schemas.openxmlformats.org/drawingml/2006/main" noGrp="1"/>
          </p:cNvSpPr>
          <p:nvPr/>
        </p:nvSpPr>
        <p:spPr>
          <a:xfrm xmlns:a="http://schemas.openxmlformats.org/drawingml/2006/main">
            <a:off x="896112" y="2770632"/>
            <a:ext cx="2093976"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История ЦБ.</a:t>
            </a:r>
          </a:p>
          <a:p xmlns:a="http://schemas.openxmlformats.org/drawingml/2006/main">
            <a:r>
              <a:t/>
            </a:r>
          </a:p>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Бустинг по трендам, уровням, волатильности и календарю.</a:t>
            </a:r>
          </a:p>
          <a:p xmlns:a="http://schemas.openxmlformats.org/drawingml/2006/main">
            <a:r>
              <a:t/>
            </a:r>
          </a:p>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Ограниченная уверенность.</a:t>
            </a:r>
          </a:p>
        </p:txBody>
      </p:sp>
      <p:sp>
        <p:nvSpPr>
          <p:cNvPr id="9" name="">
            <a:extLst xmlns:a="http://schemas.openxmlformats.org/drawingml/2006/main">
              <a:ext uri="{FF2B5EF4-FFF2-40B4-BE49-F238E27FC236}">
                <a16:creationId xmlns:a16="http://schemas.microsoft.com/office/drawing/2014/main" id="{A5BE39FB-6245-439D-AADA-4A103B532688}"/>
              </a:ext>
            </a:extLst>
          </p:cNvPr>
          <p:cNvSpPr>
            <a:spLocks xmlns:a="http://schemas.openxmlformats.org/drawingml/2006/main" noGrp="1"/>
          </p:cNvSpPr>
          <p:nvPr/>
        </p:nvSpPr>
        <p:spPr>
          <a:xfrm xmlns:a="http://schemas.openxmlformats.org/drawingml/2006/main">
            <a:off x="3401568" y="2011680"/>
            <a:ext cx="2606040" cy="2743200"/>
          </a:xfrm>
          <a:prstGeom xmlns:a="http://schemas.openxmlformats.org/drawingml/2006/main" prst="roundRect">
            <a:avLst>
              <a:gd name="adj" fmla="val 2105"/>
            </a:avLst>
          </a:prstGeom>
          <a:solidFill xmlns:a="http://schemas.openxmlformats.org/drawingml/2006/main">
            <a:srgbClr val="F4F6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9AB59AE-677C-4711-BFFC-09F3FF15F32D}"/>
              </a:ext>
            </a:extLst>
          </p:cNvPr>
          <p:cNvSpPr>
            <a:spLocks xmlns:a="http://schemas.openxmlformats.org/drawingml/2006/main" noGrp="1"/>
          </p:cNvSpPr>
          <p:nvPr/>
        </p:nvSpPr>
        <p:spPr>
          <a:xfrm xmlns:a="http://schemas.openxmlformats.org/drawingml/2006/main">
            <a:off x="3657600" y="2194560"/>
            <a:ext cx="2093976"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50" b="1">
                <a:solidFill>
                  <a:srgbClr val="16674F"/>
                </a:solidFill>
                <a:latin typeface="Cambria"/>
                <a:ea typeface="Cambria"/>
                <a:cs typeface="Cambria"/>
              </a:defRPr>
            </a:pPr>
            <a:r>
              <a:rPr sz="1550" b="1">
                <a:solidFill>
                  <a:srgbClr val="16674F"/>
                </a:solidFill>
                <a:latin typeface="Cambria"/>
                <a:ea typeface="Cambria"/>
                <a:cs typeface="Cambria"/>
              </a:rPr>
              <a:t>10:30–15:30</a:t>
            </a:r>
          </a:p>
        </p:txBody>
      </p:sp>
      <p:sp>
        <p:nvSpPr>
          <p:cNvPr id="11" name="">
            <a:extLst xmlns:a="http://schemas.openxmlformats.org/drawingml/2006/main">
              <a:ext uri="{FF2B5EF4-FFF2-40B4-BE49-F238E27FC236}">
                <a16:creationId xmlns:a16="http://schemas.microsoft.com/office/drawing/2014/main" id="{F36E9848-CD09-4BFF-AF03-202F8E865B1C}"/>
              </a:ext>
            </a:extLst>
          </p:cNvPr>
          <p:cNvSpPr>
            <a:spLocks xmlns:a="http://schemas.openxmlformats.org/drawingml/2006/main" noGrp="1"/>
          </p:cNvSpPr>
          <p:nvPr/>
        </p:nvSpPr>
        <p:spPr>
          <a:xfrm xmlns:a="http://schemas.openxmlformats.org/drawingml/2006/main">
            <a:off x="3657600" y="2770632"/>
            <a:ext cx="2093976"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Завершённые свечи CNY/RUB начиная с 10:00.</a:t>
            </a:r>
          </a:p>
          <a:p xmlns:a="http://schemas.openxmlformats.org/drawingml/2006/main">
            <a:r>
              <a:t/>
            </a:r>
          </a:p>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Средняя цена к текущему ЦБ, ранг по прошлым дням и калибровка.</a:t>
            </a:r>
          </a:p>
        </p:txBody>
      </p:sp>
      <p:sp>
        <p:nvSpPr>
          <p:cNvPr id="12" name="">
            <a:extLst xmlns:a="http://schemas.openxmlformats.org/drawingml/2006/main">
              <a:ext uri="{FF2B5EF4-FFF2-40B4-BE49-F238E27FC236}">
                <a16:creationId xmlns:a16="http://schemas.microsoft.com/office/drawing/2014/main" id="{AB208ACA-A678-4477-AF2B-FD518FE3D975}"/>
              </a:ext>
            </a:extLst>
          </p:cNvPr>
          <p:cNvSpPr>
            <a:spLocks xmlns:a="http://schemas.openxmlformats.org/drawingml/2006/main" noGrp="1"/>
          </p:cNvSpPr>
          <p:nvPr/>
        </p:nvSpPr>
        <p:spPr>
          <a:xfrm xmlns:a="http://schemas.openxmlformats.org/drawingml/2006/main">
            <a:off x="6163056" y="2011680"/>
            <a:ext cx="2606040" cy="2743200"/>
          </a:xfrm>
          <a:prstGeom xmlns:a="http://schemas.openxmlformats.org/drawingml/2006/main" prst="roundRect">
            <a:avLst>
              <a:gd name="adj" fmla="val 2105"/>
            </a:avLst>
          </a:prstGeom>
          <a:solidFill xmlns:a="http://schemas.openxmlformats.org/drawingml/2006/main">
            <a:srgbClr val="F4F6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E042E1F-AEBD-445C-ADC9-0E0EF03E78C6}"/>
              </a:ext>
            </a:extLst>
          </p:cNvPr>
          <p:cNvSpPr>
            <a:spLocks xmlns:a="http://schemas.openxmlformats.org/drawingml/2006/main" noGrp="1"/>
          </p:cNvSpPr>
          <p:nvPr/>
        </p:nvSpPr>
        <p:spPr>
          <a:xfrm xmlns:a="http://schemas.openxmlformats.org/drawingml/2006/main">
            <a:off x="6419088" y="2194560"/>
            <a:ext cx="2093976"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50" b="1">
                <a:solidFill>
                  <a:srgbClr val="9C5B12"/>
                </a:solidFill>
                <a:latin typeface="Cambria"/>
                <a:ea typeface="Cambria"/>
                <a:cs typeface="Cambria"/>
              </a:defRPr>
            </a:pPr>
            <a:r>
              <a:rPr sz="1550" b="1">
                <a:solidFill>
                  <a:srgbClr val="9C5B12"/>
                </a:solidFill>
                <a:latin typeface="Cambria"/>
                <a:ea typeface="Cambria"/>
                <a:cs typeface="Cambria"/>
              </a:rPr>
              <a:t>15:30–получение</a:t>
            </a:r>
          </a:p>
        </p:txBody>
      </p:sp>
      <p:sp>
        <p:nvSpPr>
          <p:cNvPr id="14" name="">
            <a:extLst xmlns:a="http://schemas.openxmlformats.org/drawingml/2006/main">
              <a:ext uri="{FF2B5EF4-FFF2-40B4-BE49-F238E27FC236}">
                <a16:creationId xmlns:a16="http://schemas.microsoft.com/office/drawing/2014/main" id="{4AF340B8-2484-4EBD-9230-E759D8F680B7}"/>
              </a:ext>
            </a:extLst>
          </p:cNvPr>
          <p:cNvSpPr>
            <a:spLocks xmlns:a="http://schemas.openxmlformats.org/drawingml/2006/main" noGrp="1"/>
          </p:cNvSpPr>
          <p:nvPr/>
        </p:nvSpPr>
        <p:spPr>
          <a:xfrm xmlns:a="http://schemas.openxmlformats.org/drawingml/2006/main">
            <a:off x="6419088" y="2770632"/>
            <a:ext cx="2093976"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Удерживаем последний доступный дневной прогноз.</a:t>
            </a:r>
          </a:p>
          <a:p xmlns:a="http://schemas.openxmlformats.org/drawingml/2006/main">
            <a:r>
              <a:t/>
            </a:r>
          </a:p>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Без новых данных не изображаем обновление.</a:t>
            </a:r>
          </a:p>
        </p:txBody>
      </p:sp>
      <p:sp>
        <p:nvSpPr>
          <p:cNvPr id="15" name="">
            <a:extLst xmlns:a="http://schemas.openxmlformats.org/drawingml/2006/main">
              <a:ext uri="{FF2B5EF4-FFF2-40B4-BE49-F238E27FC236}">
                <a16:creationId xmlns:a16="http://schemas.microsoft.com/office/drawing/2014/main" id="{2F434272-91E1-4048-BA13-8414282A7B53}"/>
              </a:ext>
            </a:extLst>
          </p:cNvPr>
          <p:cNvSpPr>
            <a:spLocks xmlns:a="http://schemas.openxmlformats.org/drawingml/2006/main" noGrp="1"/>
          </p:cNvSpPr>
          <p:nvPr/>
        </p:nvSpPr>
        <p:spPr>
          <a:xfrm xmlns:a="http://schemas.openxmlformats.org/drawingml/2006/main">
            <a:off x="8924544" y="2011680"/>
            <a:ext cx="2606040" cy="2743200"/>
          </a:xfrm>
          <a:prstGeom xmlns:a="http://schemas.openxmlformats.org/drawingml/2006/main" prst="roundRect">
            <a:avLst>
              <a:gd name="adj" fmla="val 2105"/>
            </a:avLst>
          </a:prstGeom>
          <a:solidFill xmlns:a="http://schemas.openxmlformats.org/drawingml/2006/main">
            <a:srgbClr val="F4F6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DD543BC-7184-4A2A-954B-047B0D8D1E3B}"/>
              </a:ext>
            </a:extLst>
          </p:cNvPr>
          <p:cNvSpPr>
            <a:spLocks xmlns:a="http://schemas.openxmlformats.org/drawingml/2006/main" noGrp="1"/>
          </p:cNvSpPr>
          <p:nvPr/>
        </p:nvSpPr>
        <p:spPr>
          <a:xfrm xmlns:a="http://schemas.openxmlformats.org/drawingml/2006/main">
            <a:off x="9180576" y="2194560"/>
            <a:ext cx="2093976"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50" b="1">
                <a:solidFill>
                  <a:srgbClr val="16674F"/>
                </a:solidFill>
                <a:latin typeface="Cambria"/>
                <a:ea typeface="Cambria"/>
                <a:cs typeface="Cambria"/>
              </a:defRPr>
            </a:pPr>
            <a:r>
              <a:rPr sz="1550" b="1">
                <a:solidFill>
                  <a:srgbClr val="16674F"/>
                </a:solidFill>
                <a:latin typeface="Cambria"/>
                <a:ea typeface="Cambria"/>
                <a:cs typeface="Cambria"/>
              </a:rPr>
              <a:t>После получения</a:t>
            </a:r>
          </a:p>
        </p:txBody>
      </p:sp>
      <p:sp>
        <p:nvSpPr>
          <p:cNvPr id="17" name="">
            <a:extLst xmlns:a="http://schemas.openxmlformats.org/drawingml/2006/main">
              <a:ext uri="{FF2B5EF4-FFF2-40B4-BE49-F238E27FC236}">
                <a16:creationId xmlns:a16="http://schemas.microsoft.com/office/drawing/2014/main" id="{2B90FE56-EBB4-4460-98CF-8319E32D9565}"/>
              </a:ext>
            </a:extLst>
          </p:cNvPr>
          <p:cNvSpPr>
            <a:spLocks xmlns:a="http://schemas.openxmlformats.org/drawingml/2006/main" noGrp="1"/>
          </p:cNvSpPr>
          <p:nvPr/>
        </p:nvSpPr>
        <p:spPr>
          <a:xfrm xmlns:a="http://schemas.openxmlformats.org/drawingml/2006/main">
            <a:off x="9180576" y="2770632"/>
            <a:ext cx="2093976"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Известное изменение ЦБ на завтра и исторические модели.</a:t>
            </a:r>
          </a:p>
          <a:p xmlns:a="http://schemas.openxmlformats.org/drawingml/2006/main">
            <a:r>
              <a:t/>
            </a:r>
          </a:p>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CatBoost оценивает температуру. Ансамбль отдельно отбирает пуши.</a:t>
            </a:r>
          </a:p>
        </p:txBody>
      </p:sp>
      <p:sp>
        <p:nvSpPr>
          <p:cNvPr id="18" name="">
            <a:extLst xmlns:a="http://schemas.openxmlformats.org/drawingml/2006/main">
              <a:ext uri="{FF2B5EF4-FFF2-40B4-BE49-F238E27FC236}">
                <a16:creationId xmlns:a16="http://schemas.microsoft.com/office/drawing/2014/main" id="{AB894553-1A28-44FB-A910-C33A421073AF}"/>
              </a:ext>
            </a:extLst>
          </p:cNvPr>
          <p:cNvSpPr>
            <a:spLocks xmlns:a="http://schemas.openxmlformats.org/drawingml/2006/main" noGrp="1"/>
          </p:cNvSpPr>
          <p:nvPr/>
        </p:nvSpPr>
        <p:spPr>
          <a:xfrm xmlns:a="http://schemas.openxmlformats.org/drawingml/2006/main">
            <a:off x="640080" y="4992624"/>
            <a:ext cx="10881360" cy="1152144"/>
          </a:xfrm>
          <a:prstGeom xmlns:a="http://schemas.openxmlformats.org/drawingml/2006/main" prst="roundRect">
            <a:avLst>
              <a:gd name="adj" fmla="val 4762"/>
            </a:avLst>
          </a:prstGeom>
          <a:solidFill xmlns:a="http://schemas.openxmlformats.org/drawingml/2006/main">
            <a:srgbClr val="1A253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763AA63-3375-4EC6-9DAB-DA61D96D35B1}"/>
              </a:ext>
            </a:extLst>
          </p:cNvPr>
          <p:cNvSpPr>
            <a:spLocks xmlns:a="http://schemas.openxmlformats.org/drawingml/2006/main" noGrp="1"/>
          </p:cNvSpPr>
          <p:nvPr/>
        </p:nvSpPr>
        <p:spPr>
          <a:xfrm xmlns:a="http://schemas.openxmlformats.org/drawingml/2006/main">
            <a:off x="914400" y="5148072"/>
            <a:ext cx="103327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E0A75E"/>
                </a:solidFill>
                <a:latin typeface="Cambria"/>
                <a:ea typeface="Cambria"/>
                <a:cs typeface="Cambria"/>
              </a:defRPr>
            </a:pPr>
            <a:r>
              <a:rPr sz="1550" b="1">
                <a:solidFill>
                  <a:srgbClr val="E0A75E"/>
                </a:solidFill>
                <a:latin typeface="Cambria"/>
                <a:ea typeface="Cambria"/>
                <a:cs typeface="Cambria"/>
              </a:rPr>
              <a:t>Когда отправляем</a:t>
            </a:r>
          </a:p>
        </p:txBody>
      </p:sp>
      <p:sp>
        <p:nvSpPr>
          <p:cNvPr id="20" name="">
            <a:extLst xmlns:a="http://schemas.openxmlformats.org/drawingml/2006/main">
              <a:ext uri="{FF2B5EF4-FFF2-40B4-BE49-F238E27FC236}">
                <a16:creationId xmlns:a16="http://schemas.microsoft.com/office/drawing/2014/main" id="{FBA51C07-C93E-4E53-889A-2EE67980D6BA}"/>
              </a:ext>
            </a:extLst>
          </p:cNvPr>
          <p:cNvSpPr>
            <a:spLocks xmlns:a="http://schemas.openxmlformats.org/drawingml/2006/main" noGrp="1"/>
          </p:cNvSpPr>
          <p:nvPr/>
        </p:nvSpPr>
        <p:spPr>
          <a:xfrm xmlns:a="http://schemas.openxmlformats.org/drawingml/2006/main">
            <a:off x="914400" y="5568696"/>
            <a:ext cx="10332720" cy="3931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C7CFD8"/>
                </a:solidFill>
                <a:latin typeface="Calibri"/>
                <a:ea typeface="Calibri"/>
                <a:cs typeface="Calibri"/>
              </a:defRPr>
            </a:pPr>
            <a:r>
              <a:rPr sz="1250">
                <a:solidFill>
                  <a:srgbClr val="C7CFD8"/>
                </a:solidFill>
                <a:latin typeface="Calibri"/>
                <a:ea typeface="Calibri"/>
                <a:cs typeface="Calibri"/>
              </a:rPr>
              <a:t>После получения курса: завтра не дешевле, есть сигнал ансамбля, пройдены фильтры банка. При переносе на утро считаем заново.</a:t>
            </a:r>
          </a:p>
        </p:txBody>
      </p:sp>
      <p:sp>
        <p:nvSpPr>
          <p:cNvPr id="21" name="">
            <a:extLst xmlns:a="http://schemas.openxmlformats.org/drawingml/2006/main">
              <a:ext uri="{FF2B5EF4-FFF2-40B4-BE49-F238E27FC236}">
                <a16:creationId xmlns:a16="http://schemas.microsoft.com/office/drawing/2014/main" id="{4DB7133F-6573-4C1E-A2C4-49A9B01747D7}"/>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Выходной или сбой источника: история и последнее доступное состояние. Нет новых данных — нет фиктивного обновления.</a:t>
            </a:r>
          </a:p>
        </p:txBody>
      </p:sp>
      <p:sp>
        <p:nvSpPr>
          <p:cNvPr id="22" name="Solution navigation 1"/>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3" name="Solution navigation 2"/>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24" name="Solution navigation 3"/>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5" name="Solution navigation 4"/>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6" name="Solution navigation 5"/>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27" name="Solution navigation 6"/>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8" name="Solution navigation 7"/>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9" name="Solution navigation 8"/>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3 · Пуш</a:t>
            </a:r>
            <a:endParaRPr sz="1050"/>
          </a:p>
        </p:txBody>
      </p:sp>
      <p:sp>
        <p:nvSpPr>
          <p:cNvPr id="30" name="Solution navigation 9"/>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31" name="Solution navigation 10"/>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32" name="Solution navigation 11"/>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4 · Экран перевода</a:t>
            </a:r>
            <a:endParaRPr sz="1050"/>
          </a:p>
        </p:txBody>
      </p:sp>
      <p:sp>
        <p:nvSpPr>
          <p:cNvPr id="33" name="Solution navigation 12"/>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34" name="Solution navigation 13"/>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35" name="Solution navigation 14"/>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5 · Решение</a:t>
            </a:r>
            <a:endParaRPr sz="1050"/>
          </a:p>
        </p:txBody>
      </p:sp>
      <p:sp>
        <p:nvSpPr>
          <p:cNvPr id="36" name="Solution navigation 15"/>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37" name="Solution navigation 16"/>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38" name="Solution navigation 17"/>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spTree>
    <p:extLst>
      <p:ext uri="{BB962C8B-B14F-4D97-AF65-F5344CB8AC3E}">
        <p14:creationId xmlns:p14="http://schemas.microsoft.com/office/powerpoint/2010/main" val="211651859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ADB2A00-9B56-4041-8222-4D7A752F827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0B3C177C-D240-4558-82B0-239C0414461D}"/>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400" b="1">
                <a:solidFill>
                  <a:srgbClr val="FFFFFF"/>
                </a:solidFill>
                <a:latin typeface="Calibri"/>
                <a:ea typeface="Calibri"/>
                <a:cs typeface="Calibri"/>
              </a:defRPr>
            </a:pPr>
            <a:r>
              <a:rPr sz="1400" b="1">
                <a:solidFill>
                  <a:srgbClr val="FFFFFF"/>
                </a:solidFill>
                <a:latin typeface="Calibri"/>
                <a:ea typeface="Calibri"/>
                <a:cs typeface="Calibri"/>
              </a:rPr>
              <a:t>7</a:t>
            </a:r>
            <a:endParaRPr sz="1400"/>
          </a:p>
        </p:txBody>
      </p:sp>
      <p:sp>
        <p:nvSpPr>
          <p:cNvPr id="4" name="Text 2">
            <a:extLst xmlns:a="http://schemas.openxmlformats.org/drawingml/2006/main">
              <a:ext uri="{FF2B5EF4-FFF2-40B4-BE49-F238E27FC236}">
                <a16:creationId xmlns:a16="http://schemas.microsoft.com/office/drawing/2014/main" id="{DDBA8352-4062-4D69-AE37-8DC443CF3196}"/>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Пуш: что происходит, если его открыли не сразу</a:t>
            </a:r>
            <a:endParaRPr sz="2700"/>
          </a:p>
        </p:txBody>
      </p:sp>
      <p:pic>
        <p:nvPicPr>
          <p:cNvPr id="22" name="Image 0"/>
          <p:cNvPicPr>
            <a:picLocks xmlns:a="http://schemas.openxmlformats.org/drawingml/2006/main" noChangeAspect="1"/>
          </p:cNvPicPr>
          <p:nvPr/>
        </p:nvPicPr>
        <p:blipFill>
          <a:blip xmlns:r="http://schemas.openxmlformats.org/officeDocument/2006/relationships" xmlns:a="http://schemas.openxmlformats.org/drawingml/2006/main" r:embed="Rbc0a8ca95ff94b19"/>
          <a:stretch xmlns:a="http://schemas.openxmlformats.org/drawingml/2006/main">
            <a:fillRect l="0" t="0" r="0" b="0"/>
          </a:stretch>
        </p:blipFill>
        <p:spPr>
          <a:xfrm xmlns:a="http://schemas.openxmlformats.org/drawingml/2006/main">
            <a:off x="640080" y="1188720"/>
            <a:ext cx="2468880" cy="2676266"/>
          </a:xfrm>
          <a:prstGeom xmlns:a="http://schemas.openxmlformats.org/drawingml/2006/main" prst="rect">
            <a:avLst/>
          </a:prstGeom>
        </p:spPr>
      </p:pic>
      <p:pic>
        <p:nvPicPr>
          <p:cNvPr id="23" name="Image 1"/>
          <p:cNvPicPr>
            <a:picLocks xmlns:a="http://schemas.openxmlformats.org/drawingml/2006/main" noChangeAspect="1"/>
          </p:cNvPicPr>
          <p:nvPr/>
        </p:nvPicPr>
        <p:blipFill>
          <a:blip xmlns:r="http://schemas.openxmlformats.org/officeDocument/2006/relationships" xmlns:a="http://schemas.openxmlformats.org/drawingml/2006/main" r:embed="R0f44f78bba954af9"/>
          <a:stretch xmlns:a="http://schemas.openxmlformats.org/drawingml/2006/main">
            <a:fillRect l="0" t="0" r="0" b="0"/>
          </a:stretch>
        </p:blipFill>
        <p:spPr>
          <a:xfrm xmlns:a="http://schemas.openxmlformats.org/drawingml/2006/main">
            <a:off x="3246120" y="1188720"/>
            <a:ext cx="2468880" cy="5036515"/>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BE39509B-0C17-42E4-B2AB-46CF55D6A6DB}"/>
              </a:ext>
            </a:extLst>
          </p:cNvPr>
          <p:cNvSpPr>
            <a:spLocks xmlns:a="http://schemas.openxmlformats.org/drawingml/2006/main" noGrp="1"/>
          </p:cNvSpPr>
          <p:nvPr/>
        </p:nvSpPr>
        <p:spPr>
          <a:xfrm xmlns:a="http://schemas.openxmlformats.org/drawingml/2006/main">
            <a:off x="5852160" y="1188720"/>
            <a:ext cx="5669280" cy="1572768"/>
          </a:xfrm>
          <a:prstGeom xmlns:a="http://schemas.openxmlformats.org/drawingml/2006/main" prst="roundRect">
            <a:avLst>
              <a:gd name="adj" fmla="val 3488"/>
            </a:avLst>
          </a:prstGeom>
          <a:solidFill xmlns:a="http://schemas.openxmlformats.org/drawingml/2006/main">
            <a:srgbClr val="F4F6F8"/>
          </a:solidFill>
        </p:spPr>
      </p:sp>
      <p:sp>
        <p:nvSpPr>
          <p:cNvPr id="8" name="Text 4">
            <a:extLst xmlns:a="http://schemas.openxmlformats.org/drawingml/2006/main">
              <a:ext uri="{FF2B5EF4-FFF2-40B4-BE49-F238E27FC236}">
                <a16:creationId xmlns:a16="http://schemas.microsoft.com/office/drawing/2014/main" id="{84E44D5F-E67B-4BC2-8F4C-CF2EF05384CC}"/>
              </a:ext>
            </a:extLst>
          </p:cNvPr>
          <p:cNvSpPr>
            <a:spLocks xmlns:a="http://schemas.openxmlformats.org/drawingml/2006/main" noGrp="1"/>
          </p:cNvSpPr>
          <p:nvPr/>
        </p:nvSpPr>
        <p:spPr>
          <a:xfrm xmlns:a="http://schemas.openxmlformats.org/drawingml/2006/main">
            <a:off x="6108192" y="1371600"/>
            <a:ext cx="51572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Обновляем контекст при открытии</a:t>
            </a:r>
            <a:endParaRPr sz="1550"/>
          </a:p>
        </p:txBody>
      </p:sp>
      <p:sp>
        <p:nvSpPr>
          <p:cNvPr id="9" name="Text 5">
            <a:extLst xmlns:a="http://schemas.openxmlformats.org/drawingml/2006/main">
              <a:ext uri="{FF2B5EF4-FFF2-40B4-BE49-F238E27FC236}">
                <a16:creationId xmlns:a16="http://schemas.microsoft.com/office/drawing/2014/main" id="{29B63CB1-CB66-4AFF-A4DD-5075DC85FD80}"/>
              </a:ext>
            </a:extLst>
          </p:cNvPr>
          <p:cNvSpPr>
            <a:spLocks xmlns:a="http://schemas.openxmlformats.org/drawingml/2006/main" noGrp="1"/>
          </p:cNvSpPr>
          <p:nvPr/>
        </p:nvSpPr>
        <p:spPr>
          <a:xfrm xmlns:a="http://schemas.openxmlformats.org/drawingml/2006/main">
            <a:off x="6108192" y="1901952"/>
            <a:ext cx="515721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Не рассчитываем, что старый пуш обязательно заменится на устройстве. По нажатию всегда загружаем свежие условия и показываем изменение суммы.</a:t>
            </a:r>
            <a:endParaRPr sz="1250"/>
          </a:p>
        </p:txBody>
      </p:sp>
      <p:sp>
        <p:nvSpPr>
          <p:cNvPr id="10" name="Shape 6">
            <a:extLst xmlns:a="http://schemas.openxmlformats.org/drawingml/2006/main">
              <a:ext uri="{FF2B5EF4-FFF2-40B4-BE49-F238E27FC236}">
                <a16:creationId xmlns:a16="http://schemas.microsoft.com/office/drawing/2014/main" id="{B2EB08E2-449A-4188-8F51-841660D39C15}"/>
              </a:ext>
            </a:extLst>
          </p:cNvPr>
          <p:cNvSpPr>
            <a:spLocks xmlns:a="http://schemas.openxmlformats.org/drawingml/2006/main" noGrp="1"/>
          </p:cNvSpPr>
          <p:nvPr/>
        </p:nvSpPr>
        <p:spPr>
          <a:xfrm xmlns:a="http://schemas.openxmlformats.org/drawingml/2006/main">
            <a:off x="5852160" y="2926080"/>
            <a:ext cx="5669280" cy="1572768"/>
          </a:xfrm>
          <a:prstGeom xmlns:a="http://schemas.openxmlformats.org/drawingml/2006/main" prst="roundRect">
            <a:avLst>
              <a:gd name="adj" fmla="val 3488"/>
            </a:avLst>
          </a:prstGeom>
          <a:solidFill xmlns:a="http://schemas.openxmlformats.org/drawingml/2006/main">
            <a:srgbClr val="F4F6F8"/>
          </a:solidFill>
        </p:spPr>
      </p:sp>
      <p:sp>
        <p:nvSpPr>
          <p:cNvPr id="11" name="Text 7">
            <a:extLst xmlns:a="http://schemas.openxmlformats.org/drawingml/2006/main">
              <a:ext uri="{FF2B5EF4-FFF2-40B4-BE49-F238E27FC236}">
                <a16:creationId xmlns:a16="http://schemas.microsoft.com/office/drawing/2014/main" id="{551C31B6-FEDB-4886-A927-3F6631154BBD}"/>
              </a:ext>
            </a:extLst>
          </p:cNvPr>
          <p:cNvSpPr>
            <a:spLocks xmlns:a="http://schemas.openxmlformats.org/drawingml/2006/main" noGrp="1"/>
          </p:cNvSpPr>
          <p:nvPr/>
        </p:nvSpPr>
        <p:spPr>
          <a:xfrm xmlns:a="http://schemas.openxmlformats.org/drawingml/2006/main">
            <a:off x="6108192" y="3108960"/>
            <a:ext cx="51572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E3226"/>
                </a:solidFill>
                <a:latin typeface="Cambria"/>
                <a:ea typeface="Cambria"/>
                <a:cs typeface="Cambria"/>
              </a:rPr>
              <a:t>Дата и источник в сообщении</a:t>
            </a:r>
            <a:endParaRPr sz="1550"/>
          </a:p>
        </p:txBody>
      </p:sp>
      <p:sp>
        <p:nvSpPr>
          <p:cNvPr id="12" name="Text 8">
            <a:extLst xmlns:a="http://schemas.openxmlformats.org/drawingml/2006/main">
              <a:ext uri="{FF2B5EF4-FFF2-40B4-BE49-F238E27FC236}">
                <a16:creationId xmlns:a16="http://schemas.microsoft.com/office/drawing/2014/main" id="{E22840B7-88FE-4FB4-A218-88B9BE6F8319}"/>
              </a:ext>
            </a:extLst>
          </p:cNvPr>
          <p:cNvSpPr>
            <a:spLocks xmlns:a="http://schemas.openxmlformats.org/drawingml/2006/main" noGrp="1"/>
          </p:cNvSpPr>
          <p:nvPr/>
        </p:nvSpPr>
        <p:spPr>
          <a:xfrm xmlns:a="http://schemas.openxmlformats.org/drawingml/2006/main">
            <a:off x="6108192" y="3639312"/>
            <a:ext cx="515721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Пуш остаётся историческим сообщением. Дата курса позволяет понять, к какому моменту относилась сумма.</a:t>
            </a:r>
            <a:endParaRPr sz="1250"/>
          </a:p>
        </p:txBody>
      </p:sp>
      <p:sp>
        <p:nvSpPr>
          <p:cNvPr id="13" name="Shape 9">
            <a:extLst xmlns:a="http://schemas.openxmlformats.org/drawingml/2006/main">
              <a:ext uri="{FF2B5EF4-FFF2-40B4-BE49-F238E27FC236}">
                <a16:creationId xmlns:a16="http://schemas.microsoft.com/office/drawing/2014/main" id="{0B92732E-6480-468F-B18D-261EC4CBECF8}"/>
              </a:ext>
            </a:extLst>
          </p:cNvPr>
          <p:cNvSpPr>
            <a:spLocks xmlns:a="http://schemas.openxmlformats.org/drawingml/2006/main" noGrp="1"/>
          </p:cNvSpPr>
          <p:nvPr/>
        </p:nvSpPr>
        <p:spPr>
          <a:xfrm xmlns:a="http://schemas.openxmlformats.org/drawingml/2006/main">
            <a:off x="5852160" y="4663440"/>
            <a:ext cx="5669280" cy="1572768"/>
          </a:xfrm>
          <a:prstGeom xmlns:a="http://schemas.openxmlformats.org/drawingml/2006/main" prst="roundRect">
            <a:avLst>
              <a:gd name="adj" fmla="val 3488"/>
            </a:avLst>
          </a:prstGeom>
          <a:solidFill xmlns:a="http://schemas.openxmlformats.org/drawingml/2006/main">
            <a:srgbClr val="F4F6F8"/>
          </a:solidFill>
        </p:spPr>
      </p:sp>
      <p:sp>
        <p:nvSpPr>
          <p:cNvPr id="14" name="Text 10">
            <a:extLst xmlns:a="http://schemas.openxmlformats.org/drawingml/2006/main">
              <a:ext uri="{FF2B5EF4-FFF2-40B4-BE49-F238E27FC236}">
                <a16:creationId xmlns:a16="http://schemas.microsoft.com/office/drawing/2014/main" id="{7328998F-4562-4844-8D4E-0BE87BB5EBD6}"/>
              </a:ext>
            </a:extLst>
          </p:cNvPr>
          <p:cNvSpPr>
            <a:spLocks xmlns:a="http://schemas.openxmlformats.org/drawingml/2006/main" noGrp="1"/>
          </p:cNvSpPr>
          <p:nvPr/>
        </p:nvSpPr>
        <p:spPr>
          <a:xfrm xmlns:a="http://schemas.openxmlformats.org/drawingml/2006/main">
            <a:off x="6108192" y="4846320"/>
            <a:ext cx="51572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Свежая оценка вместо срока «сутки»</a:t>
            </a:r>
            <a:endParaRPr sz="1550"/>
          </a:p>
        </p:txBody>
      </p:sp>
      <p:sp>
        <p:nvSpPr>
          <p:cNvPr id="15" name="Text 11">
            <a:extLst xmlns:a="http://schemas.openxmlformats.org/drawingml/2006/main">
              <a:ext uri="{FF2B5EF4-FFF2-40B4-BE49-F238E27FC236}">
                <a16:creationId xmlns:a16="http://schemas.microsoft.com/office/drawing/2014/main" id="{9674EE9D-7020-45FA-B2BA-77C1567E8F9C}"/>
              </a:ext>
            </a:extLst>
          </p:cNvPr>
          <p:cNvSpPr>
            <a:spLocks xmlns:a="http://schemas.openxmlformats.org/drawingml/2006/main" noGrp="1"/>
          </p:cNvSpPr>
          <p:nvPr/>
        </p:nvSpPr>
        <p:spPr>
          <a:xfrm xmlns:a="http://schemas.openxmlformats.org/drawingml/2006/main">
            <a:off x="6108192" y="5376672"/>
            <a:ext cx="515721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Температуру пересчитываем из доступных данных. Если источник устарел, не показываем старую оценку как новую и не обещаем прежние условия.</a:t>
            </a:r>
            <a:endParaRPr sz="1250"/>
          </a:p>
        </p:txBody>
      </p:sp>
      <p:sp>
        <p:nvSpPr>
          <p:cNvPr id="16" name="Text 12">
            <a:extLst xmlns:a="http://schemas.openxmlformats.org/drawingml/2006/main">
              <a:ext uri="{FF2B5EF4-FFF2-40B4-BE49-F238E27FC236}">
                <a16:creationId xmlns:a16="http://schemas.microsoft.com/office/drawing/2014/main" id="{106F178B-A886-47BA-9461-03424B4DA631}"/>
              </a:ext>
            </a:extLst>
          </p:cNvPr>
          <p:cNvSpPr>
            <a:spLocks xmlns:a="http://schemas.openxmlformats.org/drawingml/2006/main" noGrp="1"/>
          </p:cNvSpPr>
          <p:nvPr/>
        </p:nvSpPr>
        <p:spPr>
          <a:xfrm xmlns:a="http://schemas.openxmlformats.org/drawingml/2006/main">
            <a:off x="640080" y="6309360"/>
            <a:ext cx="10881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6E7A88"/>
                </a:solidFill>
                <a:latin typeface="Calibri"/>
                <a:ea typeface="Calibri"/>
                <a:cs typeface="Calibri"/>
              </a:rPr>
              <a:t>Макеты сценария «момент изменился». Суммы по ЦБ иллюстративные. В пилоте используем актуальные условия банка.</a:t>
            </a:r>
            <a:endParaRPr sz="1050"/>
          </a:p>
        </p:txBody>
      </p:sp>
    </p:spTree>
    <p:extLst>
      <p:ext uri="{BB962C8B-B14F-4D97-AF65-F5344CB8AC3E}">
        <p14:creationId xmlns:p14="http://schemas.microsoft.com/office/powerpoint/2010/main" val="9090730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F8A18EF-F5B1-4086-B97B-55B2776A5DEA}"/>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B3271CC0-2175-48A5-9FEF-ADF0FCCA9334}"/>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400" b="1">
                <a:solidFill>
                  <a:srgbClr val="FFFFFF"/>
                </a:solidFill>
                <a:latin typeface="Calibri"/>
                <a:ea typeface="Calibri"/>
                <a:cs typeface="Calibri"/>
              </a:defRPr>
            </a:pPr>
            <a:r>
              <a:rPr sz="1400" b="1">
                <a:solidFill>
                  <a:srgbClr val="FFFFFF"/>
                </a:solidFill>
                <a:latin typeface="Calibri"/>
                <a:ea typeface="Calibri"/>
                <a:cs typeface="Calibri"/>
              </a:rPr>
              <a:t>8</a:t>
            </a:r>
            <a:endParaRPr sz="1400"/>
          </a:p>
        </p:txBody>
      </p:sp>
      <p:sp>
        <p:nvSpPr>
          <p:cNvPr id="4" name="Text 2">
            <a:extLst xmlns:a="http://schemas.openxmlformats.org/drawingml/2006/main">
              <a:ext uri="{FF2B5EF4-FFF2-40B4-BE49-F238E27FC236}">
                <a16:creationId xmlns:a16="http://schemas.microsoft.com/office/drawing/2014/main" id="{76B68D28-A18E-49D8-A898-70F513735425}"/>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Тексты: сто вариантов, девятнадцать в пилот</a:t>
            </a:r>
            <a:endParaRPr sz="2700"/>
          </a:p>
        </p:txBody>
      </p:sp>
      <p:sp>
        <p:nvSpPr>
          <p:cNvPr id="5" name="Text 3">
            <a:extLst xmlns:a="http://schemas.openxmlformats.org/drawingml/2006/main">
              <a:ext uri="{FF2B5EF4-FFF2-40B4-BE49-F238E27FC236}">
                <a16:creationId xmlns:a16="http://schemas.microsoft.com/office/drawing/2014/main" id="{AEB6E5A8-98D2-4B39-8014-C2CC5F9FF6E0}"/>
              </a:ext>
            </a:extLst>
          </p:cNvPr>
          <p:cNvSpPr>
            <a:spLocks xmlns:a="http://schemas.openxmlformats.org/drawingml/2006/main" noGrp="1"/>
          </p:cNvSpPr>
          <p:nvPr/>
        </p:nvSpPr>
        <p:spPr>
          <a:xfrm xmlns:a="http://schemas.openxmlformats.org/drawingml/2006/main">
            <a:off x="640080" y="1097280"/>
            <a:ext cx="108813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4E5966"/>
                </a:solidFill>
                <a:latin typeface="Calibri"/>
                <a:ea typeface="Calibri"/>
                <a:cs typeface="Calibri"/>
              </a:rPr>
              <a:t>Для каждого сообщения проверяем факт, дату и источник. Примеры ниже иллюстративные, с расчётом по ЦБ.</a:t>
            </a:r>
            <a:endParaRPr sz="1350"/>
          </a:p>
        </p:txBody>
      </p:sp>
      <p:sp>
        <p:nvSpPr>
          <p:cNvPr id="6" name="Shape 4">
            <a:extLst xmlns:a="http://schemas.openxmlformats.org/drawingml/2006/main">
              <a:ext uri="{FF2B5EF4-FFF2-40B4-BE49-F238E27FC236}">
                <a16:creationId xmlns:a16="http://schemas.microsoft.com/office/drawing/2014/main" id="{5F2C61EA-CA39-4177-96CD-B68D98609EDC}"/>
              </a:ext>
            </a:extLst>
          </p:cNvPr>
          <p:cNvSpPr>
            <a:spLocks xmlns:a="http://schemas.openxmlformats.org/drawingml/2006/main" noGrp="1"/>
          </p:cNvSpPr>
          <p:nvPr/>
        </p:nvSpPr>
        <p:spPr>
          <a:xfrm xmlns:a="http://schemas.openxmlformats.org/drawingml/2006/main">
            <a:off x="640080" y="1426464"/>
            <a:ext cx="3520440" cy="1481328"/>
          </a:xfrm>
          <a:prstGeom xmlns:a="http://schemas.openxmlformats.org/drawingml/2006/main" prst="roundRect">
            <a:avLst>
              <a:gd name="adj" fmla="val 3704"/>
            </a:avLst>
          </a:prstGeom>
          <a:solidFill xmlns:a="http://schemas.openxmlformats.org/drawingml/2006/main">
            <a:srgbClr val="F4F6F8"/>
          </a:solidFill>
        </p:spPr>
      </p:sp>
      <p:sp>
        <p:nvSpPr>
          <p:cNvPr id="7" name="Text 5">
            <a:extLst xmlns:a="http://schemas.openxmlformats.org/drawingml/2006/main">
              <a:ext uri="{FF2B5EF4-FFF2-40B4-BE49-F238E27FC236}">
                <a16:creationId xmlns:a16="http://schemas.microsoft.com/office/drawing/2014/main" id="{93C05B00-4E6A-4ACC-B1F2-AEC7DBD6F43E}"/>
              </a:ext>
            </a:extLst>
          </p:cNvPr>
          <p:cNvSpPr>
            <a:spLocks xmlns:a="http://schemas.openxmlformats.org/drawingml/2006/main" noGrp="1"/>
          </p:cNvSpPr>
          <p:nvPr/>
        </p:nvSpPr>
        <p:spPr>
          <a:xfrm xmlns:a="http://schemas.openxmlformats.org/drawingml/2006/main">
            <a:off x="896112" y="160934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Понятная сумма</a:t>
            </a:r>
            <a:endParaRPr sz="1550"/>
          </a:p>
        </p:txBody>
      </p:sp>
      <p:sp>
        <p:nvSpPr>
          <p:cNvPr id="8" name="Text 6">
            <a:extLst xmlns:a="http://schemas.openxmlformats.org/drawingml/2006/main">
              <a:ext uri="{FF2B5EF4-FFF2-40B4-BE49-F238E27FC236}">
                <a16:creationId xmlns:a16="http://schemas.microsoft.com/office/drawing/2014/main" id="{F0925C07-07B4-47B1-9BA5-076CEF5D4224}"/>
              </a:ext>
            </a:extLst>
          </p:cNvPr>
          <p:cNvSpPr>
            <a:spLocks xmlns:a="http://schemas.openxmlformats.org/drawingml/2006/main" noGrp="1"/>
          </p:cNvSpPr>
          <p:nvPr/>
        </p:nvSpPr>
        <p:spPr>
          <a:xfrm xmlns:a="http://schemas.openxmlformats.org/drawingml/2006/main">
            <a:off x="896112" y="2139696"/>
            <a:ext cx="300837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В пилоте сумма из котировки банка. В прототипе расчёт по ЦБ явно назван ориентиром.</a:t>
            </a:r>
            <a:endParaRPr sz="1250"/>
          </a:p>
        </p:txBody>
      </p:sp>
      <p:sp>
        <p:nvSpPr>
          <p:cNvPr id="9" name="Shape 7">
            <a:extLst xmlns:a="http://schemas.openxmlformats.org/drawingml/2006/main">
              <a:ext uri="{FF2B5EF4-FFF2-40B4-BE49-F238E27FC236}">
                <a16:creationId xmlns:a16="http://schemas.microsoft.com/office/drawing/2014/main" id="{864AE9C2-355D-4614-8F16-6203875E19E8}"/>
              </a:ext>
            </a:extLst>
          </p:cNvPr>
          <p:cNvSpPr>
            <a:spLocks xmlns:a="http://schemas.openxmlformats.org/drawingml/2006/main" noGrp="1"/>
          </p:cNvSpPr>
          <p:nvPr/>
        </p:nvSpPr>
        <p:spPr>
          <a:xfrm xmlns:a="http://schemas.openxmlformats.org/drawingml/2006/main">
            <a:off x="4325112" y="1426464"/>
            <a:ext cx="3520440" cy="1481328"/>
          </a:xfrm>
          <a:prstGeom xmlns:a="http://schemas.openxmlformats.org/drawingml/2006/main" prst="roundRect">
            <a:avLst>
              <a:gd name="adj" fmla="val 3704"/>
            </a:avLst>
          </a:prstGeom>
          <a:solidFill xmlns:a="http://schemas.openxmlformats.org/drawingml/2006/main">
            <a:srgbClr val="F4F6F8"/>
          </a:solidFill>
        </p:spPr>
      </p:sp>
      <p:sp>
        <p:nvSpPr>
          <p:cNvPr id="10" name="Text 8">
            <a:extLst xmlns:a="http://schemas.openxmlformats.org/drawingml/2006/main">
              <a:ext uri="{FF2B5EF4-FFF2-40B4-BE49-F238E27FC236}">
                <a16:creationId xmlns:a16="http://schemas.microsoft.com/office/drawing/2014/main" id="{A497CB07-207C-451E-8326-C9B3B51C55D4}"/>
              </a:ext>
            </a:extLst>
          </p:cNvPr>
          <p:cNvSpPr>
            <a:spLocks xmlns:a="http://schemas.openxmlformats.org/drawingml/2006/main" noGrp="1"/>
          </p:cNvSpPr>
          <p:nvPr/>
        </p:nvSpPr>
        <p:spPr>
          <a:xfrm xmlns:a="http://schemas.openxmlformats.org/drawingml/2006/main">
            <a:off x="4581144" y="160934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Дата последней</a:t>
            </a:r>
            <a:endParaRPr sz="1550"/>
          </a:p>
        </p:txBody>
      </p:sp>
      <p:sp>
        <p:nvSpPr>
          <p:cNvPr id="11" name="Text 9">
            <a:extLst xmlns:a="http://schemas.openxmlformats.org/drawingml/2006/main">
              <a:ext uri="{FF2B5EF4-FFF2-40B4-BE49-F238E27FC236}">
                <a16:creationId xmlns:a16="http://schemas.microsoft.com/office/drawing/2014/main" id="{65E85C34-2170-4C30-94D2-B2B553CEEC33}"/>
              </a:ext>
            </a:extLst>
          </p:cNvPr>
          <p:cNvSpPr>
            <a:spLocks xmlns:a="http://schemas.openxmlformats.org/drawingml/2006/main" noGrp="1"/>
          </p:cNvSpPr>
          <p:nvPr/>
        </p:nvSpPr>
        <p:spPr>
          <a:xfrm xmlns:a="http://schemas.openxmlformats.org/drawingml/2006/main">
            <a:off x="4581144" y="2139696"/>
            <a:ext cx="300837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В начале она читается как срок платежа: «вижу 4 сентября – значит, опоздал».</a:t>
            </a:r>
            <a:endParaRPr sz="1250"/>
          </a:p>
        </p:txBody>
      </p:sp>
      <p:sp>
        <p:nvSpPr>
          <p:cNvPr id="12" name="Shape 10">
            <a:extLst xmlns:a="http://schemas.openxmlformats.org/drawingml/2006/main">
              <a:ext uri="{FF2B5EF4-FFF2-40B4-BE49-F238E27FC236}">
                <a16:creationId xmlns:a16="http://schemas.microsoft.com/office/drawing/2014/main" id="{25F31455-F04D-4996-9A57-49C1A0E5E11E}"/>
              </a:ext>
            </a:extLst>
          </p:cNvPr>
          <p:cNvSpPr>
            <a:spLocks xmlns:a="http://schemas.openxmlformats.org/drawingml/2006/main" noGrp="1"/>
          </p:cNvSpPr>
          <p:nvPr/>
        </p:nvSpPr>
        <p:spPr>
          <a:xfrm xmlns:a="http://schemas.openxmlformats.org/drawingml/2006/main">
            <a:off x="8001000" y="1426464"/>
            <a:ext cx="3520440" cy="1481328"/>
          </a:xfrm>
          <a:prstGeom xmlns:a="http://schemas.openxmlformats.org/drawingml/2006/main" prst="roundRect">
            <a:avLst>
              <a:gd name="adj" fmla="val 3704"/>
            </a:avLst>
          </a:prstGeom>
          <a:solidFill xmlns:a="http://schemas.openxmlformats.org/drawingml/2006/main">
            <a:srgbClr val="F4F6F8"/>
          </a:solidFill>
        </p:spPr>
      </p:sp>
      <p:sp>
        <p:nvSpPr>
          <p:cNvPr id="13" name="Text 11">
            <a:extLst xmlns:a="http://schemas.openxmlformats.org/drawingml/2006/main">
              <a:ext uri="{FF2B5EF4-FFF2-40B4-BE49-F238E27FC236}">
                <a16:creationId xmlns:a16="http://schemas.microsoft.com/office/drawing/2014/main" id="{8727528D-34A1-422F-888F-33FE2518363C}"/>
              </a:ext>
            </a:extLst>
          </p:cNvPr>
          <p:cNvSpPr>
            <a:spLocks xmlns:a="http://schemas.openxmlformats.org/drawingml/2006/main" noGrp="1"/>
          </p:cNvSpPr>
          <p:nvPr/>
        </p:nvSpPr>
        <p:spPr>
          <a:xfrm xmlns:a="http://schemas.openxmlformats.org/drawingml/2006/main">
            <a:off x="8257032" y="160934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Только проверяемые факты</a:t>
            </a:r>
            <a:endParaRPr sz="1550"/>
          </a:p>
        </p:txBody>
      </p:sp>
      <p:sp>
        <p:nvSpPr>
          <p:cNvPr id="14" name="Text 12">
            <a:extLst xmlns:a="http://schemas.openxmlformats.org/drawingml/2006/main">
              <a:ext uri="{FF2B5EF4-FFF2-40B4-BE49-F238E27FC236}">
                <a16:creationId xmlns:a16="http://schemas.microsoft.com/office/drawing/2014/main" id="{A1B907A2-DC35-4EBC-B6D8-2FC7D7B0DC53}"/>
              </a:ext>
            </a:extLst>
          </p:cNvPr>
          <p:cNvSpPr>
            <a:spLocks xmlns:a="http://schemas.openxmlformats.org/drawingml/2006/main" noGrp="1"/>
          </p:cNvSpPr>
          <p:nvPr/>
        </p:nvSpPr>
        <p:spPr>
          <a:xfrm xmlns:a="http://schemas.openxmlformats.org/drawingml/2006/main">
            <a:off x="8257032" y="2139696"/>
            <a:ext cx="300837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Историческое сравнение не заменяем прогнозом. Если подходящего факта нет, модельный пуш пропускаем.</a:t>
            </a:r>
            <a:endParaRPr sz="1250"/>
          </a:p>
        </p:txBody>
      </p:sp>
      <p:graphicFrame>
        <p:nvGraphicFramePr>
          <p:cNvPr id="33" name="Table 0"/>
          <p:cNvGraphicFramePr/>
          <p:nvPr/>
        </p:nvGraphicFramePr>
        <p:xfrm>
          <a:off xmlns:a="http://schemas.openxmlformats.org/drawingml/2006/main" x="640080" y="3035808"/>
          <a:ext xmlns:a="http://schemas.openxmlformats.org/drawingml/2006/main" cx="10881360" cy="914400"/>
        </p:xfrm>
        <a:graphic xmlns:a="http://schemas.openxmlformats.org/drawingml/2006/main">
          <a:graphicData uri="http://schemas.openxmlformats.org/drawingml/2006/table">
            <a:tbl>
              <a:tblPr/>
              <a:tblGrid>
                <a:gridCol w="2103120"/>
                <a:gridCol w="2926080"/>
                <a:gridCol w="5852160"/>
              </a:tblGrid>
              <a:tr h="310896">
                <a:tc>
                  <a:txBody>
                    <a:bodyPr/>
                    <a:lstStyle/>
                    <a:p>
                      <a:pPr marL="0" indent="0">
                        <a:buNone/>
                      </a:pPr>
                      <a:r>
                        <a:rPr sz="1150" b="1">
                          <a:solidFill>
                            <a:srgbClr val="4E5966"/>
                          </a:solidFill>
                          <a:latin typeface="Calibri"/>
                          <a:ea typeface="Calibri"/>
                          <a:cs typeface="Calibri"/>
                        </a:rPr>
                        <a:t>Повод</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b="1">
                          <a:solidFill>
                            <a:srgbClr val="4E5966"/>
                          </a:solidFill>
                          <a:latin typeface="Calibri"/>
                          <a:ea typeface="Calibri"/>
                          <a:cs typeface="Calibri"/>
                        </a:rPr>
                        <a:t>Заголовок</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b="1">
                          <a:solidFill>
                            <a:srgbClr val="4E5966"/>
                          </a:solidFill>
                          <a:latin typeface="Calibri"/>
                          <a:ea typeface="Calibri"/>
                          <a:cs typeface="Calibri"/>
                        </a:rPr>
                        <a:t>Текст</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310896">
                <a:tc>
                  <a:txBody>
                    <a:bodyPr/>
                    <a:lstStyle/>
                    <a:p>
                      <a:pPr marL="0" indent="0">
                        <a:buNone/>
                      </a:pPr>
                      <a:r>
                        <a:rPr sz="1150">
                          <a:solidFill>
                            <a:srgbClr val="4E5966"/>
                          </a:solidFill>
                          <a:latin typeface="Calibri"/>
                          <a:ea typeface="Calibri"/>
                          <a:cs typeface="Calibri"/>
                        </a:rPr>
                        <a:t>Уровень достигнут</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Дошло до вашего уровня</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По ЦБ за 30 000 ₽: 4 402 000 сум. Ваш ориентир: 4 400 000. Курс на 4 сентября.</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310896">
                <a:tc>
                  <a:txBody>
                    <a:bodyPr/>
                    <a:lstStyle/>
                    <a:p>
                      <a:pPr marL="0" indent="0">
                        <a:buNone/>
                      </a:pPr>
                      <a:r>
                        <a:rPr sz="1150">
                          <a:solidFill>
                            <a:srgbClr val="4E5966"/>
                          </a:solidFill>
                          <a:latin typeface="Calibri"/>
                          <a:ea typeface="Calibri"/>
                          <a:cs typeface="Calibri"/>
                        </a:rPr>
                        <a:t>Редкий момент</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Такой курс бывает нечасто</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По ЦБ за 30 000 ₽: 3 198 сомони. Лучше было 8 дней из 90. Курс на 4 сентября.</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310896">
                <a:tc>
                  <a:txBody>
                    <a:bodyPr/>
                    <a:lstStyle/>
                    <a:p>
                      <a:pPr marL="0" indent="0">
                        <a:buNone/>
                      </a:pPr>
                      <a:r>
                        <a:rPr sz="1150">
                          <a:solidFill>
                            <a:srgbClr val="4E5966"/>
                          </a:solidFill>
                          <a:latin typeface="Calibri"/>
                          <a:ea typeface="Calibri"/>
                          <a:cs typeface="Calibri"/>
                        </a:rPr>
                        <a:t>Изменение за неделю</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Рубль укрепился к сому</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За неделю на 2,1 % по ЦБ. Условия перевода по курсу банка: в приложении.</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310896">
                <a:tc>
                  <a:txBody>
                    <a:bodyPr/>
                    <a:lstStyle/>
                    <a:p>
                      <a:pPr marL="0" indent="0">
                        <a:buNone/>
                      </a:pPr>
                      <a:r>
                        <a:rPr sz="1150">
                          <a:solidFill>
                            <a:srgbClr val="4E5966"/>
                          </a:solidFill>
                          <a:latin typeface="Calibri"/>
                          <a:ea typeface="Calibri"/>
                          <a:cs typeface="Calibri"/>
                        </a:rPr>
                        <a:t>Праздник</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Навруз муборак!</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Пусть близкие будут рядом. Условия перевода: в приложении.</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310896">
                <a:tc>
                  <a:txBody>
                    <a:bodyPr/>
                    <a:lstStyle/>
                    <a:p>
                      <a:pPr marL="0" indent="0">
                        <a:buNone/>
                      </a:pPr>
                      <a:r>
                        <a:rPr sz="1150">
                          <a:solidFill>
                            <a:srgbClr val="4E5966"/>
                          </a:solidFill>
                          <a:latin typeface="Calibri"/>
                          <a:ea typeface="Calibri"/>
                          <a:cs typeface="Calibri"/>
                        </a:rPr>
                        <a:t>Свой уровень</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Сколько должно дойти домой?</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Задайте нужную сумму получателю. Сообщим о достижении вашего уровня.</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bl>
          </a:graphicData>
        </a:graphic>
      </p:graphicFrame>
      <p:sp>
        <p:nvSpPr>
          <p:cNvPr id="16" name="Shape 13">
            <a:extLst xmlns:a="http://schemas.openxmlformats.org/drawingml/2006/main">
              <a:ext uri="{FF2B5EF4-FFF2-40B4-BE49-F238E27FC236}">
                <a16:creationId xmlns:a16="http://schemas.microsoft.com/office/drawing/2014/main" id="{EADF1550-D625-4235-94DB-22D7B0F236A2}"/>
              </a:ext>
            </a:extLst>
          </p:cNvPr>
          <p:cNvSpPr>
            <a:spLocks xmlns:a="http://schemas.openxmlformats.org/drawingml/2006/main" noGrp="1"/>
          </p:cNvSpPr>
          <p:nvPr/>
        </p:nvSpPr>
        <p:spPr>
          <a:xfrm xmlns:a="http://schemas.openxmlformats.org/drawingml/2006/main">
            <a:off x="640080" y="5230368"/>
            <a:ext cx="10881360" cy="1188720"/>
          </a:xfrm>
          <a:prstGeom xmlns:a="http://schemas.openxmlformats.org/drawingml/2006/main" prst="roundRect">
            <a:avLst>
              <a:gd name="adj" fmla="val 4615"/>
            </a:avLst>
          </a:prstGeom>
          <a:solidFill xmlns:a="http://schemas.openxmlformats.org/drawingml/2006/main">
            <a:srgbClr val="1A2530"/>
          </a:solidFill>
        </p:spPr>
      </p:sp>
      <p:sp>
        <p:nvSpPr>
          <p:cNvPr id="17" name="Text 14">
            <a:extLst xmlns:a="http://schemas.openxmlformats.org/drawingml/2006/main">
              <a:ext uri="{FF2B5EF4-FFF2-40B4-BE49-F238E27FC236}">
                <a16:creationId xmlns:a16="http://schemas.microsoft.com/office/drawing/2014/main" id="{5C9119D4-8B53-4EAB-AE31-E8CABDDDDEDB}"/>
              </a:ext>
            </a:extLst>
          </p:cNvPr>
          <p:cNvSpPr>
            <a:spLocks xmlns:a="http://schemas.openxmlformats.org/drawingml/2006/main" noGrp="1"/>
          </p:cNvSpPr>
          <p:nvPr/>
        </p:nvSpPr>
        <p:spPr>
          <a:xfrm xmlns:a="http://schemas.openxmlformats.org/drawingml/2006/main">
            <a:off x="914400" y="5385816"/>
            <a:ext cx="103327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E89484"/>
                </a:solidFill>
                <a:latin typeface="Cambria"/>
                <a:ea typeface="Cambria"/>
                <a:cs typeface="Cambria"/>
              </a:rPr>
              <a:t>Чего в наборе нет и не будет</a:t>
            </a:r>
            <a:endParaRPr sz="1550"/>
          </a:p>
        </p:txBody>
      </p:sp>
      <p:sp>
        <p:nvSpPr>
          <p:cNvPr id="18" name="Text 15">
            <a:extLst xmlns:a="http://schemas.openxmlformats.org/drawingml/2006/main">
              <a:ext uri="{FF2B5EF4-FFF2-40B4-BE49-F238E27FC236}">
                <a16:creationId xmlns:a16="http://schemas.microsoft.com/office/drawing/2014/main" id="{1D4A9C26-DB00-421B-9ABF-B77D6273F59F}"/>
              </a:ext>
            </a:extLst>
          </p:cNvPr>
          <p:cNvSpPr>
            <a:spLocks xmlns:a="http://schemas.openxmlformats.org/drawingml/2006/main" noGrp="1"/>
          </p:cNvSpPr>
          <p:nvPr/>
        </p:nvSpPr>
        <p:spPr>
          <a:xfrm xmlns:a="http://schemas.openxmlformats.org/drawingml/2006/main">
            <a:off x="914400" y="5760720"/>
            <a:ext cx="1033272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C7CFD8"/>
                </a:solidFill>
                <a:latin typeface="Calibri"/>
                <a:ea typeface="Calibri"/>
                <a:cs typeface="Calibri"/>
              </a:rPr>
              <a:t>Не используем «курс вырастет», «успейте, пока не подорожало», «гарантируем лучший курс». Прогноз остаётся внутри модели, клиент получает факт.</a:t>
            </a:r>
            <a:endParaRPr sz="1250"/>
          </a:p>
        </p:txBody>
      </p:sp>
    </p:spTree>
    <p:extLst>
      <p:ext uri="{BB962C8B-B14F-4D97-AF65-F5344CB8AC3E}">
        <p14:creationId xmlns:p14="http://schemas.microsoft.com/office/powerpoint/2010/main" val="127991194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105A642-BACC-4487-9610-B5B3999D730C}"/>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044E1C98-F408-466C-BB4C-833DA022AB8E}"/>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400" b="1">
                <a:solidFill>
                  <a:srgbClr val="FFFFFF"/>
                </a:solidFill>
                <a:latin typeface="Calibri"/>
                <a:ea typeface="Calibri"/>
                <a:cs typeface="Calibri"/>
              </a:defRPr>
            </a:pPr>
            <a:r>
              <a:rPr sz="1400" b="1">
                <a:solidFill>
                  <a:srgbClr val="FFFFFF"/>
                </a:solidFill>
                <a:latin typeface="Calibri"/>
                <a:ea typeface="Calibri"/>
                <a:cs typeface="Calibri"/>
              </a:rPr>
              <a:t>9</a:t>
            </a:r>
            <a:endParaRPr sz="1400"/>
          </a:p>
        </p:txBody>
      </p:sp>
      <p:sp>
        <p:nvSpPr>
          <p:cNvPr id="4" name="Text 2">
            <a:extLst xmlns:a="http://schemas.openxmlformats.org/drawingml/2006/main">
              <a:ext uri="{FF2B5EF4-FFF2-40B4-BE49-F238E27FC236}">
                <a16:creationId xmlns:a16="http://schemas.microsoft.com/office/drawing/2014/main" id="{B379CDC2-6916-4423-BC0D-EC54DD5E284E}"/>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Что мы предлагаем запускать</a:t>
            </a:r>
            <a:endParaRPr sz="2700"/>
          </a:p>
        </p:txBody>
      </p:sp>
      <p:sp>
        <p:nvSpPr>
          <p:cNvPr id="5" name="Shape 3">
            <a:extLst xmlns:a="http://schemas.openxmlformats.org/drawingml/2006/main">
              <a:ext uri="{FF2B5EF4-FFF2-40B4-BE49-F238E27FC236}">
                <a16:creationId xmlns:a16="http://schemas.microsoft.com/office/drawing/2014/main" id="{9C03B6DD-A9EA-4CF4-829B-983FD4C8E027}"/>
              </a:ext>
            </a:extLst>
          </p:cNvPr>
          <p:cNvSpPr>
            <a:spLocks xmlns:a="http://schemas.openxmlformats.org/drawingml/2006/main" noGrp="1"/>
          </p:cNvSpPr>
          <p:nvPr/>
        </p:nvSpPr>
        <p:spPr>
          <a:xfrm xmlns:a="http://schemas.openxmlformats.org/drawingml/2006/main">
            <a:off x="640080" y="1115568"/>
            <a:ext cx="5367528" cy="3127248"/>
          </a:xfrm>
          <a:prstGeom xmlns:a="http://schemas.openxmlformats.org/drawingml/2006/main" prst="roundRect">
            <a:avLst>
              <a:gd name="adj" fmla="val 1754"/>
            </a:avLst>
          </a:prstGeom>
          <a:solidFill xmlns:a="http://schemas.openxmlformats.org/drawingml/2006/main">
            <a:srgbClr val="F4F6F8"/>
          </a:solidFill>
        </p:spPr>
      </p:sp>
      <p:sp>
        <p:nvSpPr>
          <p:cNvPr id="6" name="Text 4">
            <a:extLst xmlns:a="http://schemas.openxmlformats.org/drawingml/2006/main">
              <a:ext uri="{FF2B5EF4-FFF2-40B4-BE49-F238E27FC236}">
                <a16:creationId xmlns:a16="http://schemas.microsoft.com/office/drawing/2014/main" id="{F66D4CC0-2BC6-4F73-B066-53466A49D9BA}"/>
              </a:ext>
            </a:extLst>
          </p:cNvPr>
          <p:cNvSpPr>
            <a:spLocks xmlns:a="http://schemas.openxmlformats.org/drawingml/2006/main" noGrp="1"/>
          </p:cNvSpPr>
          <p:nvPr/>
        </p:nvSpPr>
        <p:spPr>
          <a:xfrm xmlns:a="http://schemas.openxmlformats.org/drawingml/2006/main">
            <a:off x="896112" y="1298448"/>
            <a:ext cx="485546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Основное: пилот сигнального слоя</a:t>
            </a:r>
            <a:endParaRPr sz="1550"/>
          </a:p>
        </p:txBody>
      </p:sp>
      <p:sp>
        <p:nvSpPr>
          <p:cNvPr id="7" name="Text 5">
            <a:extLst xmlns:a="http://schemas.openxmlformats.org/drawingml/2006/main">
              <a:ext uri="{FF2B5EF4-FFF2-40B4-BE49-F238E27FC236}">
                <a16:creationId xmlns:a16="http://schemas.microsoft.com/office/drawing/2014/main" id="{3196FEF7-7E4C-42CB-BCFC-B56FDBEE7ED0}"/>
              </a:ext>
            </a:extLst>
          </p:cNvPr>
          <p:cNvSpPr>
            <a:spLocks xmlns:a="http://schemas.openxmlformats.org/drawingml/2006/main" noGrp="1"/>
          </p:cNvSpPr>
          <p:nvPr/>
        </p:nvSpPr>
        <p:spPr>
          <a:xfrm xmlns:a="http://schemas.openxmlformats.org/drawingml/2006/main">
            <a:off x="896112" y="1828800"/>
            <a:ext cx="4855464" cy="223113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ts val="1700"/>
              </a:lnSpc>
              <a:buNone/>
              <a:defRPr sz="1250">
                <a:solidFill>
                  <a:srgbClr val="4E5966"/>
                </a:solidFill>
                <a:latin typeface="Calibri"/>
                <a:ea typeface="Calibri"/>
                <a:cs typeface="Calibri"/>
              </a:defRPr>
            </a:pPr>
            <a:r>
              <a:rPr sz="1250">
                <a:solidFill>
                  <a:srgbClr val="4E5966"/>
                </a:solidFill>
                <a:latin typeface="Calibri"/>
                <a:ea typeface="Calibri"/>
                <a:cs typeface="Calibri"/>
              </a:rPr>
              <a:t>Финальный кандидат объединяет доступные источники и отбирает редкие сигналы. Главный горизонт для объяснения: пять публикаций.</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4E5966"/>
                </a:solidFill>
                <a:latin typeface="Calibri"/>
                <a:ea typeface="Calibri"/>
                <a:cs typeface="Calibri"/>
              </a:defRPr>
            </a:pPr>
            <a:r>
              <a:rPr sz="1250">
                <a:solidFill>
                  <a:srgbClr val="4E5966"/>
                </a:solidFill>
                <a:latin typeface="Calibri"/>
                <a:ea typeface="Calibri"/>
                <a:cs typeface="Calibri"/>
              </a:rPr>
              <a:t>Сначала сопоставляем сигнал с реальной котировкой банка. Затем проверяем на клиентах дополнительный объём переводов против контрольной группы.</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4E5966"/>
                </a:solidFill>
                <a:latin typeface="Calibri"/>
                <a:ea typeface="Calibri"/>
                <a:cs typeface="Calibri"/>
              </a:defRPr>
            </a:pPr>
            <a:r>
              <a:rPr sz="1250">
                <a:solidFill>
                  <a:srgbClr val="4E5966"/>
                </a:solidFill>
                <a:latin typeface="Calibri"/>
                <a:ea typeface="Calibri"/>
                <a:cs typeface="Calibri"/>
              </a:rPr>
              <a:t>Код работает на исторических данных. Подключение боевых источников и отправки ещё требуется.</a:t>
            </a:r>
            <a:endParaRPr sz="1250"/>
          </a:p>
        </p:txBody>
      </p:sp>
      <p:sp>
        <p:nvSpPr>
          <p:cNvPr id="8" name="Shape 6">
            <a:extLst xmlns:a="http://schemas.openxmlformats.org/drawingml/2006/main">
              <a:ext uri="{FF2B5EF4-FFF2-40B4-BE49-F238E27FC236}">
                <a16:creationId xmlns:a16="http://schemas.microsoft.com/office/drawing/2014/main" id="{D4B6E11E-154F-461D-BA0C-DE940BE3D2D0}"/>
              </a:ext>
            </a:extLst>
          </p:cNvPr>
          <p:cNvSpPr>
            <a:spLocks xmlns:a="http://schemas.openxmlformats.org/drawingml/2006/main" noGrp="1"/>
          </p:cNvSpPr>
          <p:nvPr/>
        </p:nvSpPr>
        <p:spPr>
          <a:xfrm xmlns:a="http://schemas.openxmlformats.org/drawingml/2006/main">
            <a:off x="6153912" y="1115568"/>
            <a:ext cx="5367528" cy="3127248"/>
          </a:xfrm>
          <a:prstGeom xmlns:a="http://schemas.openxmlformats.org/drawingml/2006/main" prst="roundRect">
            <a:avLst>
              <a:gd name="adj" fmla="val 1754"/>
            </a:avLst>
          </a:prstGeom>
          <a:solidFill xmlns:a="http://schemas.openxmlformats.org/drawingml/2006/main">
            <a:srgbClr val="F4F6F8"/>
          </a:solidFill>
        </p:spPr>
      </p:sp>
      <p:sp>
        <p:nvSpPr>
          <p:cNvPr id="9" name="Text 7">
            <a:extLst xmlns:a="http://schemas.openxmlformats.org/drawingml/2006/main">
              <a:ext uri="{FF2B5EF4-FFF2-40B4-BE49-F238E27FC236}">
                <a16:creationId xmlns:a16="http://schemas.microsoft.com/office/drawing/2014/main" id="{2BC5A545-BDD3-4C14-8FDF-45AF0B77B778}"/>
              </a:ext>
            </a:extLst>
          </p:cNvPr>
          <p:cNvSpPr>
            <a:spLocks xmlns:a="http://schemas.openxmlformats.org/drawingml/2006/main" noGrp="1"/>
          </p:cNvSpPr>
          <p:nvPr/>
        </p:nvSpPr>
        <p:spPr>
          <a:xfrm xmlns:a="http://schemas.openxmlformats.org/drawingml/2006/main">
            <a:off x="6409944" y="1298448"/>
            <a:ext cx="485546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Дополнительно: уровень и интерфейс</a:t>
            </a:r>
            <a:endParaRPr sz="1550"/>
          </a:p>
        </p:txBody>
      </p:sp>
      <p:sp>
        <p:nvSpPr>
          <p:cNvPr id="10" name="Text 8">
            <a:extLst xmlns:a="http://schemas.openxmlformats.org/drawingml/2006/main">
              <a:ext uri="{FF2B5EF4-FFF2-40B4-BE49-F238E27FC236}">
                <a16:creationId xmlns:a16="http://schemas.microsoft.com/office/drawing/2014/main" id="{FE96BD34-919E-400A-BE1B-E42A50F978D5}"/>
              </a:ext>
            </a:extLst>
          </p:cNvPr>
          <p:cNvSpPr>
            <a:spLocks xmlns:a="http://schemas.openxmlformats.org/drawingml/2006/main" noGrp="1"/>
          </p:cNvSpPr>
          <p:nvPr/>
        </p:nvSpPr>
        <p:spPr>
          <a:xfrm xmlns:a="http://schemas.openxmlformats.org/drawingml/2006/main">
            <a:off x="6409944" y="1828800"/>
            <a:ext cx="4855464" cy="223113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ts val="1700"/>
              </a:lnSpc>
              <a:buNone/>
              <a:defRPr sz="1250">
                <a:solidFill>
                  <a:srgbClr val="4E5966"/>
                </a:solidFill>
                <a:latin typeface="Calibri"/>
                <a:ea typeface="Calibri"/>
                <a:cs typeface="Calibri"/>
              </a:defRPr>
            </a:pPr>
            <a:r>
              <a:rPr sz="1250">
                <a:solidFill>
                  <a:srgbClr val="4E5966"/>
                </a:solidFill>
                <a:latin typeface="Calibri"/>
                <a:ea typeface="Calibri"/>
                <a:cs typeface="Calibri"/>
              </a:rPr>
              <a:t>Клиент задаёт нужную сумму получателю. При открытии пуша видит актуальные условия, историческое сравнение и возможность оставить оповещение.</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4E5966"/>
                </a:solidFill>
                <a:latin typeface="Calibri"/>
                <a:ea typeface="Calibri"/>
                <a:cs typeface="Calibri"/>
              </a:defRPr>
            </a:pPr>
            <a:r>
              <a:rPr sz="1250">
                <a:solidFill>
                  <a:srgbClr val="4E5966"/>
                </a:solidFill>
                <a:latin typeface="Calibri"/>
                <a:ea typeface="Calibri"/>
                <a:cs typeface="Calibri"/>
              </a:rPr>
              <a:t>Температура помогает системе оценить состояние в любой момент. В интерфейсе сохраняются факты, а не вероятность будущего.</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4E5966"/>
                </a:solidFill>
                <a:latin typeface="Calibri"/>
                <a:ea typeface="Calibri"/>
                <a:cs typeface="Calibri"/>
              </a:defRPr>
            </a:pPr>
            <a:r>
              <a:rPr sz="1250">
                <a:solidFill>
                  <a:srgbClr val="4E5966"/>
                </a:solidFill>
                <a:latin typeface="Calibri"/>
                <a:ea typeface="Calibri"/>
                <a:cs typeface="Calibri"/>
              </a:rPr>
              <a:t>Календарные поводы проверяем отдельно, не прибавляем их к измеренной точности модели.</a:t>
            </a:r>
            <a:endParaRPr sz="1250"/>
          </a:p>
        </p:txBody>
      </p:sp>
      <p:sp>
        <p:nvSpPr>
          <p:cNvPr id="11" name="Text 9">
            <a:extLst xmlns:a="http://schemas.openxmlformats.org/drawingml/2006/main">
              <a:ext uri="{FF2B5EF4-FFF2-40B4-BE49-F238E27FC236}">
                <a16:creationId xmlns:a16="http://schemas.microsoft.com/office/drawing/2014/main" id="{098AEE2E-FF6D-4E67-A1E0-74D8C5F385A2}"/>
              </a:ext>
            </a:extLst>
          </p:cNvPr>
          <p:cNvSpPr>
            <a:spLocks xmlns:a="http://schemas.openxmlformats.org/drawingml/2006/main" noGrp="1"/>
          </p:cNvSpPr>
          <p:nvPr/>
        </p:nvSpPr>
        <p:spPr>
          <a:xfrm xmlns:a="http://schemas.openxmlformats.org/drawingml/2006/main">
            <a:off x="640080" y="4407408"/>
            <a:ext cx="108813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A2530"/>
                </a:solidFill>
                <a:latin typeface="Cambria"/>
                <a:ea typeface="Cambria"/>
                <a:cs typeface="Cambria"/>
              </a:rPr>
              <a:t>Допущения, на которых всё держится</a:t>
            </a:r>
            <a:endParaRPr sz="1450"/>
          </a:p>
        </p:txBody>
      </p:sp>
      <p:graphicFrame>
        <p:nvGraphicFramePr>
          <p:cNvPr id="23" name="Table 0"/>
          <p:cNvGraphicFramePr/>
          <p:nvPr/>
        </p:nvGraphicFramePr>
        <p:xfrm>
          <a:off xmlns:a="http://schemas.openxmlformats.org/drawingml/2006/main" x="640080" y="4754880"/>
          <a:ext xmlns:a="http://schemas.openxmlformats.org/drawingml/2006/main" cx="10881360" cy="914400"/>
        </p:xfrm>
        <a:graphic xmlns:a="http://schemas.openxmlformats.org/drawingml/2006/main">
          <a:graphicData uri="http://schemas.openxmlformats.org/drawingml/2006/table">
            <a:tbl>
              <a:tblPr/>
              <a:tblGrid>
                <a:gridCol w="5669280"/>
                <a:gridCol w="5212080"/>
              </a:tblGrid>
              <a:tr h="274320">
                <a:tc>
                  <a:txBody>
                    <a:bodyPr/>
                    <a:lstStyle/>
                    <a:p>
                      <a:pPr marL="0" indent="0">
                        <a:buNone/>
                      </a:pPr>
                      <a:r>
                        <a:rPr sz="1100">
                          <a:solidFill>
                            <a:srgbClr val="4E5966"/>
                          </a:solidFill>
                          <a:latin typeface="Calibri"/>
                          <a:ea typeface="Calibri"/>
                          <a:cs typeface="Calibri"/>
                        </a:rPr>
                        <a:t>Публичный курс и курс перевода могут расходиться</a:t>
                      </a:r>
                      <a:endParaRPr sz="110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00">
                          <a:solidFill>
                            <a:srgbClr val="4E5966"/>
                          </a:solidFill>
                          <a:latin typeface="Calibri"/>
                          <a:ea typeface="Calibri"/>
                          <a:cs typeface="Calibri"/>
                        </a:rPr>
                        <a:t>Нужна проверка на котировках банка, комиссиях и сроке действия</a:t>
                      </a:r>
                      <a:endParaRPr sz="110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274320">
                <a:tc>
                  <a:txBody>
                    <a:bodyPr/>
                    <a:lstStyle/>
                    <a:p>
                      <a:pPr marL="0" indent="0">
                        <a:buNone/>
                      </a:pPr>
                      <a:r>
                        <a:rPr sz="1100">
                          <a:solidFill>
                            <a:srgbClr val="4E5966"/>
                          </a:solidFill>
                          <a:latin typeface="Calibri"/>
                          <a:ea typeface="Calibri"/>
                          <a:cs typeface="Calibri"/>
                        </a:rPr>
                        <a:t>Историческая связь может измениться</a:t>
                      </a:r>
                      <a:endParaRPr sz="110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00">
                          <a:solidFill>
                            <a:srgbClr val="4E5966"/>
                          </a:solidFill>
                          <a:latin typeface="Calibri"/>
                          <a:ea typeface="Calibri"/>
                          <a:cs typeface="Calibri"/>
                        </a:rPr>
                        <a:t>Новый период и пилот без перенастройки на результатах</a:t>
                      </a:r>
                      <a:endParaRPr sz="110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274320">
                <a:tc>
                  <a:txBody>
                    <a:bodyPr/>
                    <a:lstStyle/>
                    <a:p>
                      <a:pPr marL="0" indent="0">
                        <a:buNone/>
                      </a:pPr>
                      <a:r>
                        <a:rPr sz="1100">
                          <a:solidFill>
                            <a:srgbClr val="4E5966"/>
                          </a:solidFill>
                          <a:latin typeface="Calibri"/>
                          <a:ea typeface="Calibri"/>
                          <a:cs typeface="Calibri"/>
                        </a:rPr>
                        <a:t>Пуш может сдвинуть уже запланированный перевод</a:t>
                      </a:r>
                      <a:endParaRPr sz="110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00">
                          <a:solidFill>
                            <a:srgbClr val="4E5966"/>
                          </a:solidFill>
                          <a:latin typeface="Calibri"/>
                          <a:ea typeface="Calibri"/>
                          <a:cs typeface="Calibri"/>
                        </a:rPr>
                        <a:t>Меряем дополнительный объём и каннибализацию за полный период</a:t>
                      </a:r>
                      <a:endParaRPr sz="110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bl>
          </a:graphicData>
        </a:graphic>
      </p:graphicFrame>
    </p:spTree>
    <p:extLst>
      <p:ext uri="{BB962C8B-B14F-4D97-AF65-F5344CB8AC3E}">
        <p14:creationId xmlns:p14="http://schemas.microsoft.com/office/powerpoint/2010/main" val="165751556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71A017A-5DC4-43B9-A4E2-5F692ECDCB90}"/>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6751D359-F797-423A-9DDB-0C0107318AF5}"/>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400" b="1">
                <a:solidFill>
                  <a:srgbClr val="FFFFFF"/>
                </a:solidFill>
                <a:latin typeface="Calibri"/>
                <a:ea typeface="Calibri"/>
                <a:cs typeface="Calibri"/>
              </a:defRPr>
            </a:pPr>
            <a:r>
              <a:rPr sz="1400" b="1">
                <a:solidFill>
                  <a:srgbClr val="FFFFFF"/>
                </a:solidFill>
                <a:latin typeface="Calibri"/>
                <a:ea typeface="Calibri"/>
                <a:cs typeface="Calibri"/>
              </a:rPr>
              <a:t>10</a:t>
            </a:r>
            <a:endParaRPr sz="1400"/>
          </a:p>
        </p:txBody>
      </p:sp>
      <p:sp>
        <p:nvSpPr>
          <p:cNvPr id="4" name="Text 2">
            <a:extLst xmlns:a="http://schemas.openxmlformats.org/drawingml/2006/main">
              <a:ext uri="{FF2B5EF4-FFF2-40B4-BE49-F238E27FC236}">
                <a16:creationId xmlns:a16="http://schemas.microsoft.com/office/drawing/2014/main" id="{2880313A-4B36-468F-ABE7-0738A28E75E2}"/>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Следующие шаги</a:t>
            </a:r>
            <a:endParaRPr sz="2700"/>
          </a:p>
        </p:txBody>
      </p:sp>
      <p:sp>
        <p:nvSpPr>
          <p:cNvPr id="5" name="Shape 3">
            <a:extLst xmlns:a="http://schemas.openxmlformats.org/drawingml/2006/main">
              <a:ext uri="{FF2B5EF4-FFF2-40B4-BE49-F238E27FC236}">
                <a16:creationId xmlns:a16="http://schemas.microsoft.com/office/drawing/2014/main" id="{2B6EEFB1-B1E3-41E8-B216-D7595A503EE0}"/>
              </a:ext>
            </a:extLst>
          </p:cNvPr>
          <p:cNvSpPr>
            <a:spLocks xmlns:a="http://schemas.openxmlformats.org/drawingml/2006/main" noGrp="1"/>
          </p:cNvSpPr>
          <p:nvPr/>
        </p:nvSpPr>
        <p:spPr>
          <a:xfrm xmlns:a="http://schemas.openxmlformats.org/drawingml/2006/main">
            <a:off x="640080" y="1115568"/>
            <a:ext cx="3520440" cy="2231136"/>
          </a:xfrm>
          <a:prstGeom xmlns:a="http://schemas.openxmlformats.org/drawingml/2006/main" prst="roundRect">
            <a:avLst>
              <a:gd name="adj" fmla="val 2459"/>
            </a:avLst>
          </a:prstGeom>
          <a:solidFill xmlns:a="http://schemas.openxmlformats.org/drawingml/2006/main">
            <a:srgbClr val="F4F6F8"/>
          </a:solidFill>
        </p:spPr>
      </p:sp>
      <p:sp>
        <p:nvSpPr>
          <p:cNvPr id="6" name="Text 4">
            <a:extLst xmlns:a="http://schemas.openxmlformats.org/drawingml/2006/main">
              <a:ext uri="{FF2B5EF4-FFF2-40B4-BE49-F238E27FC236}">
                <a16:creationId xmlns:a16="http://schemas.microsoft.com/office/drawing/2014/main" id="{A1C5470B-3A61-4AC2-8C6F-821455C7E9B6}"/>
              </a:ext>
            </a:extLst>
          </p:cNvPr>
          <p:cNvSpPr>
            <a:spLocks xmlns:a="http://schemas.openxmlformats.org/drawingml/2006/main" noGrp="1"/>
          </p:cNvSpPr>
          <p:nvPr/>
        </p:nvSpPr>
        <p:spPr>
          <a:xfrm xmlns:a="http://schemas.openxmlformats.org/drawingml/2006/main">
            <a:off x="896112" y="1298448"/>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1 · Новый период</a:t>
            </a:r>
            <a:endParaRPr sz="1550"/>
          </a:p>
        </p:txBody>
      </p:sp>
      <p:sp>
        <p:nvSpPr>
          <p:cNvPr id="7" name="Text 5">
            <a:extLst xmlns:a="http://schemas.openxmlformats.org/drawingml/2006/main">
              <a:ext uri="{FF2B5EF4-FFF2-40B4-BE49-F238E27FC236}">
                <a16:creationId xmlns:a16="http://schemas.microsoft.com/office/drawing/2014/main" id="{09C331A2-3F9F-4749-8E55-4217259F4A06}"/>
              </a:ext>
            </a:extLst>
          </p:cNvPr>
          <p:cNvSpPr>
            <a:spLocks xmlns:a="http://schemas.openxmlformats.org/drawingml/2006/main" noGrp="1"/>
          </p:cNvSpPr>
          <p:nvPr/>
        </p:nvSpPr>
        <p:spPr>
          <a:xfrm xmlns:a="http://schemas.openxmlformats.org/drawingml/2006/main">
            <a:off x="896112" y="1828800"/>
            <a:ext cx="3008376"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Зафиксировать модель и собирать новые результаты без подбора по ним. Хранить точное время получения каждого курса и свечи.</a:t>
            </a:r>
            <a:endParaRPr sz="1250"/>
          </a:p>
        </p:txBody>
      </p:sp>
      <p:sp>
        <p:nvSpPr>
          <p:cNvPr id="8" name="Shape 6">
            <a:extLst xmlns:a="http://schemas.openxmlformats.org/drawingml/2006/main">
              <a:ext uri="{FF2B5EF4-FFF2-40B4-BE49-F238E27FC236}">
                <a16:creationId xmlns:a16="http://schemas.microsoft.com/office/drawing/2014/main" id="{4CB2D382-9525-40A2-9D47-116850CA1AFC}"/>
              </a:ext>
            </a:extLst>
          </p:cNvPr>
          <p:cNvSpPr>
            <a:spLocks xmlns:a="http://schemas.openxmlformats.org/drawingml/2006/main" noGrp="1"/>
          </p:cNvSpPr>
          <p:nvPr/>
        </p:nvSpPr>
        <p:spPr>
          <a:xfrm xmlns:a="http://schemas.openxmlformats.org/drawingml/2006/main">
            <a:off x="4325112" y="1115568"/>
            <a:ext cx="3520440" cy="2231136"/>
          </a:xfrm>
          <a:prstGeom xmlns:a="http://schemas.openxmlformats.org/drawingml/2006/main" prst="roundRect">
            <a:avLst>
              <a:gd name="adj" fmla="val 2459"/>
            </a:avLst>
          </a:prstGeom>
          <a:solidFill xmlns:a="http://schemas.openxmlformats.org/drawingml/2006/main">
            <a:srgbClr val="F4F6F8"/>
          </a:solidFill>
        </p:spPr>
      </p:sp>
      <p:sp>
        <p:nvSpPr>
          <p:cNvPr id="9" name="Text 7">
            <a:extLst xmlns:a="http://schemas.openxmlformats.org/drawingml/2006/main">
              <a:ext uri="{FF2B5EF4-FFF2-40B4-BE49-F238E27FC236}">
                <a16:creationId xmlns:a16="http://schemas.microsoft.com/office/drawing/2014/main" id="{5A7498AD-FD58-4680-98C4-CE74A42D20FD}"/>
              </a:ext>
            </a:extLst>
          </p:cNvPr>
          <p:cNvSpPr>
            <a:spLocks xmlns:a="http://schemas.openxmlformats.org/drawingml/2006/main" noGrp="1"/>
          </p:cNvSpPr>
          <p:nvPr/>
        </p:nvSpPr>
        <p:spPr>
          <a:xfrm xmlns:a="http://schemas.openxmlformats.org/drawingml/2006/main">
            <a:off x="4581144" y="1298448"/>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2 · Общий лимит клиента</a:t>
            </a:r>
            <a:endParaRPr sz="1550"/>
          </a:p>
        </p:txBody>
      </p:sp>
      <p:sp>
        <p:nvSpPr>
          <p:cNvPr id="10" name="Text 8">
            <a:extLst xmlns:a="http://schemas.openxmlformats.org/drawingml/2006/main">
              <a:ext uri="{FF2B5EF4-FFF2-40B4-BE49-F238E27FC236}">
                <a16:creationId xmlns:a16="http://schemas.microsoft.com/office/drawing/2014/main" id="{D51E4D0D-E39A-455C-A3AD-11608C95A053}"/>
              </a:ext>
            </a:extLst>
          </p:cNvPr>
          <p:cNvSpPr>
            <a:spLocks xmlns:a="http://schemas.openxmlformats.org/drawingml/2006/main" noGrp="1"/>
          </p:cNvSpPr>
          <p:nvPr/>
        </p:nvSpPr>
        <p:spPr>
          <a:xfrm xmlns:a="http://schemas.openxmlformats.org/drawingml/2006/main">
            <a:off x="4581144" y="1828800"/>
            <a:ext cx="3008376"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Подключить разрешения и общую коммуникационную политику банка. Проверить частоту после текстового фильтра и переноса по часовым поясам.</a:t>
            </a:r>
            <a:endParaRPr sz="1250"/>
          </a:p>
        </p:txBody>
      </p:sp>
      <p:sp>
        <p:nvSpPr>
          <p:cNvPr id="11" name="Shape 9">
            <a:extLst xmlns:a="http://schemas.openxmlformats.org/drawingml/2006/main">
              <a:ext uri="{FF2B5EF4-FFF2-40B4-BE49-F238E27FC236}">
                <a16:creationId xmlns:a16="http://schemas.microsoft.com/office/drawing/2014/main" id="{F17DF5A4-EFF3-405F-BC38-FBE2144441BC}"/>
              </a:ext>
            </a:extLst>
          </p:cNvPr>
          <p:cNvSpPr>
            <a:spLocks xmlns:a="http://schemas.openxmlformats.org/drawingml/2006/main" noGrp="1"/>
          </p:cNvSpPr>
          <p:nvPr/>
        </p:nvSpPr>
        <p:spPr>
          <a:xfrm xmlns:a="http://schemas.openxmlformats.org/drawingml/2006/main">
            <a:off x="8001000" y="1115568"/>
            <a:ext cx="3520440" cy="2231136"/>
          </a:xfrm>
          <a:prstGeom xmlns:a="http://schemas.openxmlformats.org/drawingml/2006/main" prst="roundRect">
            <a:avLst>
              <a:gd name="adj" fmla="val 2459"/>
            </a:avLst>
          </a:prstGeom>
          <a:solidFill xmlns:a="http://schemas.openxmlformats.org/drawingml/2006/main">
            <a:srgbClr val="F4F6F8"/>
          </a:solidFill>
        </p:spPr>
      </p:sp>
      <p:sp>
        <p:nvSpPr>
          <p:cNvPr id="12" name="Text 10">
            <a:extLst xmlns:a="http://schemas.openxmlformats.org/drawingml/2006/main">
              <a:ext uri="{FF2B5EF4-FFF2-40B4-BE49-F238E27FC236}">
                <a16:creationId xmlns:a16="http://schemas.microsoft.com/office/drawing/2014/main" id="{8A8B1CE9-3042-4C97-92D1-71B63F71EA6A}"/>
              </a:ext>
            </a:extLst>
          </p:cNvPr>
          <p:cNvSpPr>
            <a:spLocks xmlns:a="http://schemas.openxmlformats.org/drawingml/2006/main" noGrp="1"/>
          </p:cNvSpPr>
          <p:nvPr/>
        </p:nvSpPr>
        <p:spPr>
          <a:xfrm xmlns:a="http://schemas.openxmlformats.org/drawingml/2006/main">
            <a:off x="8257032" y="1298448"/>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3 · Курс поставщика</a:t>
            </a:r>
            <a:endParaRPr sz="1550"/>
          </a:p>
        </p:txBody>
      </p:sp>
      <p:sp>
        <p:nvSpPr>
          <p:cNvPr id="13" name="Text 11">
            <a:extLst xmlns:a="http://schemas.openxmlformats.org/drawingml/2006/main">
              <a:ext uri="{FF2B5EF4-FFF2-40B4-BE49-F238E27FC236}">
                <a16:creationId xmlns:a16="http://schemas.microsoft.com/office/drawing/2014/main" id="{D8EA3E0F-C7B4-416A-9E2F-E3D7F66F8F18}"/>
              </a:ext>
            </a:extLst>
          </p:cNvPr>
          <p:cNvSpPr>
            <a:spLocks xmlns:a="http://schemas.openxmlformats.org/drawingml/2006/main" noGrp="1"/>
          </p:cNvSpPr>
          <p:nvPr/>
        </p:nvSpPr>
        <p:spPr>
          <a:xfrm xmlns:a="http://schemas.openxmlformats.org/drawingml/2006/main">
            <a:off x="8257032" y="1828800"/>
            <a:ext cx="3008376"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Измерить сигнал на исполнимой котировке, с комиссией и сроком действия. Не переносить базисные пункты ЦБ в обещания клиенту.</a:t>
            </a:r>
            <a:endParaRPr sz="1250"/>
          </a:p>
        </p:txBody>
      </p:sp>
      <p:sp>
        <p:nvSpPr>
          <p:cNvPr id="14" name="Shape 12">
            <a:extLst xmlns:a="http://schemas.openxmlformats.org/drawingml/2006/main">
              <a:ext uri="{FF2B5EF4-FFF2-40B4-BE49-F238E27FC236}">
                <a16:creationId xmlns:a16="http://schemas.microsoft.com/office/drawing/2014/main" id="{18914315-C5B6-44EB-AE9C-CDCFEDEF4E20}"/>
              </a:ext>
            </a:extLst>
          </p:cNvPr>
          <p:cNvSpPr>
            <a:spLocks xmlns:a="http://schemas.openxmlformats.org/drawingml/2006/main" noGrp="1"/>
          </p:cNvSpPr>
          <p:nvPr/>
        </p:nvSpPr>
        <p:spPr>
          <a:xfrm xmlns:a="http://schemas.openxmlformats.org/drawingml/2006/main">
            <a:off x="640080" y="3547872"/>
            <a:ext cx="3520440" cy="2231136"/>
          </a:xfrm>
          <a:prstGeom xmlns:a="http://schemas.openxmlformats.org/drawingml/2006/main" prst="roundRect">
            <a:avLst>
              <a:gd name="adj" fmla="val 2459"/>
            </a:avLst>
          </a:prstGeom>
          <a:solidFill xmlns:a="http://schemas.openxmlformats.org/drawingml/2006/main">
            <a:srgbClr val="F4F6F8"/>
          </a:solidFill>
        </p:spPr>
      </p:sp>
      <p:sp>
        <p:nvSpPr>
          <p:cNvPr id="15" name="Text 13">
            <a:extLst xmlns:a="http://schemas.openxmlformats.org/drawingml/2006/main">
              <a:ext uri="{FF2B5EF4-FFF2-40B4-BE49-F238E27FC236}">
                <a16:creationId xmlns:a16="http://schemas.microsoft.com/office/drawing/2014/main" id="{591E68BB-F3FB-46AB-829A-D16F3CD755BE}"/>
              </a:ext>
            </a:extLst>
          </p:cNvPr>
          <p:cNvSpPr>
            <a:spLocks xmlns:a="http://schemas.openxmlformats.org/drawingml/2006/main" noGrp="1"/>
          </p:cNvSpPr>
          <p:nvPr/>
        </p:nvSpPr>
        <p:spPr>
          <a:xfrm xmlns:a="http://schemas.openxmlformats.org/drawingml/2006/main">
            <a:off x="896112" y="3730752"/>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4 · Пилот с холдаутом</a:t>
            </a:r>
            <a:endParaRPr sz="1550"/>
          </a:p>
        </p:txBody>
      </p:sp>
      <p:sp>
        <p:nvSpPr>
          <p:cNvPr id="16" name="Text 14">
            <a:extLst xmlns:a="http://schemas.openxmlformats.org/drawingml/2006/main">
              <a:ext uri="{FF2B5EF4-FFF2-40B4-BE49-F238E27FC236}">
                <a16:creationId xmlns:a16="http://schemas.microsoft.com/office/drawing/2014/main" id="{FE7E3603-3D6C-407E-8366-8F2F61EE8275}"/>
              </a:ext>
            </a:extLst>
          </p:cNvPr>
          <p:cNvSpPr>
            <a:spLocks xmlns:a="http://schemas.openxmlformats.org/drawingml/2006/main" noGrp="1"/>
          </p:cNvSpPr>
          <p:nvPr/>
        </p:nvSpPr>
        <p:spPr>
          <a:xfrm xmlns:a="http://schemas.openxmlformats.org/drawingml/2006/main">
            <a:off x="896112" y="4261104"/>
            <a:ext cx="3008376"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Сравнить модельные пуши, оповещения об уровне и контроль без новых сообщений. Главная бизнес-метрика: дополнительный net-объём переводов.</a:t>
            </a:r>
            <a:endParaRPr sz="1250"/>
          </a:p>
        </p:txBody>
      </p:sp>
      <p:sp>
        <p:nvSpPr>
          <p:cNvPr id="17" name="Shape 15">
            <a:extLst xmlns:a="http://schemas.openxmlformats.org/drawingml/2006/main">
              <a:ext uri="{FF2B5EF4-FFF2-40B4-BE49-F238E27FC236}">
                <a16:creationId xmlns:a16="http://schemas.microsoft.com/office/drawing/2014/main" id="{DC80D6D5-947F-47F4-84AD-81BDADECAF54}"/>
              </a:ext>
            </a:extLst>
          </p:cNvPr>
          <p:cNvSpPr>
            <a:spLocks xmlns:a="http://schemas.openxmlformats.org/drawingml/2006/main" noGrp="1"/>
          </p:cNvSpPr>
          <p:nvPr/>
        </p:nvSpPr>
        <p:spPr>
          <a:xfrm xmlns:a="http://schemas.openxmlformats.org/drawingml/2006/main">
            <a:off x="4325112" y="3547872"/>
            <a:ext cx="3520440" cy="2231136"/>
          </a:xfrm>
          <a:prstGeom xmlns:a="http://schemas.openxmlformats.org/drawingml/2006/main" prst="roundRect">
            <a:avLst>
              <a:gd name="adj" fmla="val 2459"/>
            </a:avLst>
          </a:prstGeom>
          <a:solidFill xmlns:a="http://schemas.openxmlformats.org/drawingml/2006/main">
            <a:srgbClr val="F4F6F8"/>
          </a:solidFill>
        </p:spPr>
      </p:sp>
      <p:sp>
        <p:nvSpPr>
          <p:cNvPr id="18" name="Text 16">
            <a:extLst xmlns:a="http://schemas.openxmlformats.org/drawingml/2006/main">
              <a:ext uri="{FF2B5EF4-FFF2-40B4-BE49-F238E27FC236}">
                <a16:creationId xmlns:a16="http://schemas.microsoft.com/office/drawing/2014/main" id="{33400632-28AB-462C-A5DC-DC8428AB8266}"/>
              </a:ext>
            </a:extLst>
          </p:cNvPr>
          <p:cNvSpPr>
            <a:spLocks xmlns:a="http://schemas.openxmlformats.org/drawingml/2006/main" noGrp="1"/>
          </p:cNvSpPr>
          <p:nvPr/>
        </p:nvSpPr>
        <p:spPr>
          <a:xfrm xmlns:a="http://schemas.openxmlformats.org/drawingml/2006/main">
            <a:off x="4581144" y="3730752"/>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5 · Тексты в продакшн</a:t>
            </a:r>
            <a:endParaRPr sz="1550"/>
          </a:p>
        </p:txBody>
      </p:sp>
      <p:sp>
        <p:nvSpPr>
          <p:cNvPr id="19" name="Text 17">
            <a:extLst xmlns:a="http://schemas.openxmlformats.org/drawingml/2006/main">
              <a:ext uri="{FF2B5EF4-FFF2-40B4-BE49-F238E27FC236}">
                <a16:creationId xmlns:a16="http://schemas.microsoft.com/office/drawing/2014/main" id="{1284FC55-0326-40E7-A3DC-DA9EAC36C99A}"/>
              </a:ext>
            </a:extLst>
          </p:cNvPr>
          <p:cNvSpPr>
            <a:spLocks xmlns:a="http://schemas.openxmlformats.org/drawingml/2006/main" noGrp="1"/>
          </p:cNvSpPr>
          <p:nvPr/>
        </p:nvSpPr>
        <p:spPr>
          <a:xfrm xmlns:a="http://schemas.openxmlformats.org/drawingml/2006/main">
            <a:off x="4581144" y="4261104"/>
            <a:ext cx="3008376"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Падежный словарь валют и праздников в коде, проверка приветствий носителем языка, рубрикатор комплаенса по группам текстов.</a:t>
            </a:r>
            <a:endParaRPr sz="1250"/>
          </a:p>
        </p:txBody>
      </p:sp>
      <p:sp>
        <p:nvSpPr>
          <p:cNvPr id="20" name="Shape 18">
            <a:extLst xmlns:a="http://schemas.openxmlformats.org/drawingml/2006/main">
              <a:ext uri="{FF2B5EF4-FFF2-40B4-BE49-F238E27FC236}">
                <a16:creationId xmlns:a16="http://schemas.microsoft.com/office/drawing/2014/main" id="{7C9B9A18-BA21-45A6-BC85-205905301F0D}"/>
              </a:ext>
            </a:extLst>
          </p:cNvPr>
          <p:cNvSpPr>
            <a:spLocks xmlns:a="http://schemas.openxmlformats.org/drawingml/2006/main" noGrp="1"/>
          </p:cNvSpPr>
          <p:nvPr/>
        </p:nvSpPr>
        <p:spPr>
          <a:xfrm xmlns:a="http://schemas.openxmlformats.org/drawingml/2006/main">
            <a:off x="8001000" y="3547872"/>
            <a:ext cx="3520440" cy="2231136"/>
          </a:xfrm>
          <a:prstGeom xmlns:a="http://schemas.openxmlformats.org/drawingml/2006/main" prst="roundRect">
            <a:avLst>
              <a:gd name="adj" fmla="val 2459"/>
            </a:avLst>
          </a:prstGeom>
          <a:solidFill xmlns:a="http://schemas.openxmlformats.org/drawingml/2006/main">
            <a:srgbClr val="F4F6F8"/>
          </a:solidFill>
        </p:spPr>
      </p:sp>
      <p:sp>
        <p:nvSpPr>
          <p:cNvPr id="21" name="Text 19">
            <a:extLst xmlns:a="http://schemas.openxmlformats.org/drawingml/2006/main">
              <a:ext uri="{FF2B5EF4-FFF2-40B4-BE49-F238E27FC236}">
                <a16:creationId xmlns:a16="http://schemas.microsoft.com/office/drawing/2014/main" id="{B68AE82D-6A9D-4BDB-9921-784BB890C90E}"/>
              </a:ext>
            </a:extLst>
          </p:cNvPr>
          <p:cNvSpPr>
            <a:spLocks xmlns:a="http://schemas.openxmlformats.org/drawingml/2006/main" noGrp="1"/>
          </p:cNvSpPr>
          <p:nvPr/>
        </p:nvSpPr>
        <p:spPr>
          <a:xfrm xmlns:a="http://schemas.openxmlformats.org/drawingml/2006/main">
            <a:off x="8257032" y="3730752"/>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6 · Отбор адресата</a:t>
            </a:r>
            <a:endParaRPr sz="1550"/>
          </a:p>
        </p:txBody>
      </p:sp>
      <p:sp>
        <p:nvSpPr>
          <p:cNvPr id="22" name="Text 20">
            <a:extLst xmlns:a="http://schemas.openxmlformats.org/drawingml/2006/main">
              <a:ext uri="{FF2B5EF4-FFF2-40B4-BE49-F238E27FC236}">
                <a16:creationId xmlns:a16="http://schemas.microsoft.com/office/drawing/2014/main" id="{6030910B-6BB3-431C-87D9-17BA71E72A9D}"/>
              </a:ext>
            </a:extLst>
          </p:cNvPr>
          <p:cNvSpPr>
            <a:spLocks xmlns:a="http://schemas.openxmlformats.org/drawingml/2006/main" noGrp="1"/>
          </p:cNvSpPr>
          <p:nvPr/>
        </p:nvSpPr>
        <p:spPr>
          <a:xfrm xmlns:a="http://schemas.openxmlformats.org/drawingml/2006/main">
            <a:off x="8257032" y="4261104"/>
            <a:ext cx="3008376"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Сегодня спроектирован, но не написан: близость к дате выплаты, баланс, календарь коридора. Он же снижает частоту без потери охвата.</a:t>
            </a:r>
            <a:endParaRPr sz="1250"/>
          </a:p>
        </p:txBody>
      </p:sp>
      <p:sp>
        <p:nvSpPr>
          <p:cNvPr id="23" name="Text 21">
            <a:extLst xmlns:a="http://schemas.openxmlformats.org/drawingml/2006/main">
              <a:ext uri="{FF2B5EF4-FFF2-40B4-BE49-F238E27FC236}">
                <a16:creationId xmlns:a16="http://schemas.microsoft.com/office/drawing/2014/main" id="{6EF1450A-9CE6-4ECE-B8E5-7CE3C3965E6B}"/>
              </a:ext>
            </a:extLst>
          </p:cNvPr>
          <p:cNvSpPr>
            <a:spLocks xmlns:a="http://schemas.openxmlformats.org/drawingml/2006/main" noGrp="1"/>
          </p:cNvSpPr>
          <p:nvPr/>
        </p:nvSpPr>
        <p:spPr>
          <a:xfrm xmlns:a="http://schemas.openxmlformats.org/drawingml/2006/main">
            <a:off x="640080" y="6309360"/>
            <a:ext cx="10881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6E7A88"/>
                </a:solidFill>
                <a:latin typeface="Calibri"/>
                <a:ea typeface="Calibri"/>
                <a:cs typeface="Calibri"/>
              </a:rPr>
              <a:t>Пилоту нужны банковские котировки, согласия и контрольная группа. Размер и срок определяем по трафику банка.</a:t>
            </a:r>
            <a:endParaRPr sz="1050"/>
          </a:p>
        </p:txBody>
      </p:sp>
    </p:spTree>
    <p:extLst>
      <p:ext uri="{BB962C8B-B14F-4D97-AF65-F5344CB8AC3E}">
        <p14:creationId xmlns:p14="http://schemas.microsoft.com/office/powerpoint/2010/main" val="45681290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B1B340F-26EF-44C0-90D1-6BD98C91B066}"/>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1308DB0A-EEAD-4BBE-947D-8C1A03083B3D}"/>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400" b="1">
                <a:solidFill>
                  <a:srgbClr val="FFFFFF"/>
                </a:solidFill>
                <a:latin typeface="Calibri"/>
                <a:ea typeface="Calibri"/>
                <a:cs typeface="Calibri"/>
              </a:defRPr>
            </a:pPr>
            <a:r>
              <a:rPr sz="1400" b="1">
                <a:solidFill>
                  <a:srgbClr val="FFFFFF"/>
                </a:solidFill>
                <a:latin typeface="Calibri"/>
                <a:ea typeface="Calibri"/>
                <a:cs typeface="Calibri"/>
              </a:rPr>
              <a:t>5</a:t>
            </a:r>
            <a:endParaRPr sz="1400"/>
          </a:p>
        </p:txBody>
      </p:sp>
      <p:sp>
        <p:nvSpPr>
          <p:cNvPr id="4" name="Text 2">
            <a:extLst xmlns:a="http://schemas.openxmlformats.org/drawingml/2006/main">
              <a:ext uri="{FF2B5EF4-FFF2-40B4-BE49-F238E27FC236}">
                <a16:creationId xmlns:a16="http://schemas.microsoft.com/office/drawing/2014/main" id="{F946C3FE-0A91-4E26-88D7-8B0F92F4FFB5}"/>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2700" b="1">
                <a:solidFill>
                  <a:srgbClr val="1A2530"/>
                </a:solidFill>
                <a:latin typeface="Cambria"/>
                <a:ea typeface="Cambria"/>
                <a:cs typeface="Cambria"/>
              </a:defRPr>
            </a:pPr>
            <a:r>
              <a:rPr sz="2700" b="1">
                <a:solidFill>
                  <a:srgbClr val="1A2530"/>
                </a:solidFill>
                <a:latin typeface="Cambria"/>
                <a:ea typeface="Cambria"/>
                <a:cs typeface="Cambria"/>
              </a:rPr>
              <a:t>Решение: температура внутри, факты на экране</a:t>
            </a:r>
            <a:endParaRPr sz="2700"/>
          </a:p>
        </p:txBody>
      </p:sp>
      <p:sp>
        <p:nvSpPr>
          <p:cNvPr id="5" name="">
            <a:extLst xmlns:a="http://schemas.openxmlformats.org/drawingml/2006/main">
              <a:ext uri="{FF2B5EF4-FFF2-40B4-BE49-F238E27FC236}">
                <a16:creationId xmlns:a16="http://schemas.microsoft.com/office/drawing/2014/main" id="{8CAD513A-E7D9-402D-9F3E-9B36BB360929}"/>
              </a:ext>
            </a:extLst>
          </p:cNvPr>
          <p:cNvSpPr>
            <a:spLocks xmlns:a="http://schemas.openxmlformats.org/drawingml/2006/main" noGrp="1"/>
          </p:cNvSpPr>
          <p:nvPr/>
        </p:nvSpPr>
        <p:spPr>
          <a:xfrm xmlns:a="http://schemas.openxmlformats.org/drawingml/2006/main">
            <a:off x="640080" y="1691640"/>
            <a:ext cx="6537960" cy="2706624"/>
          </a:xfrm>
          <a:prstGeom xmlns:a="http://schemas.openxmlformats.org/drawingml/2006/main" prst="roundRect">
            <a:avLst>
              <a:gd name="adj" fmla="val 1786"/>
            </a:avLst>
          </a:prstGeom>
          <a:solidFill xmlns:a="http://schemas.openxmlformats.org/drawingml/2006/main">
            <a:srgbClr val="F4F6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9873B15-5775-4FC3-A02F-7155F771CEF5}"/>
              </a:ext>
            </a:extLst>
          </p:cNvPr>
          <p:cNvSpPr>
            <a:spLocks xmlns:a="http://schemas.openxmlformats.org/drawingml/2006/main" noGrp="1"/>
          </p:cNvSpPr>
          <p:nvPr/>
        </p:nvSpPr>
        <p:spPr>
          <a:xfrm xmlns:a="http://schemas.openxmlformats.org/drawingml/2006/main">
            <a:off x="896112" y="1874520"/>
            <a:ext cx="6025896"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50" b="1">
                <a:solidFill>
                  <a:srgbClr val="16674F"/>
                </a:solidFill>
                <a:latin typeface="Cambria"/>
                <a:ea typeface="Cambria"/>
                <a:cs typeface="Cambria"/>
              </a:defRPr>
            </a:pPr>
            <a:r>
              <a:rPr sz="1550" b="1">
                <a:solidFill>
                  <a:srgbClr val="16674F"/>
                </a:solidFill>
                <a:latin typeface="Cambria"/>
                <a:ea typeface="Cambria"/>
                <a:cs typeface="Cambria"/>
              </a:rPr>
              <a:t>Что рассчитывает система</a:t>
            </a:r>
          </a:p>
        </p:txBody>
      </p:sp>
      <p:sp>
        <p:nvSpPr>
          <p:cNvPr id="7" name="">
            <a:extLst xmlns:a="http://schemas.openxmlformats.org/drawingml/2006/main">
              <a:ext uri="{FF2B5EF4-FFF2-40B4-BE49-F238E27FC236}">
                <a16:creationId xmlns:a16="http://schemas.microsoft.com/office/drawing/2014/main" id="{38E8B448-7766-4568-8923-DA809BAB5F1E}"/>
              </a:ext>
            </a:extLst>
          </p:cNvPr>
          <p:cNvSpPr>
            <a:spLocks xmlns:a="http://schemas.openxmlformats.org/drawingml/2006/main" noGrp="1"/>
          </p:cNvSpPr>
          <p:nvPr/>
        </p:nvSpPr>
        <p:spPr>
          <a:xfrm xmlns:a="http://schemas.openxmlformats.org/drawingml/2006/main">
            <a:off x="896112" y="2450592"/>
            <a:ext cx="6025896" cy="1792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Температура от 0 до 100: оценка вероятности, что на выбранном горизонте более дешёвого дня не будет.</a:t>
            </a:r>
          </a:p>
          <a:p xmlns:a="http://schemas.openxmlformats.org/drawingml/2006/main">
            <a:r>
              <a:t/>
            </a:r>
          </a:p>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Отдельно оцениваем размер изменения и свежесть источника. Для пуша используем собственный строгий фильтр.</a:t>
            </a:r>
          </a:p>
        </p:txBody>
      </p:sp>
      <p:sp>
        <p:nvSpPr>
          <p:cNvPr id="8" name="">
            <a:extLst xmlns:a="http://schemas.openxmlformats.org/drawingml/2006/main">
              <a:ext uri="{FF2B5EF4-FFF2-40B4-BE49-F238E27FC236}">
                <a16:creationId xmlns:a16="http://schemas.microsoft.com/office/drawing/2014/main" id="{35D7BEC5-00E5-49BB-9270-C12F2A39DA5E}"/>
              </a:ext>
            </a:extLst>
          </p:cNvPr>
          <p:cNvSpPr>
            <a:spLocks xmlns:a="http://schemas.openxmlformats.org/drawingml/2006/main" noGrp="1"/>
          </p:cNvSpPr>
          <p:nvPr/>
        </p:nvSpPr>
        <p:spPr>
          <a:xfrm xmlns:a="http://schemas.openxmlformats.org/drawingml/2006/main">
            <a:off x="6153912" y="1691640"/>
            <a:ext cx="5367528" cy="2706624"/>
          </a:xfrm>
          <a:prstGeom xmlns:a="http://schemas.openxmlformats.org/drawingml/2006/main" prst="roundRect">
            <a:avLst>
              <a:gd name="adj" fmla="val 1786"/>
            </a:avLst>
          </a:prstGeom>
          <a:noFill xmlns:a="http://schemas.openxmlformats.org/drawingml/2006/main"/>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A32CFB8-C7EF-4C57-A691-6EB4E2922493}"/>
              </a:ext>
            </a:extLst>
          </p:cNvPr>
          <p:cNvSpPr>
            <a:spLocks xmlns:a="http://schemas.openxmlformats.org/drawingml/2006/main" noGrp="1"/>
          </p:cNvSpPr>
          <p:nvPr/>
        </p:nvSpPr>
        <p:spPr>
          <a:xfrm xmlns:a="http://schemas.openxmlformats.org/drawingml/2006/main">
            <a:off x="7790688" y="1581912"/>
            <a:ext cx="333756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50" b="1">
                <a:solidFill>
                  <a:srgbClr val="1A2530"/>
                </a:solidFill>
                <a:latin typeface="Cambria"/>
                <a:ea typeface="Cambria"/>
                <a:cs typeface="Cambria"/>
              </a:defRPr>
            </a:pPr>
            <a:r>
              <a:rPr sz="1550" b="1">
                <a:solidFill>
                  <a:srgbClr val="1A2530"/>
                </a:solidFill>
                <a:latin typeface="Cambria"/>
                <a:ea typeface="Cambria"/>
                <a:cs typeface="Cambria"/>
              </a:rPr>
              <a:t>Что видит клиент</a:t>
            </a:r>
          </a:p>
        </p:txBody>
      </p:sp>
      <p:sp>
        <p:nvSpPr>
          <p:cNvPr id="10" name="">
            <a:extLst xmlns:a="http://schemas.openxmlformats.org/drawingml/2006/main">
              <a:ext uri="{FF2B5EF4-FFF2-40B4-BE49-F238E27FC236}">
                <a16:creationId xmlns:a16="http://schemas.microsoft.com/office/drawing/2014/main" id="{3045913D-B726-4EA0-B8F7-08C382BCA05A}"/>
              </a:ext>
            </a:extLst>
          </p:cNvPr>
          <p:cNvSpPr>
            <a:spLocks xmlns:a="http://schemas.openxmlformats.org/drawingml/2006/main" noGrp="1"/>
          </p:cNvSpPr>
          <p:nvPr/>
        </p:nvSpPr>
        <p:spPr>
          <a:xfrm xmlns:a="http://schemas.openxmlformats.org/drawingml/2006/main">
            <a:off x="7690104" y="6025896"/>
            <a:ext cx="3721608" cy="246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Сумма и сравнение с историей</a:t>
            </a:r>
          </a:p>
        </p:txBody>
      </p:sp>
      <p:sp>
        <p:nvSpPr>
          <p:cNvPr id="11" name="">
            <a:extLst xmlns:a="http://schemas.openxmlformats.org/drawingml/2006/main">
              <a:ext uri="{FF2B5EF4-FFF2-40B4-BE49-F238E27FC236}">
                <a16:creationId xmlns:a16="http://schemas.microsoft.com/office/drawing/2014/main" id="{2855B286-1982-418C-8E48-DD72061B71E9}"/>
              </a:ext>
            </a:extLst>
          </p:cNvPr>
          <p:cNvSpPr>
            <a:spLocks xmlns:a="http://schemas.openxmlformats.org/drawingml/2006/main" noGrp="1"/>
          </p:cNvSpPr>
          <p:nvPr/>
        </p:nvSpPr>
        <p:spPr>
          <a:xfrm xmlns:a="http://schemas.openxmlformats.org/drawingml/2006/main">
            <a:off x="640080" y="4681728"/>
            <a:ext cx="6537960" cy="1371600"/>
          </a:xfrm>
          <a:prstGeom xmlns:a="http://schemas.openxmlformats.org/drawingml/2006/main" prst="roundRect">
            <a:avLst>
              <a:gd name="adj" fmla="val 4000"/>
            </a:avLst>
          </a:prstGeom>
          <a:solidFill xmlns:a="http://schemas.openxmlformats.org/drawingml/2006/main">
            <a:srgbClr val="1A253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1AEC660-1C7A-4A8C-A62B-E92768A55907}"/>
              </a:ext>
            </a:extLst>
          </p:cNvPr>
          <p:cNvSpPr>
            <a:spLocks xmlns:a="http://schemas.openxmlformats.org/drawingml/2006/main" noGrp="1"/>
          </p:cNvSpPr>
          <p:nvPr/>
        </p:nvSpPr>
        <p:spPr>
          <a:xfrm xmlns:a="http://schemas.openxmlformats.org/drawingml/2006/main">
            <a:off x="914400" y="4837176"/>
            <a:ext cx="6007608"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50" b="1">
                <a:solidFill>
                  <a:srgbClr val="E0A75E"/>
                </a:solidFill>
                <a:latin typeface="Cambria"/>
                <a:ea typeface="Cambria"/>
                <a:cs typeface="Cambria"/>
              </a:defRPr>
            </a:pPr>
            <a:r>
              <a:rPr sz="1550" b="1">
                <a:solidFill>
                  <a:srgbClr val="E0A75E"/>
                </a:solidFill>
                <a:latin typeface="Cambria"/>
                <a:ea typeface="Cambria"/>
                <a:cs typeface="Cambria"/>
              </a:rPr>
              <a:t>Понятный факт вместо прогноза</a:t>
            </a:r>
          </a:p>
        </p:txBody>
      </p:sp>
      <p:sp>
        <p:nvSpPr>
          <p:cNvPr id="13" name="">
            <a:extLst xmlns:a="http://schemas.openxmlformats.org/drawingml/2006/main">
              <a:ext uri="{FF2B5EF4-FFF2-40B4-BE49-F238E27FC236}">
                <a16:creationId xmlns:a16="http://schemas.microsoft.com/office/drawing/2014/main" id="{381A143B-F041-43E0-971E-1CDA60EDFFAC}"/>
              </a:ext>
            </a:extLst>
          </p:cNvPr>
          <p:cNvSpPr>
            <a:spLocks xmlns:a="http://schemas.openxmlformats.org/drawingml/2006/main" noGrp="1"/>
          </p:cNvSpPr>
          <p:nvPr/>
        </p:nvSpPr>
        <p:spPr>
          <a:xfrm xmlns:a="http://schemas.openxmlformats.org/drawingml/2006/main">
            <a:off x="914400" y="5257800"/>
            <a:ext cx="6007608" cy="676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C7CFD8"/>
                </a:solidFill>
                <a:latin typeface="Calibri"/>
                <a:ea typeface="Calibri"/>
                <a:cs typeface="Calibri"/>
              </a:defRPr>
            </a:pPr>
            <a:r>
              <a:rPr sz="1250">
                <a:solidFill>
                  <a:srgbClr val="C7CFD8"/>
                </a:solidFill>
                <a:latin typeface="Calibri"/>
                <a:ea typeface="Calibri"/>
                <a:cs typeface="Calibri"/>
              </a:rPr>
              <a:t>«Лучшая за три месяца была 56 дней из девяноста».</a:t>
            </a:r>
          </a:p>
          <a:p xmlns:a="http://schemas.openxmlformats.org/drawingml/2006/main">
            <a:pPr>
              <a:buNone/>
              <a:defRPr sz="1250">
                <a:solidFill>
                  <a:srgbClr val="C7CFD8"/>
                </a:solidFill>
                <a:latin typeface="Calibri"/>
                <a:ea typeface="Calibri"/>
                <a:cs typeface="Calibri"/>
              </a:defRPr>
            </a:pPr>
            <a:r>
              <a:rPr sz="1250">
                <a:solidFill>
                  <a:srgbClr val="C7CFD8"/>
                </a:solidFill>
                <a:latin typeface="Calibri"/>
                <a:ea typeface="Calibri"/>
                <a:cs typeface="Calibri"/>
              </a:rPr>
              <a:t>На экране — сумма получателя и сравнение с прошлым. Температуру и обещание будущего не показываем.</a:t>
            </a:r>
          </a:p>
        </p:txBody>
      </p:sp>
      <p:sp>
        <p:nvSpPr>
          <p:cNvPr id="14" name="">
            <a:extLst xmlns:a="http://schemas.openxmlformats.org/drawingml/2006/main">
              <a:ext uri="{FF2B5EF4-FFF2-40B4-BE49-F238E27FC236}">
                <a16:creationId xmlns:a16="http://schemas.microsoft.com/office/drawing/2014/main" id="{F27A2507-58FE-490F-AF8F-9355E044E921}"/>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050" i="1">
                <a:solidFill>
                  <a:srgbClr val="6E7A88"/>
                </a:solidFill>
                <a:latin typeface="Calibri"/>
                <a:ea typeface="Calibri"/>
                <a:cs typeface="Calibri"/>
              </a:defRPr>
            </a:pPr>
            <a:r>
              <a:rPr sz="1050" i="1">
                <a:solidFill>
                  <a:srgbClr val="6E7A88"/>
                </a:solidFill>
                <a:latin typeface="Calibri"/>
                <a:ea typeface="Calibri"/>
                <a:cs typeface="Calibri"/>
              </a:rPr>
              <a:t>Макет команды: числа иллюстративные, по ЦБ. В пилоте используем актуальную котировку банка.</a:t>
            </a:r>
          </a:p>
        </p:txBody>
      </p:sp>
      <p:sp>
        <p:nvSpPr>
          <p:cNvPr id="15" name="Solution navigation 1"/>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6" name="Solution navigation 2"/>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17" name="Solution navigation 3"/>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8" name="Solution navigation 4"/>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9" name="Solution navigation 5"/>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20" name="Solution navigation 6"/>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1" name="Solution navigation 7"/>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2" name="Solution navigation 8"/>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3 · Пуш</a:t>
            </a:r>
            <a:endParaRPr sz="1050"/>
          </a:p>
        </p:txBody>
      </p:sp>
      <p:sp>
        <p:nvSpPr>
          <p:cNvPr id="23" name="Solution navigation 9"/>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4" name="Solution navigation 10"/>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5" name="Solution navigation 11"/>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4 · Экран перевода</a:t>
            </a:r>
            <a:endParaRPr sz="1050"/>
          </a:p>
        </p:txBody>
      </p:sp>
      <p:sp>
        <p:nvSpPr>
          <p:cNvPr id="26" name="Solution navigation 12"/>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7" name="Solution navigation 13"/>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28" name="Solution navigation 14"/>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5 · Решение</a:t>
            </a:r>
            <a:endParaRPr sz="1050"/>
          </a:p>
        </p:txBody>
      </p:sp>
      <p:sp>
        <p:nvSpPr>
          <p:cNvPr id="29" name="Solution navigation 15"/>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30" name="Solution navigation 16"/>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31" name="Solution navigation 17"/>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IdTemperatureClientExample"/>
          <a:stretch xmlns:a="http://schemas.openxmlformats.org/drawingml/2006/main"/>
        </p:blipFill>
        <p:spPr>
          <a:xfrm xmlns:a="http://schemas.openxmlformats.org/drawingml/2006/main">
            <a:off x="8293692" y="1956816"/>
            <a:ext cx="1974936" cy="4029266"/>
          </a:xfrm>
          <a:prstGeom xmlns:a="http://schemas.openxmlformats.org/drawingml/2006/main" prst="rect">
            <a:avLst/>
          </a:prstGeom>
        </p:spPr>
      </p:pic>
    </p:spTree>
    <p:extLst>
      <p:ext uri="{BB962C8B-B14F-4D97-AF65-F5344CB8AC3E}">
        <p14:creationId xmlns:p14="http://schemas.microsoft.com/office/powerpoint/2010/main" val="227960552"/>
      </p:ext>
    </p:extLst>
  </p:cSld>
</p:sld>
</file>

<file path=ppt/slides/slide17.xml><?xml version="1.0" encoding="utf-8"?>
<p:sld xmlns:p="http://schemas.openxmlformats.org/presentationml/2006/main">
  <p:cSld>
    <p:bg>
      <p:bgPr>
        <a:solidFill xmlns:a="http://schemas.openxmlformats.org/drawingml/2006/main">
          <a:srgbClr val="1A253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994ADF5-F2EE-4869-B144-FA47F0BCA01E}"/>
              </a:ext>
            </a:extLst>
          </p:cNvPr>
          <p:cNvSpPr>
            <a:spLocks xmlns:a="http://schemas.openxmlformats.org/drawingml/2006/main" noGrp="1"/>
          </p:cNvSpPr>
          <p:nvPr/>
        </p:nvSpPr>
        <p:spPr>
          <a:xfrm xmlns:a="http://schemas.openxmlformats.org/drawingml/2006/main">
            <a:off x="640080" y="1874520"/>
            <a:ext cx="10881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9C5B12"/>
                </a:solidFill>
                <a:latin typeface="Calibri"/>
                <a:ea typeface="Calibri"/>
                <a:cs typeface="Calibri"/>
              </a:rPr>
              <a:t>КОМАНДА 11</a:t>
            </a:r>
            <a:endParaRPr sz="1300"/>
          </a:p>
        </p:txBody>
      </p:sp>
      <p:sp>
        <p:nvSpPr>
          <p:cNvPr id="3" name="Text 1">
            <a:extLst xmlns:a="http://schemas.openxmlformats.org/drawingml/2006/main">
              <a:ext uri="{FF2B5EF4-FFF2-40B4-BE49-F238E27FC236}">
                <a16:creationId xmlns:a16="http://schemas.microsoft.com/office/drawing/2014/main" id="{DDA28FF5-ECAF-4360-AA16-D7A8FF7A6C34}"/>
              </a:ext>
            </a:extLst>
          </p:cNvPr>
          <p:cNvSpPr>
            <a:spLocks xmlns:a="http://schemas.openxmlformats.org/drawingml/2006/main" noGrp="1"/>
          </p:cNvSpPr>
          <p:nvPr/>
        </p:nvSpPr>
        <p:spPr>
          <a:xfrm xmlns:a="http://schemas.openxmlformats.org/drawingml/2006/main">
            <a:off x="640080" y="2240280"/>
            <a:ext cx="1088136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4600"/>
              </a:lnSpc>
              <a:buNone/>
            </a:pPr>
            <a:r>
              <a:rPr sz="4000" b="1">
                <a:solidFill>
                  <a:srgbClr val="FFFFFF"/>
                </a:solidFill>
                <a:latin typeface="Cambria"/>
                <a:ea typeface="Cambria"/>
                <a:cs typeface="Cambria"/>
              </a:rPr>
              <a:t>Ваши вопросы</a:t>
            </a:r>
            <a:endParaRPr sz="4000"/>
          </a:p>
        </p:txBody>
      </p:sp>
      <p:sp>
        <p:nvSpPr>
          <p:cNvPr id="4" name="Text 2">
            <a:extLst xmlns:a="http://schemas.openxmlformats.org/drawingml/2006/main">
              <a:ext uri="{FF2B5EF4-FFF2-40B4-BE49-F238E27FC236}">
                <a16:creationId xmlns:a16="http://schemas.microsoft.com/office/drawing/2014/main" id="{2B6726CF-94F4-407B-9EF2-59D59D0DAB37}"/>
              </a:ext>
            </a:extLst>
          </p:cNvPr>
          <p:cNvSpPr>
            <a:spLocks xmlns:a="http://schemas.openxmlformats.org/drawingml/2006/main" noGrp="1"/>
          </p:cNvSpPr>
          <p:nvPr/>
        </p:nvSpPr>
        <p:spPr>
          <a:xfrm xmlns:a="http://schemas.openxmlformats.org/drawingml/2006/main">
            <a:off x="640080" y="4069080"/>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400"/>
              </a:lnSpc>
              <a:buNone/>
            </a:pPr>
            <a:r>
              <a:rPr sz="1500">
                <a:solidFill>
                  <a:srgbClr val="C7CFD8"/>
                </a:solidFill>
                <a:latin typeface="Calibri"/>
                <a:ea typeface="Calibri"/>
                <a:cs typeface="Calibri"/>
              </a:rPr>
              <a:t>Дальше: доступность данных, определения метрик, результаты по горизонтам и валютам, дневной резерв, интерфейс и эксперименты.</a:t>
            </a:r>
            <a:endParaRPr sz="1500"/>
          </a:p>
        </p:txBody>
      </p:sp>
    </p:spTree>
    <p:extLst>
      <p:ext uri="{BB962C8B-B14F-4D97-AF65-F5344CB8AC3E}">
        <p14:creationId xmlns:p14="http://schemas.microsoft.com/office/powerpoint/2010/main" val="1312785905"/>
      </p:ext>
    </p:extLst>
  </p:cSld>
</p:sld>
</file>

<file path=ppt/slides/slide18.xml><?xml version="1.0" encoding="utf-8"?>
<p:sld xmlns:p="http://schemas.openxmlformats.org/presentationml/2006/main">
  <p:cSld>
    <p:bg>
      <p:bgPr>
        <a:solidFill xmlns:a="http://schemas.openxmlformats.org/drawingml/2006/main">
          <a:srgbClr val="1A253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E6F74AD-D38A-42C8-93D3-EA1B4424A6E0}"/>
              </a:ext>
            </a:extLst>
          </p:cNvPr>
          <p:cNvSpPr>
            <a:spLocks xmlns:a="http://schemas.openxmlformats.org/drawingml/2006/main" noGrp="1"/>
          </p:cNvSpPr>
          <p:nvPr/>
        </p:nvSpPr>
        <p:spPr>
          <a:xfrm xmlns:a="http://schemas.openxmlformats.org/drawingml/2006/main">
            <a:off x="640080" y="1874520"/>
            <a:ext cx="10881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9C5B12"/>
                </a:solidFill>
                <a:latin typeface="Calibri"/>
                <a:ea typeface="Calibri"/>
                <a:cs typeface="Calibri"/>
              </a:rPr>
              <a:t>ДОПОЛНИТЕЛЬНЫЕ МАТЕРИАЛЫ</a:t>
            </a:r>
            <a:endParaRPr sz="1300"/>
          </a:p>
        </p:txBody>
      </p:sp>
      <p:sp>
        <p:nvSpPr>
          <p:cNvPr id="3" name="Text 1">
            <a:extLst xmlns:a="http://schemas.openxmlformats.org/drawingml/2006/main">
              <a:ext uri="{FF2B5EF4-FFF2-40B4-BE49-F238E27FC236}">
                <a16:creationId xmlns:a16="http://schemas.microsoft.com/office/drawing/2014/main" id="{9BAE720C-5D23-45C4-BF5E-2BFA5365C816}"/>
              </a:ext>
            </a:extLst>
          </p:cNvPr>
          <p:cNvSpPr>
            <a:spLocks xmlns:a="http://schemas.openxmlformats.org/drawingml/2006/main" noGrp="1"/>
          </p:cNvSpPr>
          <p:nvPr/>
        </p:nvSpPr>
        <p:spPr>
          <a:xfrm xmlns:a="http://schemas.openxmlformats.org/drawingml/2006/main">
            <a:off x="640080" y="2240280"/>
            <a:ext cx="1088136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4600"/>
              </a:lnSpc>
              <a:buNone/>
            </a:pPr>
            <a:r>
              <a:rPr sz="4000" b="1">
                <a:solidFill>
                  <a:srgbClr val="FFFFFF"/>
                </a:solidFill>
                <a:latin typeface="Cambria"/>
                <a:ea typeface="Cambria"/>
                <a:cs typeface="Cambria"/>
              </a:rPr>
              <a:t>Материал для ответов</a:t>
            </a:r>
            <a:endParaRPr sz="4000"/>
          </a:p>
        </p:txBody>
      </p:sp>
      <p:sp>
        <p:nvSpPr>
          <p:cNvPr id="4" name="Text 2">
            <a:extLst xmlns:a="http://schemas.openxmlformats.org/drawingml/2006/main">
              <a:ext uri="{FF2B5EF4-FFF2-40B4-BE49-F238E27FC236}">
                <a16:creationId xmlns:a16="http://schemas.microsoft.com/office/drawing/2014/main" id="{D6B51A60-E1F4-44E7-A480-25746FEF319E}"/>
              </a:ext>
            </a:extLst>
          </p:cNvPr>
          <p:cNvSpPr>
            <a:spLocks xmlns:a="http://schemas.openxmlformats.org/drawingml/2006/main" noGrp="1"/>
          </p:cNvSpPr>
          <p:nvPr/>
        </p:nvSpPr>
        <p:spPr>
          <a:xfrm xmlns:a="http://schemas.openxmlformats.org/drawingml/2006/main">
            <a:off x="640080" y="4069080"/>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400"/>
              </a:lnSpc>
              <a:buNone/>
            </a:pPr>
            <a:r>
              <a:rPr sz="1500">
                <a:solidFill>
                  <a:srgbClr val="C7CFD8"/>
                </a:solidFill>
                <a:latin typeface="Calibri"/>
                <a:ea typeface="Calibri"/>
                <a:cs typeface="Calibri"/>
              </a:rPr>
              <a:t>Доступность данных, определения метрик, результаты по горизонтам и валютам, дневной резерв, интерфейс и эксперименты.</a:t>
            </a:r>
            <a:endParaRPr sz="1500"/>
          </a:p>
        </p:txBody>
      </p:sp>
    </p:spTree>
    <p:extLst>
      <p:ext uri="{BB962C8B-B14F-4D97-AF65-F5344CB8AC3E}">
        <p14:creationId xmlns:p14="http://schemas.microsoft.com/office/powerpoint/2010/main" val="168853777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CEFD1C5-C2D4-42A9-B4CC-5DD78089236B}"/>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p:spPr>
      </p:sp>
      <p:sp>
        <p:nvSpPr>
          <p:cNvPr id="3" name="Text 1">
            <a:extLst xmlns:a="http://schemas.openxmlformats.org/drawingml/2006/main">
              <a:ext uri="{FF2B5EF4-FFF2-40B4-BE49-F238E27FC236}">
                <a16:creationId xmlns:a16="http://schemas.microsoft.com/office/drawing/2014/main" id="{6F3B8FB0-2D86-4F8E-9495-CED6F4C2945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П1</a:t>
            </a:r>
            <a:endParaRPr sz="1100"/>
          </a:p>
        </p:txBody>
      </p:sp>
      <p:sp>
        <p:nvSpPr>
          <p:cNvPr id="4" name="Text 2">
            <a:extLst xmlns:a="http://schemas.openxmlformats.org/drawingml/2006/main">
              <a:ext uri="{FF2B5EF4-FFF2-40B4-BE49-F238E27FC236}">
                <a16:creationId xmlns:a16="http://schemas.microsoft.com/office/drawing/2014/main" id="{FF207291-02AD-44CE-B7A0-243D39AE2AD1}"/>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A2530"/>
                </a:solidFill>
                <a:latin typeface="Cambria"/>
                <a:ea typeface="Cambria"/>
                <a:cs typeface="Cambria"/>
              </a:rPr>
              <a:t>Как мы контролируем доступность данных</a:t>
            </a:r>
            <a:endParaRPr sz="2500"/>
          </a:p>
        </p:txBody>
      </p:sp>
      <p:sp>
        <p:nvSpPr>
          <p:cNvPr id="5" name="Text 3">
            <a:extLst xmlns:a="http://schemas.openxmlformats.org/drawingml/2006/main">
              <a:ext uri="{FF2B5EF4-FFF2-40B4-BE49-F238E27FC236}">
                <a16:creationId xmlns:a16="http://schemas.microsoft.com/office/drawing/2014/main" id="{BB4BA7AC-DAD3-4E02-9393-D08B3DA4D359}"/>
              </a:ext>
            </a:extLst>
          </p:cNvPr>
          <p:cNvSpPr>
            <a:spLocks xmlns:a="http://schemas.openxmlformats.org/drawingml/2006/main" noGrp="1"/>
          </p:cNvSpPr>
          <p:nvPr/>
        </p:nvSpPr>
        <p:spPr>
          <a:xfrm xmlns:a="http://schemas.openxmlformats.org/drawingml/2006/main">
            <a:off x="640080" y="1097280"/>
            <a:ext cx="10881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700"/>
              </a:lnSpc>
              <a:buNone/>
            </a:pPr>
            <a:r>
              <a:rPr sz="1300">
                <a:solidFill>
                  <a:srgbClr val="4E5966"/>
                </a:solidFill>
                <a:latin typeface="Calibri"/>
                <a:ea typeface="Calibri"/>
                <a:cs typeface="Calibri"/>
              </a:rPr>
              <a:t>Каждый прогноз должен использовать только то, что уже доступно на момент запроса. Проверяем границы источников и созревание ответов.</a:t>
            </a:r>
            <a:endParaRPr sz="1300"/>
          </a:p>
        </p:txBody>
      </p:sp>
      <p:sp>
        <p:nvSpPr>
          <p:cNvPr id="6" name="Shape 4">
            <a:extLst xmlns:a="http://schemas.openxmlformats.org/drawingml/2006/main">
              <a:ext uri="{FF2B5EF4-FFF2-40B4-BE49-F238E27FC236}">
                <a16:creationId xmlns:a16="http://schemas.microsoft.com/office/drawing/2014/main" id="{38793515-7426-4878-A91C-59481E63D206}"/>
              </a:ext>
            </a:extLst>
          </p:cNvPr>
          <p:cNvSpPr>
            <a:spLocks xmlns:a="http://schemas.openxmlformats.org/drawingml/2006/main" noGrp="1"/>
          </p:cNvSpPr>
          <p:nvPr/>
        </p:nvSpPr>
        <p:spPr>
          <a:xfrm xmlns:a="http://schemas.openxmlformats.org/drawingml/2006/main">
            <a:off x="640080" y="1591056"/>
            <a:ext cx="3520440" cy="2121408"/>
          </a:xfrm>
          <a:prstGeom xmlns:a="http://schemas.openxmlformats.org/drawingml/2006/main" prst="roundRect">
            <a:avLst>
              <a:gd name="adj" fmla="val 2586"/>
            </a:avLst>
          </a:prstGeom>
          <a:solidFill xmlns:a="http://schemas.openxmlformats.org/drawingml/2006/main">
            <a:srgbClr val="F4F6F8"/>
          </a:solidFill>
        </p:spPr>
      </p:sp>
      <p:sp>
        <p:nvSpPr>
          <p:cNvPr id="7" name="Text 5">
            <a:extLst xmlns:a="http://schemas.openxmlformats.org/drawingml/2006/main">
              <a:ext uri="{FF2B5EF4-FFF2-40B4-BE49-F238E27FC236}">
                <a16:creationId xmlns:a16="http://schemas.microsoft.com/office/drawing/2014/main" id="{3ED310EE-0689-4C24-8172-D525DA0C8AE7}"/>
              </a:ext>
            </a:extLst>
          </p:cNvPr>
          <p:cNvSpPr>
            <a:spLocks xmlns:a="http://schemas.openxmlformats.org/drawingml/2006/main" noGrp="1"/>
          </p:cNvSpPr>
          <p:nvPr/>
        </p:nvSpPr>
        <p:spPr>
          <a:xfrm xmlns:a="http://schemas.openxmlformats.org/drawingml/2006/main">
            <a:off x="896112" y="1773936"/>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Срез на произвольный момент</a:t>
            </a:r>
            <a:endParaRPr sz="1550"/>
          </a:p>
        </p:txBody>
      </p:sp>
      <p:sp>
        <p:nvSpPr>
          <p:cNvPr id="8" name="Text 6">
            <a:extLst xmlns:a="http://schemas.openxmlformats.org/drawingml/2006/main">
              <a:ext uri="{FF2B5EF4-FFF2-40B4-BE49-F238E27FC236}">
                <a16:creationId xmlns:a16="http://schemas.microsoft.com/office/drawing/2014/main" id="{76337C20-8B4D-4BCA-8A94-B80068CC1BA4}"/>
              </a:ext>
            </a:extLst>
          </p:cNvPr>
          <p:cNvSpPr>
            <a:spLocks xmlns:a="http://schemas.openxmlformats.org/drawingml/2006/main" noGrp="1"/>
          </p:cNvSpPr>
          <p:nvPr/>
        </p:nvSpPr>
        <p:spPr>
          <a:xfrm xmlns:a="http://schemas.openxmlformats.org/drawingml/2006/main">
            <a:off x="896112" y="2304288"/>
            <a:ext cx="3008376" cy="1225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Завершение свечи и получение курса должны быть не позже запроса. Новый курс ЦБ не включается автоматически в 18:00.</a:t>
            </a:r>
            <a:endParaRPr sz="1250"/>
          </a:p>
        </p:txBody>
      </p:sp>
      <p:sp>
        <p:nvSpPr>
          <p:cNvPr id="9" name="Shape 7">
            <a:extLst xmlns:a="http://schemas.openxmlformats.org/drawingml/2006/main">
              <a:ext uri="{FF2B5EF4-FFF2-40B4-BE49-F238E27FC236}">
                <a16:creationId xmlns:a16="http://schemas.microsoft.com/office/drawing/2014/main" id="{B1854D64-2112-4CBA-84BE-E2C2979EABF1}"/>
              </a:ext>
            </a:extLst>
          </p:cNvPr>
          <p:cNvSpPr>
            <a:spLocks xmlns:a="http://schemas.openxmlformats.org/drawingml/2006/main" noGrp="1"/>
          </p:cNvSpPr>
          <p:nvPr/>
        </p:nvSpPr>
        <p:spPr>
          <a:xfrm xmlns:a="http://schemas.openxmlformats.org/drawingml/2006/main">
            <a:off x="4325112" y="1591056"/>
            <a:ext cx="3520440" cy="2121408"/>
          </a:xfrm>
          <a:prstGeom xmlns:a="http://schemas.openxmlformats.org/drawingml/2006/main" prst="roundRect">
            <a:avLst>
              <a:gd name="adj" fmla="val 2586"/>
            </a:avLst>
          </a:prstGeom>
          <a:solidFill xmlns:a="http://schemas.openxmlformats.org/drawingml/2006/main">
            <a:srgbClr val="F4F6F8"/>
          </a:solidFill>
        </p:spPr>
      </p:sp>
      <p:sp>
        <p:nvSpPr>
          <p:cNvPr id="10" name="Text 8">
            <a:extLst xmlns:a="http://schemas.openxmlformats.org/drawingml/2006/main">
              <a:ext uri="{FF2B5EF4-FFF2-40B4-BE49-F238E27FC236}">
                <a16:creationId xmlns:a16="http://schemas.microsoft.com/office/drawing/2014/main" id="{89C46DDB-872C-4A89-9006-AF4905631F12}"/>
              </a:ext>
            </a:extLst>
          </p:cNvPr>
          <p:cNvSpPr>
            <a:spLocks xmlns:a="http://schemas.openxmlformats.org/drawingml/2006/main" noGrp="1"/>
          </p:cNvSpPr>
          <p:nvPr/>
        </p:nvSpPr>
        <p:spPr>
          <a:xfrm xmlns:a="http://schemas.openxmlformats.org/drawingml/2006/main">
            <a:off x="4581144" y="1773936"/>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Обучение только на прошлом</a:t>
            </a:r>
            <a:endParaRPr sz="1550"/>
          </a:p>
        </p:txBody>
      </p:sp>
      <p:sp>
        <p:nvSpPr>
          <p:cNvPr id="11" name="Text 9">
            <a:extLst xmlns:a="http://schemas.openxmlformats.org/drawingml/2006/main">
              <a:ext uri="{FF2B5EF4-FFF2-40B4-BE49-F238E27FC236}">
                <a16:creationId xmlns:a16="http://schemas.microsoft.com/office/drawing/2014/main" id="{BF6477CB-F80F-4BB7-B5AD-D26C934FFC69}"/>
              </a:ext>
            </a:extLst>
          </p:cNvPr>
          <p:cNvSpPr>
            <a:spLocks xmlns:a="http://schemas.openxmlformats.org/drawingml/2006/main" noGrp="1"/>
          </p:cNvSpPr>
          <p:nvPr/>
        </p:nvSpPr>
        <p:spPr>
          <a:xfrm xmlns:a="http://schemas.openxmlformats.org/drawingml/2006/main">
            <a:off x="4581144" y="2304288"/>
            <a:ext cx="3008376" cy="1225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Квартальное обучение. Только ответы, для которых весь горизонт уже завершён. Дополнительный зазор в два дня.</a:t>
            </a:r>
            <a:endParaRPr sz="1250"/>
          </a:p>
        </p:txBody>
      </p:sp>
      <p:sp>
        <p:nvSpPr>
          <p:cNvPr id="12" name="Shape 10">
            <a:extLst xmlns:a="http://schemas.openxmlformats.org/drawingml/2006/main">
              <a:ext uri="{FF2B5EF4-FFF2-40B4-BE49-F238E27FC236}">
                <a16:creationId xmlns:a16="http://schemas.microsoft.com/office/drawing/2014/main" id="{4E9E52B9-D87A-4713-9ECF-B814328F5ED2}"/>
              </a:ext>
            </a:extLst>
          </p:cNvPr>
          <p:cNvSpPr>
            <a:spLocks xmlns:a="http://schemas.openxmlformats.org/drawingml/2006/main" noGrp="1"/>
          </p:cNvSpPr>
          <p:nvPr/>
        </p:nvSpPr>
        <p:spPr>
          <a:xfrm xmlns:a="http://schemas.openxmlformats.org/drawingml/2006/main">
            <a:off x="8001000" y="1591056"/>
            <a:ext cx="3520440" cy="2121408"/>
          </a:xfrm>
          <a:prstGeom xmlns:a="http://schemas.openxmlformats.org/drawingml/2006/main" prst="roundRect">
            <a:avLst>
              <a:gd name="adj" fmla="val 2586"/>
            </a:avLst>
          </a:prstGeom>
          <a:solidFill xmlns:a="http://schemas.openxmlformats.org/drawingml/2006/main">
            <a:srgbClr val="F4F6F8"/>
          </a:solidFill>
        </p:spPr>
      </p:sp>
      <p:sp>
        <p:nvSpPr>
          <p:cNvPr id="13" name="Text 11">
            <a:extLst xmlns:a="http://schemas.openxmlformats.org/drawingml/2006/main">
              <a:ext uri="{FF2B5EF4-FFF2-40B4-BE49-F238E27FC236}">
                <a16:creationId xmlns:a16="http://schemas.microsoft.com/office/drawing/2014/main" id="{12324C58-DD0E-4C22-8298-D67F2B23D768}"/>
              </a:ext>
            </a:extLst>
          </p:cNvPr>
          <p:cNvSpPr>
            <a:spLocks xmlns:a="http://schemas.openxmlformats.org/drawingml/2006/main" noGrp="1"/>
          </p:cNvSpPr>
          <p:nvPr/>
        </p:nvSpPr>
        <p:spPr>
          <a:xfrm xmlns:a="http://schemas.openxmlformats.org/drawingml/2006/main">
            <a:off x="8257032" y="1773936"/>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Проверки неизменности</a:t>
            </a:r>
            <a:endParaRPr sz="1550"/>
          </a:p>
        </p:txBody>
      </p:sp>
      <p:sp>
        <p:nvSpPr>
          <p:cNvPr id="14" name="Text 12">
            <a:extLst xmlns:a="http://schemas.openxmlformats.org/drawingml/2006/main">
              <a:ext uri="{FF2B5EF4-FFF2-40B4-BE49-F238E27FC236}">
                <a16:creationId xmlns:a16="http://schemas.microsoft.com/office/drawing/2014/main" id="{28DF4DD9-394C-411F-9A38-46C6D417F3F2}"/>
              </a:ext>
            </a:extLst>
          </p:cNvPr>
          <p:cNvSpPr>
            <a:spLocks xmlns:a="http://schemas.openxmlformats.org/drawingml/2006/main" noGrp="1"/>
          </p:cNvSpPr>
          <p:nvPr/>
        </p:nvSpPr>
        <p:spPr>
          <a:xfrm xmlns:a="http://schemas.openxmlformats.org/drawingml/2006/main">
            <a:off x="8257032" y="2304288"/>
            <a:ext cx="3008376" cy="1225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Меняем будущие данные и убеждаемся, что прогноз для более раннего среза не изменился. Отдельно проверяем защиту нового курса ЦБ.</a:t>
            </a:r>
            <a:endParaRPr sz="1250"/>
          </a:p>
        </p:txBody>
      </p:sp>
      <p:sp>
        <p:nvSpPr>
          <p:cNvPr id="15" name="Shape 13">
            <a:extLst xmlns:a="http://schemas.openxmlformats.org/drawingml/2006/main">
              <a:ext uri="{FF2B5EF4-FFF2-40B4-BE49-F238E27FC236}">
                <a16:creationId xmlns:a16="http://schemas.microsoft.com/office/drawing/2014/main" id="{6406FEFF-186F-430C-A6DE-A00DBCCF8F2D}"/>
              </a:ext>
            </a:extLst>
          </p:cNvPr>
          <p:cNvSpPr>
            <a:spLocks xmlns:a="http://schemas.openxmlformats.org/drawingml/2006/main" noGrp="1"/>
          </p:cNvSpPr>
          <p:nvPr/>
        </p:nvSpPr>
        <p:spPr>
          <a:xfrm xmlns:a="http://schemas.openxmlformats.org/drawingml/2006/main">
            <a:off x="640080" y="3895344"/>
            <a:ext cx="10881360" cy="2322576"/>
          </a:xfrm>
          <a:prstGeom xmlns:a="http://schemas.openxmlformats.org/drawingml/2006/main" prst="roundRect">
            <a:avLst>
              <a:gd name="adj" fmla="val 2362"/>
            </a:avLst>
          </a:prstGeom>
          <a:solidFill xmlns:a="http://schemas.openxmlformats.org/drawingml/2006/main">
            <a:srgbClr val="1A2530"/>
          </a:solidFill>
        </p:spPr>
      </p:sp>
      <p:sp>
        <p:nvSpPr>
          <p:cNvPr id="16" name="Text 14">
            <a:extLst xmlns:a="http://schemas.openxmlformats.org/drawingml/2006/main">
              <a:ext uri="{FF2B5EF4-FFF2-40B4-BE49-F238E27FC236}">
                <a16:creationId xmlns:a16="http://schemas.microsoft.com/office/drawing/2014/main" id="{FD9E4001-C93E-4825-BF6B-CBC11DC160CD}"/>
              </a:ext>
            </a:extLst>
          </p:cNvPr>
          <p:cNvSpPr>
            <a:spLocks xmlns:a="http://schemas.openxmlformats.org/drawingml/2006/main" noGrp="1"/>
          </p:cNvSpPr>
          <p:nvPr/>
        </p:nvSpPr>
        <p:spPr>
          <a:xfrm xmlns:a="http://schemas.openxmlformats.org/drawingml/2006/main">
            <a:off x="914400" y="4050792"/>
            <a:ext cx="103327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Что ещё нельзя считать доказанным</a:t>
            </a:r>
            <a:endParaRPr sz="1550"/>
          </a:p>
        </p:txBody>
      </p:sp>
      <p:sp>
        <p:nvSpPr>
          <p:cNvPr id="17" name="Text 15">
            <a:extLst xmlns:a="http://schemas.openxmlformats.org/drawingml/2006/main">
              <a:ext uri="{FF2B5EF4-FFF2-40B4-BE49-F238E27FC236}">
                <a16:creationId xmlns:a16="http://schemas.microsoft.com/office/drawing/2014/main" id="{7CACDB67-4911-47AD-88F9-AE9B89E99A1D}"/>
              </a:ext>
            </a:extLst>
          </p:cNvPr>
          <p:cNvSpPr>
            <a:spLocks xmlns:a="http://schemas.openxmlformats.org/drawingml/2006/main" noGrp="1"/>
          </p:cNvSpPr>
          <p:nvPr/>
        </p:nvSpPr>
        <p:spPr>
          <a:xfrm xmlns:a="http://schemas.openxmlformats.org/drawingml/2006/main">
            <a:off x="914400" y="4425696"/>
            <a:ext cx="10332720" cy="162763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Оценки 2024–2026 относятся к открытой ретроспективе: период уже использовался в исследованиях. Новый независимый тест ещё нужен.</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Историческое время получения курса в бэктесте моделируется по календарю. Для пилота нужен журнал реальных получений, котировки банка и проверка полной цепочки отправки.</a:t>
            </a:r>
            <a:endParaRPr sz="1250"/>
          </a:p>
        </p:txBody>
      </p:sp>
      <p:sp>
        <p:nvSpPr>
          <p:cNvPr id="18" name="Text 16">
            <a:extLst xmlns:a="http://schemas.openxmlformats.org/drawingml/2006/main">
              <a:ext uri="{FF2B5EF4-FFF2-40B4-BE49-F238E27FC236}">
                <a16:creationId xmlns:a16="http://schemas.microsoft.com/office/drawing/2014/main" id="{6F9485FC-46B7-474D-8B25-173CEB2E1F26}"/>
              </a:ext>
            </a:extLst>
          </p:cNvPr>
          <p:cNvSpPr>
            <a:spLocks xmlns:a="http://schemas.openxmlformats.org/drawingml/2006/main" noGrp="1"/>
          </p:cNvSpPr>
          <p:nvPr/>
        </p:nvSpPr>
        <p:spPr>
          <a:xfrm xmlns:a="http://schemas.openxmlformats.org/drawingml/2006/main">
            <a:off x="640080" y="6309360"/>
            <a:ext cx="10881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6E7A88"/>
                </a:solidFill>
                <a:latin typeface="Calibri"/>
                <a:ea typeface="Calibri"/>
                <a:cs typeface="Calibri"/>
              </a:rPr>
              <a:t>Финальный кандидат: model/final_temperature_model_v1.json. Тесты причинности не заменяют новый независимый период.</a:t>
            </a:r>
            <a:endParaRPr sz="1050"/>
          </a:p>
        </p:txBody>
      </p:sp>
    </p:spTree>
    <p:extLst>
      <p:ext uri="{BB962C8B-B14F-4D97-AF65-F5344CB8AC3E}">
        <p14:creationId xmlns:p14="http://schemas.microsoft.com/office/powerpoint/2010/main" val="32983947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7F691E1-143E-4CFF-838F-5E26D98B0744}"/>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p:spPr>
      </p:sp>
      <p:sp>
        <p:nvSpPr>
          <p:cNvPr id="3" name="Text 1">
            <a:extLst xmlns:a="http://schemas.openxmlformats.org/drawingml/2006/main">
              <a:ext uri="{FF2B5EF4-FFF2-40B4-BE49-F238E27FC236}">
                <a16:creationId xmlns:a16="http://schemas.microsoft.com/office/drawing/2014/main" id="{742B5F06-E6FC-4F6E-A45B-79D04ADB9008}"/>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П2</a:t>
            </a:r>
            <a:endParaRPr sz="1100"/>
          </a:p>
        </p:txBody>
      </p:sp>
      <p:sp>
        <p:nvSpPr>
          <p:cNvPr id="4" name="Text 2">
            <a:extLst xmlns:a="http://schemas.openxmlformats.org/drawingml/2006/main">
              <a:ext uri="{FF2B5EF4-FFF2-40B4-BE49-F238E27FC236}">
                <a16:creationId xmlns:a16="http://schemas.microsoft.com/office/drawing/2014/main" id="{1C302297-81D7-4C91-B6C0-F058E9B828B0}"/>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A2530"/>
                </a:solidFill>
                <a:latin typeface="Cambria"/>
                <a:ea typeface="Cambria"/>
                <a:cs typeface="Cambria"/>
              </a:rPr>
              <a:t>Какие метрики считаем и что они означают</a:t>
            </a:r>
            <a:endParaRPr sz="2500"/>
          </a:p>
        </p:txBody>
      </p:sp>
      <p:graphicFrame>
        <p:nvGraphicFramePr>
          <p:cNvPr id="13" name=""/>
          <p:cNvGraphicFramePr/>
          <p:nvPr/>
        </p:nvGraphicFramePr>
        <p:xfrm>
          <a:off xmlns:a="http://schemas.openxmlformats.org/drawingml/2006/main" x="640080" y="1325880"/>
          <a:ext xmlns:a="http://schemas.openxmlformats.org/drawingml/2006/main" cx="10881360" cy="2788920"/>
        </p:xfrm>
        <a:graphic xmlns:a="http://schemas.openxmlformats.org/drawingml/2006/main">
          <a:graphicData uri="http://schemas.openxmlformats.org/drawingml/2006/table">
            <a:tbl>
              <a:tblPr/>
              <a:tblGrid>
                <a:gridCol w="2423160"/>
                <a:gridCol w="5486400"/>
                <a:gridCol w="2971800"/>
              </a:tblGrid>
              <a:tr h="464820">
                <a:tc>
                  <a:txBody>
                    <a:bodyPr/>
                    <a:lstStyle/>
                    <a:p>
                      <a:r>
                        <a:rPr sz="1300" b="1">
                          <a:solidFill>
                            <a:srgbClr val="4E5966"/>
                          </a:solidFill>
                          <a:latin typeface="Calibri"/>
                          <a:ea typeface="Calibri"/>
                          <a:cs typeface="Calibri"/>
                        </a:rPr>
                        <a:t>Метрика</a:t>
                      </a:r>
                    </a:p>
                  </a:txBody>
                  <a:tcPr marL="91440" marR="91440" marT="45720" marB="45720">
                    <a:solidFill>
                      <a:srgbClr val="F4F6F8"/>
                    </a:solidFill>
                  </a:tcPr>
                </a:tc>
                <a:tc>
                  <a:txBody>
                    <a:bodyPr/>
                    <a:lstStyle/>
                    <a:p>
                      <a:r>
                        <a:rPr sz="1300" b="1">
                          <a:solidFill>
                            <a:srgbClr val="4E5966"/>
                          </a:solidFill>
                          <a:latin typeface="Calibri"/>
                          <a:ea typeface="Calibri"/>
                          <a:cs typeface="Calibri"/>
                        </a:rPr>
                        <a:t>Определение</a:t>
                      </a:r>
                    </a:p>
                  </a:txBody>
                  <a:tcPr marL="91440" marR="91440" marT="45720" marB="45720">
                    <a:solidFill>
                      <a:srgbClr val="F4F6F8"/>
                    </a:solidFill>
                  </a:tcPr>
                </a:tc>
                <a:tc>
                  <a:txBody>
                    <a:bodyPr/>
                    <a:lstStyle/>
                    <a:p>
                      <a:r>
                        <a:rPr sz="1300" b="1">
                          <a:solidFill>
                            <a:srgbClr val="4E5966"/>
                          </a:solidFill>
                          <a:latin typeface="Calibri"/>
                          <a:ea typeface="Calibri"/>
                          <a:cs typeface="Calibri"/>
                        </a:rPr>
                        <a:t>Итог при h = 5</a:t>
                      </a:r>
                    </a:p>
                  </a:txBody>
                  <a:tcPr marL="91440" marR="91440" marT="45720" marB="45720">
                    <a:solidFill>
                      <a:srgbClr val="F4F6F8"/>
                    </a:solidFill>
                  </a:tcPr>
                </a:tc>
              </a:tr>
              <a:tr h="464820">
                <a:tc>
                  <a:txBody>
                    <a:bodyPr/>
                    <a:lstStyle/>
                    <a:p>
                      <a:r>
                        <a:rPr sz="1300" b="0">
                          <a:solidFill>
                            <a:srgbClr val="4E5966"/>
                          </a:solidFill>
                          <a:latin typeface="Calibri"/>
                          <a:ea typeface="Calibri"/>
                          <a:cs typeface="Calibri"/>
                        </a:rPr>
                        <a:t>Hit rate</a:t>
                      </a:r>
                    </a:p>
                  </a:txBody>
                  <a:tcPr marL="91440" marR="91440" marT="45720" marB="45720">
                    <a:solidFill>
                      <a:srgbClr val="FFFFFF"/>
                    </a:solidFill>
                  </a:tcPr>
                </a:tc>
                <a:tc>
                  <a:txBody>
                    <a:bodyPr/>
                    <a:lstStyle/>
                    <a:p>
                      <a:r>
                        <a:rPr sz="1300" b="0">
                          <a:solidFill>
                            <a:srgbClr val="4E5966"/>
                          </a:solidFill>
                          <a:latin typeface="Calibri"/>
                          <a:ea typeface="Calibri"/>
                          <a:cs typeface="Calibri"/>
                        </a:rPr>
                        <a:t>Сегодняшний курс не выше любого из следующих h курсов</a:t>
                      </a:r>
                    </a:p>
                  </a:txBody>
                  <a:tcPr marL="91440" marR="91440" marT="45720" marB="45720">
                    <a:solidFill>
                      <a:srgbClr val="FFFFFF"/>
                    </a:solidFill>
                  </a:tcPr>
                </a:tc>
                <a:tc>
                  <a:txBody>
                    <a:bodyPr/>
                    <a:lstStyle/>
                    <a:p>
                      <a:r>
                        <a:rPr sz="1300" b="0">
                          <a:solidFill>
                            <a:srgbClr val="4E5966"/>
                          </a:solidFill>
                          <a:latin typeface="Calibri"/>
                          <a:ea typeface="Calibri"/>
                          <a:cs typeface="Calibri"/>
                        </a:rPr>
                        <a:t>73,3813 %</a:t>
                      </a:r>
                    </a:p>
                  </a:txBody>
                  <a:tcPr marL="91440" marR="91440" marT="45720" marB="45720">
                    <a:solidFill>
                      <a:srgbClr val="FFFFFF"/>
                    </a:solidFill>
                  </a:tcPr>
                </a:tc>
              </a:tr>
              <a:tr h="464820">
                <a:tc>
                  <a:txBody>
                    <a:bodyPr/>
                    <a:lstStyle/>
                    <a:p>
                      <a:r>
                        <a:rPr sz="1300" b="0">
                          <a:solidFill>
                            <a:srgbClr val="4E5966"/>
                          </a:solidFill>
                          <a:latin typeface="Calibri"/>
                          <a:ea typeface="Calibri"/>
                          <a:cs typeface="Calibri"/>
                        </a:rPr>
                        <a:t>Lift по точности</a:t>
                      </a:r>
                    </a:p>
                  </a:txBody>
                  <a:tcPr marL="91440" marR="91440" marT="45720" marB="45720">
                    <a:solidFill>
                      <a:srgbClr val="FFFFFF"/>
                    </a:solidFill>
                  </a:tcPr>
                </a:tc>
                <a:tc>
                  <a:txBody>
                    <a:bodyPr/>
                    <a:lstStyle/>
                    <a:p>
                      <a:r>
                        <a:rPr sz="1300" b="0">
                          <a:solidFill>
                            <a:srgbClr val="4E5966"/>
                          </a:solidFill>
                          <a:latin typeface="Calibri"/>
                          <a:ea typeface="Calibri"/>
                          <a:cs typeface="Calibri"/>
                        </a:rPr>
                        <a:t>Hit rate сигнала / hit rate случайного дня</a:t>
                      </a:r>
                    </a:p>
                  </a:txBody>
                  <a:tcPr marL="91440" marR="91440" marT="45720" marB="45720">
                    <a:solidFill>
                      <a:srgbClr val="FFFFFF"/>
                    </a:solidFill>
                  </a:tcPr>
                </a:tc>
                <a:tc>
                  <a:txBody>
                    <a:bodyPr/>
                    <a:lstStyle/>
                    <a:p>
                      <a:r>
                        <a:rPr sz="1300" b="0">
                          <a:solidFill>
                            <a:srgbClr val="4E5966"/>
                          </a:solidFill>
                          <a:latin typeface="Calibri"/>
                          <a:ea typeface="Calibri"/>
                          <a:cs typeface="Calibri"/>
                        </a:rPr>
                        <a:t>2,491906</a:t>
                      </a:r>
                    </a:p>
                  </a:txBody>
                  <a:tcPr marL="91440" marR="91440" marT="45720" marB="45720">
                    <a:solidFill>
                      <a:srgbClr val="FFFFFF"/>
                    </a:solidFill>
                  </a:tcPr>
                </a:tc>
              </a:tr>
              <a:tr h="464820">
                <a:tc>
                  <a:txBody>
                    <a:bodyPr/>
                    <a:lstStyle/>
                    <a:p>
                      <a:r>
                        <a:rPr sz="1300" b="0">
                          <a:solidFill>
                            <a:srgbClr val="4E5966"/>
                          </a:solidFill>
                          <a:latin typeface="Calibri"/>
                          <a:ea typeface="Calibri"/>
                          <a:cs typeface="Calibri"/>
                        </a:rPr>
                        <a:t>Выгода момента ±h</a:t>
                      </a:r>
                    </a:p>
                  </a:txBody>
                  <a:tcPr marL="91440" marR="91440" marT="45720" marB="45720">
                    <a:solidFill>
                      <a:srgbClr val="FFFFFF"/>
                    </a:solidFill>
                  </a:tcPr>
                </a:tc>
                <a:tc>
                  <a:txBody>
                    <a:bodyPr/>
                    <a:lstStyle/>
                    <a:p>
                      <a:r>
                        <a:rPr sz="1300" b="0">
                          <a:solidFill>
                            <a:srgbClr val="4E5966"/>
                          </a:solidFill>
                          <a:latin typeface="Calibri"/>
                          <a:ea typeface="Calibri"/>
                          <a:cs typeface="Calibri"/>
                        </a:rPr>
                        <a:t>Средний курс вокруг дня сигнала, 95 % ДИ: +59,38…+92,46 б. п.</a:t>
                      </a:r>
                    </a:p>
                  </a:txBody>
                  <a:tcPr marL="91440" marR="91440" marT="45720" marB="45720">
                    <a:solidFill>
                      <a:srgbClr val="FFFFFF"/>
                    </a:solidFill>
                  </a:tcPr>
                </a:tc>
                <a:tc>
                  <a:txBody>
                    <a:bodyPr/>
                    <a:lstStyle/>
                    <a:p>
                      <a:r>
                        <a:rPr sz="1300" b="0">
                          <a:solidFill>
                            <a:srgbClr val="4E5966"/>
                          </a:solidFill>
                          <a:latin typeface="Calibri"/>
                          <a:ea typeface="Calibri"/>
                          <a:cs typeface="Calibri"/>
                        </a:rPr>
                        <a:t>+74,5514 б. п.</a:t>
                      </a:r>
                    </a:p>
                  </a:txBody>
                  <a:tcPr marL="91440" marR="91440" marT="45720" marB="45720">
                    <a:solidFill>
                      <a:srgbClr val="FFFFFF"/>
                    </a:solidFill>
                  </a:tcPr>
                </a:tc>
              </a:tr>
              <a:tr h="464820">
                <a:tc>
                  <a:txBody>
                    <a:bodyPr/>
                    <a:lstStyle/>
                    <a:p>
                      <a:r>
                        <a:rPr sz="1300" b="0">
                          <a:solidFill>
                            <a:srgbClr val="4E5966"/>
                          </a:solidFill>
                          <a:latin typeface="Calibri"/>
                          <a:ea typeface="Calibri"/>
                          <a:cs typeface="Calibri"/>
                        </a:rPr>
                        <a:t>Выгода только вперёд</a:t>
                      </a:r>
                    </a:p>
                  </a:txBody>
                  <a:tcPr marL="91440" marR="91440" marT="45720" marB="45720">
                    <a:solidFill>
                      <a:srgbClr val="FFFFFF"/>
                    </a:solidFill>
                  </a:tcPr>
                </a:tc>
                <a:tc>
                  <a:txBody>
                    <a:bodyPr/>
                    <a:lstStyle/>
                    <a:p>
                      <a:r>
                        <a:rPr sz="1300" b="0">
                          <a:solidFill>
                            <a:srgbClr val="4E5966"/>
                          </a:solidFill>
                          <a:latin typeface="Calibri"/>
                          <a:ea typeface="Calibri"/>
                          <a:cs typeface="Calibri"/>
                        </a:rPr>
                        <a:t>Сравнение со средним следующих h курсов</a:t>
                      </a:r>
                    </a:p>
                  </a:txBody>
                  <a:tcPr marL="91440" marR="91440" marT="45720" marB="45720">
                    <a:solidFill>
                      <a:srgbClr val="FFFFFF"/>
                    </a:solidFill>
                  </a:tcPr>
                </a:tc>
                <a:tc>
                  <a:txBody>
                    <a:bodyPr/>
                    <a:lstStyle/>
                    <a:p>
                      <a:r>
                        <a:rPr sz="1300" b="0">
                          <a:solidFill>
                            <a:srgbClr val="4E5966"/>
                          </a:solidFill>
                          <a:latin typeface="Calibri"/>
                          <a:ea typeface="Calibri"/>
                          <a:cs typeface="Calibri"/>
                        </a:rPr>
                        <a:t>+133,7337 б. п.</a:t>
                      </a:r>
                    </a:p>
                  </a:txBody>
                  <a:tcPr marL="91440" marR="91440" marT="45720" marB="45720">
                    <a:solidFill>
                      <a:srgbClr val="FFFFFF"/>
                    </a:solidFill>
                  </a:tcPr>
                </a:tc>
              </a:tr>
              <a:tr h="464820">
                <a:tc>
                  <a:txBody>
                    <a:bodyPr/>
                    <a:lstStyle/>
                    <a:p>
                      <a:r>
                        <a:rPr sz="1300" b="0">
                          <a:solidFill>
                            <a:srgbClr val="4E5966"/>
                          </a:solidFill>
                          <a:latin typeface="Calibri"/>
                          <a:ea typeface="Calibri"/>
                          <a:cs typeface="Calibri"/>
                        </a:rPr>
                        <a:t>Частота</a:t>
                      </a:r>
                    </a:p>
                  </a:txBody>
                  <a:tcPr marL="91440" marR="91440" marT="45720" marB="45720">
                    <a:solidFill>
                      <a:srgbClr val="FFFFFF"/>
                    </a:solidFill>
                  </a:tcPr>
                </a:tc>
                <a:tc>
                  <a:txBody>
                    <a:bodyPr/>
                    <a:lstStyle/>
                    <a:p>
                      <a:r>
                        <a:rPr sz="1300" b="0">
                          <a:solidFill>
                            <a:srgbClr val="4E5966"/>
                          </a:solidFill>
                          <a:latin typeface="Calibri"/>
                          <a:ea typeface="Calibri"/>
                          <a:cs typeface="Calibri"/>
                        </a:rPr>
                        <a:t>Сигналов на валюту в календарную неделю</a:t>
                      </a:r>
                    </a:p>
                  </a:txBody>
                  <a:tcPr marL="91440" marR="91440" marT="45720" marB="45720">
                    <a:solidFill>
                      <a:srgbClr val="FFFFFF"/>
                    </a:solidFill>
                  </a:tcPr>
                </a:tc>
                <a:tc>
                  <a:txBody>
                    <a:bodyPr/>
                    <a:lstStyle/>
                    <a:p>
                      <a:r>
                        <a:rPr sz="1300" b="0">
                          <a:solidFill>
                            <a:srgbClr val="4E5966"/>
                          </a:solidFill>
                          <a:latin typeface="Calibri"/>
                          <a:ea typeface="Calibri"/>
                          <a:cs typeface="Calibri"/>
                        </a:rPr>
                        <a:t>1,03842</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DFFCAD9-6C3D-428B-933F-849ED378E300}"/>
              </a:ext>
            </a:extLst>
          </p:cNvPr>
          <p:cNvSpPr>
            <a:spLocks xmlns:a="http://schemas.openxmlformats.org/drawingml/2006/main" noGrp="1"/>
          </p:cNvSpPr>
          <p:nvPr/>
        </p:nvSpPr>
        <p:spPr>
          <a:xfrm xmlns:a="http://schemas.openxmlformats.org/drawingml/2006/main">
            <a:off x="640080" y="4407408"/>
            <a:ext cx="10881360" cy="1609344"/>
          </a:xfrm>
          <a:prstGeom xmlns:a="http://schemas.openxmlformats.org/drawingml/2006/main" prst="roundRect">
            <a:avLst>
              <a:gd name="adj" fmla="val 3409"/>
            </a:avLst>
          </a:prstGeom>
          <a:solidFill xmlns:a="http://schemas.openxmlformats.org/drawingml/2006/main">
            <a:srgbClr val="1A253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BA8839A-BC15-4E58-AC89-6C895F4550B3}"/>
              </a:ext>
            </a:extLst>
          </p:cNvPr>
          <p:cNvSpPr>
            <a:spLocks xmlns:a="http://schemas.openxmlformats.org/drawingml/2006/main" noGrp="1"/>
          </p:cNvSpPr>
          <p:nvPr/>
        </p:nvSpPr>
        <p:spPr>
          <a:xfrm xmlns:a="http://schemas.openxmlformats.org/drawingml/2006/main">
            <a:off x="914400" y="4562856"/>
            <a:ext cx="103327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E0A75E"/>
                </a:solidFill>
                <a:latin typeface="Cambria"/>
                <a:ea typeface="Cambria"/>
                <a:cs typeface="Cambria"/>
              </a:defRPr>
            </a:pPr>
            <a:r>
              <a:rPr sz="1550" b="1">
                <a:solidFill>
                  <a:srgbClr val="E0A75E"/>
                </a:solidFill>
                <a:latin typeface="Cambria"/>
                <a:ea typeface="Cambria"/>
                <a:cs typeface="Cambria"/>
              </a:rPr>
              <a:t>Почему в отчётах встречается ещё 2,509</a:t>
            </a:r>
          </a:p>
        </p:txBody>
      </p:sp>
      <p:sp>
        <p:nvSpPr>
          <p:cNvPr id="8" name="">
            <a:extLst xmlns:a="http://schemas.openxmlformats.org/drawingml/2006/main">
              <a:ext uri="{FF2B5EF4-FFF2-40B4-BE49-F238E27FC236}">
                <a16:creationId xmlns:a16="http://schemas.microsoft.com/office/drawing/2014/main" id="{C812081E-C2BA-4B12-B9A0-7C1BE363B957}"/>
              </a:ext>
            </a:extLst>
          </p:cNvPr>
          <p:cNvSpPr>
            <a:spLocks xmlns:a="http://schemas.openxmlformats.org/drawingml/2006/main" noGrp="1"/>
          </p:cNvSpPr>
          <p:nvPr/>
        </p:nvSpPr>
        <p:spPr>
          <a:xfrm xmlns:a="http://schemas.openxmlformats.org/drawingml/2006/main">
            <a:off x="914400" y="4983480"/>
            <a:ext cx="10332720" cy="850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2,492 получается из общих долей 73,38 % и 29,45 %. 2,509 использует базу с поправкой на коридор и период. Это две агрегации одних сигналов, не два разных результата модели.</a:t>
            </a:r>
          </a:p>
        </p:txBody>
      </p:sp>
      <p:sp>
        <p:nvSpPr>
          <p:cNvPr id="9" name="">
            <a:extLst xmlns:a="http://schemas.openxmlformats.org/drawingml/2006/main">
              <a:ext uri="{FF2B5EF4-FFF2-40B4-BE49-F238E27FC236}">
                <a16:creationId xmlns:a16="http://schemas.microsoft.com/office/drawing/2014/main" id="{A2AC4D93-7372-4CD2-AC7B-C7B5200449DF}"/>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Q&amp;A: lift по попаданию в будущее, выгода ±h отдельно. h считаем в публикациях. Курс в рублях за единицу валюты.</a:t>
            </a:r>
          </a:p>
        </p:txBody>
      </p:sp>
    </p:spTree>
    <p:extLst>
      <p:ext uri="{BB962C8B-B14F-4D97-AF65-F5344CB8AC3E}">
        <p14:creationId xmlns:p14="http://schemas.microsoft.com/office/powerpoint/2010/main" val="60040848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39C13C6-BE8E-42D4-8269-F325D7ADFC6F}"/>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p:spPr>
      </p:sp>
      <p:sp>
        <p:nvSpPr>
          <p:cNvPr id="3" name="Text 1">
            <a:extLst xmlns:a="http://schemas.openxmlformats.org/drawingml/2006/main">
              <a:ext uri="{FF2B5EF4-FFF2-40B4-BE49-F238E27FC236}">
                <a16:creationId xmlns:a16="http://schemas.microsoft.com/office/drawing/2014/main" id="{029BE67C-F542-46AB-B68B-8EA2623D43AB}"/>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П3</a:t>
            </a:r>
            <a:endParaRPr sz="1100"/>
          </a:p>
        </p:txBody>
      </p:sp>
      <p:sp>
        <p:nvSpPr>
          <p:cNvPr id="4" name="Text 2">
            <a:extLst xmlns:a="http://schemas.openxmlformats.org/drawingml/2006/main">
              <a:ext uri="{FF2B5EF4-FFF2-40B4-BE49-F238E27FC236}">
                <a16:creationId xmlns:a16="http://schemas.microsoft.com/office/drawing/2014/main" id="{5072CB56-CC2B-4E28-BCC6-E730D92766DE}"/>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A2530"/>
                </a:solidFill>
                <a:latin typeface="Cambria"/>
                <a:ea typeface="Cambria"/>
                <a:cs typeface="Cambria"/>
              </a:rPr>
              <a:t>Попадания сохраняются на разных горизонтах</a:t>
            </a:r>
            <a:endParaRPr sz="2500"/>
          </a:p>
        </p:txBody>
      </p:sp>
      <p:graphicFrame>
        <p:nvGraphicFramePr>
          <p:cNvPr id="11" name="Chart"/>
          <p:cNvGraphicFramePr/>
          <p:nvPr/>
        </p:nvGraphicFramePr>
        <p:xfrm>
          <a:off xmlns:a="http://schemas.openxmlformats.org/drawingml/2006/main" x="640080" y="1143000"/>
          <a:ext xmlns:a="http://schemas.openxmlformats.org/drawingml/2006/main" cx="10881360" cy="4407408"/>
        </p:xfrm>
        <a:graphic xmlns:a="http://schemas.openxmlformats.org/drawingml/2006/main">
          <a:graphicData uri="http://schemas.openxmlformats.org/drawingml/2006/chart">
            <c:chart xmlns:r="http://schemas.openxmlformats.org/officeDocument/2006/relationships" xmlns:c="http://schemas.openxmlformats.org/drawingml/2006/chart" r:id="Rb31a8bf3f27d45e4"/>
          </a:graphicData>
        </a:graphic>
      </p:graphicFrame>
      <p:sp>
        <p:nvSpPr>
          <p:cNvPr id="6" name="">
            <a:extLst xmlns:a="http://schemas.openxmlformats.org/drawingml/2006/main">
              <a:ext uri="{FF2B5EF4-FFF2-40B4-BE49-F238E27FC236}">
                <a16:creationId xmlns:a16="http://schemas.microsoft.com/office/drawing/2014/main" id="{A4E59D87-7347-4475-98F3-200E75129C9B}"/>
              </a:ext>
            </a:extLst>
          </p:cNvPr>
          <p:cNvSpPr>
            <a:spLocks xmlns:a="http://schemas.openxmlformats.org/drawingml/2006/main" noGrp="1"/>
          </p:cNvSpPr>
          <p:nvPr/>
        </p:nvSpPr>
        <p:spPr>
          <a:xfrm xmlns:a="http://schemas.openxmlformats.org/drawingml/2006/main">
            <a:off x="640080" y="5623560"/>
            <a:ext cx="1088136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h=1: 100 % у сигналов, 51,62 % у случайного дня. Следующий курс уже известен, поэтому это не доказательство прогноза.</a:t>
            </a:r>
          </a:p>
        </p:txBody>
      </p:sp>
      <p:sp>
        <p:nvSpPr>
          <p:cNvPr id="7" name="">
            <a:extLst xmlns:a="http://schemas.openxmlformats.org/drawingml/2006/main">
              <a:ext uri="{FF2B5EF4-FFF2-40B4-BE49-F238E27FC236}">
                <a16:creationId xmlns:a16="http://schemas.microsoft.com/office/drawing/2014/main" id="{A75B75C1-2E2A-4447-A9C4-E57BF6614122}"/>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2024–2026, открытая ретроспектива. Для h=3/5/10/20 остаётся неизвестная часть будущего. Разные h имеют разную дату конца.</a:t>
            </a:r>
          </a:p>
        </p:txBody>
      </p:sp>
    </p:spTree>
    <p:extLst>
      <p:ext uri="{BB962C8B-B14F-4D97-AF65-F5344CB8AC3E}">
        <p14:creationId xmlns:p14="http://schemas.microsoft.com/office/powerpoint/2010/main" val="176684459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52B8602-6567-4F87-AB1A-EBCF7D008C48}"/>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p:spPr>
      </p:sp>
      <p:sp>
        <p:nvSpPr>
          <p:cNvPr id="3" name="Text 1">
            <a:extLst xmlns:a="http://schemas.openxmlformats.org/drawingml/2006/main">
              <a:ext uri="{FF2B5EF4-FFF2-40B4-BE49-F238E27FC236}">
                <a16:creationId xmlns:a16="http://schemas.microsoft.com/office/drawing/2014/main" id="{176E0E5D-AE23-473B-B695-F89DFC8084E5}"/>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П4</a:t>
            </a:r>
            <a:endParaRPr sz="1100"/>
          </a:p>
        </p:txBody>
      </p:sp>
      <p:sp>
        <p:nvSpPr>
          <p:cNvPr id="4" name="Text 2">
            <a:extLst xmlns:a="http://schemas.openxmlformats.org/drawingml/2006/main">
              <a:ext uri="{FF2B5EF4-FFF2-40B4-BE49-F238E27FC236}">
                <a16:creationId xmlns:a16="http://schemas.microsoft.com/office/drawing/2014/main" id="{220BD794-0DD0-4DC4-B238-37D4C946A651}"/>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A2530"/>
                </a:solidFill>
                <a:latin typeface="Cambria"/>
                <a:ea typeface="Cambria"/>
                <a:cs typeface="Cambria"/>
              </a:rPr>
              <a:t>Дневной резерв: биржа без завтрашнего ЦБ</a:t>
            </a:r>
            <a:endParaRPr sz="2500"/>
          </a:p>
        </p:txBody>
      </p:sp>
      <p:sp>
        <p:nvSpPr>
          <p:cNvPr id="5" name="">
            <a:extLst xmlns:a="http://schemas.openxmlformats.org/drawingml/2006/main">
              <a:ext uri="{FF2B5EF4-FFF2-40B4-BE49-F238E27FC236}">
                <a16:creationId xmlns:a16="http://schemas.microsoft.com/office/drawing/2014/main" id="{CDEF97C4-4526-44AD-AD7C-C23021477411}"/>
              </a:ext>
            </a:extLst>
          </p:cNvPr>
          <p:cNvSpPr>
            <a:spLocks xmlns:a="http://schemas.openxmlformats.org/drawingml/2006/main" noGrp="1"/>
          </p:cNvSpPr>
          <p:nvPr/>
        </p:nvSpPr>
        <p:spPr>
          <a:xfrm xmlns:a="http://schemas.openxmlformats.org/drawingml/2006/main">
            <a:off x="640080" y="1097280"/>
            <a:ext cx="1088136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a:solidFill>
                  <a:srgbClr val="4E5966"/>
                </a:solidFill>
                <a:latin typeface="Calibri"/>
                <a:ea typeface="Calibri"/>
                <a:cs typeface="Calibri"/>
              </a:defRPr>
            </a:pPr>
            <a:r>
              <a:rPr sz="1350">
                <a:solidFill>
                  <a:srgbClr val="4E5966"/>
                </a:solidFill>
                <a:latin typeface="Calibri"/>
                <a:ea typeface="Calibri"/>
                <a:cs typeface="Calibri"/>
              </a:rPr>
              <a:t>Срез 15:30. Горизонт: пять следующих публикаций. Пять валют, 10.01.2025–26.08.2026.</a:t>
            </a:r>
          </a:p>
        </p:txBody>
      </p:sp>
      <p:sp>
        <p:nvSpPr>
          <p:cNvPr id="6" name="">
            <a:extLst xmlns:a="http://schemas.openxmlformats.org/drawingml/2006/main">
              <a:ext uri="{FF2B5EF4-FFF2-40B4-BE49-F238E27FC236}">
                <a16:creationId xmlns:a16="http://schemas.microsoft.com/office/drawing/2014/main" id="{FA7756DD-FC29-42E9-BC04-56F8AAA22CF2}"/>
              </a:ext>
            </a:extLst>
          </p:cNvPr>
          <p:cNvSpPr>
            <a:spLocks xmlns:a="http://schemas.openxmlformats.org/drawingml/2006/main" noGrp="1"/>
          </p:cNvSpPr>
          <p:nvPr/>
        </p:nvSpPr>
        <p:spPr>
          <a:xfrm xmlns:a="http://schemas.openxmlformats.org/drawingml/2006/main">
            <a:off x="640080" y="1691640"/>
            <a:ext cx="5367528" cy="2944368"/>
          </a:xfrm>
          <a:prstGeom xmlns:a="http://schemas.openxmlformats.org/drawingml/2006/main" prst="roundRect">
            <a:avLst>
              <a:gd name="adj" fmla="val 1863"/>
            </a:avLst>
          </a:prstGeom>
          <a:solidFill xmlns:a="http://schemas.openxmlformats.org/drawingml/2006/main">
            <a:srgbClr val="F4F6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721F845-1BD7-4424-8392-1B54DFED7D99}"/>
              </a:ext>
            </a:extLst>
          </p:cNvPr>
          <p:cNvSpPr>
            <a:spLocks xmlns:a="http://schemas.openxmlformats.org/drawingml/2006/main" noGrp="1"/>
          </p:cNvSpPr>
          <p:nvPr/>
        </p:nvSpPr>
        <p:spPr>
          <a:xfrm xmlns:a="http://schemas.openxmlformats.org/drawingml/2006/main">
            <a:off x="896112" y="1920240"/>
            <a:ext cx="4855464"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00" b="1">
                <a:solidFill>
                  <a:srgbClr val="16674F"/>
                </a:solidFill>
                <a:latin typeface="Cambria"/>
                <a:ea typeface="Cambria"/>
                <a:cs typeface="Cambria"/>
              </a:defRPr>
            </a:pPr>
            <a:r>
              <a:rPr sz="2900" b="1">
                <a:solidFill>
                  <a:srgbClr val="16674F"/>
                </a:solidFill>
                <a:latin typeface="Cambria"/>
                <a:ea typeface="Cambria"/>
                <a:cs typeface="Cambria"/>
              </a:rPr>
              <a:t>2,059 lift</a:t>
            </a:r>
          </a:p>
        </p:txBody>
      </p:sp>
      <p:sp>
        <p:nvSpPr>
          <p:cNvPr id="8" name="">
            <a:extLst xmlns:a="http://schemas.openxmlformats.org/drawingml/2006/main">
              <a:ext uri="{FF2B5EF4-FFF2-40B4-BE49-F238E27FC236}">
                <a16:creationId xmlns:a16="http://schemas.microsoft.com/office/drawing/2014/main" id="{C2E91CAD-CA5C-406F-B53E-1B9CDE4B0F37}"/>
              </a:ext>
            </a:extLst>
          </p:cNvPr>
          <p:cNvSpPr>
            <a:spLocks xmlns:a="http://schemas.openxmlformats.org/drawingml/2006/main" noGrp="1"/>
          </p:cNvSpPr>
          <p:nvPr/>
        </p:nvSpPr>
        <p:spPr>
          <a:xfrm xmlns:a="http://schemas.openxmlformats.org/drawingml/2006/main">
            <a:off x="896112" y="2779776"/>
            <a:ext cx="4855464" cy="6949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00">
                <a:solidFill>
                  <a:srgbClr val="1A2530"/>
                </a:solidFill>
                <a:latin typeface="Calibri"/>
                <a:ea typeface="Calibri"/>
                <a:cs typeface="Calibri"/>
              </a:defRPr>
            </a:pPr>
            <a:r>
              <a:rPr sz="1700">
                <a:solidFill>
                  <a:srgbClr val="1A2530"/>
                </a:solidFill>
                <a:latin typeface="Calibri"/>
                <a:ea typeface="Calibri"/>
                <a:cs typeface="Calibri"/>
              </a:rPr>
              <a:t>55,14 % попаданий против 26,78 %</a:t>
            </a:r>
          </a:p>
          <a:p xmlns:a="http://schemas.openxmlformats.org/drawingml/2006/main">
            <a:pPr>
              <a:defRPr sz="1700">
                <a:solidFill>
                  <a:srgbClr val="1A2530"/>
                </a:solidFill>
                <a:latin typeface="Calibri"/>
                <a:ea typeface="Calibri"/>
                <a:cs typeface="Calibri"/>
              </a:defRPr>
            </a:pPr>
            <a:r>
              <a:rPr sz="1700">
                <a:solidFill>
                  <a:srgbClr val="1A2530"/>
                </a:solidFill>
                <a:latin typeface="Calibri"/>
                <a:ea typeface="Calibri"/>
                <a:cs typeface="Calibri"/>
              </a:rPr>
              <a:t>у случайного дня.</a:t>
            </a:r>
          </a:p>
        </p:txBody>
      </p:sp>
      <p:sp>
        <p:nvSpPr>
          <p:cNvPr id="9" name="">
            <a:extLst xmlns:a="http://schemas.openxmlformats.org/drawingml/2006/main">
              <a:ext uri="{FF2B5EF4-FFF2-40B4-BE49-F238E27FC236}">
                <a16:creationId xmlns:a16="http://schemas.microsoft.com/office/drawing/2014/main" id="{2A89C7CD-C921-41A4-BBD5-CCE3730FCA94}"/>
              </a:ext>
            </a:extLst>
          </p:cNvPr>
          <p:cNvSpPr>
            <a:spLocks xmlns:a="http://schemas.openxmlformats.org/drawingml/2006/main" noGrp="1"/>
          </p:cNvSpPr>
          <p:nvPr/>
        </p:nvSpPr>
        <p:spPr>
          <a:xfrm xmlns:a="http://schemas.openxmlformats.org/drawingml/2006/main">
            <a:off x="896112" y="3886200"/>
            <a:ext cx="4855464"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00">
                <a:solidFill>
                  <a:srgbClr val="4E5966"/>
                </a:solidFill>
                <a:latin typeface="Calibri"/>
                <a:ea typeface="Calibri"/>
                <a:cs typeface="Calibri"/>
              </a:defRPr>
            </a:pPr>
            <a:r>
              <a:rPr sz="1400">
                <a:solidFill>
                  <a:srgbClr val="4E5966"/>
                </a:solidFill>
                <a:latin typeface="Calibri"/>
                <a:ea typeface="Calibri"/>
                <a:cs typeface="Calibri"/>
              </a:rPr>
              <a:t>506 сигналов, 1,19 на валюту в неделю.</a:t>
            </a:r>
          </a:p>
        </p:txBody>
      </p:sp>
      <p:sp>
        <p:nvSpPr>
          <p:cNvPr id="10" name="">
            <a:extLst xmlns:a="http://schemas.openxmlformats.org/drawingml/2006/main">
              <a:ext uri="{FF2B5EF4-FFF2-40B4-BE49-F238E27FC236}">
                <a16:creationId xmlns:a16="http://schemas.microsoft.com/office/drawing/2014/main" id="{E5AAC8D2-97A4-4717-9F9E-99845D68768B}"/>
              </a:ext>
            </a:extLst>
          </p:cNvPr>
          <p:cNvSpPr>
            <a:spLocks xmlns:a="http://schemas.openxmlformats.org/drawingml/2006/main" noGrp="1"/>
          </p:cNvSpPr>
          <p:nvPr/>
        </p:nvSpPr>
        <p:spPr>
          <a:xfrm xmlns:a="http://schemas.openxmlformats.org/drawingml/2006/main">
            <a:off x="6153912" y="1691640"/>
            <a:ext cx="5367528" cy="2944368"/>
          </a:xfrm>
          <a:prstGeom xmlns:a="http://schemas.openxmlformats.org/drawingml/2006/main" prst="roundRect">
            <a:avLst>
              <a:gd name="adj" fmla="val 1863"/>
            </a:avLst>
          </a:prstGeom>
          <a:solidFill xmlns:a="http://schemas.openxmlformats.org/drawingml/2006/main">
            <a:srgbClr val="F4F6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2C37096-FB23-494B-B23D-21590D06C0A5}"/>
              </a:ext>
            </a:extLst>
          </p:cNvPr>
          <p:cNvSpPr>
            <a:spLocks xmlns:a="http://schemas.openxmlformats.org/drawingml/2006/main" noGrp="1"/>
          </p:cNvSpPr>
          <p:nvPr/>
        </p:nvSpPr>
        <p:spPr>
          <a:xfrm xmlns:a="http://schemas.openxmlformats.org/drawingml/2006/main">
            <a:off x="6409944" y="1911096"/>
            <a:ext cx="4855464" cy="4937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00" b="1">
                <a:solidFill>
                  <a:srgbClr val="16674F"/>
                </a:solidFill>
                <a:latin typeface="Cambria"/>
                <a:ea typeface="Cambria"/>
                <a:cs typeface="Cambria"/>
              </a:defRPr>
            </a:pPr>
            <a:r>
              <a:rPr sz="1600" b="1">
                <a:solidFill>
                  <a:srgbClr val="16674F"/>
                </a:solidFill>
                <a:latin typeface="Cambria"/>
                <a:ea typeface="Cambria"/>
                <a:cs typeface="Cambria"/>
              </a:rPr>
              <a:t>Биржа задаёт дневной сигнал</a:t>
            </a:r>
          </a:p>
        </p:txBody>
      </p:sp>
      <p:sp>
        <p:nvSpPr>
          <p:cNvPr id="12" name="">
            <a:extLst xmlns:a="http://schemas.openxmlformats.org/drawingml/2006/main">
              <a:ext uri="{FF2B5EF4-FFF2-40B4-BE49-F238E27FC236}">
                <a16:creationId xmlns:a16="http://schemas.microsoft.com/office/drawing/2014/main" id="{50F64A32-214C-4C10-9FDB-4F208CCA9CDC}"/>
              </a:ext>
            </a:extLst>
          </p:cNvPr>
          <p:cNvSpPr>
            <a:spLocks xmlns:a="http://schemas.openxmlformats.org/drawingml/2006/main" noGrp="1"/>
          </p:cNvSpPr>
          <p:nvPr/>
        </p:nvSpPr>
        <p:spPr>
          <a:xfrm xmlns:a="http://schemas.openxmlformats.org/drawingml/2006/main">
            <a:off x="6409944" y="2688336"/>
            <a:ext cx="4855464" cy="1645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00">
                <a:solidFill>
                  <a:srgbClr val="4E5966"/>
                </a:solidFill>
                <a:latin typeface="Calibri"/>
                <a:ea typeface="Calibri"/>
                <a:cs typeface="Calibri"/>
              </a:defRPr>
            </a:pPr>
            <a:r>
              <a:rPr sz="1400">
                <a:solidFill>
                  <a:srgbClr val="4E5966"/>
                </a:solidFill>
                <a:latin typeface="Calibri"/>
                <a:ea typeface="Calibri"/>
                <a:cs typeface="Calibri"/>
              </a:rPr>
              <a:t>Средняя CNY/RUB с 10:00 до 15:30 относительно действующего курса ЦБ.</a:t>
            </a:r>
          </a:p>
          <a:p xmlns:a="http://schemas.openxmlformats.org/drawingml/2006/main">
            <a:r>
              <a:t/>
            </a:r>
          </a:p>
          <a:p xmlns:a="http://schemas.openxmlformats.org/drawingml/2006/main">
            <a:pPr>
              <a:defRPr sz="1400">
                <a:solidFill>
                  <a:srgbClr val="4E5966"/>
                </a:solidFill>
                <a:latin typeface="Calibri"/>
                <a:ea typeface="Calibri"/>
                <a:cs typeface="Calibri"/>
              </a:defRPr>
            </a:pPr>
            <a:r>
              <a:rPr sz="1400">
                <a:solidFill>
                  <a:srgbClr val="4E5966"/>
                </a:solidFill>
                <a:latin typeface="Calibri"/>
                <a:ea typeface="Calibri"/>
                <a:cs typeface="Calibri"/>
              </a:rPr>
              <a:t>Ранг по прошлым дням выделяет сильные сигналы. Если свечей нет, включается резерв на истории.</a:t>
            </a:r>
          </a:p>
        </p:txBody>
      </p:sp>
      <p:sp>
        <p:nvSpPr>
          <p:cNvPr id="13" name="">
            <a:extLst xmlns:a="http://schemas.openxmlformats.org/drawingml/2006/main">
              <a:ext uri="{FF2B5EF4-FFF2-40B4-BE49-F238E27FC236}">
                <a16:creationId xmlns:a16="http://schemas.microsoft.com/office/drawing/2014/main" id="{4228A6DC-4C08-4661-9CC2-79E51C27104C}"/>
              </a:ext>
            </a:extLst>
          </p:cNvPr>
          <p:cNvSpPr>
            <a:spLocks xmlns:a="http://schemas.openxmlformats.org/drawingml/2006/main" noGrp="1"/>
          </p:cNvSpPr>
          <p:nvPr/>
        </p:nvSpPr>
        <p:spPr>
          <a:xfrm xmlns:a="http://schemas.openxmlformats.org/drawingml/2006/main">
            <a:off x="640080" y="4919472"/>
            <a:ext cx="10881360" cy="1161288"/>
          </a:xfrm>
          <a:prstGeom xmlns:a="http://schemas.openxmlformats.org/drawingml/2006/main" prst="roundRect">
            <a:avLst>
              <a:gd name="adj" fmla="val 4724"/>
            </a:avLst>
          </a:prstGeom>
          <a:solidFill xmlns:a="http://schemas.openxmlformats.org/drawingml/2006/main">
            <a:srgbClr val="1A253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0169041-65C5-43DF-B9F7-C1E2CC707E69}"/>
              </a:ext>
            </a:extLst>
          </p:cNvPr>
          <p:cNvSpPr>
            <a:spLocks xmlns:a="http://schemas.openxmlformats.org/drawingml/2006/main" noGrp="1"/>
          </p:cNvSpPr>
          <p:nvPr/>
        </p:nvSpPr>
        <p:spPr>
          <a:xfrm xmlns:a="http://schemas.openxmlformats.org/drawingml/2006/main">
            <a:off x="914400" y="5074920"/>
            <a:ext cx="103327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E0A75E"/>
                </a:solidFill>
                <a:latin typeface="Cambria"/>
                <a:ea typeface="Cambria"/>
                <a:cs typeface="Cambria"/>
              </a:defRPr>
            </a:pPr>
            <a:r>
              <a:rPr sz="1550" b="1">
                <a:solidFill>
                  <a:srgbClr val="E0A75E"/>
                </a:solidFill>
                <a:latin typeface="Cambria"/>
                <a:ea typeface="Cambria"/>
                <a:cs typeface="Cambria"/>
              </a:rPr>
              <a:t>Как читаем этот результат</a:t>
            </a:r>
          </a:p>
        </p:txBody>
      </p:sp>
      <p:sp>
        <p:nvSpPr>
          <p:cNvPr id="15" name="">
            <a:extLst xmlns:a="http://schemas.openxmlformats.org/drawingml/2006/main">
              <a:ext uri="{FF2B5EF4-FFF2-40B4-BE49-F238E27FC236}">
                <a16:creationId xmlns:a16="http://schemas.microsoft.com/office/drawing/2014/main" id="{B71384FA-5023-444A-94A0-56F9CBDB79EB}"/>
              </a:ext>
            </a:extLst>
          </p:cNvPr>
          <p:cNvSpPr>
            <a:spLocks xmlns:a="http://schemas.openxmlformats.org/drawingml/2006/main" noGrp="1"/>
          </p:cNvSpPr>
          <p:nvPr/>
        </p:nvSpPr>
        <p:spPr>
          <a:xfrm xmlns:a="http://schemas.openxmlformats.org/drawingml/2006/main">
            <a:off x="914400" y="5504688"/>
            <a:ext cx="1033272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Курс ЦБ на завтра не используем. Попадания считаем от сегодняшнего ЦБ, а не от цены перевода в банке.</a:t>
            </a:r>
          </a:p>
        </p:txBody>
      </p:sp>
      <p:sp>
        <p:nvSpPr>
          <p:cNvPr id="16" name="">
            <a:extLst xmlns:a="http://schemas.openxmlformats.org/drawingml/2006/main">
              <a:ext uri="{FF2B5EF4-FFF2-40B4-BE49-F238E27FC236}">
                <a16:creationId xmlns:a16="http://schemas.microsoft.com/office/drawing/2014/main" id="{9B1F2CA3-C082-44E2-BFB8-1FBDDAED5195}"/>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Открытая ретроспектива. Отдельно проверенный дневной вариант. Это не качество любого часа и не новый закрытый тест.</a:t>
            </a:r>
          </a:p>
        </p:txBody>
      </p:sp>
    </p:spTree>
    <p:extLst>
      <p:ext uri="{BB962C8B-B14F-4D97-AF65-F5344CB8AC3E}">
        <p14:creationId xmlns:p14="http://schemas.microsoft.com/office/powerpoint/2010/main" val="170453410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658DEB5-B5B6-490B-930D-4E518C636E8B}"/>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400AE3CE-B928-4EBA-B03D-EB8201D5536F}"/>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400" b="1">
                <a:solidFill>
                  <a:srgbClr val="FFFFFF"/>
                </a:solidFill>
                <a:latin typeface="Calibri"/>
                <a:ea typeface="Calibri"/>
                <a:cs typeface="Calibri"/>
              </a:defRPr>
            </a:pPr>
            <a:r>
              <a:rPr sz="1400" b="1">
                <a:solidFill>
                  <a:srgbClr val="FFFFFF"/>
                </a:solidFill>
                <a:latin typeface="Calibri"/>
                <a:ea typeface="Calibri"/>
                <a:cs typeface="Calibri"/>
              </a:rPr>
              <a:t>5</a:t>
            </a:r>
            <a:endParaRPr sz="1100"/>
          </a:p>
        </p:txBody>
      </p:sp>
      <p:sp>
        <p:nvSpPr>
          <p:cNvPr id="4" name="Text 2">
            <a:extLst xmlns:a="http://schemas.openxmlformats.org/drawingml/2006/main">
              <a:ext uri="{FF2B5EF4-FFF2-40B4-BE49-F238E27FC236}">
                <a16:creationId xmlns:a16="http://schemas.microsoft.com/office/drawing/2014/main" id="{7EADB03A-6E92-4466-AD31-1511773B07CF}"/>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2700" b="1">
                <a:solidFill>
                  <a:srgbClr val="1A2530"/>
                </a:solidFill>
                <a:latin typeface="Cambria"/>
                <a:ea typeface="Cambria"/>
                <a:cs typeface="Cambria"/>
              </a:defRPr>
            </a:pPr>
            <a:r>
              <a:rPr sz="2700" b="1">
                <a:solidFill>
                  <a:srgbClr val="1A2530"/>
                </a:solidFill>
                <a:latin typeface="Cambria"/>
                <a:ea typeface="Cambria"/>
                <a:cs typeface="Cambria"/>
              </a:rPr>
              <a:t>Решение: дневная модель на биржевых данных</a:t>
            </a:r>
            <a:endParaRPr sz="2500"/>
          </a:p>
        </p:txBody>
      </p:sp>
      <p:sp>
        <p:nvSpPr>
          <p:cNvPr id="5" name="">
            <a:extLst xmlns:a="http://schemas.openxmlformats.org/drawingml/2006/main">
              <a:ext uri="{FF2B5EF4-FFF2-40B4-BE49-F238E27FC236}">
                <a16:creationId xmlns:a16="http://schemas.microsoft.com/office/drawing/2014/main" id="{1125415A-ABA1-4FDB-BC74-7DD5AD5E7494}"/>
              </a:ext>
            </a:extLst>
          </p:cNvPr>
          <p:cNvSpPr>
            <a:spLocks xmlns:a="http://schemas.openxmlformats.org/drawingml/2006/main" noGrp="1"/>
          </p:cNvSpPr>
          <p:nvPr/>
        </p:nvSpPr>
        <p:spPr>
          <a:xfrm xmlns:a="http://schemas.openxmlformats.org/drawingml/2006/main">
            <a:off x="640080" y="1664208"/>
            <a:ext cx="5367528" cy="1993392"/>
          </a:xfrm>
          <a:prstGeom xmlns:a="http://schemas.openxmlformats.org/drawingml/2006/main" prst="roundRect">
            <a:avLst>
              <a:gd name="adj" fmla="val 2752"/>
            </a:avLst>
          </a:prstGeom>
          <a:solidFill xmlns:a="http://schemas.openxmlformats.org/drawingml/2006/main">
            <a:srgbClr val="F4F6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16F884D-7FFF-4AC5-A909-63388F5941D7}"/>
              </a:ext>
            </a:extLst>
          </p:cNvPr>
          <p:cNvSpPr>
            <a:spLocks xmlns:a="http://schemas.openxmlformats.org/drawingml/2006/main" noGrp="1"/>
          </p:cNvSpPr>
          <p:nvPr/>
        </p:nvSpPr>
        <p:spPr>
          <a:xfrm xmlns:a="http://schemas.openxmlformats.org/drawingml/2006/main">
            <a:off x="896112" y="1847088"/>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50" b="1">
                <a:solidFill>
                  <a:srgbClr val="16674F"/>
                </a:solidFill>
                <a:latin typeface="Cambria"/>
                <a:ea typeface="Cambria"/>
                <a:cs typeface="Cambria"/>
              </a:defRPr>
            </a:pPr>
            <a:r>
              <a:rPr sz="1550" b="1">
                <a:solidFill>
                  <a:srgbClr val="16674F"/>
                </a:solidFill>
                <a:latin typeface="Cambria"/>
                <a:ea typeface="Cambria"/>
                <a:cs typeface="Cambria"/>
              </a:rPr>
              <a:t>1. Берём завершённые свечи</a:t>
            </a:r>
          </a:p>
        </p:txBody>
      </p:sp>
      <p:sp>
        <p:nvSpPr>
          <p:cNvPr id="7" name="">
            <a:extLst xmlns:a="http://schemas.openxmlformats.org/drawingml/2006/main">
              <a:ext uri="{FF2B5EF4-FFF2-40B4-BE49-F238E27FC236}">
                <a16:creationId xmlns:a16="http://schemas.microsoft.com/office/drawing/2014/main" id="{F5CF3C9B-A221-4354-AF3B-589D93676967}"/>
              </a:ext>
            </a:extLst>
          </p:cNvPr>
          <p:cNvSpPr>
            <a:spLocks xmlns:a="http://schemas.openxmlformats.org/drawingml/2006/main" noGrp="1"/>
          </p:cNvSpPr>
          <p:nvPr/>
        </p:nvSpPr>
        <p:spPr>
          <a:xfrm xmlns:a="http://schemas.openxmlformats.org/drawingml/2006/main">
            <a:off x="896112" y="2423160"/>
            <a:ext cx="4855464" cy="1078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CNY/RUB с 10:00 до текущего среза, максимум до 15:30. Считаем среднюю доступную цену. Незавершённую свечу не используем.</a:t>
            </a:r>
          </a:p>
        </p:txBody>
      </p:sp>
      <p:sp>
        <p:nvSpPr>
          <p:cNvPr id="8" name="">
            <a:extLst xmlns:a="http://schemas.openxmlformats.org/drawingml/2006/main">
              <a:ext uri="{FF2B5EF4-FFF2-40B4-BE49-F238E27FC236}">
                <a16:creationId xmlns:a16="http://schemas.microsoft.com/office/drawing/2014/main" id="{BC6DE0EF-F9A4-40D5-B109-F77A169A8491}"/>
              </a:ext>
            </a:extLst>
          </p:cNvPr>
          <p:cNvSpPr>
            <a:spLocks xmlns:a="http://schemas.openxmlformats.org/drawingml/2006/main" noGrp="1"/>
          </p:cNvSpPr>
          <p:nvPr/>
        </p:nvSpPr>
        <p:spPr>
          <a:xfrm xmlns:a="http://schemas.openxmlformats.org/drawingml/2006/main">
            <a:off x="6153912" y="1664208"/>
            <a:ext cx="5367528" cy="1993392"/>
          </a:xfrm>
          <a:prstGeom xmlns:a="http://schemas.openxmlformats.org/drawingml/2006/main" prst="roundRect">
            <a:avLst>
              <a:gd name="adj" fmla="val 2752"/>
            </a:avLst>
          </a:prstGeom>
          <a:solidFill xmlns:a="http://schemas.openxmlformats.org/drawingml/2006/main">
            <a:srgbClr val="F4F6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2EC7F2C-3FBE-418B-92F2-BE4DB0B9809D}"/>
              </a:ext>
            </a:extLst>
          </p:cNvPr>
          <p:cNvSpPr>
            <a:spLocks xmlns:a="http://schemas.openxmlformats.org/drawingml/2006/main" noGrp="1"/>
          </p:cNvSpPr>
          <p:nvPr/>
        </p:nvSpPr>
        <p:spPr>
          <a:xfrm xmlns:a="http://schemas.openxmlformats.org/drawingml/2006/main">
            <a:off x="6409944" y="1847088"/>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50" b="1">
                <a:solidFill>
                  <a:srgbClr val="16674F"/>
                </a:solidFill>
                <a:latin typeface="Cambria"/>
                <a:ea typeface="Cambria"/>
                <a:cs typeface="Cambria"/>
              </a:defRPr>
            </a:pPr>
            <a:r>
              <a:rPr sz="1550" b="1">
                <a:solidFill>
                  <a:srgbClr val="16674F"/>
                </a:solidFill>
                <a:latin typeface="Cambria"/>
                <a:ea typeface="Cambria"/>
                <a:cs typeface="Cambria"/>
              </a:rPr>
              <a:t>2. Сравниваем с официальным курсом</a:t>
            </a:r>
          </a:p>
        </p:txBody>
      </p:sp>
      <p:sp>
        <p:nvSpPr>
          <p:cNvPr id="10" name="">
            <a:extLst xmlns:a="http://schemas.openxmlformats.org/drawingml/2006/main">
              <a:ext uri="{FF2B5EF4-FFF2-40B4-BE49-F238E27FC236}">
                <a16:creationId xmlns:a16="http://schemas.microsoft.com/office/drawing/2014/main" id="{CD0C5122-76A3-44CB-B3D2-E85138034E6A}"/>
              </a:ext>
            </a:extLst>
          </p:cNvPr>
          <p:cNvSpPr>
            <a:spLocks xmlns:a="http://schemas.openxmlformats.org/drawingml/2006/main" noGrp="1"/>
          </p:cNvSpPr>
          <p:nvPr/>
        </p:nvSpPr>
        <p:spPr>
          <a:xfrm xmlns:a="http://schemas.openxmlformats.org/drawingml/2006/main">
            <a:off x="6409944" y="2423160"/>
            <a:ext cx="4855464" cy="1078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Отношение биржевой средней к доступному ЦБ CNY показывает, куда уже сдвинулся рынок относительно дневного ориентира.</a:t>
            </a:r>
          </a:p>
        </p:txBody>
      </p:sp>
      <p:sp>
        <p:nvSpPr>
          <p:cNvPr id="11" name="">
            <a:extLst xmlns:a="http://schemas.openxmlformats.org/drawingml/2006/main">
              <a:ext uri="{FF2B5EF4-FFF2-40B4-BE49-F238E27FC236}">
                <a16:creationId xmlns:a16="http://schemas.microsoft.com/office/drawing/2014/main" id="{071DF73E-5508-4F8D-9BDB-82123FE90814}"/>
              </a:ext>
            </a:extLst>
          </p:cNvPr>
          <p:cNvSpPr>
            <a:spLocks xmlns:a="http://schemas.openxmlformats.org/drawingml/2006/main" noGrp="1"/>
          </p:cNvSpPr>
          <p:nvPr/>
        </p:nvSpPr>
        <p:spPr>
          <a:xfrm xmlns:a="http://schemas.openxmlformats.org/drawingml/2006/main">
            <a:off x="640080" y="3822192"/>
            <a:ext cx="5367528" cy="1993392"/>
          </a:xfrm>
          <a:prstGeom xmlns:a="http://schemas.openxmlformats.org/drawingml/2006/main" prst="roundRect">
            <a:avLst>
              <a:gd name="adj" fmla="val 2752"/>
            </a:avLst>
          </a:prstGeom>
          <a:solidFill xmlns:a="http://schemas.openxmlformats.org/drawingml/2006/main">
            <a:srgbClr val="F4F6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441E262-BD34-4881-98CF-5F6D4A211A62}"/>
              </a:ext>
            </a:extLst>
          </p:cNvPr>
          <p:cNvSpPr>
            <a:spLocks xmlns:a="http://schemas.openxmlformats.org/drawingml/2006/main" noGrp="1"/>
          </p:cNvSpPr>
          <p:nvPr/>
        </p:nvSpPr>
        <p:spPr>
          <a:xfrm xmlns:a="http://schemas.openxmlformats.org/drawingml/2006/main">
            <a:off x="896112" y="4005072"/>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50" b="1">
                <a:solidFill>
                  <a:srgbClr val="1A2530"/>
                </a:solidFill>
                <a:latin typeface="Cambria"/>
                <a:ea typeface="Cambria"/>
                <a:cs typeface="Cambria"/>
              </a:defRPr>
            </a:pPr>
            <a:r>
              <a:rPr sz="1550" b="1">
                <a:solidFill>
                  <a:srgbClr val="1A2530"/>
                </a:solidFill>
                <a:latin typeface="Cambria"/>
                <a:ea typeface="Cambria"/>
                <a:cs typeface="Cambria"/>
              </a:rPr>
              <a:t>3. Переводим в вероятность</a:t>
            </a:r>
          </a:p>
        </p:txBody>
      </p:sp>
      <p:sp>
        <p:nvSpPr>
          <p:cNvPr id="13" name="">
            <a:extLst xmlns:a="http://schemas.openxmlformats.org/drawingml/2006/main">
              <a:ext uri="{FF2B5EF4-FFF2-40B4-BE49-F238E27FC236}">
                <a16:creationId xmlns:a16="http://schemas.microsoft.com/office/drawing/2014/main" id="{0B9D9A8C-A1A5-4059-9EA7-1D400E4983CF}"/>
              </a:ext>
            </a:extLst>
          </p:cNvPr>
          <p:cNvSpPr>
            <a:spLocks xmlns:a="http://schemas.openxmlformats.org/drawingml/2006/main" noGrp="1"/>
          </p:cNvSpPr>
          <p:nvPr/>
        </p:nvSpPr>
        <p:spPr>
          <a:xfrm xmlns:a="http://schemas.openxmlformats.org/drawingml/2006/main">
            <a:off x="896112" y="4581144"/>
            <a:ext cx="4855464" cy="1078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Ранг среди прошлых значений и логистическая калибровка отдельно по валюте и горизонту. Параметры обновляем поквартально.</a:t>
            </a:r>
          </a:p>
        </p:txBody>
      </p:sp>
      <p:sp>
        <p:nvSpPr>
          <p:cNvPr id="14" name="">
            <a:extLst xmlns:a="http://schemas.openxmlformats.org/drawingml/2006/main">
              <a:ext uri="{FF2B5EF4-FFF2-40B4-BE49-F238E27FC236}">
                <a16:creationId xmlns:a16="http://schemas.microsoft.com/office/drawing/2014/main" id="{D8136A50-78B8-4B2F-B5F5-EFAA657FEE8A}"/>
              </a:ext>
            </a:extLst>
          </p:cNvPr>
          <p:cNvSpPr>
            <a:spLocks xmlns:a="http://schemas.openxmlformats.org/drawingml/2006/main" noGrp="1"/>
          </p:cNvSpPr>
          <p:nvPr/>
        </p:nvSpPr>
        <p:spPr>
          <a:xfrm xmlns:a="http://schemas.openxmlformats.org/drawingml/2006/main">
            <a:off x="6153912" y="3822192"/>
            <a:ext cx="5367528" cy="1993392"/>
          </a:xfrm>
          <a:prstGeom xmlns:a="http://schemas.openxmlformats.org/drawingml/2006/main" prst="roundRect">
            <a:avLst>
              <a:gd name="adj" fmla="val 2752"/>
            </a:avLst>
          </a:prstGeom>
          <a:solidFill xmlns:a="http://schemas.openxmlformats.org/drawingml/2006/main">
            <a:srgbClr val="F4F6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9715E2B-222E-4F9F-9A5B-D32E1DB6CDCB}"/>
              </a:ext>
            </a:extLst>
          </p:cNvPr>
          <p:cNvSpPr>
            <a:spLocks xmlns:a="http://schemas.openxmlformats.org/drawingml/2006/main" noGrp="1"/>
          </p:cNvSpPr>
          <p:nvPr/>
        </p:nvSpPr>
        <p:spPr>
          <a:xfrm xmlns:a="http://schemas.openxmlformats.org/drawingml/2006/main">
            <a:off x="6409944" y="4005072"/>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50" b="1">
                <a:solidFill>
                  <a:srgbClr val="1A2530"/>
                </a:solidFill>
                <a:latin typeface="Cambria"/>
                <a:ea typeface="Cambria"/>
                <a:cs typeface="Cambria"/>
              </a:defRPr>
            </a:pPr>
            <a:r>
              <a:rPr sz="1550" b="1">
                <a:solidFill>
                  <a:srgbClr val="1A2530"/>
                </a:solidFill>
                <a:latin typeface="Cambria"/>
                <a:ea typeface="Cambria"/>
                <a:cs typeface="Cambria"/>
              </a:rPr>
              <a:t>4. Не усложняем без выигрыша</a:t>
            </a:r>
          </a:p>
        </p:txBody>
      </p:sp>
      <p:sp>
        <p:nvSpPr>
          <p:cNvPr id="16" name="">
            <a:extLst xmlns:a="http://schemas.openxmlformats.org/drawingml/2006/main">
              <a:ext uri="{FF2B5EF4-FFF2-40B4-BE49-F238E27FC236}">
                <a16:creationId xmlns:a16="http://schemas.microsoft.com/office/drawing/2014/main" id="{2E97DBF9-58DB-4C8E-A557-566FFBA73CB7}"/>
              </a:ext>
            </a:extLst>
          </p:cNvPr>
          <p:cNvSpPr>
            <a:spLocks xmlns:a="http://schemas.openxmlformats.org/drawingml/2006/main" noGrp="1"/>
          </p:cNvSpPr>
          <p:nvPr/>
        </p:nvSpPr>
        <p:spPr>
          <a:xfrm xmlns:a="http://schemas.openxmlformats.org/drawingml/2006/main">
            <a:off x="6409944" y="4581144"/>
            <a:ext cx="4855464" cy="1078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Прямые AMD/RUB и KZT/RUB проверили. Вероятностная модель с KZT ухудшилась в 2025 году, поэтому в итоговую температуру её не включили.</a:t>
            </a:r>
          </a:p>
        </p:txBody>
      </p:sp>
      <p:sp>
        <p:nvSpPr>
          <p:cNvPr id="17" name="">
            <a:extLst xmlns:a="http://schemas.openxmlformats.org/drawingml/2006/main">
              <a:ext uri="{FF2B5EF4-FFF2-40B4-BE49-F238E27FC236}">
                <a16:creationId xmlns:a16="http://schemas.microsoft.com/office/drawing/2014/main" id="{F056A1F6-7FFD-43DA-921F-281468702F3F}"/>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15:30, h=5, 2025–2026: ошибка вероятности Brier 0,1572 против 0,1999 у базовой частоты. Меньше — лучше.</a:t>
            </a:r>
          </a:p>
        </p:txBody>
      </p:sp>
      <p:sp>
        <p:nvSpPr>
          <p:cNvPr id="18" name="Solution navigation 1"/>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9" name="Solution navigation 2"/>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20" name="Solution navigation 3"/>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1" name="Solution navigation 4"/>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2" name="Solution navigation 5"/>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23" name="Solution navigation 6"/>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4" name="Solution navigation 7"/>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5" name="Solution navigation 8"/>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3 · Пуш</a:t>
            </a:r>
            <a:endParaRPr sz="1050"/>
          </a:p>
        </p:txBody>
      </p:sp>
      <p:sp>
        <p:nvSpPr>
          <p:cNvPr id="26" name="Solution navigation 9"/>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7" name="Solution navigation 10"/>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8" name="Solution navigation 11"/>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4 · Экран перевода</a:t>
            </a:r>
            <a:endParaRPr sz="1050"/>
          </a:p>
        </p:txBody>
      </p:sp>
      <p:sp>
        <p:nvSpPr>
          <p:cNvPr id="29" name="Solution navigation 12"/>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30" name="Solution navigation 13"/>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31" name="Solution navigation 14"/>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5 · Решение</a:t>
            </a:r>
            <a:endParaRPr sz="1050"/>
          </a:p>
        </p:txBody>
      </p:sp>
      <p:sp>
        <p:nvSpPr>
          <p:cNvPr id="32" name="Solution navigation 15"/>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33" name="Solution navigation 16"/>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34" name="Solution navigation 17"/>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spTree>
    <p:extLst>
      <p:ext uri="{BB962C8B-B14F-4D97-AF65-F5344CB8AC3E}">
        <p14:creationId xmlns:p14="http://schemas.microsoft.com/office/powerpoint/2010/main" val="75361568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198B8F8-4A9F-474B-801C-882E7433B1C9}"/>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p:spPr>
      </p:sp>
      <p:sp>
        <p:nvSpPr>
          <p:cNvPr id="3" name="Text 1">
            <a:extLst xmlns:a="http://schemas.openxmlformats.org/drawingml/2006/main">
              <a:ext uri="{FF2B5EF4-FFF2-40B4-BE49-F238E27FC236}">
                <a16:creationId xmlns:a16="http://schemas.microsoft.com/office/drawing/2014/main" id="{C6C8CD1D-A2BA-41B5-95A0-B6A60A5C09E9}"/>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П5</a:t>
            </a:r>
            <a:endParaRPr sz="1100"/>
          </a:p>
        </p:txBody>
      </p:sp>
      <p:sp>
        <p:nvSpPr>
          <p:cNvPr id="4" name="Text 2">
            <a:extLst xmlns:a="http://schemas.openxmlformats.org/drawingml/2006/main">
              <a:ext uri="{FF2B5EF4-FFF2-40B4-BE49-F238E27FC236}">
                <a16:creationId xmlns:a16="http://schemas.microsoft.com/office/drawing/2014/main" id="{9EB62B3B-1E5A-4687-9837-2AB29D4B8E9E}"/>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A2530"/>
                </a:solidFill>
                <a:latin typeface="Cambria"/>
                <a:ea typeface="Cambria"/>
                <a:cs typeface="Cambria"/>
              </a:rPr>
              <a:t>Интерфейс: семь экранов существующего флоу</a:t>
            </a:r>
            <a:endParaRPr sz="2500"/>
          </a:p>
        </p:txBody>
      </p:sp>
      <p:pic>
        <p:nvPicPr>
          <p:cNvPr id="13" name="Image 0"/>
          <p:cNvPicPr>
            <a:picLocks xmlns:a="http://schemas.openxmlformats.org/drawingml/2006/main" noChangeAspect="1"/>
          </p:cNvPicPr>
          <p:nvPr/>
        </p:nvPicPr>
        <p:blipFill>
          <a:blip xmlns:r="http://schemas.openxmlformats.org/officeDocument/2006/relationships" xmlns:a="http://schemas.openxmlformats.org/drawingml/2006/main" r:embed="R1d50d6832b7240e9"/>
          <a:stretch xmlns:a="http://schemas.openxmlformats.org/drawingml/2006/main">
            <a:fillRect l="0" t="0" r="0" b="0"/>
          </a:stretch>
        </p:blipFill>
        <p:spPr>
          <a:xfrm xmlns:a="http://schemas.openxmlformats.org/drawingml/2006/main">
            <a:off x="640080" y="1463040"/>
            <a:ext cx="10881360" cy="324612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9803FA73-2001-41E0-8600-896493A89CEC}"/>
              </a:ext>
            </a:extLst>
          </p:cNvPr>
          <p:cNvSpPr>
            <a:spLocks xmlns:a="http://schemas.openxmlformats.org/drawingml/2006/main" noGrp="1"/>
          </p:cNvSpPr>
          <p:nvPr/>
        </p:nvSpPr>
        <p:spPr>
          <a:xfrm xmlns:a="http://schemas.openxmlformats.org/drawingml/2006/main">
            <a:off x="640080" y="4901184"/>
            <a:ext cx="10881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Семь исходных экранов команды. Шкала показывает положение суммы в историческом диапазоне, а не температуру. Числа иллюстративные по ЦБ, в пилоте нужны реальные условия банка.</a:t>
            </a:r>
            <a:endParaRPr sz="1250"/>
          </a:p>
        </p:txBody>
      </p:sp>
      <p:sp>
        <p:nvSpPr>
          <p:cNvPr id="8" name="">
            <a:extLst xmlns:a="http://schemas.openxmlformats.org/drawingml/2006/main">
              <a:ext uri="{FF2B5EF4-FFF2-40B4-BE49-F238E27FC236}">
                <a16:creationId xmlns:a16="http://schemas.microsoft.com/office/drawing/2014/main" id="{013227E4-B91B-4EDF-83A5-E6CC7D0608D7}"/>
              </a:ext>
            </a:extLst>
          </p:cNvPr>
          <p:cNvSpPr>
            <a:spLocks xmlns:a="http://schemas.openxmlformats.org/drawingml/2006/main" noGrp="1"/>
          </p:cNvSpPr>
          <p:nvPr/>
        </p:nvSpPr>
        <p:spPr>
          <a:xfrm xmlns:a="http://schemas.openxmlformats.org/drawingml/2006/main">
            <a:off x="2239366" y="3012948"/>
            <a:ext cx="1036015" cy="209398"/>
          </a:xfrm>
          <a:prstGeom xmlns:a="http://schemas.openxmlformats.org/drawingml/2006/main" prst="rect">
            <a:avLst/>
          </a:prstGeom>
          <a:solidFill xmlns:a="http://schemas.openxmlformats.org/drawingml/2006/main">
            <a:srgbClr val="F2F2F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0397634-01C4-4B81-B7FE-06427BA8D14D}"/>
              </a:ext>
            </a:extLst>
          </p:cNvPr>
          <p:cNvSpPr>
            <a:spLocks xmlns:a="http://schemas.openxmlformats.org/drawingml/2006/main" noGrp="1"/>
          </p:cNvSpPr>
          <p:nvPr/>
        </p:nvSpPr>
        <p:spPr>
          <a:xfrm xmlns:a="http://schemas.openxmlformats.org/drawingml/2006/main">
            <a:off x="2253082" y="3020263"/>
            <a:ext cx="1008583" cy="1947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
                <a:solidFill>
                  <a:srgbClr val="30353B"/>
                </a:solidFill>
                <a:latin typeface="Calibri"/>
                <a:ea typeface="Calibri"/>
                <a:cs typeface="Calibri"/>
              </a:defRPr>
            </a:pPr>
            <a:r>
              <a:rPr sz="360">
                <a:solidFill>
                  <a:srgbClr val="30353B"/>
                </a:solidFill>
                <a:latin typeface="Calibri"/>
                <a:ea typeface="Calibri"/>
                <a:cs typeface="Calibri"/>
              </a:rPr>
              <a:t>За 30 000 ₽ — 3 198 сомони.</a:t>
            </a:r>
          </a:p>
          <a:p xmlns:a="http://schemas.openxmlformats.org/drawingml/2006/main">
            <a:pPr>
              <a:defRPr sz="360">
                <a:solidFill>
                  <a:srgbClr val="30353B"/>
                </a:solidFill>
                <a:latin typeface="Calibri"/>
                <a:ea typeface="Calibri"/>
                <a:cs typeface="Calibri"/>
              </a:defRPr>
            </a:pPr>
            <a:r>
              <a:rPr sz="360">
                <a:solidFill>
                  <a:srgbClr val="30353B"/>
                </a:solidFill>
                <a:latin typeface="Calibri"/>
                <a:ea typeface="Calibri"/>
                <a:cs typeface="Calibri"/>
              </a:rPr>
              <a:t>Лучше было 8 дней из 90.</a:t>
            </a:r>
          </a:p>
          <a:p xmlns:a="http://schemas.openxmlformats.org/drawingml/2006/main">
            <a:pPr>
              <a:defRPr sz="360">
                <a:solidFill>
                  <a:srgbClr val="30353B"/>
                </a:solidFill>
                <a:latin typeface="Calibri"/>
                <a:ea typeface="Calibri"/>
                <a:cs typeface="Calibri"/>
              </a:defRPr>
            </a:pPr>
            <a:r>
              <a:rPr sz="360">
                <a:solidFill>
                  <a:srgbClr val="30353B"/>
                </a:solidFill>
                <a:latin typeface="Calibri"/>
                <a:ea typeface="Calibri"/>
                <a:cs typeface="Calibri"/>
              </a:rPr>
              <a:t>Курс ЦБ на 4 сентября.</a:t>
            </a:r>
          </a:p>
        </p:txBody>
      </p:sp>
    </p:spTree>
    <p:extLst>
      <p:ext uri="{BB962C8B-B14F-4D97-AF65-F5344CB8AC3E}">
        <p14:creationId xmlns:p14="http://schemas.microsoft.com/office/powerpoint/2010/main" val="109894171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B80F8B6-AE03-4BF8-9A28-FE603666E66D}"/>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p:spPr>
      </p:sp>
      <p:sp>
        <p:nvSpPr>
          <p:cNvPr id="3" name="Text 1">
            <a:extLst xmlns:a="http://schemas.openxmlformats.org/drawingml/2006/main">
              <a:ext uri="{FF2B5EF4-FFF2-40B4-BE49-F238E27FC236}">
                <a16:creationId xmlns:a16="http://schemas.microsoft.com/office/drawing/2014/main" id="{055A0FB8-BC72-4383-8D20-82E98E5C79F0}"/>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П6</a:t>
            </a:r>
            <a:endParaRPr sz="1100"/>
          </a:p>
        </p:txBody>
      </p:sp>
      <p:sp>
        <p:nvSpPr>
          <p:cNvPr id="4" name="Text 2">
            <a:extLst xmlns:a="http://schemas.openxmlformats.org/drawingml/2006/main">
              <a:ext uri="{FF2B5EF4-FFF2-40B4-BE49-F238E27FC236}">
                <a16:creationId xmlns:a16="http://schemas.microsoft.com/office/drawing/2014/main" id="{E09F44B7-7A55-4547-B63B-C2088418EFE3}"/>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A2530"/>
                </a:solidFill>
                <a:latin typeface="Cambria"/>
                <a:ea typeface="Cambria"/>
                <a:cs typeface="Cambria"/>
              </a:rPr>
              <a:t>Команда</a:t>
            </a:r>
            <a:endParaRPr sz="2500"/>
          </a:p>
        </p:txBody>
      </p:sp>
      <p:sp>
        <p:nvSpPr>
          <p:cNvPr id="5" name="Shape 3">
            <a:extLst xmlns:a="http://schemas.openxmlformats.org/drawingml/2006/main">
              <a:ext uri="{FF2B5EF4-FFF2-40B4-BE49-F238E27FC236}">
                <a16:creationId xmlns:a16="http://schemas.microsoft.com/office/drawing/2014/main" id="{20734734-274A-4F03-A47A-19131D5C4D60}"/>
              </a:ext>
            </a:extLst>
          </p:cNvPr>
          <p:cNvSpPr>
            <a:spLocks xmlns:a="http://schemas.openxmlformats.org/drawingml/2006/main" noGrp="1"/>
          </p:cNvSpPr>
          <p:nvPr/>
        </p:nvSpPr>
        <p:spPr>
          <a:xfrm xmlns:a="http://schemas.openxmlformats.org/drawingml/2006/main">
            <a:off x="640080" y="1280160"/>
            <a:ext cx="3520440" cy="2788920"/>
          </a:xfrm>
          <a:prstGeom xmlns:a="http://schemas.openxmlformats.org/drawingml/2006/main" prst="roundRect">
            <a:avLst>
              <a:gd name="adj" fmla="val 2400"/>
            </a:avLst>
          </a:prstGeom>
          <a:solidFill xmlns:a="http://schemas.openxmlformats.org/drawingml/2006/main">
            <a:srgbClr val="F4F6F8"/>
          </a:solidFill>
        </p:spPr>
      </p:sp>
      <p:sp>
        <p:nvSpPr>
          <p:cNvPr id="6" name="Text 4">
            <a:extLst xmlns:a="http://schemas.openxmlformats.org/drawingml/2006/main">
              <a:ext uri="{FF2B5EF4-FFF2-40B4-BE49-F238E27FC236}">
                <a16:creationId xmlns:a16="http://schemas.microsoft.com/office/drawing/2014/main" id="{93F9E89D-B865-4C9E-A47B-130BACDA17E0}"/>
              </a:ext>
            </a:extLst>
          </p:cNvPr>
          <p:cNvSpPr>
            <a:spLocks xmlns:a="http://schemas.openxmlformats.org/drawingml/2006/main" noGrp="1"/>
          </p:cNvSpPr>
          <p:nvPr/>
        </p:nvSpPr>
        <p:spPr>
          <a:xfrm xmlns:a="http://schemas.openxmlformats.org/drawingml/2006/main">
            <a:off x="896112" y="1463040"/>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Александр Тармаев</a:t>
            </a:r>
            <a:endParaRPr sz="1550"/>
          </a:p>
        </p:txBody>
      </p:sp>
      <p:sp>
        <p:nvSpPr>
          <p:cNvPr id="7" name="Text 5">
            <a:extLst xmlns:a="http://schemas.openxmlformats.org/drawingml/2006/main">
              <a:ext uri="{FF2B5EF4-FFF2-40B4-BE49-F238E27FC236}">
                <a16:creationId xmlns:a16="http://schemas.microsoft.com/office/drawing/2014/main" id="{E9ACD906-8BF6-4AA5-BF5A-9A663A16768D}"/>
              </a:ext>
            </a:extLst>
          </p:cNvPr>
          <p:cNvSpPr>
            <a:spLocks xmlns:a="http://schemas.openxmlformats.org/drawingml/2006/main" noGrp="1"/>
          </p:cNvSpPr>
          <p:nvPr/>
        </p:nvSpPr>
        <p:spPr>
          <a:xfrm xmlns:a="http://schemas.openxmlformats.org/drawingml/2006/main">
            <a:off x="896112" y="1993392"/>
            <a:ext cx="3008376" cy="1389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AI Product. Продуктовая постановка, клиентский путь, макеты, тексты, базовые индикаторы и комплект материалов.</a:t>
            </a:r>
            <a:endParaRPr sz="1250"/>
          </a:p>
        </p:txBody>
      </p:sp>
      <p:sp>
        <p:nvSpPr>
          <p:cNvPr id="8" name="Shape 6">
            <a:extLst xmlns:a="http://schemas.openxmlformats.org/drawingml/2006/main">
              <a:ext uri="{FF2B5EF4-FFF2-40B4-BE49-F238E27FC236}">
                <a16:creationId xmlns:a16="http://schemas.microsoft.com/office/drawing/2014/main" id="{59E031D1-36B0-4E29-8404-3168AFE8C8D7}"/>
              </a:ext>
            </a:extLst>
          </p:cNvPr>
          <p:cNvSpPr>
            <a:spLocks xmlns:a="http://schemas.openxmlformats.org/drawingml/2006/main" noGrp="1"/>
          </p:cNvSpPr>
          <p:nvPr/>
        </p:nvSpPr>
        <p:spPr>
          <a:xfrm xmlns:a="http://schemas.openxmlformats.org/drawingml/2006/main">
            <a:off x="4325112" y="1280160"/>
            <a:ext cx="3520440" cy="2788920"/>
          </a:xfrm>
          <a:prstGeom xmlns:a="http://schemas.openxmlformats.org/drawingml/2006/main" prst="roundRect">
            <a:avLst>
              <a:gd name="adj" fmla="val 2400"/>
            </a:avLst>
          </a:prstGeom>
          <a:solidFill xmlns:a="http://schemas.openxmlformats.org/drawingml/2006/main">
            <a:srgbClr val="F4F6F8"/>
          </a:solidFill>
        </p:spPr>
      </p:sp>
      <p:sp>
        <p:nvSpPr>
          <p:cNvPr id="9" name="Text 7">
            <a:extLst xmlns:a="http://schemas.openxmlformats.org/drawingml/2006/main">
              <a:ext uri="{FF2B5EF4-FFF2-40B4-BE49-F238E27FC236}">
                <a16:creationId xmlns:a16="http://schemas.microsoft.com/office/drawing/2014/main" id="{136F7EC0-FF17-4B92-9D98-A759B3181E8F}"/>
              </a:ext>
            </a:extLst>
          </p:cNvPr>
          <p:cNvSpPr>
            <a:spLocks xmlns:a="http://schemas.openxmlformats.org/drawingml/2006/main" noGrp="1"/>
          </p:cNvSpPr>
          <p:nvPr/>
        </p:nvSpPr>
        <p:spPr>
          <a:xfrm xmlns:a="http://schemas.openxmlformats.org/drawingml/2006/main">
            <a:off x="4581144" y="1463040"/>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Даниил Недайборщ</a:t>
            </a:r>
            <a:endParaRPr sz="1550"/>
          </a:p>
        </p:txBody>
      </p:sp>
      <p:sp>
        <p:nvSpPr>
          <p:cNvPr id="10" name="Text 8">
            <a:extLst xmlns:a="http://schemas.openxmlformats.org/drawingml/2006/main">
              <a:ext uri="{FF2B5EF4-FFF2-40B4-BE49-F238E27FC236}">
                <a16:creationId xmlns:a16="http://schemas.microsoft.com/office/drawing/2014/main" id="{1EA83F7C-2D77-46BF-91D8-5647F390856C}"/>
              </a:ext>
            </a:extLst>
          </p:cNvPr>
          <p:cNvSpPr>
            <a:spLocks xmlns:a="http://schemas.openxmlformats.org/drawingml/2006/main" noGrp="1"/>
          </p:cNvSpPr>
          <p:nvPr/>
        </p:nvSpPr>
        <p:spPr>
          <a:xfrm xmlns:a="http://schemas.openxmlformats.org/drawingml/2006/main">
            <a:off x="4581144" y="1993392"/>
            <a:ext cx="3008376" cy="1389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AI Engineer. Данные и признаки, независимая реализация version_b, модели и проверка расчётов.</a:t>
            </a:r>
            <a:endParaRPr sz="1250"/>
          </a:p>
        </p:txBody>
      </p:sp>
      <p:sp>
        <p:nvSpPr>
          <p:cNvPr id="11" name="Shape 9">
            <a:extLst xmlns:a="http://schemas.openxmlformats.org/drawingml/2006/main">
              <a:ext uri="{FF2B5EF4-FFF2-40B4-BE49-F238E27FC236}">
                <a16:creationId xmlns:a16="http://schemas.microsoft.com/office/drawing/2014/main" id="{92CF8A75-7A6A-4E36-AA88-9D288AB939BF}"/>
              </a:ext>
            </a:extLst>
          </p:cNvPr>
          <p:cNvSpPr>
            <a:spLocks xmlns:a="http://schemas.openxmlformats.org/drawingml/2006/main" noGrp="1"/>
          </p:cNvSpPr>
          <p:nvPr/>
        </p:nvSpPr>
        <p:spPr>
          <a:xfrm xmlns:a="http://schemas.openxmlformats.org/drawingml/2006/main">
            <a:off x="8001000" y="1280160"/>
            <a:ext cx="3520440" cy="2788920"/>
          </a:xfrm>
          <a:prstGeom xmlns:a="http://schemas.openxmlformats.org/drawingml/2006/main" prst="roundRect">
            <a:avLst>
              <a:gd name="adj" fmla="val 2400"/>
            </a:avLst>
          </a:prstGeom>
          <a:solidFill xmlns:a="http://schemas.openxmlformats.org/drawingml/2006/main">
            <a:srgbClr val="F4F6F8"/>
          </a:solidFill>
        </p:spPr>
      </p:sp>
      <p:sp>
        <p:nvSpPr>
          <p:cNvPr id="12" name="Text 10">
            <a:extLst xmlns:a="http://schemas.openxmlformats.org/drawingml/2006/main">
              <a:ext uri="{FF2B5EF4-FFF2-40B4-BE49-F238E27FC236}">
                <a16:creationId xmlns:a16="http://schemas.microsoft.com/office/drawing/2014/main" id="{7E1E5CC2-0195-48F1-B9C5-8BE0712AEF57}"/>
              </a:ext>
            </a:extLst>
          </p:cNvPr>
          <p:cNvSpPr>
            <a:spLocks xmlns:a="http://schemas.openxmlformats.org/drawingml/2006/main" noGrp="1"/>
          </p:cNvSpPr>
          <p:nvPr/>
        </p:nvSpPr>
        <p:spPr>
          <a:xfrm xmlns:a="http://schemas.openxmlformats.org/drawingml/2006/main">
            <a:off x="8257032" y="1463040"/>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Иван Калинин</a:t>
            </a:r>
            <a:endParaRPr sz="1550"/>
          </a:p>
        </p:txBody>
      </p:sp>
      <p:sp>
        <p:nvSpPr>
          <p:cNvPr id="13" name="Text 11">
            <a:extLst xmlns:a="http://schemas.openxmlformats.org/drawingml/2006/main">
              <a:ext uri="{FF2B5EF4-FFF2-40B4-BE49-F238E27FC236}">
                <a16:creationId xmlns:a16="http://schemas.microsoft.com/office/drawing/2014/main" id="{453B7C26-2903-463D-B96E-350FBE1997C2}"/>
              </a:ext>
            </a:extLst>
          </p:cNvPr>
          <p:cNvSpPr>
            <a:spLocks xmlns:a="http://schemas.openxmlformats.org/drawingml/2006/main" noGrp="1"/>
          </p:cNvSpPr>
          <p:nvPr/>
        </p:nvSpPr>
        <p:spPr>
          <a:xfrm xmlns:a="http://schemas.openxmlformats.org/drawingml/2006/main">
            <a:off x="8257032" y="1993392"/>
            <a:ext cx="3008376" cy="1892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AI Engineer. Разработка итоговой модели: дневной и вечерний прогноз, температура.</a:t>
            </a:r>
            <a:endParaRPr sz="1250"/>
          </a:p>
          <a:p xmlns:a="http://schemas.openxmlformats.org/drawingml/2006/main">
            <a:pPr marL="0" indent="0">
              <a:lnSpc>
                <a:spcPts val="1700"/>
              </a:lnSpc>
              <a:buNone/>
            </a:pPr>
            <a:r>
              <a:rPr sz="1250">
                <a:solidFill>
                  <a:srgbClr val="4E5966"/>
                </a:solidFill>
                <a:latin typeface="Calibri"/>
                <a:ea typeface="Calibri"/>
                <a:cs typeface="Calibri"/>
              </a:rPr>
              <a:t/>
            </a:r>
            <a:endParaRPr sz="1250"/>
          </a:p>
          <a:p xmlns:a="http://schemas.openxmlformats.org/drawingml/2006/main">
            <a:pPr marL="0" indent="0">
              <a:lnSpc>
                <a:spcPts val="1700"/>
              </a:lnSpc>
              <a:buNone/>
            </a:pPr>
            <a:r>
              <a:rPr sz="1250">
                <a:solidFill>
                  <a:srgbClr val="4E5966"/>
                </a:solidFill>
                <a:latin typeface="Calibri"/>
                <a:ea typeface="Calibri"/>
                <a:cs typeface="Calibri"/>
              </a:rPr>
              <a:t>100+ вариантов моделей, признаков и правил отбора. Эксперименты по валютам и периодам, контроль утечек.</a:t>
            </a:r>
            <a:endParaRPr sz="1250"/>
          </a:p>
          <a:p xmlns:a="http://schemas.openxmlformats.org/drawingml/2006/main">
            <a:pPr marL="0" indent="0">
              <a:lnSpc>
                <a:spcPts val="1700"/>
              </a:lnSpc>
              <a:buNone/>
            </a:pPr>
            <a:r>
              <a:rPr sz="1250">
                <a:solidFill>
                  <a:srgbClr val="4E5966"/>
                </a:solidFill>
                <a:latin typeface="Calibri"/>
                <a:ea typeface="Calibri"/>
                <a:cs typeface="Calibri"/>
              </a:rPr>
              <a:t/>
            </a:r>
            <a:endParaRPr sz="1250"/>
          </a:p>
          <a:p xmlns:a="http://schemas.openxmlformats.org/drawingml/2006/main">
            <a:pPr marL="0" indent="0">
              <a:lnSpc>
                <a:spcPts val="1700"/>
              </a:lnSpc>
              <a:buNone/>
            </a:pPr>
            <a:r>
              <a:rPr sz="1250">
                <a:solidFill>
                  <a:srgbClr val="4E5966"/>
                </a:solidFill>
                <a:latin typeface="Calibri"/>
                <a:ea typeface="Calibri"/>
                <a:cs typeface="Calibri"/>
              </a:rPr>
              <a:t>Отбор пушей, итоговые метрики и финализация презентации.</a:t>
            </a:r>
            <a:endParaRPr sz="1250"/>
          </a:p>
        </p:txBody>
      </p:sp>
      <p:sp>
        <p:nvSpPr>
          <p:cNvPr id="14" name="Shape 12">
            <a:extLst xmlns:a="http://schemas.openxmlformats.org/drawingml/2006/main">
              <a:ext uri="{FF2B5EF4-FFF2-40B4-BE49-F238E27FC236}">
                <a16:creationId xmlns:a16="http://schemas.microsoft.com/office/drawing/2014/main" id="{E3DA2142-1014-4068-BCA9-4E0C58CEE4C1}"/>
              </a:ext>
            </a:extLst>
          </p:cNvPr>
          <p:cNvSpPr>
            <a:spLocks xmlns:a="http://schemas.openxmlformats.org/drawingml/2006/main" noGrp="1"/>
          </p:cNvSpPr>
          <p:nvPr/>
        </p:nvSpPr>
        <p:spPr>
          <a:xfrm xmlns:a="http://schemas.openxmlformats.org/drawingml/2006/main">
            <a:off x="640080" y="4343400"/>
            <a:ext cx="10881360" cy="1828800"/>
          </a:xfrm>
          <a:prstGeom xmlns:a="http://schemas.openxmlformats.org/drawingml/2006/main" prst="roundRect">
            <a:avLst>
              <a:gd name="adj" fmla="val 2609"/>
            </a:avLst>
          </a:prstGeom>
          <a:solidFill xmlns:a="http://schemas.openxmlformats.org/drawingml/2006/main">
            <a:srgbClr val="1A2530"/>
          </a:solidFill>
        </p:spPr>
      </p:sp>
      <p:sp>
        <p:nvSpPr>
          <p:cNvPr id="15" name="Text 13">
            <a:extLst xmlns:a="http://schemas.openxmlformats.org/drawingml/2006/main">
              <a:ext uri="{FF2B5EF4-FFF2-40B4-BE49-F238E27FC236}">
                <a16:creationId xmlns:a16="http://schemas.microsoft.com/office/drawing/2014/main" id="{9B5A6769-AF37-4608-89BD-D25F4D501FA3}"/>
              </a:ext>
            </a:extLst>
          </p:cNvPr>
          <p:cNvSpPr>
            <a:spLocks xmlns:a="http://schemas.openxmlformats.org/drawingml/2006/main" noGrp="1"/>
          </p:cNvSpPr>
          <p:nvPr/>
        </p:nvSpPr>
        <p:spPr>
          <a:xfrm xmlns:a="http://schemas.openxmlformats.org/drawingml/2006/main">
            <a:off x="914400" y="4498848"/>
            <a:ext cx="103327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Вклад команды в итоговое решение</a:t>
            </a:r>
            <a:endParaRPr sz="1550"/>
          </a:p>
        </p:txBody>
      </p:sp>
      <p:sp>
        <p:nvSpPr>
          <p:cNvPr id="16" name="Text 14">
            <a:extLst xmlns:a="http://schemas.openxmlformats.org/drawingml/2006/main">
              <a:ext uri="{FF2B5EF4-FFF2-40B4-BE49-F238E27FC236}">
                <a16:creationId xmlns:a16="http://schemas.microsoft.com/office/drawing/2014/main" id="{C09CA6CB-F147-4F29-BB85-F022119A5206}"/>
              </a:ext>
            </a:extLst>
          </p:cNvPr>
          <p:cNvSpPr>
            <a:spLocks xmlns:a="http://schemas.openxmlformats.org/drawingml/2006/main" noGrp="1"/>
          </p:cNvSpPr>
          <p:nvPr/>
        </p:nvSpPr>
        <p:spPr>
          <a:xfrm xmlns:a="http://schemas.openxmlformats.org/drawingml/2006/main">
            <a:off x="914400" y="4873752"/>
            <a:ext cx="10332720" cy="1152144"/>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Продуктовая часть сохраняет существующий путь перевода и безопасные формулировки. Независимые реализации помогли проверить признаки и обнаружить различия в оценке.</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Финальное исследование добавило работу по доступности данных, оценку момента в течение дня и управляемый поток сигналов.</a:t>
            </a:r>
            <a:endParaRPr sz="1250"/>
          </a:p>
        </p:txBody>
      </p:sp>
    </p:spTree>
    <p:extLst>
      <p:ext uri="{BB962C8B-B14F-4D97-AF65-F5344CB8AC3E}">
        <p14:creationId xmlns:p14="http://schemas.microsoft.com/office/powerpoint/2010/main" val="200475909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96662F-4E80-4A9E-8C4E-2C83D7DDF794}"/>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209595-B756-4750-83B8-56C2B2C1EE9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П7</a:t>
            </a:r>
          </a:p>
        </p:txBody>
      </p:sp>
      <p:sp>
        <p:nvSpPr>
          <p:cNvPr id="3" name="">
            <a:extLst xmlns:a="http://schemas.openxmlformats.org/drawingml/2006/main">
              <a:ext uri="{FF2B5EF4-FFF2-40B4-BE49-F238E27FC236}">
                <a16:creationId xmlns:a16="http://schemas.microsoft.com/office/drawing/2014/main" id="{6D32C2DD-B375-481F-94F9-A297B9693436}"/>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1A2530"/>
                </a:solidFill>
                <a:latin typeface="Cambria"/>
                <a:ea typeface="Cambria"/>
                <a:cs typeface="Cambria"/>
              </a:defRPr>
            </a:pPr>
            <a:r>
              <a:rPr sz="2700" b="1">
                <a:solidFill>
                  <a:srgbClr val="1A2530"/>
                </a:solidFill>
                <a:latin typeface="Cambria"/>
                <a:ea typeface="Cambria"/>
                <a:cs typeface="Cambria"/>
              </a:rPr>
              <a:t>Результат на всех пяти валютах</a:t>
            </a:r>
          </a:p>
        </p:txBody>
      </p:sp>
      <p:graphicFrame>
        <p:nvGraphicFramePr>
          <p:cNvPr id="9" name="Chart"/>
          <p:cNvGraphicFramePr/>
          <p:nvPr/>
        </p:nvGraphicFramePr>
        <p:xfrm>
          <a:off xmlns:a="http://schemas.openxmlformats.org/drawingml/2006/main" x="640080" y="1280160"/>
          <a:ext xmlns:a="http://schemas.openxmlformats.org/drawingml/2006/main" cx="10881360" cy="4480560"/>
        </p:xfrm>
        <a:graphic xmlns:a="http://schemas.openxmlformats.org/drawingml/2006/main">
          <a:graphicData uri="http://schemas.openxmlformats.org/drawingml/2006/chart">
            <c:chart xmlns:r="http://schemas.openxmlformats.org/officeDocument/2006/relationships" xmlns:c="http://schemas.openxmlformats.org/drawingml/2006/chart" r:id="R9e764a7274c64645"/>
          </a:graphicData>
        </a:graphic>
      </p:graphicFrame>
      <p:sp>
        <p:nvSpPr>
          <p:cNvPr id="5" name="">
            <a:extLst xmlns:a="http://schemas.openxmlformats.org/drawingml/2006/main">
              <a:ext uri="{FF2B5EF4-FFF2-40B4-BE49-F238E27FC236}">
                <a16:creationId xmlns:a16="http://schemas.microsoft.com/office/drawing/2014/main" id="{D62B8943-F55F-43AE-8339-5A786B8A8236}"/>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2024–2026, открытая ретроспектива после получения ЦБ. На каждой валюте около 1,02–1,06 сигнала в неделю.</a:t>
            </a:r>
          </a:p>
        </p:txBody>
      </p:sp>
    </p:spTree>
    <p:extLst>
      <p:ext uri="{BB962C8B-B14F-4D97-AF65-F5344CB8AC3E}">
        <p14:creationId xmlns:p14="http://schemas.microsoft.com/office/powerpoint/2010/main" val="208611630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AECF499-7F61-42AE-9003-C44D31D46F52}"/>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7F44D3-6A11-4B97-9A15-7DAD7FF8E1EE}"/>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400" b="1">
                <a:solidFill>
                  <a:srgbClr val="FFFFFF"/>
                </a:solidFill>
                <a:latin typeface="Calibri"/>
                <a:ea typeface="Calibri"/>
                <a:cs typeface="Calibri"/>
              </a:defRPr>
            </a:pPr>
            <a:r>
              <a:rPr sz="1400" b="1">
                <a:solidFill>
                  <a:srgbClr val="FFFFFF"/>
                </a:solidFill>
                <a:latin typeface="Calibri"/>
                <a:ea typeface="Calibri"/>
                <a:cs typeface="Calibri"/>
              </a:rPr>
              <a:t>5</a:t>
            </a:r>
          </a:p>
        </p:txBody>
      </p:sp>
      <p:sp>
        <p:nvSpPr>
          <p:cNvPr id="3" name="">
            <a:extLst xmlns:a="http://schemas.openxmlformats.org/drawingml/2006/main">
              <a:ext uri="{FF2B5EF4-FFF2-40B4-BE49-F238E27FC236}">
                <a16:creationId xmlns:a16="http://schemas.microsoft.com/office/drawing/2014/main" id="{EB750F07-6440-4319-98AB-3754A82171ED}"/>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buNone/>
              <a:defRPr sz="2700" b="1">
                <a:solidFill>
                  <a:srgbClr val="1A2530"/>
                </a:solidFill>
                <a:latin typeface="Cambria"/>
                <a:ea typeface="Cambria"/>
                <a:cs typeface="Cambria"/>
              </a:defRPr>
            </a:pPr>
            <a:r>
              <a:rPr sz="2700" b="1">
                <a:solidFill>
                  <a:srgbClr val="1A2530"/>
                </a:solidFill>
                <a:latin typeface="Cambria"/>
                <a:ea typeface="Cambria"/>
                <a:cs typeface="Cambria"/>
              </a:rPr>
              <a:t>Решение: вечерний ансамбль и отбор сигналов</a:t>
            </a:r>
          </a:p>
        </p:txBody>
      </p:sp>
      <p:sp>
        <p:nvSpPr>
          <p:cNvPr id="4" name="">
            <a:extLst xmlns:a="http://schemas.openxmlformats.org/drawingml/2006/main">
              <a:ext uri="{FF2B5EF4-FFF2-40B4-BE49-F238E27FC236}">
                <a16:creationId xmlns:a16="http://schemas.microsoft.com/office/drawing/2014/main" id="{B002ED62-1870-4DC5-BD6C-4E563FB6D38E}"/>
              </a:ext>
            </a:extLst>
          </p:cNvPr>
          <p:cNvSpPr>
            <a:spLocks xmlns:a="http://schemas.openxmlformats.org/drawingml/2006/main" noGrp="1"/>
          </p:cNvSpPr>
          <p:nvPr/>
        </p:nvSpPr>
        <p:spPr>
          <a:xfrm xmlns:a="http://schemas.openxmlformats.org/drawingml/2006/main">
            <a:off x="640080" y="1691640"/>
            <a:ext cx="5367528" cy="3136392"/>
          </a:xfrm>
          <a:prstGeom xmlns:a="http://schemas.openxmlformats.org/drawingml/2006/main" prst="roundRect">
            <a:avLst>
              <a:gd name="adj" fmla="val 1567"/>
            </a:avLst>
          </a:prstGeom>
          <a:solidFill xmlns:a="http://schemas.openxmlformats.org/drawingml/2006/main">
            <a:srgbClr val="F4F6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C6615B7-19AD-44B7-93C9-C65F01C079D3}"/>
              </a:ext>
            </a:extLst>
          </p:cNvPr>
          <p:cNvSpPr>
            <a:spLocks xmlns:a="http://schemas.openxmlformats.org/drawingml/2006/main" noGrp="1"/>
          </p:cNvSpPr>
          <p:nvPr/>
        </p:nvSpPr>
        <p:spPr>
          <a:xfrm xmlns:a="http://schemas.openxmlformats.org/drawingml/2006/main">
            <a:off x="896112" y="1874520"/>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50" b="1">
                <a:solidFill>
                  <a:srgbClr val="16674F"/>
                </a:solidFill>
                <a:latin typeface="Cambria"/>
                <a:ea typeface="Cambria"/>
                <a:cs typeface="Cambria"/>
              </a:defRPr>
            </a:pPr>
            <a:r>
              <a:rPr sz="1550" b="1">
                <a:solidFill>
                  <a:srgbClr val="16674F"/>
                </a:solidFill>
                <a:latin typeface="Cambria"/>
                <a:ea typeface="Cambria"/>
                <a:cs typeface="Cambria"/>
              </a:rPr>
              <a:t>Температура: CatBoost + калибровка</a:t>
            </a:r>
          </a:p>
        </p:txBody>
      </p:sp>
      <p:sp>
        <p:nvSpPr>
          <p:cNvPr id="6" name="">
            <a:extLst xmlns:a="http://schemas.openxmlformats.org/drawingml/2006/main">
              <a:ext uri="{FF2B5EF4-FFF2-40B4-BE49-F238E27FC236}">
                <a16:creationId xmlns:a16="http://schemas.microsoft.com/office/drawing/2014/main" id="{C33B5830-A256-4F98-8F92-170BFF357EF8}"/>
              </a:ext>
            </a:extLst>
          </p:cNvPr>
          <p:cNvSpPr>
            <a:spLocks xmlns:a="http://schemas.openxmlformats.org/drawingml/2006/main" noGrp="1"/>
          </p:cNvSpPr>
          <p:nvPr/>
        </p:nvSpPr>
        <p:spPr>
          <a:xfrm xmlns:a="http://schemas.openxmlformats.org/drawingml/2006/main">
            <a:off x="896112" y="2450592"/>
            <a:ext cx="4855464" cy="2221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Входы: известное изменение ЦБ на завтра, ранги трёх исторических моделей и их согласие, недавняя частота сигналов, календарь и валюта.</a:t>
            </a:r>
          </a:p>
          <a:p xmlns:a="http://schemas.openxmlformats.org/drawingml/2006/main">
            <a:r>
              <a:t/>
            </a:r>
          </a:p>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Отдельные модели на 3, 5, 10 и 20 публикаций. Калибровка превращает оценку в вероятность.</a:t>
            </a:r>
          </a:p>
          <a:p xmlns:a="http://schemas.openxmlformats.org/drawingml/2006/main">
            <a:r>
              <a:t/>
            </a:r>
          </a:p>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Признак «курс завтра» включается только после получения.</a:t>
            </a:r>
          </a:p>
        </p:txBody>
      </p:sp>
      <p:sp>
        <p:nvSpPr>
          <p:cNvPr id="7" name="">
            <a:extLst xmlns:a="http://schemas.openxmlformats.org/drawingml/2006/main">
              <a:ext uri="{FF2B5EF4-FFF2-40B4-BE49-F238E27FC236}">
                <a16:creationId xmlns:a16="http://schemas.microsoft.com/office/drawing/2014/main" id="{A65E51E0-C3A5-4183-A508-D5AC1A016671}"/>
              </a:ext>
            </a:extLst>
          </p:cNvPr>
          <p:cNvSpPr>
            <a:spLocks xmlns:a="http://schemas.openxmlformats.org/drawingml/2006/main" noGrp="1"/>
          </p:cNvSpPr>
          <p:nvPr/>
        </p:nvSpPr>
        <p:spPr>
          <a:xfrm xmlns:a="http://schemas.openxmlformats.org/drawingml/2006/main">
            <a:off x="6153912" y="1691640"/>
            <a:ext cx="5367528" cy="3136392"/>
          </a:xfrm>
          <a:prstGeom xmlns:a="http://schemas.openxmlformats.org/drawingml/2006/main" prst="roundRect">
            <a:avLst>
              <a:gd name="adj" fmla="val 1567"/>
            </a:avLst>
          </a:prstGeom>
          <a:solidFill xmlns:a="http://schemas.openxmlformats.org/drawingml/2006/main">
            <a:srgbClr val="F4F6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F4D345C-562A-40F2-B7B4-E52C0B8776A2}"/>
              </a:ext>
            </a:extLst>
          </p:cNvPr>
          <p:cNvSpPr>
            <a:spLocks xmlns:a="http://schemas.openxmlformats.org/drawingml/2006/main" noGrp="1"/>
          </p:cNvSpPr>
          <p:nvPr/>
        </p:nvSpPr>
        <p:spPr>
          <a:xfrm xmlns:a="http://schemas.openxmlformats.org/drawingml/2006/main">
            <a:off x="6409944" y="1874520"/>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50" b="1">
                <a:solidFill>
                  <a:srgbClr val="1A2530"/>
                </a:solidFill>
                <a:latin typeface="Cambria"/>
                <a:ea typeface="Cambria"/>
                <a:cs typeface="Cambria"/>
              </a:defRPr>
            </a:pPr>
            <a:r>
              <a:rPr sz="1550" b="1">
                <a:solidFill>
                  <a:srgbClr val="1A2530"/>
                </a:solidFill>
                <a:latin typeface="Cambria"/>
                <a:ea typeface="Cambria"/>
                <a:cs typeface="Cambria"/>
              </a:rPr>
              <a:t>Пуш: ансамбль с отбором сигналов</a:t>
            </a:r>
          </a:p>
        </p:txBody>
      </p:sp>
      <p:sp>
        <p:nvSpPr>
          <p:cNvPr id="9" name="">
            <a:extLst xmlns:a="http://schemas.openxmlformats.org/drawingml/2006/main">
              <a:ext uri="{FF2B5EF4-FFF2-40B4-BE49-F238E27FC236}">
                <a16:creationId xmlns:a16="http://schemas.microsoft.com/office/drawing/2014/main" id="{708E3B62-9421-4498-96C9-0EA8AA23A77C}"/>
              </a:ext>
            </a:extLst>
          </p:cNvPr>
          <p:cNvSpPr>
            <a:spLocks xmlns:a="http://schemas.openxmlformats.org/drawingml/2006/main" noGrp="1"/>
          </p:cNvSpPr>
          <p:nvPr/>
        </p:nvSpPr>
        <p:spPr>
          <a:xfrm xmlns:a="http://schemas.openxmlformats.org/drawingml/2006/main">
            <a:off x="6409944" y="2450592"/>
            <a:ext cx="4855464" cy="2221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Бустинги, включая CatBoost, и линейная модель риска. Основной отбор дополняется резервом при долгой тишине.</a:t>
            </a:r>
          </a:p>
          <a:p xmlns:a="http://schemas.openxmlformats.org/drawingml/2006/main">
            <a:r>
              <a:t/>
            </a:r>
          </a:p>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Прошлые завершённые случаи помогают оценить качество резерва по валюте. Максимум два события за календарную неделю.</a:t>
            </a:r>
          </a:p>
          <a:p xmlns:a="http://schemas.openxmlformats.org/drawingml/2006/main">
            <a:r>
              <a:t/>
            </a:r>
          </a:p>
          <a:p xmlns:a="http://schemas.openxmlformats.org/drawingml/2006/main">
            <a:pPr>
              <a:buNone/>
              <a:defRPr sz="1250">
                <a:solidFill>
                  <a:srgbClr val="4E5966"/>
                </a:solidFill>
                <a:latin typeface="Calibri"/>
                <a:ea typeface="Calibri"/>
                <a:cs typeface="Calibri"/>
              </a:defRPr>
            </a:pPr>
            <a:r>
              <a:rPr sz="1250">
                <a:solidFill>
                  <a:srgbClr val="4E5966"/>
                </a:solidFill>
                <a:latin typeface="Calibri"/>
                <a:ea typeface="Calibri"/>
                <a:cs typeface="Calibri"/>
              </a:rPr>
              <a:t>Пуш — не просто «температура выше 70».</a:t>
            </a:r>
          </a:p>
        </p:txBody>
      </p:sp>
      <p:sp>
        <p:nvSpPr>
          <p:cNvPr id="10" name="">
            <a:extLst xmlns:a="http://schemas.openxmlformats.org/drawingml/2006/main">
              <a:ext uri="{FF2B5EF4-FFF2-40B4-BE49-F238E27FC236}">
                <a16:creationId xmlns:a16="http://schemas.microsoft.com/office/drawing/2014/main" id="{8A436D17-4DFC-477C-A41E-33071CCA84C2}"/>
              </a:ext>
            </a:extLst>
          </p:cNvPr>
          <p:cNvSpPr>
            <a:spLocks xmlns:a="http://schemas.openxmlformats.org/drawingml/2006/main" noGrp="1"/>
          </p:cNvSpPr>
          <p:nvPr/>
        </p:nvSpPr>
        <p:spPr>
          <a:xfrm xmlns:a="http://schemas.openxmlformats.org/drawingml/2006/main">
            <a:off x="640080" y="5029200"/>
            <a:ext cx="10881360" cy="1069848"/>
          </a:xfrm>
          <a:prstGeom xmlns:a="http://schemas.openxmlformats.org/drawingml/2006/main" prst="roundRect">
            <a:avLst>
              <a:gd name="adj" fmla="val 5128"/>
            </a:avLst>
          </a:prstGeom>
          <a:solidFill xmlns:a="http://schemas.openxmlformats.org/drawingml/2006/main">
            <a:srgbClr val="1A253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2EBAC8C-0CC9-4CD2-A16B-D3A22EE5678D}"/>
              </a:ext>
            </a:extLst>
          </p:cNvPr>
          <p:cNvSpPr>
            <a:spLocks xmlns:a="http://schemas.openxmlformats.org/drawingml/2006/main" noGrp="1"/>
          </p:cNvSpPr>
          <p:nvPr/>
        </p:nvSpPr>
        <p:spPr>
          <a:xfrm xmlns:a="http://schemas.openxmlformats.org/drawingml/2006/main">
            <a:off x="914400" y="5184648"/>
            <a:ext cx="103327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E0A75E"/>
                </a:solidFill>
                <a:latin typeface="Cambria"/>
                <a:ea typeface="Cambria"/>
                <a:cs typeface="Cambria"/>
              </a:defRPr>
            </a:pPr>
            <a:r>
              <a:rPr sz="1550" b="1">
                <a:solidFill>
                  <a:srgbClr val="E0A75E"/>
                </a:solidFill>
                <a:latin typeface="Cambria"/>
                <a:ea typeface="Cambria"/>
                <a:cs typeface="Cambria"/>
              </a:rPr>
              <a:t>Почему помогает новый курс</a:t>
            </a:r>
          </a:p>
        </p:txBody>
      </p:sp>
      <p:sp>
        <p:nvSpPr>
          <p:cNvPr id="12" name="">
            <a:extLst xmlns:a="http://schemas.openxmlformats.org/drawingml/2006/main">
              <a:ext uri="{FF2B5EF4-FFF2-40B4-BE49-F238E27FC236}">
                <a16:creationId xmlns:a16="http://schemas.microsoft.com/office/drawing/2014/main" id="{D48E4614-8AE0-42CE-BBE4-02888E124EF5}"/>
              </a:ext>
            </a:extLst>
          </p:cNvPr>
          <p:cNvSpPr>
            <a:spLocks xmlns:a="http://schemas.openxmlformats.org/drawingml/2006/main" noGrp="1"/>
          </p:cNvSpPr>
          <p:nvPr/>
        </p:nvSpPr>
        <p:spPr>
          <a:xfrm xmlns:a="http://schemas.openxmlformats.org/drawingml/2006/main">
            <a:off x="914400" y="5605272"/>
            <a:ext cx="1033272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Одна часть ближайшего будущего уже стала известным фактом. Модель оценивает оставшиеся дни, а базой сравнения остаётся действующий сегодня курс.</a:t>
            </a:r>
          </a:p>
        </p:txBody>
      </p:sp>
      <p:sp>
        <p:nvSpPr>
          <p:cNvPr id="13" name="">
            <a:extLst xmlns:a="http://schemas.openxmlformats.org/drawingml/2006/main">
              <a:ext uri="{FF2B5EF4-FFF2-40B4-BE49-F238E27FC236}">
                <a16:creationId xmlns:a16="http://schemas.microsoft.com/office/drawing/2014/main" id="{CA8B632C-9F46-47A0-A50E-970D2F9DEE3A}"/>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050" i="1">
                <a:solidFill>
                  <a:srgbClr val="6E7A88"/>
                </a:solidFill>
                <a:latin typeface="Calibri"/>
                <a:ea typeface="Calibri"/>
                <a:cs typeface="Calibri"/>
              </a:defRPr>
            </a:pPr>
            <a:r>
              <a:rPr sz="1050" i="1">
                <a:solidFill>
                  <a:srgbClr val="6E7A88"/>
                </a:solidFill>
                <a:latin typeface="Calibri"/>
                <a:ea typeface="Calibri"/>
                <a:cs typeface="Calibri"/>
              </a:rPr>
              <a:t>Температура и отбор пушей — разные части системы. Метрики по ЦБ не доказывают возможность перевода по старой цене банка.</a:t>
            </a:r>
          </a:p>
        </p:txBody>
      </p:sp>
      <p:sp>
        <p:nvSpPr>
          <p:cNvPr id="15" name="Solution navigation 1"/>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6" name="Solution navigation 2"/>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17" name="Solution navigation 3"/>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8" name="Solution navigation 4"/>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9" name="Solution navigation 5"/>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20" name="Solution navigation 6"/>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1" name="Solution navigation 7"/>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2" name="Solution navigation 8"/>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3 · Пуш</a:t>
            </a:r>
            <a:endParaRPr sz="1050"/>
          </a:p>
        </p:txBody>
      </p:sp>
      <p:sp>
        <p:nvSpPr>
          <p:cNvPr id="23" name="Solution navigation 9"/>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4" name="Solution navigation 10"/>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25" name="Solution navigation 11"/>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4 · Экран перевода</a:t>
            </a:r>
            <a:endParaRPr sz="1050"/>
          </a:p>
        </p:txBody>
      </p:sp>
      <p:sp>
        <p:nvSpPr>
          <p:cNvPr id="26" name="Solution navigation 12"/>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7" name="Solution navigation 13"/>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28" name="Solution navigation 14"/>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5 · Решение</a:t>
            </a:r>
            <a:endParaRPr sz="1050"/>
          </a:p>
        </p:txBody>
      </p:sp>
      <p:sp>
        <p:nvSpPr>
          <p:cNvPr id="29" name="Solution navigation 15"/>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30" name="Solution navigation 16"/>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31" name="Solution navigation 17"/>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spTree>
    <p:extLst>
      <p:ext uri="{BB962C8B-B14F-4D97-AF65-F5344CB8AC3E}">
        <p14:creationId xmlns:p14="http://schemas.microsoft.com/office/powerpoint/2010/main" val="177846807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C74871D-9D23-4CC1-AAA5-78717C1611AB}"/>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854EC5-9203-454A-A45B-5401214D265D}"/>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П8</a:t>
            </a:r>
          </a:p>
        </p:txBody>
      </p:sp>
      <p:sp>
        <p:nvSpPr>
          <p:cNvPr id="3" name="">
            <a:extLst xmlns:a="http://schemas.openxmlformats.org/drawingml/2006/main">
              <a:ext uri="{FF2B5EF4-FFF2-40B4-BE49-F238E27FC236}">
                <a16:creationId xmlns:a16="http://schemas.microsoft.com/office/drawing/2014/main" id="{6906724B-1BCF-4B00-8653-7AFB52F1DF9B}"/>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1A2530"/>
                </a:solidFill>
                <a:latin typeface="Cambria"/>
                <a:ea typeface="Cambria"/>
                <a:cs typeface="Cambria"/>
              </a:defRPr>
            </a:pPr>
            <a:r>
              <a:rPr sz="2700" b="1">
                <a:solidFill>
                  <a:srgbClr val="1A2530"/>
                </a:solidFill>
                <a:latin typeface="Cambria"/>
                <a:ea typeface="Cambria"/>
                <a:cs typeface="Cambria"/>
              </a:rPr>
              <a:t>Эксперименты: что оставили в итоговом решении</a:t>
            </a:r>
          </a:p>
        </p:txBody>
      </p:sp>
      <p:sp>
        <p:nvSpPr>
          <p:cNvPr id="4" name="">
            <a:extLst xmlns:a="http://schemas.openxmlformats.org/drawingml/2006/main">
              <a:ext uri="{FF2B5EF4-FFF2-40B4-BE49-F238E27FC236}">
                <a16:creationId xmlns:a16="http://schemas.microsoft.com/office/drawing/2014/main" id="{C0F72771-2819-40B7-AF5E-F751D699A26F}"/>
              </a:ext>
            </a:extLst>
          </p:cNvPr>
          <p:cNvSpPr>
            <a:spLocks xmlns:a="http://schemas.openxmlformats.org/drawingml/2006/main" noGrp="1"/>
          </p:cNvSpPr>
          <p:nvPr/>
        </p:nvSpPr>
        <p:spPr>
          <a:xfrm xmlns:a="http://schemas.openxmlformats.org/drawingml/2006/main">
            <a:off x="640080" y="1097280"/>
            <a:ext cx="10881360" cy="438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a:solidFill>
                  <a:srgbClr val="4E5966"/>
                </a:solidFill>
                <a:latin typeface="Calibri"/>
                <a:ea typeface="Calibri"/>
                <a:cs typeface="Calibri"/>
              </a:defRPr>
            </a:pPr>
            <a:r>
              <a:rPr sz="1350">
                <a:solidFill>
                  <a:srgbClr val="4E5966"/>
                </a:solidFill>
                <a:latin typeface="Calibri"/>
                <a:ea typeface="Calibri"/>
                <a:cs typeface="Calibri"/>
              </a:rPr>
              <a:t>Дневной срез 15:30, h=5. Одна опора: действующий курс ЦБ. Открытая ретроспектива 2025–2026.</a:t>
            </a:r>
          </a:p>
        </p:txBody>
      </p:sp>
      <p:sp>
        <p:nvSpPr>
          <p:cNvPr id="5" name="">
            <a:extLst xmlns:a="http://schemas.openxmlformats.org/drawingml/2006/main">
              <a:ext uri="{FF2B5EF4-FFF2-40B4-BE49-F238E27FC236}">
                <a16:creationId xmlns:a16="http://schemas.microsoft.com/office/drawing/2014/main" id="{11E23F1A-BB9B-446E-9F0E-F17B352B69F7}"/>
              </a:ext>
            </a:extLst>
          </p:cNvPr>
          <p:cNvSpPr>
            <a:spLocks xmlns:a="http://schemas.openxmlformats.org/drawingml/2006/main" noGrp="1"/>
          </p:cNvSpPr>
          <p:nvPr/>
        </p:nvSpPr>
        <p:spPr>
          <a:xfrm xmlns:a="http://schemas.openxmlformats.org/drawingml/2006/main">
            <a:off x="640080" y="1764792"/>
            <a:ext cx="6400800" cy="438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00" b="1">
                <a:solidFill>
                  <a:srgbClr val="16674F"/>
                </a:solidFill>
                <a:latin typeface="Cambria"/>
                <a:ea typeface="Cambria"/>
                <a:cs typeface="Cambria"/>
              </a:defRPr>
            </a:pPr>
            <a:r>
              <a:rPr sz="1700" b="1">
                <a:solidFill>
                  <a:srgbClr val="16674F"/>
                </a:solidFill>
                <a:latin typeface="Cambria"/>
                <a:ea typeface="Cambria"/>
                <a:cs typeface="Cambria"/>
              </a:rPr>
              <a:t>Проверка прямых валютных пар</a:t>
            </a:r>
          </a:p>
        </p:txBody>
      </p:sp>
      <p:graphicFrame>
        <p:nvGraphicFramePr>
          <p:cNvPr id="19" name=""/>
          <p:cNvGraphicFramePr/>
          <p:nvPr/>
        </p:nvGraphicFramePr>
        <p:xfrm>
          <a:off xmlns:a="http://schemas.openxmlformats.org/drawingml/2006/main" x="640080" y="2340864"/>
          <a:ext xmlns:a="http://schemas.openxmlformats.org/drawingml/2006/main" cx="6446520" cy="2139696"/>
        </p:xfrm>
        <a:graphic xmlns:a="http://schemas.openxmlformats.org/drawingml/2006/main">
          <a:graphicData uri="http://schemas.openxmlformats.org/drawingml/2006/table">
            <a:tbl>
              <a:tblPr/>
              <a:tblGrid>
                <a:gridCol w="5029200"/>
                <a:gridCol w="1417320"/>
              </a:tblGrid>
              <a:tr h="427939">
                <a:tc>
                  <a:txBody>
                    <a:bodyPr/>
                    <a:lstStyle/>
                    <a:p>
                      <a:r>
                        <a:rPr sz="1400" b="1">
                          <a:solidFill>
                            <a:srgbClr val="4E5966"/>
                          </a:solidFill>
                          <a:latin typeface="Calibri"/>
                          <a:ea typeface="Calibri"/>
                          <a:cs typeface="Calibri"/>
                        </a:rPr>
                        <a:t>Вариант</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4F6F8"/>
                    </a:solidFill>
                  </a:tcPr>
                </a:tc>
                <a:tc>
                  <a:txBody>
                    <a:bodyPr/>
                    <a:lstStyle/>
                    <a:p>
                      <a:r>
                        <a:rPr sz="1400" b="1">
                          <a:solidFill>
                            <a:srgbClr val="4E5966"/>
                          </a:solidFill>
                          <a:latin typeface="Calibri"/>
                          <a:ea typeface="Calibri"/>
                          <a:cs typeface="Calibri"/>
                        </a:rPr>
                        <a:t>Lift*</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4F6F8"/>
                    </a:solidFill>
                  </a:tcPr>
                </a:tc>
              </a:tr>
              <a:tr h="427939">
                <a:tc>
                  <a:txBody>
                    <a:bodyPr/>
                    <a:lstStyle/>
                    <a:p>
                      <a:r>
                        <a:rPr sz="1400" b="1">
                          <a:solidFill>
                            <a:srgbClr val="16674F"/>
                          </a:solidFill>
                          <a:latin typeface="Calibri"/>
                          <a:ea typeface="Calibri"/>
                          <a:cs typeface="Calibri"/>
                        </a:rPr>
                        <a:t>CNY/RUB с резервом на истории</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FFFFF"/>
                    </a:solidFill>
                  </a:tcPr>
                </a:tc>
                <a:tc>
                  <a:txBody>
                    <a:bodyPr/>
                    <a:lstStyle/>
                    <a:p>
                      <a:r>
                        <a:rPr sz="1400" b="1">
                          <a:solidFill>
                            <a:srgbClr val="16674F"/>
                          </a:solidFill>
                          <a:latin typeface="Calibri"/>
                          <a:ea typeface="Calibri"/>
                          <a:cs typeface="Calibri"/>
                        </a:rPr>
                        <a:t>2,053</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FFFFF"/>
                    </a:solidFill>
                  </a:tcPr>
                </a:tc>
              </a:tr>
              <a:tr h="427939">
                <a:tc>
                  <a:txBody>
                    <a:bodyPr/>
                    <a:lstStyle/>
                    <a:p>
                      <a:r>
                        <a:rPr sz="1400" b="0">
                          <a:solidFill>
                            <a:srgbClr val="4E5966"/>
                          </a:solidFill>
                          <a:latin typeface="Calibri"/>
                          <a:ea typeface="Calibri"/>
                          <a:cs typeface="Calibri"/>
                        </a:rPr>
                        <a:t>Добавка прямой пары 25 %</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FFFFF"/>
                    </a:solidFill>
                  </a:tcPr>
                </a:tc>
                <a:tc>
                  <a:txBody>
                    <a:bodyPr/>
                    <a:lstStyle/>
                    <a:p>
                      <a:r>
                        <a:rPr sz="1400" b="0">
                          <a:solidFill>
                            <a:srgbClr val="4E5966"/>
                          </a:solidFill>
                          <a:latin typeface="Calibri"/>
                          <a:ea typeface="Calibri"/>
                          <a:cs typeface="Calibri"/>
                        </a:rPr>
                        <a:t>2,043</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FFFFF"/>
                    </a:solidFill>
                  </a:tcPr>
                </a:tc>
              </a:tr>
              <a:tr h="427939">
                <a:tc>
                  <a:txBody>
                    <a:bodyPr/>
                    <a:lstStyle/>
                    <a:p>
                      <a:r>
                        <a:rPr sz="1400" b="0">
                          <a:solidFill>
                            <a:srgbClr val="4E5966"/>
                          </a:solidFill>
                          <a:latin typeface="Calibri"/>
                          <a:ea typeface="Calibri"/>
                          <a:cs typeface="Calibri"/>
                        </a:rPr>
                        <a:t>Общая модель поправки к CNY</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FFFFF"/>
                    </a:solidFill>
                  </a:tcPr>
                </a:tc>
                <a:tc>
                  <a:txBody>
                    <a:bodyPr/>
                    <a:lstStyle/>
                    <a:p>
                      <a:r>
                        <a:rPr sz="1400" b="0">
                          <a:solidFill>
                            <a:srgbClr val="4E5966"/>
                          </a:solidFill>
                          <a:latin typeface="Calibri"/>
                          <a:ea typeface="Calibri"/>
                          <a:cs typeface="Calibri"/>
                        </a:rPr>
                        <a:t>2,038</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FFFFF"/>
                    </a:solidFill>
                  </a:tcPr>
                </a:tc>
              </a:tr>
              <a:tr h="427939">
                <a:tc>
                  <a:txBody>
                    <a:bodyPr/>
                    <a:lstStyle/>
                    <a:p>
                      <a:r>
                        <a:rPr sz="1400" b="0">
                          <a:solidFill>
                            <a:srgbClr val="4E5966"/>
                          </a:solidFill>
                          <a:latin typeface="Calibri"/>
                          <a:ea typeface="Calibri"/>
                          <a:cs typeface="Calibri"/>
                        </a:rPr>
                        <a:t>Индивидуальные веса валют</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FFFFF"/>
                    </a:solidFill>
                  </a:tcPr>
                </a:tc>
                <a:tc>
                  <a:txBody>
                    <a:bodyPr/>
                    <a:lstStyle/>
                    <a:p>
                      <a:r>
                        <a:rPr sz="1400" b="0">
                          <a:solidFill>
                            <a:srgbClr val="4E5966"/>
                          </a:solidFill>
                          <a:latin typeface="Calibri"/>
                          <a:ea typeface="Calibri"/>
                          <a:cs typeface="Calibri"/>
                        </a:rPr>
                        <a:t>1,978</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BA966EB-BE8A-4A22-9D6F-F79CE134E757}"/>
              </a:ext>
            </a:extLst>
          </p:cNvPr>
          <p:cNvSpPr>
            <a:spLocks xmlns:a="http://schemas.openxmlformats.org/drawingml/2006/main" noGrp="1"/>
          </p:cNvSpPr>
          <p:nvPr/>
        </p:nvSpPr>
        <p:spPr>
          <a:xfrm xmlns:a="http://schemas.openxmlformats.org/drawingml/2006/main">
            <a:off x="7388352" y="1737360"/>
            <a:ext cx="4133088" cy="2834640"/>
          </a:xfrm>
          <a:prstGeom xmlns:a="http://schemas.openxmlformats.org/drawingml/2006/main" prst="roundRect">
            <a:avLst>
              <a:gd name="adj" fmla="val 1935"/>
            </a:avLst>
          </a:prstGeom>
          <a:solidFill xmlns:a="http://schemas.openxmlformats.org/drawingml/2006/main">
            <a:srgbClr val="F4F6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776EFEC-C8BD-49CE-A8E5-844F5C13F6DA}"/>
              </a:ext>
            </a:extLst>
          </p:cNvPr>
          <p:cNvSpPr>
            <a:spLocks xmlns:a="http://schemas.openxmlformats.org/drawingml/2006/main" noGrp="1"/>
          </p:cNvSpPr>
          <p:nvPr/>
        </p:nvSpPr>
        <p:spPr>
          <a:xfrm xmlns:a="http://schemas.openxmlformats.org/drawingml/2006/main">
            <a:off x="7644384" y="1920240"/>
            <a:ext cx="3621024" cy="438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00" b="1">
                <a:solidFill>
                  <a:srgbClr val="1A2530"/>
                </a:solidFill>
                <a:latin typeface="Cambria"/>
                <a:ea typeface="Cambria"/>
                <a:cs typeface="Cambria"/>
              </a:defRPr>
            </a:pPr>
            <a:r>
              <a:rPr sz="1600" b="1">
                <a:solidFill>
                  <a:srgbClr val="1A2530"/>
                </a:solidFill>
                <a:latin typeface="Cambria"/>
                <a:ea typeface="Cambria"/>
                <a:cs typeface="Cambria"/>
              </a:rPr>
              <a:t>Что ещё проверили</a:t>
            </a:r>
          </a:p>
        </p:txBody>
      </p:sp>
      <p:sp>
        <p:nvSpPr>
          <p:cNvPr id="9" name="">
            <a:extLst xmlns:a="http://schemas.openxmlformats.org/drawingml/2006/main">
              <a:ext uri="{FF2B5EF4-FFF2-40B4-BE49-F238E27FC236}">
                <a16:creationId xmlns:a16="http://schemas.microsoft.com/office/drawing/2014/main" id="{328C2294-EA48-46C3-B719-05D054C5143B}"/>
              </a:ext>
            </a:extLst>
          </p:cNvPr>
          <p:cNvSpPr>
            <a:spLocks xmlns:a="http://schemas.openxmlformats.org/drawingml/2006/main" noGrp="1"/>
          </p:cNvSpPr>
          <p:nvPr/>
        </p:nvSpPr>
        <p:spPr>
          <a:xfrm xmlns:a="http://schemas.openxmlformats.org/drawingml/2006/main">
            <a:off x="7644384" y="2651760"/>
            <a:ext cx="3621024" cy="1691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00">
                <a:solidFill>
                  <a:srgbClr val="4E5966"/>
                </a:solidFill>
                <a:latin typeface="Calibri"/>
                <a:ea typeface="Calibri"/>
                <a:cs typeface="Calibri"/>
              </a:defRPr>
            </a:pPr>
            <a:r>
              <a:rPr sz="1300">
                <a:solidFill>
                  <a:srgbClr val="4E5966"/>
                </a:solidFill>
                <a:latin typeface="Calibri"/>
                <a:ea typeface="Calibri"/>
                <a:cs typeface="Calibri"/>
              </a:rPr>
              <a:t>ETS, SARIMA и нейросети.</a:t>
            </a:r>
          </a:p>
          <a:p xmlns:a="http://schemas.openxmlformats.org/drawingml/2006/main">
            <a:r>
              <a:t/>
            </a:r>
          </a:p>
          <a:p xmlns:a="http://schemas.openxmlformats.org/drawingml/2006/main">
            <a:pPr>
              <a:defRPr sz="1300">
                <a:solidFill>
                  <a:srgbClr val="4E5966"/>
                </a:solidFill>
                <a:latin typeface="Calibri"/>
                <a:ea typeface="Calibri"/>
                <a:cs typeface="Calibri"/>
              </a:defRPr>
            </a:pPr>
            <a:r>
              <a:rPr sz="1300">
                <a:solidFill>
                  <a:srgbClr val="4E5966"/>
                </a:solidFill>
                <a:latin typeface="Calibri"/>
                <a:ea typeface="Calibri"/>
                <a:cs typeface="Calibri"/>
              </a:rPr>
              <a:t>Модели по одной валюте, общий бустинг поправок и смеси по режимам.</a:t>
            </a:r>
          </a:p>
          <a:p xmlns:a="http://schemas.openxmlformats.org/drawingml/2006/main">
            <a:r>
              <a:t/>
            </a:r>
          </a:p>
          <a:p xmlns:a="http://schemas.openxmlformats.org/drawingml/2006/main">
            <a:pPr>
              <a:defRPr sz="1300">
                <a:solidFill>
                  <a:srgbClr val="4E5966"/>
                </a:solidFill>
                <a:latin typeface="Calibri"/>
                <a:ea typeface="Calibri"/>
                <a:cs typeface="Calibri"/>
              </a:defRPr>
            </a:pPr>
            <a:r>
              <a:rPr sz="1300">
                <a:solidFill>
                  <a:srgbClr val="4E5966"/>
                </a:solidFill>
                <a:latin typeface="Calibri"/>
                <a:ea typeface="Calibri"/>
                <a:cs typeface="Calibri"/>
              </a:rPr>
              <a:t>Проверяли перенос между годами и частоту сигналов.</a:t>
            </a:r>
          </a:p>
        </p:txBody>
      </p:sp>
      <p:sp>
        <p:nvSpPr>
          <p:cNvPr id="10" name="">
            <a:extLst xmlns:a="http://schemas.openxmlformats.org/drawingml/2006/main">
              <a:ext uri="{FF2B5EF4-FFF2-40B4-BE49-F238E27FC236}">
                <a16:creationId xmlns:a16="http://schemas.microsoft.com/office/drawing/2014/main" id="{B570356F-7CF1-4F55-83AA-D2CE5EBBA877}"/>
              </a:ext>
            </a:extLst>
          </p:cNvPr>
          <p:cNvSpPr>
            <a:spLocks xmlns:a="http://schemas.openxmlformats.org/drawingml/2006/main" noGrp="1"/>
          </p:cNvSpPr>
          <p:nvPr/>
        </p:nvSpPr>
        <p:spPr>
          <a:xfrm xmlns:a="http://schemas.openxmlformats.org/drawingml/2006/main">
            <a:off x="640080" y="4882896"/>
            <a:ext cx="10881360" cy="1188720"/>
          </a:xfrm>
          <a:prstGeom xmlns:a="http://schemas.openxmlformats.org/drawingml/2006/main" prst="roundRect">
            <a:avLst>
              <a:gd name="adj" fmla="val 4615"/>
            </a:avLst>
          </a:prstGeom>
          <a:solidFill xmlns:a="http://schemas.openxmlformats.org/drawingml/2006/main">
            <a:srgbClr val="1A253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C8B3F2D-E020-4C74-AD83-087294591250}"/>
              </a:ext>
            </a:extLst>
          </p:cNvPr>
          <p:cNvSpPr>
            <a:spLocks xmlns:a="http://schemas.openxmlformats.org/drawingml/2006/main" noGrp="1"/>
          </p:cNvSpPr>
          <p:nvPr/>
        </p:nvSpPr>
        <p:spPr>
          <a:xfrm xmlns:a="http://schemas.openxmlformats.org/drawingml/2006/main">
            <a:off x="914400" y="5047488"/>
            <a:ext cx="1033272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E0A75E"/>
                </a:solidFill>
                <a:latin typeface="Cambria"/>
                <a:ea typeface="Cambria"/>
                <a:cs typeface="Cambria"/>
              </a:defRPr>
            </a:pPr>
            <a:r>
              <a:rPr sz="1550" b="1">
                <a:solidFill>
                  <a:srgbClr val="E0A75E"/>
                </a:solidFill>
                <a:latin typeface="Cambria"/>
                <a:ea typeface="Cambria"/>
                <a:cs typeface="Cambria"/>
              </a:rPr>
              <a:t>Что вошло в итог</a:t>
            </a:r>
          </a:p>
        </p:txBody>
      </p:sp>
      <p:sp>
        <p:nvSpPr>
          <p:cNvPr id="12" name="">
            <a:extLst xmlns:a="http://schemas.openxmlformats.org/drawingml/2006/main">
              <a:ext uri="{FF2B5EF4-FFF2-40B4-BE49-F238E27FC236}">
                <a16:creationId xmlns:a16="http://schemas.microsoft.com/office/drawing/2014/main" id="{3FDCDEBB-613B-42B9-9448-33C40687FC17}"/>
              </a:ext>
            </a:extLst>
          </p:cNvPr>
          <p:cNvSpPr>
            <a:spLocks xmlns:a="http://schemas.openxmlformats.org/drawingml/2006/main" noGrp="1"/>
          </p:cNvSpPr>
          <p:nvPr/>
        </p:nvSpPr>
        <p:spPr>
          <a:xfrm xmlns:a="http://schemas.openxmlformats.org/drawingml/2006/main">
            <a:off x="914400" y="5468112"/>
            <a:ext cx="10332720" cy="438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Днём: доступные биржевые данные и резерв. После получения ЦБ: модели оставшегося будущего. Температура и редкие пуши решают разные задачи.</a:t>
            </a:r>
          </a:p>
        </p:txBody>
      </p:sp>
      <p:sp>
        <p:nvSpPr>
          <p:cNvPr id="13" name="">
            <a:extLst xmlns:a="http://schemas.openxmlformats.org/drawingml/2006/main">
              <a:ext uri="{FF2B5EF4-FFF2-40B4-BE49-F238E27FC236}">
                <a16:creationId xmlns:a16="http://schemas.microsoft.com/office/drawing/2014/main" id="{6B2F26E7-8B98-4CD0-A975-2956E3626D75}"/>
              </a:ext>
            </a:extLst>
          </p:cNvPr>
          <p:cNvSpPr>
            <a:spLocks xmlns:a="http://schemas.openxmlformats.org/drawingml/2006/main" noGrp="1"/>
          </p:cNvSpPr>
          <p:nvPr/>
        </p:nvSpPr>
        <p:spPr>
          <a:xfrm xmlns:a="http://schemas.openxmlformats.org/drawingml/2006/main">
            <a:off x="640080" y="6327648"/>
            <a:ext cx="1088136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050" i="1">
                <a:solidFill>
                  <a:srgbClr val="6E7A88"/>
                </a:solidFill>
                <a:latin typeface="Calibri"/>
                <a:ea typeface="Calibri"/>
                <a:cs typeface="Calibri"/>
              </a:defRPr>
            </a:pPr>
            <a:r>
              <a:rPr sz="1050" i="1">
                <a:solidFill>
                  <a:srgbClr val="6E7A88"/>
                </a:solidFill>
                <a:latin typeface="Calibri"/>
                <a:ea typeface="Calibri"/>
                <a:cs typeface="Calibri"/>
              </a:rPr>
              <a:t>* Lift с поправкой на состав валют и периодов. У CNY 2,053 здесь и 2,059 на слайде 24: две агрегации одних сигналов.</a:t>
            </a:r>
          </a:p>
        </p:txBody>
      </p:sp>
    </p:spTree>
    <p:extLst>
      <p:ext uri="{BB962C8B-B14F-4D97-AF65-F5344CB8AC3E}">
        <p14:creationId xmlns:p14="http://schemas.microsoft.com/office/powerpoint/2010/main" val="59893516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28</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2026-09-07T03:00:19.1330000Z</dcterms:created>
  <dcterms:modified xsi:type="dcterms:W3CDTF">2026-09-07T03:00:19.1330000Z</dcterms:modified>
</coreProperties>
</file>