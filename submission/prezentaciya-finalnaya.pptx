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ФИНАЛЬНАЯ ЗАЩИТА · 07.09.2026 · КОМАНДА 11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поймать выгодный момент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для перевода за рубеж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Сигнальный слой над существующим переводом: RUB → TJS, UZS, KGS, AMD, KZT. Мы не предсказываем курс. Мы показываем, чем сегодняшний день отличается от последних трёх месяцев.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Ценность: клиент перестаёт выбирать момент вслепую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097280"/>
            <a:ext cx="10881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не видит разницы между обычным днём и редким, поэтому переводит, когда вспомнил. Мы показываем сумму, которую получит семья, и как этот день выглядит на фоне последних трёх месяцев.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700784"/>
            <a:ext cx="3520440" cy="1700784"/>
          </a:xfrm>
          <a:prstGeom prst="roundRect">
            <a:avLst>
              <a:gd name="adj" fmla="val 3226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865376"/>
            <a:ext cx="3483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+63 б. п.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615184"/>
            <a:ext cx="311810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столько выигрывает клиент, переведя в день сигнала, а не в случайный день следующей недели. На 30 000 ₽ это около 190 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1700784"/>
            <a:ext cx="3520440" cy="1700784"/>
          </a:xfrm>
          <a:prstGeom prst="roundRect">
            <a:avLst>
              <a:gd name="adj" fmla="val 3226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43400" y="1865376"/>
            <a:ext cx="3483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дня из 3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615184"/>
            <a:ext cx="311810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ничем не выделяются: измеренная разница с обычным днём не отличима от нуля. В такие дни продукт молчит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01000" y="1700784"/>
            <a:ext cx="3520440" cy="1700784"/>
          </a:xfrm>
          <a:prstGeom prst="roundRect">
            <a:avLst>
              <a:gd name="adj" fmla="val 3226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19288" y="1865376"/>
            <a:ext cx="3483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обещаний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2615184"/>
            <a:ext cx="311810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срабатывает на факте о прошлом. +63 б. п. – это среднее того, что уже случилось после таких дней, а не прогноз курса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712464"/>
            <a:ext cx="3520440" cy="1956816"/>
          </a:xfrm>
          <a:prstGeom prst="roundRect">
            <a:avLst>
              <a:gd name="adj" fmla="val 2804"/>
            </a:avLst>
          </a:prstGeom>
          <a:solidFill>
            <a:srgbClr val="F4F6F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6112" y="3895344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Индикатор на экране суммы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425696"/>
            <a:ext cx="3008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Показывает, сколько получит семья и как этот день выглядит на фоне квартала. Информативно ровно одно состояние из трёх.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325112" y="3712464"/>
            <a:ext cx="3520440" cy="1956816"/>
          </a:xfrm>
          <a:prstGeom prst="roundRect">
            <a:avLst>
              <a:gd name="adj" fmla="val 2804"/>
            </a:avLst>
          </a:prstGeom>
          <a:solidFill>
            <a:srgbClr val="F4F6F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81144" y="3895344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Оповещение об уровне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4581144" y="4425696"/>
            <a:ext cx="3008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называет сам клиент. Он получает возможность дождаться нужного курса, а банк – данные о намерении, которых у него нет.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01000" y="3712464"/>
            <a:ext cx="3520440" cy="1956816"/>
          </a:xfrm>
          <a:prstGeom prst="roundRect">
            <a:avLst>
              <a:gd name="adj" fmla="val 2804"/>
            </a:avLst>
          </a:prstGeom>
          <a:solidFill>
            <a:srgbClr val="F4F6F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57032" y="3895344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Отбор адресата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8257032" y="4425696"/>
            <a:ext cx="3008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 и когда написать: близость к дате выплаты, достаточный баланс, календарь праздников коридора.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три компонента встают в существующий флоу перевода: новых шагов не добавляется ни одного, нового пункта в нижнем меню тоже нет.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Триггер: что вообще становится сигналом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969264"/>
            <a:ext cx="10332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1 ИЗ 6 · КЛИЕНТСКИЙ ПУТЬ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16736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Первые два шага клиент не видит. Курс ЦБ публикуется после 15:30 МСК и действует со следующего дня – раньше повода написать не существует физически.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F4F6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10312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Уровень клиента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633472"/>
            <a:ext cx="300837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Порог, который он назначил сам. Прогноз не нужен ни в каком виде: событие создаёт клиент.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5112" y="1920240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F4F6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81144" y="210312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Редкость момента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581144" y="2633472"/>
            <a:ext cx="300837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в верхней части квартального диапазона. Факт о прошлом, а не предсказание.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01000" y="1920240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F4F6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57032" y="210312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Календарь коридора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257032" y="2633472"/>
            <a:ext cx="300837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Навруз, Рамазан, школа, Новый год. К курсу отношения не имеет вообще.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20624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1A253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4361688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Развилка кейса: что именно считать сигналом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736592"/>
            <a:ext cx="10332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источника не конкурируют, а дополняют друг друга. Уровень и календарь дают повод без единой модели; редкость момента – единственное место, где нужен расчёт. Именно поэтому продукт работает, даже если сигнальный слой отключить.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пути целиком – figures/08; тайминг публикации и отправки – слайд 4.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Фильтр: что отсеивается до отправки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969264"/>
            <a:ext cx="10332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2 ИЗ 6 · КЛИЕНТСКИЙ ПУТЬ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16736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сработавших оставляем те, что дойдут живыми и вовремя. Второй шаг клиент тоже не видит – но именно он решает, станет ли продукт спамом.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5367528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103120"/>
            <a:ext cx="4855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Cooldown против серий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633472"/>
            <a:ext cx="4855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Сигналы приходят не ровно: 89 % промежутков между соседними короче четырёх публикаций. Несколько за неделю, потом молчание до 406 дней.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53912" y="1920240"/>
            <a:ext cx="5367528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9944" y="2103120"/>
            <a:ext cx="4855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Блэкауты по коридорам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6409944" y="2633472"/>
            <a:ext cx="4855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апреля в Армению – запрет: День памяти жертв геноцида. Рамадан – сдвиг окна, а не запрет: вечер приходится на ифтар и намаз.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621024"/>
            <a:ext cx="5367528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6112" y="3803904"/>
            <a:ext cx="4855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Часовые пояса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334256"/>
            <a:ext cx="4855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 задаётся по времени клиента, а клиент в России: одиннадцать зон против одной публикации. Для МСК+5 и восточнее вечернее окно сдвигаем на утро.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53912" y="3621024"/>
            <a:ext cx="5367528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9944" y="3803904"/>
            <a:ext cx="4855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Порог редкости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6409944" y="4334256"/>
            <a:ext cx="4855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Ниже порога не отправляем ничего: сообщение про обычный день расходует доверие и не даёт клиенту ничего нового.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029200"/>
            <a:ext cx="10881360" cy="1207008"/>
          </a:xfrm>
          <a:prstGeom prst="roundRect">
            <a:avLst>
              <a:gd name="adj" fmla="val 4545"/>
            </a:avLst>
          </a:prstGeom>
          <a:solidFill>
            <a:srgbClr val="1A253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5184648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94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здесь честно не готово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5559552"/>
            <a:ext cx="10332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Cooldown и добор частоты до полосы 1–2 в неделю спроектированы, но в коде их нет. Сейчас реализовано только само условие сигнала. На пилот это влияет прямо: без cooldown серия из шести сообщений за неделю технически возможна.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Пуш: одно сообщение, одно число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969264"/>
            <a:ext cx="10332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3 ИЗ 6 · КЛИЕНТСКИЙ ПУТЬ</a:t>
            </a:r>
            <a:endParaRPr lang="en-US" sz="1050" dirty="0"/>
          </a:p>
        </p:txBody>
      </p:sp>
      <p:pic>
        <p:nvPicPr>
          <p:cNvPr id="6" name="Image 0" descr="submission/figures/ekran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3017520" cy="409175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977640" y="1371600"/>
            <a:ext cx="3703320" cy="1956816"/>
          </a:xfrm>
          <a:prstGeom prst="roundRect">
            <a:avLst>
              <a:gd name="adj" fmla="val 2804"/>
            </a:avLst>
          </a:prstGeom>
          <a:solidFill>
            <a:srgbClr val="F4F6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233672" y="1554480"/>
            <a:ext cx="3191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Единица – сумма получателя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4233672" y="2084832"/>
            <a:ext cx="31912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курс и не проценты. Клиент думает о том, сколько дойдёт до семьи, и в этих единицах принимает решение.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818120" y="1371600"/>
            <a:ext cx="3703320" cy="1956816"/>
          </a:xfrm>
          <a:prstGeom prst="roundRect">
            <a:avLst>
              <a:gd name="adj" fmla="val 2804"/>
            </a:avLst>
          </a:prstGeom>
          <a:solidFill>
            <a:srgbClr val="F4F6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74152" y="1554480"/>
            <a:ext cx="3191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Дата курса вместо «сегодня»</a:t>
            </a:r>
            <a:endParaRPr lang="en-US" sz="1550" dirty="0"/>
          </a:p>
        </p:txBody>
      </p:sp>
      <p:sp>
        <p:nvSpPr>
          <p:cNvPr id="12" name="Text 9"/>
          <p:cNvSpPr txBox="1"/>
          <p:nvPr/>
        </p:nvSpPr>
        <p:spPr>
          <a:xfrm>
            <a:off x="8074152" y="2084832"/>
            <a:ext cx="31912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«Курс ЦБ на 4 сентября» остаётся правдой и через неделю. Слово «сегодня» ломается от задержки и от часовых поясов.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977640" y="3511296"/>
            <a:ext cx="3703320" cy="1956816"/>
          </a:xfrm>
          <a:prstGeom prst="roundRect">
            <a:avLst>
              <a:gd name="adj" fmla="val 2804"/>
            </a:avLst>
          </a:prstGeom>
          <a:solidFill>
            <a:srgbClr val="F4F6F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233672" y="3694176"/>
            <a:ext cx="3191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Деньги первыми, дата в конце</a:t>
            </a:r>
            <a:endParaRPr lang="en-US" sz="1550" dirty="0"/>
          </a:p>
        </p:txBody>
      </p:sp>
      <p:sp>
        <p:nvSpPr>
          <p:cNvPr id="15" name="Text 12"/>
          <p:cNvSpPr txBox="1"/>
          <p:nvPr/>
        </p:nvSpPr>
        <p:spPr>
          <a:xfrm>
            <a:off x="4233672" y="4224528"/>
            <a:ext cx="31912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на читателе: дата в начале читается как срок платежа. Клиент, открывший пуш назавтра, решает, что опоздал.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818120" y="3511296"/>
            <a:ext cx="3703320" cy="1956816"/>
          </a:xfrm>
          <a:prstGeom prst="roundRect">
            <a:avLst>
              <a:gd name="adj" fmla="val 2804"/>
            </a:avLst>
          </a:prstGeom>
          <a:solidFill>
            <a:srgbClr val="F4F6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74152" y="3694176"/>
            <a:ext cx="3191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Значимо одно состояние из трёх</a:t>
            </a:r>
            <a:endParaRPr lang="en-US" sz="1550" dirty="0"/>
          </a:p>
        </p:txBody>
      </p:sp>
      <p:sp>
        <p:nvSpPr>
          <p:cNvPr id="18" name="Text 15"/>
          <p:cNvSpPr txBox="1"/>
          <p:nvPr/>
        </p:nvSpPr>
        <p:spPr>
          <a:xfrm>
            <a:off x="8074152" y="4224528"/>
            <a:ext cx="31912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клиенту оно выглядит худшим. Там мы говорим фактом о прошлом, а не обещанием, – это развилка, которую мы добавили сами.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 вариантов текста и четыре разбора – design/pushi-100-variantov.md. Отобранные в пилот – слайд 6.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Экран перевода: клиент попадает не на главную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969264"/>
            <a:ext cx="10332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4 ИЗ 6 · КЛИЕНТСКИЙ ПУТЬ</a:t>
            </a:r>
            <a:endParaRPr lang="en-US" sz="1050" dirty="0"/>
          </a:p>
        </p:txBody>
      </p:sp>
      <p:pic>
        <p:nvPicPr>
          <p:cNvPr id="6" name="Image 0" descr="submission/figures/ekran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2560320" cy="476219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474720" y="1371600"/>
            <a:ext cx="8046720" cy="1426464"/>
          </a:xfrm>
          <a:prstGeom prst="roundRect">
            <a:avLst>
              <a:gd name="adj" fmla="val 3846"/>
            </a:avLst>
          </a:prstGeom>
          <a:solidFill>
            <a:srgbClr val="F4F6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730752" y="1554480"/>
            <a:ext cx="7534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Предзаполнение вместо ввода с нуля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3730752" y="2084832"/>
            <a:ext cx="7534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Тап открывает перевод по тому коридору, о котором был пуш. Получатель и сумма – из последнего перевода. Клиент меняет, но не набирает заново.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474720" y="2962656"/>
            <a:ext cx="8046720" cy="1627632"/>
          </a:xfrm>
          <a:prstGeom prst="roundRect">
            <a:avLst>
              <a:gd name="adj" fmla="val 3371"/>
            </a:avLst>
          </a:prstGeom>
          <a:solidFill>
            <a:srgbClr val="F4F6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30752" y="3145536"/>
            <a:ext cx="7534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Число пересчитывается при открытии</a:t>
            </a:r>
            <a:endParaRPr lang="en-US" sz="1550" dirty="0"/>
          </a:p>
        </p:txBody>
      </p:sp>
      <p:sp>
        <p:nvSpPr>
          <p:cNvPr id="12" name="Text 9"/>
          <p:cNvSpPr txBox="1"/>
          <p:nvPr/>
        </p:nvSpPr>
        <p:spPr>
          <a:xfrm>
            <a:off x="3730752" y="3675888"/>
            <a:ext cx="75346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одну публикацию курс уходит на 26 б. п. по медиане, поэтому сохранённое число не показываем никогда. Заголовок при этом повторяет пуш дословно: клиент должен увидеть, что попал туда, куда его звали.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474720" y="4754880"/>
            <a:ext cx="8046720" cy="1426464"/>
          </a:xfrm>
          <a:prstGeom prst="roundRect">
            <a:avLst>
              <a:gd name="adj" fmla="val 3846"/>
            </a:avLst>
          </a:prstGeom>
          <a:solidFill>
            <a:srgbClr val="F4F6F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730752" y="4937760"/>
            <a:ext cx="7534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приложения не равен курсу ЦБ</a:t>
            </a:r>
            <a:endParaRPr lang="en-US" sz="1550" dirty="0"/>
          </a:p>
        </p:txBody>
      </p:sp>
      <p:sp>
        <p:nvSpPr>
          <p:cNvPr id="15" name="Text 12"/>
          <p:cNvSpPr txBox="1"/>
          <p:nvPr/>
        </p:nvSpPr>
        <p:spPr>
          <a:xfrm>
            <a:off x="3730752" y="5468112"/>
            <a:ext cx="7534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 считается по ряду ЦБ, а перевод пройдёт по курсу поставщика. Этот разрыв назван прямо на экране подтверждения, а не спрятан в сноске.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Решение: «подождать» – не поражение продукта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969264"/>
            <a:ext cx="10332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5 ИЗ 6 · КЛИЕНТСКИЙ ПУТЬ</a:t>
            </a:r>
            <a:endParaRPr lang="en-US" sz="1050" dirty="0"/>
          </a:p>
        </p:txBody>
      </p:sp>
      <p:pic>
        <p:nvPicPr>
          <p:cNvPr id="6" name="Image 0" descr="submission/figures/ekran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2148840" cy="438363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063240" y="1371600"/>
            <a:ext cx="8458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равноправных исхода. Продукт спроектирован так, что выигрывает на каждом, а не только на переводе прямо сейчас.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063240" y="1847088"/>
            <a:ext cx="2697480" cy="1755648"/>
          </a:xfrm>
          <a:prstGeom prst="roundRect">
            <a:avLst>
              <a:gd name="adj" fmla="val 3125"/>
            </a:avLst>
          </a:prstGeom>
          <a:solidFill>
            <a:srgbClr val="F4F6F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319272" y="2029968"/>
            <a:ext cx="2185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Перевести сейчас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3319272" y="2560320"/>
            <a:ext cx="21854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исход. Экран уже предзаполнен, решение одно и в один тап.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943600" y="1847088"/>
            <a:ext cx="2697480" cy="1755648"/>
          </a:xfrm>
          <a:prstGeom prst="roundRect">
            <a:avLst>
              <a:gd name="adj" fmla="val 3125"/>
            </a:avLst>
          </a:prstGeom>
          <a:solidFill>
            <a:srgbClr val="F4F6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199632" y="2029968"/>
            <a:ext cx="2185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Задать свой уровень</a:t>
            </a:r>
            <a:endParaRPr lang="en-US" sz="1550" dirty="0"/>
          </a:p>
        </p:txBody>
      </p:sp>
      <p:sp>
        <p:nvSpPr>
          <p:cNvPr id="13" name="Text 10"/>
          <p:cNvSpPr txBox="1"/>
          <p:nvPr/>
        </p:nvSpPr>
        <p:spPr>
          <a:xfrm>
            <a:off x="6199632" y="2560320"/>
            <a:ext cx="21854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равной величины рядом с переводом. Клиент называет сумму, при которой напишем.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823960" y="1847088"/>
            <a:ext cx="2697480" cy="1755648"/>
          </a:xfrm>
          <a:prstGeom prst="roundRect">
            <a:avLst>
              <a:gd name="adj" fmla="val 3125"/>
            </a:avLst>
          </a:prstGeom>
          <a:solidFill>
            <a:srgbClr val="F4F6F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079992" y="2029968"/>
            <a:ext cx="2185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Ничего не делать</a:t>
            </a:r>
            <a:endParaRPr lang="en-US" sz="1550" dirty="0"/>
          </a:p>
        </p:txBody>
      </p:sp>
      <p:sp>
        <p:nvSpPr>
          <p:cNvPr id="16" name="Text 13"/>
          <p:cNvSpPr txBox="1"/>
          <p:nvPr/>
        </p:nvSpPr>
        <p:spPr>
          <a:xfrm>
            <a:off x="9079992" y="2560320"/>
            <a:ext cx="21854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Тоже нормально. Индикатор остаётся на экране и ничего не требует.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063240" y="3749040"/>
            <a:ext cx="8458200" cy="2011680"/>
          </a:xfrm>
          <a:prstGeom prst="roundRect">
            <a:avLst>
              <a:gd name="adj" fmla="val 2727"/>
            </a:avLst>
          </a:prstGeom>
          <a:solidFill>
            <a:srgbClr val="1A253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337560" y="3904488"/>
            <a:ext cx="7909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Наша развилка: куда девать честное «сейчас как обычно»</a:t>
            </a:r>
            <a:endParaRPr lang="en-US" sz="1550" dirty="0"/>
          </a:p>
        </p:txBody>
      </p:sp>
      <p:sp>
        <p:nvSpPr>
          <p:cNvPr id="19" name="Text 16"/>
          <p:cNvSpPr txBox="1"/>
          <p:nvPr/>
        </p:nvSpPr>
        <p:spPr>
          <a:xfrm>
            <a:off x="3337560" y="4279392"/>
            <a:ext cx="7909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ответа честность становится поводом выйти из приложения: мы сами сказали клиенту, что момент ничем не примечателен. Поэтому рядом с переводом стоит равная ему кнопка – назначить уровень. Отказ от перевода превращается в заявку, а не в уход.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Зелёного «отличный момент» в интерфейсе нет вообще: он обещал бы то, чего мы не измерили.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Удержание и ветка тишины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969264"/>
            <a:ext cx="10332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6 ИЗ 6 · КЛИЕНТСКИЙ ПУТЬ</a:t>
            </a:r>
            <a:endParaRPr lang="en-US" sz="1050" dirty="0"/>
          </a:p>
        </p:txBody>
      </p:sp>
      <p:pic>
        <p:nvPicPr>
          <p:cNvPr id="6" name="Image 0" descr="submission/figures/ekran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2148840" cy="39796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063240" y="1371600"/>
            <a:ext cx="4133088" cy="1609344"/>
          </a:xfrm>
          <a:prstGeom prst="roundRect">
            <a:avLst>
              <a:gd name="adj" fmla="val 3409"/>
            </a:avLst>
          </a:prstGeom>
          <a:solidFill>
            <a:srgbClr val="F4F6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319272" y="1554480"/>
            <a:ext cx="36210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Оповещение живёт 30 дней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3319272" y="2084832"/>
            <a:ext cx="36210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 переспрашиваем. Бессрочное оповещение через полгода станет спамом по поводу, который клиент уже забыл.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388352" y="1371600"/>
            <a:ext cx="4133088" cy="1609344"/>
          </a:xfrm>
          <a:prstGeom prst="roundRect">
            <a:avLst>
              <a:gd name="adj" fmla="val 3409"/>
            </a:avLst>
          </a:prstGeom>
          <a:solidFill>
            <a:srgbClr val="F4F6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44384" y="1554480"/>
            <a:ext cx="36210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Частота названа заранее</a:t>
            </a:r>
            <a:endParaRPr lang="en-US" sz="1550" dirty="0"/>
          </a:p>
        </p:txBody>
      </p:sp>
      <p:sp>
        <p:nvSpPr>
          <p:cNvPr id="12" name="Text 9"/>
          <p:cNvSpPr txBox="1"/>
          <p:nvPr/>
        </p:nvSpPr>
        <p:spPr>
          <a:xfrm>
            <a:off x="7644384" y="2084832"/>
            <a:ext cx="36210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«Столько давали 14 дней из последних девяноста». Клиент сам решает, реалистичен ли его уровень, – и не ждёт напрасно.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063240" y="3145536"/>
            <a:ext cx="8458200" cy="2249424"/>
          </a:xfrm>
          <a:prstGeom prst="roundRect">
            <a:avLst>
              <a:gd name="adj" fmla="val 2439"/>
            </a:avLst>
          </a:prstGeom>
          <a:solidFill>
            <a:srgbClr val="1A253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337560" y="3300984"/>
            <a:ext cx="7909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Ветка тишины: что происходит, когда сигнала нет</a:t>
            </a:r>
            <a:endParaRPr lang="en-US" sz="1550" dirty="0"/>
          </a:p>
        </p:txBody>
      </p:sp>
      <p:sp>
        <p:nvSpPr>
          <p:cNvPr id="15" name="Text 12"/>
          <p:cNvSpPr txBox="1"/>
          <p:nvPr/>
        </p:nvSpPr>
        <p:spPr>
          <a:xfrm>
            <a:off x="3337560" y="3675888"/>
            <a:ext cx="7909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трети дней мы не пишем ничего. Это не дыра в продукте, а его половина: молчание защищает доверие, которое понадобится в день, когда мы напишем.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при этом не исчезает. Индикатор остаётся на экране суммы, а оповещение об уровне работает без нас: событие назначил клиент.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 отключается отдельно от уровня – иначе, отключая наш сигнал, клиент теряет собственную заявку.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Сигнал: чем мы измеряем успех и что победило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097280"/>
            <a:ext cx="10881360" cy="1353312"/>
          </a:xfrm>
          <a:prstGeom prst="roundRect">
            <a:avLst>
              <a:gd name="adj" fmla="val 4054"/>
            </a:avLst>
          </a:prstGeom>
          <a:solidFill>
            <a:srgbClr val="1A25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252728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Достижимая выгода – главная величина, и её стоит назвать точно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62763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разница между курсом в день сигнала и средним курсом следующих пяти публикаций, в базисных пунктах. Проще: сколько клиент выигрывает, переведя сегодня, а не в случайный день следующей недели. «Достижимая» – потому что метрика кейса сравнивает день с окном ±5 публикаций и половину выгоды берёт из прошлого, которое клиент уже упустил и получить не может.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615184"/>
            <a:ext cx="5367528" cy="1225296"/>
          </a:xfrm>
          <a:prstGeom prst="roundRect">
            <a:avLst>
              <a:gd name="adj" fmla="val 4478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272491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Гипотеза 1 – предсказать направление курса. ОТКЛОНЕНА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054096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Метрика: lift к случайному дню. Проверены индикаторы ТЗ, логистическая регрессия, случайный лес, CatBoost, XGBoost. Устойчивого преимущества не даёт ни одна конфигурация.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53912" y="2615184"/>
            <a:ext cx="5367528" cy="1225296"/>
          </a:xfrm>
          <a:prstGeom prst="roundRect">
            <a:avLst>
              <a:gd name="adj" fmla="val 4478"/>
            </a:avLst>
          </a:prstGeom>
          <a:solidFill>
            <a:srgbClr val="F4F6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28232" y="272491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Гипотеза 2 – назвать редкость момента фактом. ПРИНЯТА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28232" y="3054096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Метрика: достижимая выгода. Положение курса в квартальном диапазоне даёт +63 б. п. с интервалом от +33 до +94, который не накрывает ноль.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319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Победило правило в одну строку: pct_range_90 ≥ 95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315968"/>
          <a:ext cx="1088136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743200"/>
                <a:gridCol w="1463040"/>
                <a:gridCol w="1828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достижимая выгода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сигналов в неделю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Правило: курс в верхних 5 % квартального диапазона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 б. п. [+33; +94]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Обученная модель на 80 признаках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 б. п.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 же правило во второй кодовой базе команды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+48 б. п.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Модель Даниила там же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 б. п.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нижние строки – прогон в кодовой базе, которую в команде писали отдельно от нашей. Два независимых кода на одном правиле дали 1,35 и 1,353; обученная модель обгоняет правило на 0,10.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Пуш: когда публикуется курс и когда уходит сообщение</a:t>
            </a:r>
            <a:endParaRPr lang="en-US" sz="2700" dirty="0"/>
          </a:p>
        </p:txBody>
      </p:sp>
      <p:pic>
        <p:nvPicPr>
          <p:cNvPr id="5" name="Image 0" descr="submission/figures/09-taymin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5568"/>
            <a:ext cx="10881360" cy="4526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779008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 15:30 повода написать не существует, позже 21:00 по местному писать нельзя. Всё окно продукта – эти несколько часов.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Пуш: что происходит, если его открыли не сразу</a:t>
            </a:r>
            <a:endParaRPr lang="en-US" sz="2700" dirty="0"/>
          </a:p>
        </p:txBody>
      </p:sp>
      <p:pic>
        <p:nvPicPr>
          <p:cNvPr id="5" name="Image 0" descr="submission/figures/ekran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2468880" cy="2676266"/>
          </a:xfrm>
          <a:prstGeom prst="rect">
            <a:avLst/>
          </a:prstGeom>
        </p:spPr>
      </p:pic>
      <p:pic>
        <p:nvPicPr>
          <p:cNvPr id="6" name="Image 1" descr="submission/figures/ekran-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188720"/>
            <a:ext cx="2468880" cy="503651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852160" y="1188720"/>
            <a:ext cx="5669280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6108192" y="1371600"/>
            <a:ext cx="51572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 живое уведомление на коридор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6108192" y="1901952"/>
            <a:ext cx="51572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Следующая публикация переписывает показанный пуш, а не досылает второй: на iOS это apns-collapse-id, на Android – tag. Молча: звук клиент слышит один раз.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852160" y="2926080"/>
            <a:ext cx="5669280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108192" y="3108960"/>
            <a:ext cx="51572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Снять просроченный пуш не умеет никто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6108192" y="3639312"/>
            <a:ext cx="51572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одна платформа не гарантирует авто-снятие. Поэтому текст обязан не портиться сам: дата курса стоит в самом сообщении и стоит в конце.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852160" y="4663440"/>
            <a:ext cx="5669280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108192" y="4846320"/>
            <a:ext cx="51572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Срок жизни рекомендации – один день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6108192" y="5376672"/>
            <a:ext cx="51572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Отличить сигнал от случайного дня данные позволяют только в день сигнала: +61 б. п., интервал от +7 до +113. Уже на следующей публикации он накрывает ноль.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Слева – тот же пуш, переписанный следующей публикацией. Справа – что видит клиент, открывший его через день.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Тексты: сто вариантов, девятнадцать в пилот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097280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правила, которые пережили четыре разбора и проверку на читателе. Всё остальное – следствия.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463040"/>
            <a:ext cx="3520440" cy="1426464"/>
          </a:xfrm>
          <a:prstGeom prst="roundRect">
            <a:avLst>
              <a:gd name="adj" fmla="val 3846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64592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Деньги первыми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176272"/>
            <a:ext cx="3008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получателя в первой строке. Курс и проценты – не та единица, в которой клиент думает.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463040"/>
            <a:ext cx="3520440" cy="1426464"/>
          </a:xfrm>
          <a:prstGeom prst="roundRect">
            <a:avLst>
              <a:gd name="adj" fmla="val 3846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81144" y="164592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Дата последней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581144" y="2176272"/>
            <a:ext cx="3008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начале она читается как срок платежа: «вижу 4 сентября – значит, опоздал».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463040"/>
            <a:ext cx="3520440" cy="1426464"/>
          </a:xfrm>
          <a:prstGeom prst="roundRect">
            <a:avLst>
              <a:gd name="adj" fmla="val 3846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57032" y="164592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Дни, а не проценты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8257032" y="2176272"/>
            <a:ext cx="3008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«8 дней из девяноста» понятнее, чем «лучше 91 % дней», и не требует от клиента статистики.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17520"/>
          <a:ext cx="10881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59436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Повод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Заголовок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Уровень достигнут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Курс дошёл до вашего уровня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 просили при 4 400 000 – дошло. За 30 000 ₽ – 4 402 000 сум. Курс ЦБ на 4 сентября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Редкий момент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Такой курс бывает редко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 30 000 ₽ – 3 198 сомони. Лучше за три месяца было 8 дней из девяноста. Курс ЦБ на 4 сентября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Онбординг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Скажите, сколько должно дойти домой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Назовите сумму. Напишем, если курс до неё дойдёт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Школа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Чтобы дошло к первому сентября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 30 000 ₽ – 4 402 000 сум, зачисление за час. Курс ЦБ на 25 августа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После зарплаты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Можно перевести домой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 30 000 ₽ – 4 402 000 сум. Курс ЦБ на 4 сентября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40080" y="5065776"/>
            <a:ext cx="10881360" cy="1133856"/>
          </a:xfrm>
          <a:prstGeom prst="roundRect">
            <a:avLst>
              <a:gd name="adj" fmla="val 4839"/>
            </a:avLst>
          </a:prstGeom>
          <a:solidFill>
            <a:srgbClr val="1A253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14400" y="52212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94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Чего в наборе нет и не будет</a:t>
            </a:r>
            <a:endParaRPr lang="en-US" sz="155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5596128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одного обещания о будущем: «курс вырастет», «успейте», «не упустите». Ни одного поздравления с национальным праздником от российского банка там, где это читается неуместно. И ни одного текста для просроченного пуша: если сообщение привязано к дате, устаревать в нём нечему.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мы предлагаем запускать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115568"/>
            <a:ext cx="5367528" cy="2523744"/>
          </a:xfrm>
          <a:prstGeom prst="roundRect">
            <a:avLst>
              <a:gd name="adj" fmla="val 2174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298448"/>
            <a:ext cx="4855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Основной продукт · оповещение об уровне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828800"/>
            <a:ext cx="485546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называет сам клиент, поэтому прогноз не нужен ни в каком виде и комплаенс проходит без оговорок.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получает возможность дождаться нужного курса, а банк – данные о намерении, которых у него сегодня нет вообще: сколько людей ждут какого курса и в каком коридоре.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Событий набирается быстро: их создаёт клиент, а не рынок.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53912" y="1115568"/>
            <a:ext cx="5367528" cy="2523744"/>
          </a:xfrm>
          <a:prstGeom prst="roundRect">
            <a:avLst>
              <a:gd name="adj" fmla="val 2174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9944" y="1298448"/>
            <a:ext cx="4855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Отдельной рукой · сигнал правила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6409944" y="1828800"/>
            <a:ext cx="485546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Идёт в пилот против холдаута, а не основным продуктом, и вот почему: оптимум метрики кейса приходится на день, когда валюта получателя дорога, – а допустимого текста для такого дня мы не нашли.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Набирается медленно: выгода – свойство сигнала, а не клиента. Десять тысяч человек в одном коридоре дают одно наблюдение курса, а не десять тысяч.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80390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Допущения, на которых всё держится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187952"/>
          <a:ext cx="1088136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7607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Допущение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рискуем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считается по курсу ЦБ, перевод идёт по курсу поставщика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Часть выгоды съедается спредом. Величину не знаем: данных поставщика у нас нет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Историческая связь «верх диапазона → выгодно» сохранится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не прогноз курса, но это ставка на устойчивость связи. Разброс по годам больше самой величины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Клиент фиксирует сумму отправки, а не получения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Если наоборот, лучший курс означает меньше отправленных рублей и меньшую выручку с перевода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Следующие шаги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115568"/>
            <a:ext cx="3520440" cy="2231136"/>
          </a:xfrm>
          <a:prstGeom prst="roundRect">
            <a:avLst>
              <a:gd name="adj" fmla="val 2459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298448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Отложенный перевод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828800"/>
            <a:ext cx="300837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Логичное продолжение уровня: клиент не просто получает сообщение, а заранее соглашается перевести по достижении курса – как лимитная заявка на бирже. Нужны явное согласие и резервирование средств.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1115568"/>
            <a:ext cx="3520440" cy="2231136"/>
          </a:xfrm>
          <a:prstGeom prst="roundRect">
            <a:avLst>
              <a:gd name="adj" fmla="val 2459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81144" y="1298448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Cooldown и частота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1828800"/>
            <a:ext cx="300837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Дописать то, что сейчас только спроектировано: защиту от серий и добор до полосы 1–2 сообщения в неделю комбинированием трёх источников повода.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01000" y="1115568"/>
            <a:ext cx="3520440" cy="2231136"/>
          </a:xfrm>
          <a:prstGeom prst="roundRect">
            <a:avLst>
              <a:gd name="adj" fmla="val 2459"/>
            </a:avLst>
          </a:prstGeom>
          <a:solidFill>
            <a:srgbClr val="F4F6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57032" y="1298448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Курс поставщика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8257032" y="1828800"/>
            <a:ext cx="300837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Померить деградацию выгоды на реальном курсе перевода. Если спред съедает больше половины, переносим сигнальный слой на внутридневной источник.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547872"/>
            <a:ext cx="3520440" cy="2231136"/>
          </a:xfrm>
          <a:prstGeom prst="roundRect">
            <a:avLst>
              <a:gd name="adj" fmla="val 2459"/>
            </a:avLst>
          </a:prstGeom>
          <a:solidFill>
            <a:srgbClr val="F4F6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730752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Пилот с холдаутом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4261104"/>
            <a:ext cx="300837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руки против контрольной группы. Главная метрика – инкрементальный объём переводов на клиента за квартал, а не CTR и не open rate.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25112" y="3547872"/>
            <a:ext cx="3520440" cy="2231136"/>
          </a:xfrm>
          <a:prstGeom prst="roundRect">
            <a:avLst>
              <a:gd name="adj" fmla="val 2459"/>
            </a:avLst>
          </a:prstGeom>
          <a:solidFill>
            <a:srgbClr val="F4F6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81144" y="3730752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· Тексты в продакшн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4581144" y="4261104"/>
            <a:ext cx="300837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Падежный словарь валют и праздников в коде, проверка приветствий носителем языка, рубрикатор комплаенса по группам текстов.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001000" y="3547872"/>
            <a:ext cx="3520440" cy="2231136"/>
          </a:xfrm>
          <a:prstGeom prst="roundRect">
            <a:avLst>
              <a:gd name="adj" fmla="val 2459"/>
            </a:avLst>
          </a:prstGeom>
          <a:solidFill>
            <a:srgbClr val="F4F6F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57032" y="3730752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· Отбор адресата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8257032" y="4261104"/>
            <a:ext cx="300837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 спроектирован, но не написан: близость к дате выплаты, баланс, календарь коридора. Он же снижает частоту без потери охвата.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отражает зависимость: шаги 1 и 4 можно начинать параллельно, шаг 3 определяет, имеет ли смысл шаг 2.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Вывод: почему мы не пошли по логике кейса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097280"/>
            <a:ext cx="10881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предлагал предсказывать момент и мерить успех симметричной «выгодой момента». Мы проверили обе части и обе заменили – не из вкуса, а потому что измерение показало, что так продукт не получается.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3520440" cy="2157984"/>
          </a:xfrm>
          <a:prstGeom prst="roundRect">
            <a:avLst>
              <a:gd name="adj" fmla="val 2542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2880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Метрика кейса измеряет прошлое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359152"/>
            <a:ext cx="300837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Симметричная выгода сравнивает день с окном ±5 публикаций: половина её – уже случившееся падение, которого клиент не получит. По достижимой половине знак переворачивается.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645920"/>
            <a:ext cx="3520440" cy="2121408"/>
          </a:xfrm>
          <a:prstGeom prst="roundRect">
            <a:avLst>
              <a:gd name="adj" fmla="val 2586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81144" y="182880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 оптимума нет допустимого текста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581144" y="2359152"/>
            <a:ext cx="30083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Максимум приходится на день, когда валюта получателя дорога. Фраза «выгоднее, чем в N % дней» превращается там в «хуже, чем в 99 %», а обещать будущее кейс запрещает.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645920"/>
            <a:ext cx="3520440" cy="2121408"/>
          </a:xfrm>
          <a:prstGeom prst="roundRect">
            <a:avLst>
              <a:gd name="adj" fmla="val 2586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57032" y="182880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Прогноз не подтвердился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8257032" y="2359152"/>
            <a:ext cx="30083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одна из десяти конфигураций, включая бустинги, не обгоняет случайный день устойчиво. Побеждает правило в одну строку, которому не нужна калибровка порога.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77056"/>
            <a:ext cx="10881360" cy="2340864"/>
          </a:xfrm>
          <a:prstGeom prst="roundRect">
            <a:avLst>
              <a:gd name="adj" fmla="val 2344"/>
            </a:avLst>
          </a:prstGeom>
          <a:solidFill>
            <a:srgbClr val="1A253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03250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6FBF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мы построили вместо этого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407408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6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Продукт, который не обещает будущего. Он говорит фактом о прошлом – «столько давали 8 дней из последних девяноста», – и слушает порог, который назвал сам клиент.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6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оказалось не слабее, а прочнее: такой продукт проходит комплаенс, работает в две трети дней молчанием, не разваливается, если сигнальный слой отключить, и даёт банку данные о намерении, которых у него сегодня нет.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6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честности названа прямо: частота 0,60 сообщения в неделю ниже требуемой полосы 1–2, и добор до неё – следующий шаг, а не сделанный.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11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Ваши вопросы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 – материалы, которые могут понадобиться в ответах: доказательство отсутствия заглядывания в будущее, разбор двух метрик, полные результаты моделей, решения Даниила и Ивана, интерфейс.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ДОПОЛНИТЕЛЬНЫЕ МАТЕРИАЛЫ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Материал для ответов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Доказательство честности признаков, разбор двух метрик, полные результаты моделей, решения Даниила и Ивана, интерфейс.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Заглядывания в будущее нет – и это доказано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Требование дисквалифицирующее, поэтому гарантия не декларируется, а проверяется: мы сами ломаем данные и смотрим, поймает ли это тест.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91056"/>
            <a:ext cx="3520440" cy="2121408"/>
          </a:xfrm>
          <a:prstGeom prst="roundRect">
            <a:avLst>
              <a:gd name="adj" fmla="val 2586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773936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временной срез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304288"/>
            <a:ext cx="30083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past_slice(values, i) = values[: i + 1] – единственное место в коде, где проходит граница настоящего. Всё остальное строится через него.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591056"/>
            <a:ext cx="3520440" cy="2121408"/>
          </a:xfrm>
          <a:prstGeom prst="roundRect">
            <a:avLst>
              <a:gd name="adj" fmla="val 2586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81144" y="1773936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Порча будущего двумя способами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581144" y="2304288"/>
            <a:ext cx="30083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ml/leakage.py портит всё после даты среза: масштабом и перестановкой. Если признак изменился – он смотрел вперёд.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591056"/>
            <a:ext cx="3520440" cy="2121408"/>
          </a:xfrm>
          <a:prstGeom prst="roundRect">
            <a:avLst>
              <a:gd name="adj" fmla="val 2586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57032" y="1773936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Подсаженная утечка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8257032" y="2304288"/>
            <a:ext cx="30083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детектор специально заложен пятидневный заглядывающий признак. Тест падает, если детектор его не ловит: проверяется сам проверяющий.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95344"/>
            <a:ext cx="10881360" cy="2322576"/>
          </a:xfrm>
          <a:prstGeom prst="roundRect">
            <a:avLst>
              <a:gd name="adj" fmla="val 2362"/>
            </a:avLst>
          </a:prstGeom>
          <a:solidFill>
            <a:srgbClr val="1A253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05079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Ту же процедуру мы применили к решению Даниила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425696"/>
            <a:ext cx="1033272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Порча всех наблюдений после 2024-06-28 в трёх режимах не изменила ни одного из 55 признаков на 5830 строках. Признаки там честные, это подтверждено независимо.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рабочая точка берётся с теста: отбор верхних 15 % идёт по тестовым строкам, а не по порогу с обучения. Поэтому доля сигналов на тесте всегда ровно 15 %, и заявленная частота 0,78 в неделю – арифметика 15 % от пяти публикаций, а не свойство модели. Уровни от этого завышены одинаково у всех, включая наше правило, поэтому сравнение остаётся честным.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тестов честности и корректности проходят. Их падение означает дисквалификацию решения, а не предупреждение.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метрики указывают в разные стороны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09728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Слева на графике – «выгода момента» из ТЗ: она сравнивает день сигнала с окном ±5 публикаций, то есть половину берёт из прошлого. Справа – достижимая половина: сравнение только с будущим, то есть с тем, что клиент действительно может получить. Бакеты по горизонтали – положение курса в квартальном диапазоне, от «валюта дёшева» до «валюта дорога».</a:t>
            </a:r>
            <a:endParaRPr lang="en-US" sz="1250" dirty="0"/>
          </a:p>
        </p:txBody>
      </p:sp>
      <p:pic>
        <p:nvPicPr>
          <p:cNvPr id="6" name="Image 0" descr="submission/figures/02-konflikt-metri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73936"/>
            <a:ext cx="10881360" cy="40919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96188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Знак переворачивается: по метрике ТЗ выигрывает «дёшево», по достижимой – «дорого», и это единственный бакет, чей интервал не пересекает ноль.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Полные результаты моделей</a:t>
            </a:r>
            <a:endParaRPr lang="en-US" sz="2500" dirty="0"/>
          </a:p>
        </p:txBody>
      </p:sp>
      <p:pic>
        <p:nvPicPr>
          <p:cNvPr id="5" name="Image 0" descr="submission/figures/05-dve-mode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5568"/>
            <a:ext cx="10881360" cy="39044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1389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Слева – метрика кейса, справа – выгода клиента. Модель, выигравшая по первой, проигрывает по второй. Правило в одну строку выигрывает по обеим.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Устойчивость по годам и по коридорам – check_stability.py; полный рейтинг – 06-prognon-bustingov.md; проверка веток – 14-nezavisimaya-proverka-vetok.md.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 Даниила: вторая кодовая база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097280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Отдельная реализация той же задачи, написанная независимо от нашей: свои признаки, свой walk-forward с очисткой, набор ML-моделей, cost-sensitive пороги.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91056"/>
            <a:ext cx="5367528" cy="2066544"/>
          </a:xfrm>
          <a:prstGeom prst="roundRect">
            <a:avLst>
              <a:gd name="adj" fmla="val 2655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773936"/>
            <a:ext cx="4855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Особенность: полная независимость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304288"/>
            <a:ext cx="485546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писался без сверки с нашим. Определение признака pct_range_90 совпало в двух репозиториях дословно, включая обработку вырожденного окна, – мы этого не согласовывали.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53912" y="1591056"/>
            <a:ext cx="5367528" cy="2066544"/>
          </a:xfrm>
          <a:prstGeom prst="roundRect">
            <a:avLst>
              <a:gd name="adj" fmla="val 2655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9944" y="1773936"/>
            <a:ext cx="4855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Ценность: внешняя проверка ядра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409944" y="2304288"/>
            <a:ext cx="485546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Наше правило, прогнанное там, дало 1,353 против наших собственных 1,35. Это сильнее любого внутреннего теста: совпадать было необязательно.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858768"/>
          <a:ext cx="1088136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011680"/>
                <a:gridCol w="2011680"/>
                <a:gridCol w="20116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Прогон в его harness, горизонт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средний lift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мин. lift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выгода вперёд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Наше правило pct_range_90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+47,5 б. п.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Его логистическая регрессия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+60,6 б. п.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Его случайный лес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+49,4 б. п.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640080" y="51937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Вывод: обучение добавляет к одной строке кода около 0,10 lift. Прибавка настоящая, но не та, ради которой стоит откладывать пилот.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 Ивана: биржевые данные к 15:30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097280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Исследование альтернативных источников: прямые биржевые пары, внутридневные срезы, калибровка вероятностей. Дисциплина отбора – протокол фиксируется до открытия проверочного периода – сделана лучше, чем у нас.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91056"/>
            <a:ext cx="5367528" cy="1993392"/>
          </a:xfrm>
          <a:prstGeom prst="roundRect">
            <a:avLst>
              <a:gd name="adj" fmla="val 2752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773936"/>
            <a:ext cx="4855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Особенность: lift 2,11 на горизонте 5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304288"/>
            <a:ext cx="48554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Вдвое выше нашего. Числа воспроизводятся до третьего знака, 112 тестов проходят, протокол зафиксирован заранее.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53912" y="1591056"/>
            <a:ext cx="5367528" cy="1993392"/>
          </a:xfrm>
          <a:prstGeom prst="roundRect">
            <a:avLst>
              <a:gd name="adj" fmla="val 2752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9944" y="1773936"/>
            <a:ext cx="4855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Проверка: что именно измеряет число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409944" y="2304288"/>
            <a:ext cx="48554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 берутся из окна 10:00–15:30. Это окно методики ЦБ: среднее по нему воспроизводит курс СЛЕДУЮЩЕГО дня с медианной ошибкой 2,61 б. п. против 48,59 до сегодняшнего.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12464"/>
          <a:ext cx="6766560" cy="914400"/>
        </p:xfrm>
        <a:graphic>
          <a:graphicData uri="http://schemas.openxmlformats.org/drawingml/2006/table">
            <a:tbl>
              <a:tblPr/>
              <a:tblGrid>
                <a:gridCol w="539496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Экран 2024, горизонт 5, один и тот же пайплайн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Правило «знаю только завтрашний курс» – прогноза ноль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Его availability_route – выбранный кандидат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Его сигнал после снятия уже определившейся части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7680960" y="3712464"/>
            <a:ext cx="3840480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936992" y="3895344"/>
            <a:ext cx="3328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Ценность находки</a:t>
            </a:r>
            <a:endParaRPr lang="en-US" sz="1550" dirty="0"/>
          </a:p>
        </p:txBody>
      </p:sp>
      <p:sp>
        <p:nvSpPr>
          <p:cNvPr id="15" name="Text 12"/>
          <p:cNvSpPr txBox="1"/>
          <p:nvPr/>
        </p:nvSpPr>
        <p:spPr>
          <a:xfrm>
            <a:off x="7936992" y="4425696"/>
            <a:ext cx="33284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не заглядывание вперёд: данные правда доступны в 15:30. Но это фора в два с половиной часа на публичное число, а не прогноз.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535838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нашего продукта потери нет: пуш уходит в 18:00–21:00, то есть после публикации, и курс следующего дня известен нам по построению – поэтому в тексте и стоит «Курс ЦБ на 4 сентября».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Интерфейс: семь экранов существующего флоу</a:t>
            </a:r>
            <a:endParaRPr lang="en-US" sz="2500" dirty="0"/>
          </a:p>
        </p:txBody>
      </p:sp>
      <p:pic>
        <p:nvPicPr>
          <p:cNvPr id="5" name="Image 0" descr="submission/figures/06-makety-interfeys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10881360" cy="3246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4901184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Новых шагов не добавляется ни одного. Виджет встаёт на экран суммы, где решение и принимается, и показывает сумму в валюте получателя, а не курс. Экран 03 – тот же пуш, переписанный следующей публикацией; экран 05 – что видит клиент, открывший пуш через день.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Команда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280160"/>
            <a:ext cx="3520440" cy="2286000"/>
          </a:xfrm>
          <a:prstGeom prst="roundRect">
            <a:avLst>
              <a:gd name="adj" fmla="val 2400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46304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Александр Тармаев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993392"/>
            <a:ext cx="300837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Engineer. Сигнальный слой, честность признаков, продуктовая логика, интерфейс и тексты, сборка комплекта.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1280160"/>
            <a:ext cx="3520440" cy="2286000"/>
          </a:xfrm>
          <a:prstGeom prst="roundRect">
            <a:avLst>
              <a:gd name="adj" fmla="val 2400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81144" y="146304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Даниил Недайборщ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1993392"/>
            <a:ext cx="300837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Engineer. Данные, признаки, инфраструктура честности. Вторая кодовая база: walk-forward с очисткой, набор ML-моделей, cost-sensitive пороги.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01000" y="1280160"/>
            <a:ext cx="3520440" cy="2286000"/>
          </a:xfrm>
          <a:prstGeom prst="roundRect">
            <a:avLst>
              <a:gd name="adj" fmla="val 2400"/>
            </a:avLst>
          </a:prstGeom>
          <a:solidFill>
            <a:srgbClr val="F4F6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57032" y="146304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Иван Калинин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8257032" y="1993392"/>
            <a:ext cx="300837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Engineer. Модели, отбор признаков, валидация. Исследование альтернативных источников: биржевые пары, внутридневные срезы, калибровка.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10881360" cy="2103120"/>
          </a:xfrm>
          <a:prstGeom prst="roundRect">
            <a:avLst>
              <a:gd name="adj" fmla="val 2609"/>
            </a:avLst>
          </a:prstGeom>
          <a:solidFill>
            <a:srgbClr val="1A253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3995928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дало параллельное решение одной задачи двумя кодовыми базами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370832"/>
            <a:ext cx="10332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Ядро подтвердилось внешней проверкой, которую мы не заказывали: два независимо написанных кода на одном правиле дали 1,35 и 1,353.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ровно так же нашлась гипотеза, которую пришлось отклонить: lift 2,11 на биржевых данных измеряет не прогноз, а фору на уже определившемся числе. Обе находки – результат того, что решения писались независимо, а не согласовывались на ходу.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Сигнальный слой для трансграничных переводов</dc:title>
  <dc:subject>PptxGenJS Presentation</dc:subject>
  <dc:creator>Команда 11</dc:creator>
  <cp:lastModifiedBy>Команда 11</cp:lastModifiedBy>
  <cp:revision>1</cp:revision>
  <dcterms:created xsi:type="dcterms:W3CDTF">2026-09-06T10:41:37Z</dcterms:created>
  <dcterms:modified xsi:type="dcterms:W3CDTF">2026-09-06T10:41:37Z</dcterms:modified>
</cp:coreProperties>
</file>