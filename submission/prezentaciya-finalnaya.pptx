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ФИНАЛЬНАЯ ЗАЩИТА · 07.09.2026 · КОМАНДА 11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поймать выгодный момент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для перевода за рубеж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Сигнальный слой над существующим переводом: RUB → TJS, UZS, KGS, AMD, KZT. Прогноз курса не нужен ни одному компоненту продукта.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Ценность: клиент перестаёт выбирать момент вслепую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97280"/>
            <a:ext cx="10881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не может отличить обычный день от редкого, поэтому переводит, когда вспомнил. Мы показываем, сколько получит семья и как это соотносится с последними тремя месяцами — фактом о прошлом, без обещаний. Три числа, которые нас ведут: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520440" cy="1700784"/>
          </a:xfrm>
          <a:prstGeom prst="roundRect">
            <a:avLst>
              <a:gd name="adj" fmla="val 3226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901952"/>
            <a:ext cx="3483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+63 б. п.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706624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 в день сигнала,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интервал от +33 до +94.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переводе 30 000 ₽ это ≈ 190 ₽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25112" y="1737360"/>
            <a:ext cx="3520440" cy="1700784"/>
          </a:xfrm>
          <a:prstGeom prst="roundRect">
            <a:avLst>
              <a:gd name="adj" fmla="val 3226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43400" y="1901952"/>
            <a:ext cx="3483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66 % дней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706624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молчит: выгода −7 б. п.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интервалом через ноль. Слать нечего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01000" y="1737360"/>
            <a:ext cx="3520440" cy="1700784"/>
          </a:xfrm>
          <a:prstGeom prst="roundRect">
            <a:avLst>
              <a:gd name="adj" fmla="val 3226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19288" y="1901952"/>
            <a:ext cx="3483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прогнозов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2706624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одному из трёх компонентов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нужно предсказание курса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74904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F4F6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39319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Индикатор на экране суммы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370832"/>
            <a:ext cx="30083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Положение курса в квартальном диапазоне как факт. Информативно ровно одно состояние — «дорого»: +48 б. п., интервал от +22 до +75.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325112" y="374904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F4F6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81144" y="39319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Оповещение об уровне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4581144" y="4370832"/>
            <a:ext cx="30083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называет сам клиент. Превращает честное «подождите» из повода уйти в повод остаться — и даёт данные о намерении, которых у банка нет.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01000" y="374904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F4F6F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57032" y="39319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Правило отбора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8257032" y="4370832"/>
            <a:ext cx="30083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 и когда написать: близость к дате выплаты, достаточный баланс, календарь праздников коридора. Ранжируем по готовности переводить.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Выгода измерена по официальному ряду ЦБ РФ, 2019–2026, out-of-sample с 2021. Перевод пройдёт по курсу поставщика — разрыв назван на экране подтверждения.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Клиентский путь целиком</a:t>
            </a:r>
            <a:endParaRPr lang="en-US" sz="2700" dirty="0"/>
          </a:p>
        </p:txBody>
      </p:sp>
      <p:pic>
        <p:nvPicPr>
          <p:cNvPr id="5" name="Image 0" descr="submission/figures/08-put-klien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143000"/>
            <a:ext cx="1024128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Сигнал: одна гипотеза отклонена, вторая принята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115568"/>
            <a:ext cx="5367528" cy="1481328"/>
          </a:xfrm>
          <a:prstGeom prst="roundRect">
            <a:avLst>
              <a:gd name="adj" fmla="val 3704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26187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Гипотеза 1 — предсказать направление курса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609344"/>
            <a:ext cx="4846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Метрика: lift к случайному дню. Проверены индикаторы ТЗ, логистическая регрессия, случайный лес, CatBoost, XGBoost. Ни одна конфигурация не даёт устойчивого преимущества. ОТКЛОНЕНА.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53912" y="1115568"/>
            <a:ext cx="5367528" cy="1481328"/>
          </a:xfrm>
          <a:prstGeom prst="roundRect">
            <a:avLst>
              <a:gd name="adj" fmla="val 3704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28232" y="126187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Гипотеза 2 — назвать редкость момента фактом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28232" y="1609344"/>
            <a:ext cx="4846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Метрика: достижимая выгода, сравнение только с будущим окном. Положение курса в квартальном диапазоне даёт +63 б. п. с интервалом, не накрывающим ноль. ПРИНЯТА.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76148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Правило воспроизвелось в чужой кодовой базе; модель добавляет к нему около 0,1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63824"/>
          <a:ext cx="1088136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463040"/>
                <a:gridCol w="2743200"/>
                <a:gridCol w="1828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достижимая выгода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сигналов в неделю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Правило pct_range_90 ≥ 95 — одна строка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 б. п. [+33; +94]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Обученная модель на 80 признаках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 б. п.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 же правило в независимой кодовой базе команды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+48 б. п.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Логистическая регрессия там же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 б. п.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640080" y="4956048"/>
            <a:ext cx="10881360" cy="1207008"/>
          </a:xfrm>
          <a:prstGeom prst="roundRect">
            <a:avLst>
              <a:gd name="adj" fmla="val 4545"/>
            </a:avLst>
          </a:prstGeom>
          <a:solidFill>
            <a:srgbClr val="1A253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51206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Фильтрация: что отсеивается до отправки</a:t>
            </a:r>
            <a:endParaRPr lang="en-US" sz="155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5522976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процентиля — чтобы не хвастаться подбрасыванием монеты. Cooldown против серий: 89 % промежутков между сигналами короче четырёх публикаций, а максимальная пауза — 406 дней. Блэкауты по коридорам: 24 апреля в Армению, Рамадан вечером. Частота правила 0,60 в неделю — ниже рамки 1–2, и мы это не прячем: в рамку попадает более широкий порог pct ≥ 85 при lift 1,26.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Нижние две строки — прогон в кодовой базе второй ветки: их код, их фолды, их определение lift. Два независимых кода на одном правиле дали 1,35 и 1,353. Модель обгоняет правило на 0,10 — это не то расстояние, ради которого стоит откладывать пилот.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Пуш: тайминг, часовые пояса, устаревание</a:t>
            </a:r>
            <a:endParaRPr lang="en-US" sz="2700" dirty="0"/>
          </a:p>
        </p:txBody>
      </p:sp>
      <p:pic>
        <p:nvPicPr>
          <p:cNvPr id="5" name="Image 0" descr="submission/figures/09-taymin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97280"/>
            <a:ext cx="10881360" cy="4526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424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не должен портиться от времени.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Снять просроченный пуш не умеет ни одна платформа: у Apple нет авто-снятия, а у Android setTimeoutAfter — метод SDK, которого нет в payload FCM. Поэтому дата курса стоит в самом тексте, и стоит в конце: проверка на адресате показала, что дата в начале читается как срок платежа — «открыл пятого, вижу 4 сентября, значит опоздал».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 живого текста: «Курс дошёл до вашего уровня. Вы просили при 4 400 000 — дошло. За 30 000 ₽ — 4 402 000 сум. Курс ЦБ на 4 сентября».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Пилот: что меряем, чего не знаем, чего просим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33856"/>
            <a:ext cx="5367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Ветка А · оповещение об уровне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99616"/>
            <a:ext cx="536752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Прогноза не требует, комплаенс проходит без оговорок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Метрика: доля клиентов, заведших уровень, и возвраты по нему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Набирается быстро: событие создаёт клиент, а не рынок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53912" y="1133856"/>
            <a:ext cx="5367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Ветка Б · сигнал правила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153912" y="1499616"/>
            <a:ext cx="536752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Идёт против холдаута, отдельной рукой, а не основным продуктом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Метрика: инкрементальная конверсия и выгода в рублях на перевод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Набирается медленно: выгода — свойство СИГНАЛА, а не клиента. Десять тысяч человек в одном коридоре дают одно наблюдение курса, а не десять тысяч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0662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мы говорим честно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72384"/>
            <a:ext cx="108813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эффекта — десятки базисных пунктов: 72–189 ₽ на переводе 30 000 ₽. Порог запуска +30 б. п.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Рекомендация отличима от случайного дня только в день сигнала: +61 б. п., ДИ [+7; +113]. Дальше интервал накрывает ноль — это «различить не можем», а не «не работает»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год отрицателен на всех задержках, коридор KGS слабее остальных: срок жизни должен быть покоридорным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коридоров — не пять подтверждений: корреляция внутри даты 0,86. 2022 год даёт 13 % наблюдений и 58 % дисперсии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приложения ≠ курс ЦБ. Доля клиентов, способных отложить перевод, неизвестна до пилота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846320"/>
            <a:ext cx="10881360" cy="1316736"/>
          </a:xfrm>
          <a:prstGeom prst="roundRect">
            <a:avLst>
              <a:gd name="adj" fmla="val 4167"/>
            </a:avLst>
          </a:prstGeom>
          <a:solidFill>
            <a:srgbClr val="1A253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5010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Чего просим у заказчика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413248"/>
            <a:ext cx="10332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Первое: доступ к курсу исполнения приложения — весь сигнал считается по ряду ЦБ, и разрыв между ними не измерен. Второе: сегмент клиентов, способных отложить перевод, — если гибких десять процентов, пилот на всей базе покажет ноль из-за разбавления при полностью работающем продукте. Третье: ответ, фиксируется ли сумма к отправке или к получению, — от этого меняется знак влияния на выручку банка.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Материал для вопросов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— то, что не влезло в пять слайдов: доказательство честности признаков, полные результаты моделей, макеты интерфейса и разбор текстов. Основная часть закончена.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Заглядывания в будущее нет — и это доказано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Требование дисквалифицирующее, поэтому гарантия не декларируется, а проверяется — и проверяется тем, что мы сами ломаем данные и смотрим, поймает ли это тест.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91056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773936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временной срез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212848"/>
            <a:ext cx="3008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past_slice(values, i) = values[: i + 1] — единственное место в коде, где проходит граница настоящего. Всё остальное строится через него.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591056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81144" y="1773936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Порча будущего двумя способами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581144" y="2212848"/>
            <a:ext cx="3008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ml/leakage.py портит всё после даты среза: масштабом и перестановкой. Если признак изменился — он смотрел вперёд.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591056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57032" y="1773936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Подсаженная утечка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8257032" y="2212848"/>
            <a:ext cx="3008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детектор специально заложен пятидневный заглядывающий признак. Тест падает, если детектор его не ловит: проверяется сам проверяющий.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785616"/>
            <a:ext cx="10881360" cy="2377440"/>
          </a:xfrm>
          <a:prstGeom prst="roundRect">
            <a:avLst>
              <a:gd name="adj" fmla="val 2308"/>
            </a:avLst>
          </a:prstGeom>
          <a:solidFill>
            <a:srgbClr val="1A25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9502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это дало на чужой ветке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352544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 же процедуру мы применили к решению второй ветки команды: порча всех наблюдений после 2024-06-28 в трёх режимах не изменила ни одного из 55 признаков на 5830 строках. Признаки там честные — это подтверждено.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рабочая точка в том решении берётся с теста: отбор верхних 15 % идёт по тестовым строкам, а не по порогу с обучения. Поэтому доля сигналов на тесте всегда ровно 15 %, и заявленная частота 0,78 в неделю — это арифметика 15 % от пяти публикаций, а не свойство модели. Честный порог с обучения меняет и lift, и частоту.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тестов честности и корректности проходят. Их падение означает дисквалификацию решения, а не предупреждение.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метрики указывают в разные стороны</a:t>
            </a:r>
            <a:endParaRPr lang="en-US" sz="2500" dirty="0"/>
          </a:p>
        </p:txBody>
      </p:sp>
      <p:pic>
        <p:nvPicPr>
          <p:cNvPr id="5" name="Image 0" descr="submission/figures/02-konflikt-metr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33856"/>
            <a:ext cx="10881360" cy="40919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35838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Симметричная «выгода момента» из ТЗ сравнивает день с окном ±h и потому наполовину описывает уже случившееся падение. Правило, срабатывающее ПОСЛЕ падения, набирает по ней много, ничего не предсказав. Достижимая половина — сравнение только с будущим — переворачивает знак: единственный бакет, чей интервал не пересекает ноль, — «валюта дорога».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Полные результаты моделей</a:t>
            </a:r>
            <a:endParaRPr lang="en-US" sz="2500" dirty="0"/>
          </a:p>
        </p:txBody>
      </p:sp>
      <p:pic>
        <p:nvPicPr>
          <p:cNvPr id="5" name="Image 0" descr="submission/figures/05-dve-mode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5568"/>
            <a:ext cx="10881360" cy="39044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1389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 — метрика кейса, справа — выгода клиента. Модель, выигравшая по первой, проигрывает по второй. Правило в одну строку выигрывает по обеим.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Устойчивость по годам и по коридорам — check_stability.py; полный рейтинг внутренней валидации — 06-prognon-bustingov.md; проверка веток команды — 14-nezavisimaya-proverka-vetok.md.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Независимая проверка веток команды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ветки выкачаны, запущены и перемерены нашим кодом на их данных. Ни одна находка не является ошибкой в коде: расхождения — в том, что именно измеряет число.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5367528" cy="2103120"/>
          </a:xfrm>
          <a:prstGeom prst="roundRect">
            <a:avLst>
              <a:gd name="adj" fmla="val 2609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10512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Вторая ветка — подтверждает ядро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249424"/>
            <a:ext cx="4855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Наше правило в их коде: 1,353 против наших 1,35. Определение признака совпадает дословно. Их модель на том же прогоне — 1,450, то есть обучение даёт около +0,10.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Оговорка: рабочая точка выбирается по строкам теста, поэтому уровни завышены — одинаково у всех, включая нас.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53912" y="1627632"/>
            <a:ext cx="5367528" cy="2103120"/>
          </a:xfrm>
          <a:prstGeom prst="roundRect">
            <a:avLst>
              <a:gd name="adj" fmla="val 2609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9944" y="1810512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Ветка Ивана — число измеряет не прогноз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09944" y="2249424"/>
            <a:ext cx="4855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 берутся из окна 10:00–15:30. Это окно методики ЦБ: среднее по нему воспроизводит курс СЛЕДУЮЩЕГО дня с медианной ошибкой 2,6 б. п. против 48,6 до сегодняшнего, и на 94,7 % дней ближе к завтрашнему.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не заглядывание вперёд: данные правда доступны в 15:30. Но это фора в два с половиной часа, а не прогноз.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89534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Правило, которое ничего не прогнозирует, обгоняет все три модели ветки — в её же пайплайне</a:t>
            </a:r>
            <a:endParaRPr lang="en-US" sz="15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279392"/>
          <a:ext cx="59436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371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Экран 2024, горизонт 5, один и тот же пайплайн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Правило «знаю только завтрашний курс» — прогноза ноль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Их noon_consensus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Их fixing_basis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Их availability_route — выбранный кандидат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858000" y="4279392"/>
            <a:ext cx="46634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114032" y="4462272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Сколько остаётся прогноза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7114032" y="4901184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Снимаем уже определившуюся часть — остаётся 1,15 против lift 2,10. Ниже порога 1,30 и ниже нашего 1,35. Их собственный контроль согласен: 0,99 при p = 0,60.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 «биржевые данные к 15:30 дают прогноз лучше правила» отклонена: 1,15 против порога 1,30. Подробно — 14-nezavisimaya-proverka-vetok.md.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Интерфейс: семь экранов существующего флоу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Новых шагов не добавляется ни одного. Виджет встаёт на экран суммы, где решение и принимается, и показывает сумму в валюте получателя, а не курс. Экран 03 — тот же пуш, переписанный следующей публикацией; экран 05 — что видит клиент, открывший пуш через день.</a:t>
            </a:r>
            <a:endParaRPr lang="en-US" sz="1250" dirty="0"/>
          </a:p>
        </p:txBody>
      </p:sp>
      <p:pic>
        <p:nvPicPr>
          <p:cNvPr id="6" name="Image 0" descr="submission/figures/06-makety-interfeys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55648"/>
            <a:ext cx="10881360" cy="32461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на макетах вымышленные: имена, номера телефонов, остатки и последние цифры карт не принадлежат никому.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Тексты пушей: сто вариантов и проверка на адресате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97280"/>
            <a:ext cx="10881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разбора читали тексты как эксперты: комплаенс, культура, конверсия, редактура. Пятый проход мы сделали от лица адресата — мужчина 34 лет из Худжанда, восьмой год на стройке в Москве, русский разговорный, один раз уже попадался на «выгодный курс». Это не исследование, а проверка формулировок: одна роль, один проход. Но семь замечаний оказались проверяемыми на месте, и все семь подтвердились.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65376"/>
          <a:ext cx="1088136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52120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нашлось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изменено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в начале читается как срок платежа: открыв пуш назавтра, адресат решает, что опоздал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ушла в конец отдельным предложением: «Курс ЦБ на 4 сентября»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«Уровень», «порог», «диапазон», «оповещение», «окупалось» — слова, которых он не знает или понимает иначе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Заменены на те, что он произносит сам: «дошло», «столько дойдёт», «как обычно»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«N дней из 100 за три месяца» — в трёх месяцах девяносто дней, а не сто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Счёт вместо доли: «лучше за три месяца было только 14 дней из девяноста»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«Без комиссии» — не верит: «значит, она в курсе»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Заменено числом: комиссию называем прямо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«Форму покупают в августе» — читается как упрёк, что он опоздал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Школьные тексты говорят не о покупках, а о том, что перевод в этот месяц больше обычного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Пуш в минуту зачисления зарплаты — «значит, смотрят»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Отправка на следующий день, слово «деньги» из заголовка убрано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73168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1A253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49377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Отдельно: разрешённая кейсом рамка проверку не прошла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4009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срабатывает на 99-м процентиле квартального диапазона — когда валюта получателя дорога и клиент получает меньше. Формулировка «выгоднее, чем в N % дней» превращается там в «хуже, чем в 99 % дней». Единственный найденный допустимый кандидат — рамка «перестань ждать» — прочиталась как приманка, а честная версия «курс ниже обычного» отменяет сама себя: заголовок уже всё сказал, открывать нечего. Разница между сигналом и обычным днём у нас в размере (+63 против +3 б. п.), а не в частоте (65 против 51 случая из ста) — одной фразой это не передаётся.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Команда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3520440" cy="2377440"/>
          </a:xfrm>
          <a:prstGeom prst="roundRect">
            <a:avLst>
              <a:gd name="adj" fmla="val 2308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Александр Тармаев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856232"/>
            <a:ext cx="30083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Сигнальный слой, честность признаков, продуктовая логика, интерфейс и тексты, сборка комплекта.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234440"/>
            <a:ext cx="3520440" cy="2377440"/>
          </a:xfrm>
          <a:prstGeom prst="roundRect">
            <a:avLst>
              <a:gd name="adj" fmla="val 2308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81144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Иван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1856232"/>
            <a:ext cx="30083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Исследование альтернативных источников: прямые биржевые пары, внутридневные срезы, калибровка вероятностей. Дисциплина отбора — протокол до открытия периода — сделана лучше, чем у нас.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01000" y="1234440"/>
            <a:ext cx="3520440" cy="2377440"/>
          </a:xfrm>
          <a:prstGeom prst="roundRect">
            <a:avLst>
              <a:gd name="adj" fmla="val 2308"/>
            </a:avLst>
          </a:prstGeom>
          <a:solidFill>
            <a:srgbClr val="F4F6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57032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Вторая ветка решения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8257032" y="1856232"/>
            <a:ext cx="30083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Независимая кодовая база: walk-forward с очисткой, набор ML-моделей, cost-sensitive пороги.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10881360" cy="1920240"/>
          </a:xfrm>
          <a:prstGeom prst="roundRect">
            <a:avLst>
              <a:gd name="adj" fmla="val 2857"/>
            </a:avLst>
          </a:prstGeom>
          <a:solidFill>
            <a:srgbClr val="1A253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400507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дало параллельное решение одной задачи двумя кодовыми базами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07408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Наше правило, прогнанное в их harness — их код, их фолды, их определение lift, — дало 1,353 против наших собственных 1,35. Определение признака в двух репозиториях совпадает дословно; сходимость получилась сама, мы её не подгоняли.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Их обученная модель на том же прогоне даёт 1,450 — прибавка настоящая, около 0,10 lift. Вывод от этого не переворачивается, а уточняется: правило можно запускать сейчас, модель — следующим шагом, а не блокирующим условием пилота.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ПРОСИМ РЕШИТЬ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Момент ловится.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Метрика кейса измеряет не его.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Симметричная «выгода момента» награждает срабатывание после падения. По достижимой половине знак переворачивается, и продукт получается другой — не «переводи, пока дёшево», а «перестань ждать». Просим подтвердить, какую из двух метрик считать целевой: от этого зависит, что мы запускаем.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Сигнальный слой для трансграничных переводов</dc:title>
  <dc:subject>PptxGenJS Presentation</dc:subject>
  <dc:creator>Команда 11</dc:creator>
  <cp:lastModifiedBy>Команда 11</cp:lastModifiedBy>
  <cp:revision>1</cp:revision>
  <dcterms:created xsi:type="dcterms:W3CDTF">2026-09-05T22:15:06Z</dcterms:created>
  <dcterms:modified xsi:type="dcterms:W3CDTF">2026-09-05T22:15:06Z</dcterms:modified>
</cp:coreProperties>
</file>