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Промежуточная сдача. Заголовок кейса оставлен как есть, но подзаголовок сразу задаёт честную рамку: выигрыш от угадывания дня в данных мал и незначим, а измеримое содержание сигнала другое — «не жди». Главный результат — не найденный сигнал, а понимание того, что измеряет метрика кейса.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Первые три цифры считает run_product_numbers.py на данных ЦБ 2019-2026. Потолок +143 бп требует знания будущего; лучшие реальные политики берут от него 8-12 процентов. Четвёртая — «0 массовых сервисов» — не расчёт по данным, а наш обзор рынка: мы не нашли массового сервиса переводов в СНГ, который шлёт push о моменте перевода. Это утверждение об отсутствии, к финалу его надо подкрепить ссылками — см. docs/01, раздел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уточнение — основа всего дальнейшего. Горизонты h = 1,3,5,10,20, все пять.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Метрика кейса монотонна по одному признаку. ML к ней не добавляет ничего - это факт о метрике, а не о моделях. Комплаенс-блокер на следующем уровне: для оптимума метрики допустимого текста пуша не существует. Если спросят про lift: на базе, известной в момент решения, 1,39 у правила падает до 1,00 - метрика кейса держится на глобальном знаменателе. Достижимую выгоду +63 бп это не отменяет, она от знаменателя не зависит. Именно поэтому мы считаем главной величиной деньги, а не lift.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Ни один индикатор ТЗ не даёт одновременно lift выше 1 и положительную достижимую выгоду. Модель даёт +24, однострочное правило +63.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 модели складывается из окон, где сигнал промолчал: из +12 бп срабатывания дают минус 24, а молчание плюс 36. Показывать итог без этого разложения нельзя. Правильный контрфакт для срабатываний внутри окна меняет знак, но не даёт значимости: 53 окна, ДИ [−71; +401]. Считать надо ровно те окна, где ПЕРВОЕ срабатывание пришлось на дни 1-5 — политика переводит деньги по первому сигналу.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Устойчивость, измеренная на тех же годах, по которым модель и выбиралась, ничего не значит. Поэтому продуктовый критерий устойчивости нельзя применять постфактум к тестовой таблице - его надо встраивать в саму процедуру отбора.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Расчёт в run_product_numbers.py, вывод в submission/10. SD выгоды 237 бп, design effect по датам 3,93 - измерен, а не назначен. 275 сигнальных дней за 296 недель. Сходится с тем, что на тесте интервал +63 [+33; +94] ноль не накрывает: там набралось 275 дней при потребности в 136.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Закрываем не результатом модели, а решением, которое нужно от заказчика. Три вопроса выбраны так, что ответ на каждый меняет содержание работы к финалу, а не только её объём.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74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ПРОМЕЖУТОЧНАЯ ЗАЩИТА · 04.09.2026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поймать выгодный момент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для перевода за рубеж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69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Триггерная модель для коридоров Россия → Таджикистан, Узбекистан, Киргизия, Армения, Казахстан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Промежуточный вывод: момент ловится — но не там, где его ищет метрика кейса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github.com/tarma3v/international_transfers_signals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9C5B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02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Клиент выбирает момент вслепую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704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Медианный разброс курса внутри месяца — 440–520 базисных пунктов. На переводе 30 000 ₽ это около 1 300–1 600 ₽ разницы между лучшим и худшим днём. Но забрать её целиком нельзя: клиент привязан к дате зарплаты.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3429000" cy="1572768"/>
          </a:xfrm>
          <a:prstGeom prst="roundRect">
            <a:avLst>
              <a:gd name="adj" fmla="val 3488"/>
            </a:avLst>
          </a:prstGeom>
          <a:solidFill>
            <a:srgbClr val="F4F6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2249424"/>
            <a:ext cx="33924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9C5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42–44 %</a:t>
            </a:r>
            <a:endParaRPr lang="en-US" sz="37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017520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месячного размаха доступно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клиенту, привязанному к зарплате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0832" y="2103120"/>
            <a:ext cx="3429000" cy="1572768"/>
          </a:xfrm>
          <a:prstGeom prst="roundRect">
            <a:avLst>
              <a:gd name="adj" fmla="val 3488"/>
            </a:avLst>
          </a:prstGeom>
          <a:solidFill>
            <a:srgbClr val="F4F6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89120" y="2249424"/>
            <a:ext cx="33924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9C5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+143 б. п.</a:t>
            </a:r>
            <a:endParaRPr lang="en-US" sz="37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017520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потолок всеведущего оракула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окне клиента — берём 8–12 %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01584" y="2103120"/>
            <a:ext cx="3429000" cy="1572768"/>
          </a:xfrm>
          <a:prstGeom prst="roundRect">
            <a:avLst>
              <a:gd name="adj" fmla="val 3488"/>
            </a:avLst>
          </a:prstGeom>
          <a:solidFill>
            <a:srgbClr val="F4F6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119872" y="2249424"/>
            <a:ext cx="33924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9C5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700" dirty="0"/>
          </a:p>
        </p:txBody>
      </p:sp>
      <p:sp>
        <p:nvSpPr>
          <p:cNvPr id="14" name="Text 12"/>
          <p:cNvSpPr txBox="1"/>
          <p:nvPr/>
        </p:nvSpPr>
        <p:spPr>
          <a:xfrm>
            <a:off x="8302752" y="3017520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массовых сервисов переводов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шлют push «сейчас выгодно»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5367528" cy="2084832"/>
          </a:xfrm>
          <a:prstGeom prst="roundRect">
            <a:avLst>
              <a:gd name="adj" fmla="val 2632"/>
            </a:avLst>
          </a:prstGeom>
          <a:solidFill>
            <a:srgbClr val="F4F6F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6112" y="4160520"/>
            <a:ext cx="4855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делает ближайший аналог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4599432"/>
            <a:ext cx="485546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Flights показывает метку на экране — «цена ниже обычного» — а не рассылает уведомления. Мы взяли этот принцип за основу: индикатор в момент, когда клиент и так пришёл переводить.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53912" y="3977640"/>
            <a:ext cx="5367528" cy="2084832"/>
          </a:xfrm>
          <a:prstGeom prst="roundRect">
            <a:avLst>
              <a:gd name="adj" fmla="val 2632"/>
            </a:avLst>
          </a:prstGeom>
          <a:solidFill>
            <a:srgbClr val="F4F6F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9944" y="4160520"/>
            <a:ext cx="4855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сегмента ведут себя по-разному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6409944" y="4599432"/>
            <a:ext cx="485546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Пересылают зарплату — привязаны к дате, ждать не могут, видят 42–44 % возможности. Переводят на траты — могут ждать. Вся измеримая ценность продукта сосредоточена во втором сегменте.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9C5B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02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Постановка задачи и наше уточнение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Фокус — триггерные коммуникации, а не ценообразование. Фиксация курса и скидки в спреде исключены из MVP.</a:t>
            </a:r>
            <a:endParaRPr 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64208"/>
          <a:ext cx="108813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566160"/>
                <a:gridCol w="48463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Метрика заказчика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Определение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Наша позиция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«Сейчас выгодно»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курс не станет ниже за h публикаций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считаем как задано; показали, чем опасна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«Окно закрывается»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через h публикаций курс выше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считаем как задано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«Выгода момента»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сравнение с окном ±h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9C5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раскладываем на достижимую и недостижимую половины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3703320"/>
            <a:ext cx="10881360" cy="2331720"/>
          </a:xfrm>
          <a:prstGeom prst="roundRect">
            <a:avLst>
              <a:gd name="adj" fmla="val 2353"/>
            </a:avLst>
          </a:prstGeom>
          <a:solidFill>
            <a:srgbClr val="F4F6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96112" y="3886200"/>
            <a:ext cx="10369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C5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Уточнение, которое меняет постановку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896112" y="4325112"/>
            <a:ext cx="103692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 «выгода момента» симметрична: она сравнивает день с окном ±h, половина которого — прошлое.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Правило, срабатывающее ПОСЛЕ падения курса, набирает по ней высокий балл, ничего не предсказав. Клиент может забрать только форвардную половину — прошлое ему недоступно.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считаем обе половины и в качестве продуктовой используем достижимую.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74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ПРОМЕЖУТОЧНЫЙ РЕЗУЛЬТАТ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Метрику кейса максимизирует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одна строка кода, а не модель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69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pct_range_90 &gt;= 95 обгоняет все десять конфигураций по достижимой выгоде: +63 против +24 базисных пунктов,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по lift кейса тоже — 1,39 против 1,35, хотя на честном знаменателе этот lift падает до 1,00.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у максимума нет допустимого текста: он срабатывает на 99-м перцентиле квартального диапазона.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9C5B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02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Две метрики указывают в разные стороны</a:t>
            </a:r>
            <a:endParaRPr lang="en-US" sz="2700" dirty="0"/>
          </a:p>
        </p:txBody>
      </p:sp>
      <p:pic>
        <p:nvPicPr>
          <p:cNvPr id="5" name="Image 0" descr="submission/figures/02-konflikt-metri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70432"/>
            <a:ext cx="10881360" cy="40919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44068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Серые столбцы — симметричная «выгода момента» из ТЗ: дёшево +59, дорого −55. Оранжевые — её достижимая половина: знак переворачивается.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Справа — метрика кейса: попадание растёт от 24 % к 40 %, то есть согласно с достижимой выгодой и против симметричной.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27278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ЦБ 2019–2026, пять коридоров, h = 5. По достижимой выгоде ноль не пересекает только край «дорого»: +48 б. п., ДИ [+22; +75]. У края «дёшево» −1 б. п., ДИ [−26; +24]. На одном тестовом периоде (с 2021) те же бакеты дают −3 / −8 / +51 б. п. [+23; +77] — знаки и порядок сохраняются.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9C5B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02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Заявленная выгода индикаторов ТЗ — это прошлое</a:t>
            </a:r>
            <a:endParaRPr lang="en-US" sz="2700" dirty="0"/>
          </a:p>
        </p:txBody>
      </p:sp>
      <p:pic>
        <p:nvPicPr>
          <p:cNvPr id="5" name="Image 0" descr="submission/figures/03-razlozhenie-vygo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6858000" cy="34655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35240" y="1097280"/>
            <a:ext cx="3886200" cy="3465576"/>
          </a:xfrm>
          <a:prstGeom prst="roundRect">
            <a:avLst>
              <a:gd name="adj" fmla="val 1583"/>
            </a:avLst>
          </a:prstGeom>
          <a:solidFill>
            <a:srgbClr val="F4F6F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91272" y="1280160"/>
            <a:ext cx="3374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E3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произошло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7891272" y="1719072"/>
            <a:ext cx="3374136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Индикатор «моментум» показывает +92 б. п. по метрике заказчика.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положительная выгода — падение, которое уже случилось: обратная половина +217 б. п.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Вперёд остаётся −21 б. п. Причина: после падения трёх дней данные говорят «подожди ещё», а индикатор говорит «переводи».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4773168"/>
            <a:ext cx="3525926" cy="1572768"/>
          </a:xfrm>
          <a:prstGeom prst="roundRect">
            <a:avLst>
              <a:gd name="adj" fmla="val 3488"/>
            </a:avLst>
          </a:prstGeom>
          <a:solidFill>
            <a:srgbClr val="F4F6F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58368" y="4919472"/>
            <a:ext cx="348935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9E3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−21 б. п.</a:t>
            </a:r>
            <a:endParaRPr lang="en-US" sz="3700" dirty="0"/>
          </a:p>
        </p:txBody>
      </p:sp>
      <p:sp>
        <p:nvSpPr>
          <p:cNvPr id="11" name="Text 8"/>
          <p:cNvSpPr txBox="1"/>
          <p:nvPr/>
        </p:nvSpPr>
        <p:spPr>
          <a:xfrm>
            <a:off x="841248" y="5687568"/>
            <a:ext cx="31235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достижимая выгода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индикатора «моментум»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31513" y="4773168"/>
            <a:ext cx="3525926" cy="1572768"/>
          </a:xfrm>
          <a:prstGeom prst="roundRect">
            <a:avLst>
              <a:gd name="adj" fmla="val 3488"/>
            </a:avLst>
          </a:prstGeom>
          <a:solidFill>
            <a:srgbClr val="F4F6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349801" y="4919472"/>
            <a:ext cx="348935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9E3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 б. п.</a:t>
            </a:r>
            <a:endParaRPr lang="en-US" sz="3700" dirty="0"/>
          </a:p>
        </p:txBody>
      </p:sp>
      <p:sp>
        <p:nvSpPr>
          <p:cNvPr id="14" name="Text 11"/>
          <p:cNvSpPr txBox="1"/>
          <p:nvPr/>
        </p:nvSpPr>
        <p:spPr>
          <a:xfrm>
            <a:off x="4532681" y="5687568"/>
            <a:ext cx="31235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достижимая выгода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индикатора «уровень»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022946" y="4773168"/>
            <a:ext cx="3525926" cy="1572768"/>
          </a:xfrm>
          <a:prstGeom prst="roundRect">
            <a:avLst>
              <a:gd name="adj" fmla="val 3488"/>
            </a:avLst>
          </a:prstGeom>
          <a:solidFill>
            <a:srgbClr val="F4F6F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1234" y="4919472"/>
            <a:ext cx="348935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166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+63 б. п.</a:t>
            </a:r>
            <a:endParaRPr lang="en-US" sz="3700" dirty="0"/>
          </a:p>
        </p:txBody>
      </p:sp>
      <p:sp>
        <p:nvSpPr>
          <p:cNvPr id="17" name="Text 14"/>
          <p:cNvSpPr txBox="1"/>
          <p:nvPr/>
        </p:nvSpPr>
        <p:spPr>
          <a:xfrm>
            <a:off x="8224114" y="5687568"/>
            <a:ext cx="31235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достижимая выгода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однострочного правила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9C5B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02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Схема решения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975104" cy="2514600"/>
          </a:xfrm>
          <a:prstGeom prst="roundRect">
            <a:avLst>
              <a:gd name="adj" fmla="val 2778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6384" y="157276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C5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1975104"/>
            <a:ext cx="16824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Курсы ЦБ 2019–2026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Построчная нормировка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номинала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 публикаций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615184" y="248716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52928" y="1417320"/>
            <a:ext cx="1975104" cy="2514600"/>
          </a:xfrm>
          <a:prstGeom prst="roundRect">
            <a:avLst>
              <a:gd name="adj" fmla="val 2778"/>
            </a:avLst>
          </a:prstGeom>
          <a:solidFill>
            <a:srgbClr val="F4F6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999232" y="157276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C5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Признаки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999232" y="1975104"/>
            <a:ext cx="16824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признака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по прошлому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Моментум, уровень,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разворот, календарь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828032" y="248716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65776" y="1417320"/>
            <a:ext cx="1975104" cy="2514600"/>
          </a:xfrm>
          <a:prstGeom prst="roundRect">
            <a:avLst>
              <a:gd name="adj" fmla="val 2778"/>
            </a:avLst>
          </a:prstGeom>
          <a:solidFill>
            <a:srgbClr val="F4F6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12080" y="157276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C5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Ворота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1975104"/>
            <a:ext cx="16824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Доказательство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отсутствия утечки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 не стартует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прохождения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248716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78624" y="1417320"/>
            <a:ext cx="1975104" cy="2514600"/>
          </a:xfrm>
          <a:prstGeom prst="roundRect">
            <a:avLst>
              <a:gd name="adj" fmla="val 2778"/>
            </a:avLst>
          </a:prstGeom>
          <a:solidFill>
            <a:srgbClr val="F4F6F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24928" y="157276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C5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Модели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424928" y="1975104"/>
            <a:ext cx="16824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с очисткой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Логрегрессия, лес,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GBM, CatBoost, XGBoost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9253728" y="248716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491472" y="1417320"/>
            <a:ext cx="1975104" cy="2514600"/>
          </a:xfrm>
          <a:prstGeom prst="roundRect">
            <a:avLst>
              <a:gd name="adj" fmla="val 2778"/>
            </a:avLst>
          </a:prstGeom>
          <a:solidFill>
            <a:srgbClr val="1A253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37776" y="157276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Продукт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637776" y="1975104"/>
            <a:ext cx="16824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Индикатор на экране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Оповещение об уровне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отбора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224528"/>
            <a:ext cx="5367528" cy="182880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96112" y="4407408"/>
            <a:ext cx="4855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6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уже работает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896112" y="4846320"/>
            <a:ext cx="4855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Загрузчик, 83 признака, доказательство честности, 44 автотеста, walk-forward с очисткой в публикациях, пять моделей, отбор признаков, испытания результата, signals_as_of(T), разбивка по коридорам.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153912" y="4224528"/>
            <a:ext cx="5367528" cy="182880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9944" y="4407408"/>
            <a:ext cx="4855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C5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осталось до финала</a:t>
            </a:r>
            <a:endParaRPr lang="en-US" sz="1550" dirty="0"/>
          </a:p>
        </p:txBody>
      </p:sp>
      <p:sp>
        <p:nvSpPr>
          <p:cNvPr id="29" name="Text 27"/>
          <p:cNvSpPr txBox="1"/>
          <p:nvPr/>
        </p:nvSpPr>
        <p:spPr>
          <a:xfrm>
            <a:off x="6409944" y="4846320"/>
            <a:ext cx="4855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signals.csv в финальном формате, правило комбинирования и добор до полосы частоты, падежный словарь в коде, проверка приветствий носителями.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9C5B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02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Заглядывания в будущее нет — и это доказано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338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Требование дисквалифицирующее, поэтому гарантия не опирается на аккуратность разработчика. Она обеспечена конструкцией.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4F6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1847088"/>
            <a:ext cx="3008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Единственный срез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286000"/>
            <a:ext cx="30083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 режется по времени в одном месте — past_slice. Функции признаков получают срез, а не весь ряд: будущего у них физически нет.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5112" y="1664208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4F6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81144" y="1847088"/>
            <a:ext cx="3008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Две порчи будущего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4581144" y="2286000"/>
            <a:ext cx="30083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 ×3 и перестановка после даты среза. Признаки в прошлом обязаны совпасть побитово. Ноль расхождений на двух срезах. Две порчи, потому что масштаб слеп к знакам.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01000" y="1664208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4F6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57032" y="1847088"/>
            <a:ext cx="3008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C5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 на сам тест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8257032" y="2286000"/>
            <a:ext cx="30083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срез подставляется реальная ошибка — сдвиг на 5 дней вперёд. Проверка обязана её поймать. Плюс signals_as_of(T): срез на любую дату для проверки извне.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041648"/>
            <a:ext cx="10881360" cy="2011680"/>
          </a:xfrm>
          <a:prstGeom prst="roundRect">
            <a:avLst>
              <a:gd name="adj" fmla="val 2727"/>
            </a:avLst>
          </a:prstGeom>
          <a:solidFill>
            <a:srgbClr val="1A253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22452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проверка проверяет саму себя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626864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Ворота сначала доказывают, что УМЕЮТ ловить утечку: в срез подставляется реальная ошибка, и проверка обязана её поймать. Без этого шага вердикт «утечки нет» ничего не стоит — проверка, читающая массив, захваченный до порчи, «проходит» всегда.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Проверка, не умеющая находить проблему, создаёт ложную уверенность — она хуже отсутствия проверки.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9C5B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02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Первые результаты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«сейчас выгодно», h = 5, out-of-sample 2021–2026, базовая ставка 29,5 %. Порог модели зафиксирован на обучении — частоты у строк разные.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27632"/>
          <a:ext cx="108813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188720"/>
                <a:gridCol w="1828800"/>
                <a:gridCol w="210312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Правило / модель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Выгода ±h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ДОСТИЖИМАЯ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95 % ДИ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ТЗ: моментум (падение 3 дн)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+92 б. п.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E3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−21 б. п.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[−45; +3]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ТЗ: уровень (нижний дециль)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+58 б. п.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E3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 б. п.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[−31; +26]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ТЗ: разворот от минимума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б. п.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 б. п.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[−21; +51]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ТЗ: сезонность (до праздника)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 б. п.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E3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−13 б. п.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[−39; +14]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Модель, выбранная ДО теста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+34 б. п.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6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+24 б. п.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[+3; +44]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простое правило pct_range_90 ≥ 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−60 б. п.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6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+63 б. п.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[+33; +94]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4828032"/>
            <a:ext cx="10881360" cy="1207008"/>
          </a:xfrm>
          <a:prstGeom prst="roundRect">
            <a:avLst>
              <a:gd name="adj" fmla="val 4545"/>
            </a:avLst>
          </a:prstGeom>
          <a:solidFill>
            <a:srgbClr val="F4F6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96112" y="5010912"/>
            <a:ext cx="10369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C5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Однострочное правило обгоняет модель по обеим колонкам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896112" y="5449824"/>
            <a:ext cx="10369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1,39 против 1,14 и +63 против +24 б. п. Uplift модели к компаратору, назначенному ДО теста, на горизонтах 1 / 3 / 5 / 10 / 20: +17 / +30 / +45 / +96 / +63 б. п. Рост вправо обманчив: на h = 10 и 20 все индикаторы ТЗ уходят в минус, обогнать их легко, а месяц ожидания клиент не выдержит. Продуктовые горизонты — 3–5.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27278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lift ≥ 1,3 достигнут (1,39 у правила, 1,35 у модели), но обе срабатывают 0,6-0,7 сигнала в неделю при обязательной полосе 1–2. Единственная строка внутри полосы — pct ≥ 85 с lift 1,26. Оба условия вместе не выполняет ничто, и это арифметика: ЦБ публикует курс ~4,7 раза в неделю, поэтому полоса требует срабатывания на 21–42 % публикаций. Покоридорная калибровка, которой требует ТЗ, даёт 1,18-1,27 — тоже ниже.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9C5B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02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Две метрики, две модели</a:t>
            </a:r>
            <a:endParaRPr lang="en-US" sz="2700" dirty="0"/>
          </a:p>
        </p:txBody>
      </p:sp>
      <p:pic>
        <p:nvPicPr>
          <p:cNvPr id="5" name="Image 0" descr="submission/figures/05-dve-model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15568"/>
            <a:ext cx="10881360" cy="39044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5193792"/>
            <a:ext cx="5367528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96112" y="5376672"/>
            <a:ext cx="4855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C5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 воспроизводит правило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5815584"/>
            <a:ext cx="4855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1,35 у модели против 1,39 у правила, и +12 против +11 бп для семьи. Различий нет, интервалы пересекают ноль. Обе — 0,6-0,7 сигнала в неделю при полосе 1–2.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53912" y="5193792"/>
            <a:ext cx="5367528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9944" y="5376672"/>
            <a:ext cx="4855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C5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Правильный контрфакт меняет знак</a:t>
            </a:r>
            <a:endParaRPr lang="en-US" sz="1550" dirty="0"/>
          </a:p>
        </p:txBody>
      </p:sp>
      <p:sp>
        <p:nvSpPr>
          <p:cNvPr id="11" name="Text 8"/>
          <p:cNvSpPr txBox="1"/>
          <p:nvPr/>
        </p:nvSpPr>
        <p:spPr>
          <a:xfrm>
            <a:off x="6409944" y="5815584"/>
            <a:ext cx="4855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на дне 3 не может перевести в день 0. Против «продолжать ждать» сигнал даёт +133 бп, ДИ [−71; +401] на 53 окнах: знак верный, значимости нет. Рамка меняется, доказательство впереди.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9C5B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02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Цена выбора модели по тесту</a:t>
            </a:r>
            <a:endParaRPr lang="en-US" sz="2700" dirty="0"/>
          </a:p>
        </p:txBody>
      </p:sp>
      <p:pic>
        <p:nvPicPr>
          <p:cNvPr id="5" name="Image 0" descr="submission/figures/04-ustoychiv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52144"/>
            <a:ext cx="10881360" cy="389260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193792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Оранжевые — конфигурация, зафиксированная ДО теста: пять лет из шести в плюсе, +24 б. п. на всём периоде.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Зелёные — победитель конкурса из десяти на тестовых данных. Правый график показывает, почему его столбцы почти везде отсутствуют: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трёх годах из шести у него 5–10 срабатываний, и оценить год не на чем.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Пустые годы — это отсутствие данных, а не отсутствие эффекта, и «устойчивость» такой строки посчитать не на чем: честная запись — «3 года из 3 оценённых», а не «3 из 6». Разрыв в результате — 22 / 18 / 19 / 25 / 85 б. п. по горизонтам 1 / 3 / 5 / 10 / 20, всегда в одну сторону, — и есть цена выбора победителя по тесту.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9C5B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02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Продукт: три компонента, ни одному не нужен прогноз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3520440" cy="2514600"/>
          </a:xfrm>
          <a:prstGeom prst="roundRect">
            <a:avLst>
              <a:gd name="adj" fmla="val 2182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417320"/>
            <a:ext cx="3008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6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Индикатор на экране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856232"/>
            <a:ext cx="300837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Положение курса в квартальном диапазоне как факт, без обещания выгоды.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 не означает «выгодно»: по достижимой выгоде значимо только состояние «дорого», и сказать о нём можно лишь то, что за такими днями ожидание в прошлом не окупалось.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1234440"/>
            <a:ext cx="3520440" cy="2514600"/>
          </a:xfrm>
          <a:prstGeom prst="roundRect">
            <a:avLst>
              <a:gd name="adj" fmla="val 2182"/>
            </a:avLst>
          </a:prstGeom>
          <a:solidFill>
            <a:srgbClr val="F4F6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81144" y="1417320"/>
            <a:ext cx="3008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6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Оповещение об уровне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1856232"/>
            <a:ext cx="300837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задаёт сам клиент.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Превращает честное «подождите» из повода уйти из приложения в повод остаться. И даёт данные о намерении, которых у нас нет.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01000" y="1234440"/>
            <a:ext cx="3520440" cy="2514600"/>
          </a:xfrm>
          <a:prstGeom prst="roundRect">
            <a:avLst>
              <a:gd name="adj" fmla="val 2182"/>
            </a:avLst>
          </a:prstGeom>
          <a:solidFill>
            <a:srgbClr val="F4F6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57032" y="1417320"/>
            <a:ext cx="3008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6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Правило отбора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8257032" y="1856232"/>
            <a:ext cx="300837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 и когда написать: близость к дате выплаты, достаточный баланс, календарь праздников коридора.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Ранжируем по готовности переводить, а не по качеству сигнала.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50208"/>
            <a:ext cx="10881360" cy="2103120"/>
          </a:xfrm>
          <a:prstGeom prst="roundRect">
            <a:avLst>
              <a:gd name="adj" fmla="val 2609"/>
            </a:avLst>
          </a:prstGeom>
          <a:solidFill>
            <a:srgbClr val="F4F6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11480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Калибровка индикатора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498848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достижимой выгоде — той, что клиент может забрать: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Нижний дециль диапазона («дёшево»), 18 % дней: −1 б. п., ДИ [−26; +24] — от нуля неотличим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Середина, 66 % дней: −7 б. п. — честный серый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66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Верхний дециль диапазона («дорого»), 17 % дней: +48 б. п., ДИ [+22; +75] — единственное значимое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Интуитивная раскраска «зелёный, когда дёшево» противоречит данным. Информативно ровно одно состояние. Допустимое его содержание — факт о прошлом: «ожидание из таких дней раньше не окупалось». Сказать «дальше будет хуже» кейс запрещает.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9C5B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02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Клиентский путь</a:t>
            </a:r>
            <a:endParaRPr lang="en-US" sz="2700" dirty="0"/>
          </a:p>
        </p:txBody>
      </p:sp>
      <p:pic>
        <p:nvPicPr>
          <p:cNvPr id="5" name="Image 0" descr="submission/figures/08-put-klien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143000"/>
            <a:ext cx="1024128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9C5B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02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Демонстрация: как это выглядит у клиента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155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Семь экранов существующего флоу перевода — новых шагов не добавляется ни одного. Виджет встаёт на экран суммы, где решение и принимается, и показывает сумму в валюте получателя, а не курс. Экран 03 — тот же пуш, переписанный следующей публикацией; экран 05 — что видит клиент, открывший пуш через день.</a:t>
            </a:r>
            <a:endParaRPr lang="en-US" sz="1300" dirty="0"/>
          </a:p>
        </p:txBody>
      </p:sp>
      <p:pic>
        <p:nvPicPr>
          <p:cNvPr id="6" name="Image 0" descr="submission/figures/06-makety-interfeys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10881360" cy="32461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5138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на макетах вымышленные: имена, номера телефонов, остатки и последние цифры карт не принадлежат никому.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9C5B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02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Основные риски и план до финала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70432"/>
            <a:ext cx="5367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E3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Ограничения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72768"/>
            <a:ext cx="536752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 эффекта — десятки базисных пунктов: 72–189 ₽ на переводе 30 000 ₽. Порог запуска: +30 б. п. (90 ₽)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ошибается в двух случаях из трёх — свойство задачи, а не дефект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Сезонность — самый сильный и самый хрупкий признак: истории всего семь лет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год — 13,1 % наблюдений и 57,6 % всей дисперсии доходностей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коридоров — не пять подтверждений: корреляция внутри даты 0,86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Поправки на множественные сравнения нет — интервалы некорректированные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данных клиентов: эластичность и доля «гибких» не измеримы до пилота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приложения ≠ курс ЦБ, работаем на прокси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153912" y="1170432"/>
            <a:ext cx="5367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до 07.09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153912" y="1572768"/>
            <a:ext cx="536752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Сделано: тексты уведомлений и отбор, макеты трёх компонентов, схема пути, устаревание сигнала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Пт–Сб: signals.csv, правило комбинирования и добор до полосы частоты, экономика в рублях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Сб: падежный словарь валют и праздников в коде, приветствия — у носителей языка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Вс: сборка презентации, два прогона с таймером, финальный журнал допущений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4224528"/>
            <a:ext cx="10881360" cy="1828800"/>
          </a:xfrm>
          <a:prstGeom prst="roundRect">
            <a:avLst>
              <a:gd name="adj" fmla="val 3000"/>
            </a:avLst>
          </a:prstGeom>
          <a:solidFill>
            <a:srgbClr val="1A25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4370832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C5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Открытые вопросы, от которых зависит размер эффекта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75488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Какова доля клиентов, способных отложить перевод? Если гибких 10 %, пилот на всей базе покажет ноль из-за разбавления.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фиксирует сумму отправки или получения? Если получения, лучший курс означает меньше отправленных рублей — знак влияния на выручку меняется.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9C5B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02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пилота: две ветки, и они разной скорости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155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Выгода курса — свойство СИГНАЛА, а не клиента: десять тысяч человек, следящих за одним коридором, дают одно наблюдение курса, а не десять тысяч. Когорта эту ветку не ускоряет.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00784"/>
            <a:ext cx="5367528" cy="2286000"/>
          </a:xfrm>
          <a:prstGeom prst="roundRect">
            <a:avLst>
              <a:gd name="adj" fmla="val 2400"/>
            </a:avLst>
          </a:prstGeom>
          <a:solidFill>
            <a:srgbClr val="F4F6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1883664"/>
            <a:ext cx="4855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E3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Ветка 1 · выгода курса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322576"/>
            <a:ext cx="48554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задана календарём ЦБ. Чтобы отличить +63 бп от нуля с мощностью 80 %, нужно 437 срабатываний = 136 дней с сигналом = 146 НЕДЕЛЬ.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этого не успеет. Вердикт даёт бэктест на 296 неделях out-of-sample.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53912" y="1700784"/>
            <a:ext cx="5367528" cy="2286000"/>
          </a:xfrm>
          <a:prstGeom prst="roundRect">
            <a:avLst>
              <a:gd name="adj" fmla="val 2400"/>
            </a:avLst>
          </a:prstGeom>
          <a:solidFill>
            <a:srgbClr val="F4F6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9944" y="1883664"/>
            <a:ext cx="4855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6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Ветка 2 · конверсия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409944" y="2322576"/>
            <a:ext cx="48554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Единица наблюдения — пара «клиент x пуш», и вот её когорта ускоряет.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базовой конверсии 5 % и росте +20 %: 16 315 пар — это 5 недель на 5 000 клиентов. Базовая конверсия стоит параметром: данных о коммуникациях нет.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169664"/>
            <a:ext cx="10881360" cy="1883664"/>
          </a:xfrm>
          <a:prstGeom prst="roundRect">
            <a:avLst>
              <a:gd name="adj" fmla="val 2913"/>
            </a:avLst>
          </a:prstGeom>
          <a:solidFill>
            <a:srgbClr val="1A253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315968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C5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из этого следует для плана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700016"/>
            <a:ext cx="103327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Планировать пилот надо по конверсии, а курсовую выгоду не перепроверять, а принять из бэктеста — иначе пилот запланирован на три года.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банка нужны: доля коммуникационного лимита, курс исполнения для метрики деградации, холдаут и согласование текстов. Ускорить первую ветку можно только расширением списка коридоров.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9C5B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02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Команда и распределение задач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10881360" cy="1444752"/>
          </a:xfrm>
          <a:prstGeom prst="roundRect">
            <a:avLst>
              <a:gd name="adj" fmla="val 3797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34416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Александр Тармаев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7007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C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Engineer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01168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Продуктовое видение, распределение работы, MVP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1389888"/>
            <a:ext cx="6720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продуктовой задачи и границы MVP · разбор девяти продуктовых гипотез · предложение клиентской метрики и её обоснование · журнал допущений и развилок · дизайн пилота · распределение работ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378440" y="173736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C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788920"/>
            <a:ext cx="10881360" cy="1444752"/>
          </a:xfrm>
          <a:prstGeom prst="roundRect">
            <a:avLst>
              <a:gd name="adj" fmla="val 3797"/>
            </a:avLst>
          </a:prstGeom>
          <a:solidFill>
            <a:srgbClr val="F4F6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6112" y="294436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Даниил Недайборщ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33009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C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 · разработка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361188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Данные, признаки, инфраструктура честности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2990088"/>
            <a:ext cx="6720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Загрузчик ЦБ с построчной нормировкой номинала · 83 признака только по прошлому · доказательство отсутствия заглядывания в будущее и 44 автотеста · walk-forward с очисткой в публикациях · signals_as_of(T) · воспроизводимость репозитория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378440" y="333756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C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389120"/>
            <a:ext cx="10881360" cy="1444752"/>
          </a:xfrm>
          <a:prstGeom prst="roundRect">
            <a:avLst>
              <a:gd name="adj" fmla="val 3797"/>
            </a:avLst>
          </a:prstGeom>
          <a:solidFill>
            <a:srgbClr val="F4F6F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6112" y="454456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Иван Калинин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49011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C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 · машинное обучение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96112" y="521208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Модели, отбор признаков, валидация результата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520440" y="4590288"/>
            <a:ext cx="6720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семейств моделей, включая CatBoost и XGBoost · честный отбор признаков · подбор конфигураций и диагностика провала на всех признаках · две модели под две метрики · испытания результата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378440" y="493776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C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33 %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27278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велась совместно, роли разделены по зонам ответственности; вклад участников сопоставим.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5836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МЫ ПРОСИМ РЕШИТЬ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Момент ловится. Метрика кейса</a:t>
            </a:r>
            <a:endParaRPr lang="en-US" sz="3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измеряет не его.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15184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Оптимум заданной метрики — момент, когда валюта получателя дороже, чем в 99 % дней квартала, и допустимого текста для него не существует. 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Единственное состояние со значимой достижимой выгодой означает «не жди», а не «сейчас выгодно».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3703320"/>
            <a:ext cx="3511296" cy="2148840"/>
          </a:xfrm>
          <a:prstGeom prst="roundRect">
            <a:avLst>
              <a:gd name="adj" fmla="val 2553"/>
            </a:avLst>
          </a:prstGeom>
          <a:solidFill>
            <a:srgbClr val="24304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38770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C5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4297680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Позиция по метрике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718304"/>
            <a:ext cx="29992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Оставляем «выгоду момента» ±h как техническую или заменяем достижимой половиной? От этого зависит, какой сигнал оптимизируется.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25112" y="3703320"/>
            <a:ext cx="3511296" cy="2148840"/>
          </a:xfrm>
          <a:prstGeom prst="roundRect">
            <a:avLst>
              <a:gd name="adj" fmla="val 2553"/>
            </a:avLst>
          </a:prstGeom>
          <a:solidFill>
            <a:srgbClr val="24304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81144" y="38770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C5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81144" y="4297680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Доля коммуникационного лимита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81144" y="4718304"/>
            <a:ext cx="29992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пушей на клиента в месяц продукт может занять? Полоса 1–2 в неделю на коридор из данных не выполняется.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10144" y="3703320"/>
            <a:ext cx="3511296" cy="2148840"/>
          </a:xfrm>
          <a:prstGeom prst="roundRect">
            <a:avLst>
              <a:gd name="adj" fmla="val 2553"/>
            </a:avLst>
          </a:prstGeom>
          <a:solidFill>
            <a:srgbClr val="24304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66176" y="38770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C5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266176" y="4297680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Курс и данные клиентов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66176" y="4718304"/>
            <a:ext cx="29992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Нужен курс приложения вместо ЦБ и доля клиентов, способных отложить перевод. Без второго пилот покажет ноль из-за разбавления.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14476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github.com/tarma3v/international_transfers_signals  ·  44 автотеста  ·  ворота на заглядывание вперёд пройдены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Триггерная модель для трансграничных переводов</dc:title>
  <dc:subject>PptxGenJS Presentation</dc:subject>
  <dc:creator>Команда проекта</dc:creator>
  <cp:lastModifiedBy>Команда проекта</cp:lastModifiedBy>
  <cp:revision>1</cp:revision>
  <dcterms:created xsi:type="dcterms:W3CDTF">2026-09-06T08:48:25Z</dcterms:created>
  <dcterms:modified xsi:type="dcterms:W3CDTF">2026-09-06T08:48:25Z</dcterms:modified>
</cp:coreProperties>
</file>