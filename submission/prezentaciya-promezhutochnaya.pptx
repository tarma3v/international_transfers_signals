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Промежуточная сдача. Главный результат — не найденный сигнал, а понимание того, что измеряет метрика кейса.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цифры измерены нами на данных ЦБ 2019–2026. Потолок 22–30 бп — это то, что клиент реально может забрать в своём окне.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уточнение — основа всего дальнейшего. Горизонты h = 1,3,5,10,20, все пять.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кейса монотонна по одному признаку. ML к ней не добавляет ничего — это факт о метрике, а не о моделях.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правило ТЗ не даёт одновременно lift выше 1 и положительную достижимую выгоду. Модель даёт.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одна политика не даёт значимого плюса по клиентской метрике: интервалы пересекают ноль, захвачено 2-8 % потолка.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Устойчивость, измеренная на тех же годах, по которым модель и выбиралась, ничего не значит. Разрыв между двумя сериями — 66 б. п. — и есть цена выбора по тесту.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ПРОМЕЖУТОЧНАЯ ЗАЩИТА · 04.09.2026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поймать выгодный момент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перевода за рубеж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Триггерная модель для коридоров Россия → Таджикистан, Узбекистан, Киргизия, Армения, Казахстан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github.com/tarma3v/international_transfers_signals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 выбирает момент вслепую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Разброс курса внутри месяца — 600–660 базисных пунктов. На переводе 30 000 ₽ это около 1 800–2 000 ₽ разницы между лучшим и худшим днём. Но забрать её целиком нельзя: клиент привязан к дате зарплаты.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36–40 %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месячного размаха доступно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клиенту, привязанному к зарплате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70832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22–30 б. п.</a:t>
            </a:r>
            <a:endParaRPr lang="en-US" sz="3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честный потолок выгоды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реальном окне клиента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19872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7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массовых сервисов переводов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шлют push «сейчас выгодно»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 ближайший аналог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Flights показывает метку на экране — «цена ниже обычного» — а не рассылает уведомления. Мы взяли этот принцип за основу: индикатор в момент, когда клиент и так пришёл переводить.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53912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9944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сегмента ведут себя по-разному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Пересылают зарплату — привязаны к дате, ждать не могут, видят 36–40 % возможности. Переводят на траты — могут ждать. Вся измеримая ценность продукта сосредоточена во втором сегменте.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 и наше уточнение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Фокус — триггерные коммуникации, а не ценообразование. Фиксация курса и скидки в спреде исключены из MVP.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64208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566160"/>
                <a:gridCol w="48463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 заказчика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Определение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Наша позиция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«Сейчас выгодно»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не станет ниже за h публикаций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задано; показали, чем опасна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«Окно закрывается»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через h публикаций курс выше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«Выгода момента»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сравнение с окном ±h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C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раскладываем на достижимую и недостижимую половины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703320"/>
            <a:ext cx="10881360" cy="2331720"/>
          </a:xfrm>
          <a:prstGeom prst="roundRect">
            <a:avLst>
              <a:gd name="adj" fmla="val 2353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3886200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Уточнение, которое меняет постановку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325112"/>
            <a:ext cx="103692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«выгода момента» симметрична: она сравнивает день с окном ±h, половина которого — прошлое.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Правило, срабатывающее ПОСЛЕ падения курса, набирает по ней высокий балл, ничего не предсказав. Клиент может забрать только форвардную половину — прошлое ему недоступно.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считаем обе половины и в качестве продуктовой используем достижимую.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ПРОМЕЖУТОЧНЫЙ РЕЗУЛЬТАТ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Метрику кейса максимизирует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строка кода, а не модель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обучили модель под метрику заказчика и сравнили с однострочным правилом при равной частоте срабатываний.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Они неразличимы: lift 1,30 против 1,30. Лучший результат по метрике даёт фиксированный порог — 1,42.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Выгода для семьи при этом +18 против +17 базисных пунктов при потолке +143 и интервалах, пересекающих ноль.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 указывают в разные стороны</a:t>
            </a:r>
            <a:endParaRPr lang="en-US" sz="2700" dirty="0"/>
          </a:p>
        </p:txBody>
      </p:sp>
      <p:pic>
        <p:nvPicPr>
          <p:cNvPr id="5" name="Image 0" descr="submission/figures/02-konflikt-met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70432"/>
            <a:ext cx="10881360" cy="40919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44068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что чувствует клиент.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Справа — что показывает метрика кейса. Попадание растёт монотонно от дешёвых дней к дорогим: 24 % → 38 %. Ровно против выгоды.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ЦБ 2019–2026, пять коридоров, h = 5. Доверительные интервалы краёв не пересекают ноль.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Заявленная выгода индикаторов ТЗ — это прошлое</a:t>
            </a:r>
            <a:endParaRPr lang="en-US" sz="2700" dirty="0"/>
          </a:p>
        </p:txBody>
      </p:sp>
      <p:pic>
        <p:nvPicPr>
          <p:cNvPr id="5" name="Image 0" descr="submission/figures/03-razlozhenie-vygo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6858000" cy="34655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097280"/>
            <a:ext cx="3886200" cy="3465576"/>
          </a:xfrm>
          <a:prstGeom prst="roundRect">
            <a:avLst>
              <a:gd name="adj" fmla="val 1583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91272" y="128016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произошло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7891272" y="1719072"/>
            <a:ext cx="337413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«моментум» показывает +92 б. п. по метрике заказчика.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91 % этого — падение, которое уже случилось. Клиент его забрать не может.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−21 б. п., и доверительный интервал [−36; −7] целиком ниже нуля.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 б. п.</a:t>
            </a:r>
            <a:endParaRPr lang="en-US" sz="37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«моментум»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1513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49801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 б. п.</a:t>
            </a:r>
            <a:endParaRPr lang="en-US" sz="3700" dirty="0"/>
          </a:p>
        </p:txBody>
      </p:sp>
      <p:sp>
        <p:nvSpPr>
          <p:cNvPr id="14" name="Text 11"/>
          <p:cNvSpPr txBox="1"/>
          <p:nvPr/>
        </p:nvSpPr>
        <p:spPr>
          <a:xfrm>
            <a:off x="4532681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«уровень»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22946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41234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+28 б. п.</a:t>
            </a:r>
            <a:endParaRPr lang="en-US" sz="3700" dirty="0"/>
          </a:p>
        </p:txBody>
      </p:sp>
      <p:sp>
        <p:nvSpPr>
          <p:cNvPr id="17" name="Text 14"/>
          <p:cNvSpPr txBox="1"/>
          <p:nvPr/>
        </p:nvSpPr>
        <p:spPr>
          <a:xfrm>
            <a:off x="8224114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на h = 5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решения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Курсы ЦБ 2019–2026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Построчная нормировка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номинала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публикаций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15184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852928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99232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признаков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по прошлому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Моментум, уровень,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разворот, календарь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65776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Ворота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отсутствия утечки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Эксперимент не стартует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прохождения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278624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24928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24928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с очисткой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Логрегрессия, лес,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GBM, CatBoost, XGBoost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491472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1A253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37776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37776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на экране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Оповещение об уровне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отбора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6112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уже работает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Загрузчик, 79 признаков, доказательство честности, 16 автотестов, walk-forward с очисткой, пять моделей, отбор признаков, испытания результата.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153912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9944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осталось до финала</a:t>
            </a:r>
            <a:endParaRPr lang="en-US" sz="155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signals_as_of(T), signals.csv, правило комбинирования и добор до полосы частоты, тексты уведомлений, прототип экрана, дизайн пилота.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Заглядывания в будущее нет — и это доказано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Требование дисквалифицирующее, поэтому гарантия не опирается на аккуратность разработчика. Она обеспечена конструкцией.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срез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режется по времени в одном месте — past_slice. Функции признаков получают срез, а не весь ряд: будущего у них физически нет.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Порча будущего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значения после даты среза умножаются на 3. Признаки в прошлом обязаны совпасть побитово. Ноль расхождений из 79 на двух срезах.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 на сам тест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срез подставляется реальная ошибка — сдвиг на 5 дней вперёд. Проверка обязана её поймать.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41648"/>
            <a:ext cx="10881360" cy="2011680"/>
          </a:xfrm>
          <a:prstGeom prst="roundRect">
            <a:avLst>
              <a:gd name="adj" fmla="val 2727"/>
            </a:avLst>
          </a:prstGeom>
          <a:solidFill>
            <a:srgbClr val="1A2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245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Эпизод, который стоит рассказать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626864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версия проверки не работала: подставная утечка читала массив, захваченный до порчи, и проверка «проходила» всегда. Мы это обнаружили и исправили.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Проверка, не умеющая находить проблему, создаёт ложную уверенность — она хуже отсутствия проверки.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результаты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«сейчас выгодно», h = 5, out-of-sample 2021–2026, базовая ставка 29,5 %. Порог модели зафиксирован на обучении — частоты у строк разные.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27632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828800"/>
                <a:gridCol w="210312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/ модель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Выгода ±h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ДОСТИЖИМАЯ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 ДИ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моментум (падение 3 дн)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+92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[−36; −7]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уровень (нижний дециль)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+58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[−16; +12]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разворот от минимума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[−7; +34]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сезонность (до праздника)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[−27; +1]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E7A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контрпример: верхние 5 % диапазона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6E7A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6E7A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6E7A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6E7A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[+47; +80]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Модель, выбранная ДО теста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6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[+19; +36]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828032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5010912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Uplift к лучшему индикатору ТЗ — только на h = 5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5449824"/>
            <a:ext cx="10369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+0,20 по lift и +15 б. п. по достижимой выгоде. На горизонтах 1 / 3 / 10 / 20 прирост равен −17 / +3 / −4 / +20 б. п.: он колеблется вокруг нуля и меняет знак. Показываем все пять, а не лучший.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Целевой порог lift ≥ 1,3 не достигнут. Он достижим правилом, которое отправляет клиента переводить на пике — мы показываем и то, и другое.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метрики, две модели</a:t>
            </a:r>
            <a:endParaRPr lang="en-US" sz="2700" dirty="0"/>
          </a:p>
        </p:txBody>
      </p:sp>
      <p:pic>
        <p:nvPicPr>
          <p:cNvPr id="5" name="Image 0" descr="submission/figures/05-dve-mode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10881360" cy="3904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96112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воспроизводит правило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равной частоте срабатывания: 1,30 у модели против 1,30 у правила pct ≥ 85, и +18 против +17 бп для семьи. Различий нет.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53912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9944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Добавление признаков только вредит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6409944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признаков дают 1,14, один с ограничением монотонности — 1,30. Метрика монотонна по уровню, и учить тут нечего.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Цена выбора модели по тесту</a:t>
            </a:r>
            <a:endParaRPr lang="en-US" sz="2700" dirty="0"/>
          </a:p>
        </p:txBody>
      </p:sp>
      <p:pic>
        <p:nvPicPr>
          <p:cNvPr id="5" name="Image 0" descr="submission/figures/04-ustoychiv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52144"/>
            <a:ext cx="10881360" cy="38926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193792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Зелёные столбцы — конфигурация, выигравшая конкурс из десяти на тестовых данных: +57 б. п. в среднем за год.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Оранжевые — та, что зафиксирована ДО теста: −9 б. п. и два года из шести в плюсе.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Поэтому конфигурация фиксируется до теста, а максимум по тесту мы показываем отдельно и результатом не считаем.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Продукт: три компонента, ни одному не нужен прогноз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Индикатор на экране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состояния по положению курса в квартальном диапазоне: дёшево — нейтрально — дорого.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факт, а не прогноз. Считается одной формулой, работает с первого дня.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Оповещение об уровне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задаёт сам клиент.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Превращает честное «подождите» из повода уйти из приложения в повод остаться. И даёт данные о намерении, которых у нас нет.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703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Правило отбора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25703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и когда написать: близость к дате выплаты, достаточный баланс, календарь праздников коридора.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Ранжируем по готовности переводить, а не по качеству сигнала.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50208"/>
            <a:ext cx="10881360" cy="2103120"/>
          </a:xfrm>
          <a:prstGeom prst="roundRect">
            <a:avLst>
              <a:gd name="adj" fmla="val 2609"/>
            </a:avLst>
          </a:prstGeom>
          <a:solidFill>
            <a:srgbClr val="F4F6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114800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Калибровка индикатора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дециль: +52 б. п.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Середина, 65 % дней: выгода ≈ 0 — честный серый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9E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Верхний дециль: −55 б. п.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состояния, а не пять: данные различают только края. Серый на две трети дней — причина доверять зелёному.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риски и план до финала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Ограничения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эффекта — десятки базисных пунктов: около 84 ₽ на переводе 30 000 ₽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ошибается в двух случаях из трёх — свойство задачи, а не дефект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Сезонность — самый сильный и самый хрупкий признак: истории всего семь лет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год — 13 % наблюдений и 58–64 % всей дисперсии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данных клиентов: эластичность и доля «гибких» не измеримы до пилота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приложения ≠ курс ЦБ, работаем на прокси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153912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до 07.09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53912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Пт: публичный signals_as_of(T), signals.csv, правило комбинирования, экономика в рублях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Сб: калибровка светофора по коридорам, тексты уведомлений, прототип экрана, дизайн пилота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Вс: сборка презентации, два прогона с таймером, финальный журнал допущений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4224528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A25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37083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Открытые вопросы, от которых зависит размер эффекта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75488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Какова доля клиентов, способных отложить перевод? Если гибких 10 %, пилот на всей базе покажет ноль из-за разбавления.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фиксирует сумму отправки или получения? Если получения, лучший курс означает меньше отправленных рублей — знак влияния на выручку меняется.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и распределение задач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3441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Александр Тармаев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Engineer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0116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видение, распределение работы, MVP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3898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продуктовой задачи и границы MVP · разбор девяти продуктовых гипотез · предложение клиентской метрики и её обоснование · журнал допущений и развилок · дизайн пилота · распределение работ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378440" y="17373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9443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Даниил Недайборщ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3009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разработка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6118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признаки, инфраструктура честности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9900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 ЦБ с построчной нормировкой номинала · 79 признаков только по прошлому · доказательство отсутствия заглядывания в будущее и 16 автотестов · walk-forward с очисткой · воспроизводимость репозитория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378440" y="33375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3891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45445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Иван Калинин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011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машинное обучение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52120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Модели, отбор признаков, валидация результата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520440" y="45902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семейств моделей, включая CatBoost и XGBoost · честный отбор признаков · подбор конфигураций и диагностика провала на 80 признаках · две модели под две метрики · испытания результата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378440" y="49377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велась совместно, роли разделены по зонам ответственности; вклад участников сопоставим.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Триггерная модель для трансграничных переводов</dc:title>
  <dc:subject>PptxGenJS Presentation</dc:subject>
  <dc:creator>Команда проекта</dc:creator>
  <cp:lastModifiedBy>Команда проекта</cp:lastModifiedBy>
  <cp:revision>1</cp:revision>
  <dcterms:created xsi:type="dcterms:W3CDTF">2026-09-03T00:14:44Z</dcterms:created>
  <dcterms:modified xsi:type="dcterms:W3CDTF">2026-09-03T00:14:44Z</dcterms:modified>
</cp:coreProperties>
</file>