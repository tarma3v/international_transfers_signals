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3.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7bf4194d074129" /><Relationship Type="http://schemas.openxmlformats.org/officeDocument/2006/relationships/extended-properties" Target="/docProps/app.xml" Id="R35c287e954604c98" /><Relationship Type="http://schemas.openxmlformats.org/officeDocument/2006/relationships/officeDocument" Target="/ppt/presentation.xml" Id="Rb19c40a3853e4015" /></Relationships>
</file>

<file path=ppt/presentation.xml><?xml version="1.0" encoding="utf-8"?>
<p:presentation xmlns:p="http://schemas.openxmlformats.org/presentationml/2006/main">
  <p:sldMasterIdLst>
    <p:sldMasterId xmlns:r="http://schemas.openxmlformats.org/officeDocument/2006/relationships" id="2147483648" r:id="Rc8889575a70f4fc6"/>
  </p:sldMasterIdLst>
  <p:notesMasterIdLst>
    <p:notesMasterId xmlns:r="http://schemas.openxmlformats.org/officeDocument/2006/relationships" r:id="R76fa9575e8a64648"/>
  </p:notesMasterIdLst>
  <p:sldIdLst>
    <p:sldId xmlns:r="http://schemas.openxmlformats.org/officeDocument/2006/relationships" id="256" r:id="Rb8fac63c1cf540d4"/>
    <p:sldId xmlns:r="http://schemas.openxmlformats.org/officeDocument/2006/relationships" id="257" r:id="R1442ffc11a554b8c"/>
    <p:sldId xmlns:r="http://schemas.openxmlformats.org/officeDocument/2006/relationships" id="258" r:id="R6c71a0c5586e4027"/>
    <p:sldId xmlns:r="http://schemas.openxmlformats.org/officeDocument/2006/relationships" id="259" r:id="R4e787efb13c244f2"/>
    <p:sldId xmlns:r="http://schemas.openxmlformats.org/officeDocument/2006/relationships" id="260" r:id="Re2508d8b6cef4f44"/>
    <p:sldId xmlns:r="http://schemas.openxmlformats.org/officeDocument/2006/relationships" id="261" r:id="R307af5e500934f68"/>
    <p:sldId xmlns:r="http://schemas.openxmlformats.org/officeDocument/2006/relationships" id="262" r:id="R75cea6c4e6f44252"/>
    <p:sldId xmlns:r="http://schemas.openxmlformats.org/officeDocument/2006/relationships" id="263" r:id="R0204cf3bcb49452d"/>
    <p:sldId xmlns:r="http://schemas.openxmlformats.org/officeDocument/2006/relationships" id="264" r:id="Re16ea8073cc84014"/>
    <p:sldId xmlns:r="http://schemas.openxmlformats.org/officeDocument/2006/relationships" id="265" r:id="R86a8d029b7ac4bda"/>
    <p:sldId xmlns:r="http://schemas.openxmlformats.org/officeDocument/2006/relationships" id="266" r:id="R06c3980e96024d57"/>
    <p:sldId xmlns:r="http://schemas.openxmlformats.org/officeDocument/2006/relationships" id="267" r:id="R8497fc862f774a2c"/>
    <p:sldId xmlns:r="http://schemas.openxmlformats.org/officeDocument/2006/relationships" id="268" r:id="R570ce773a4224620"/>
    <p:sldId xmlns:r="http://schemas.openxmlformats.org/officeDocument/2006/relationships" id="269" r:id="R9f8b372b94d546af"/>
    <p:sldId xmlns:r="http://schemas.openxmlformats.org/officeDocument/2006/relationships" id="270" r:id="Rc24f0a09eafd4f60"/>
    <p:sldId xmlns:r="http://schemas.openxmlformats.org/officeDocument/2006/relationships" id="271" r:id="Rbd79ec17263e44a9"/>
    <p:sldId xmlns:r="http://schemas.openxmlformats.org/officeDocument/2006/relationships" id="272" r:id="Rf3ca6a03ff744869"/>
    <p:sldId xmlns:r="http://schemas.openxmlformats.org/officeDocument/2006/relationships" id="273" r:id="R5505b18a76f34bc8"/>
    <p:sldId xmlns:r="http://schemas.openxmlformats.org/officeDocument/2006/relationships" id="274" r:id="Refc7a64b90d946b8"/>
    <p:sldId xmlns:r="http://schemas.openxmlformats.org/officeDocument/2006/relationships" id="275" r:id="Reb54e1d06bce4fb1"/>
    <p:sldId xmlns:r="http://schemas.openxmlformats.org/officeDocument/2006/relationships" id="276" r:id="Rf64d806fc4a74305"/>
    <p:sldId xmlns:r="http://schemas.openxmlformats.org/officeDocument/2006/relationships" id="277" r:id="R74a2e6dd09da4680"/>
    <p:sldId xmlns:r="http://schemas.openxmlformats.org/officeDocument/2006/relationships" id="278" r:id="Rddadb6cea4234c22"/>
    <p:sldId xmlns:r="http://schemas.openxmlformats.org/officeDocument/2006/relationships" id="279" r:id="Rc34375d5918441fb"/>
    <p:sldId xmlns:r="http://schemas.openxmlformats.org/officeDocument/2006/relationships" id="280" r:id="R6f04bf2737e84adb"/>
    <p:sldId xmlns:r="http://schemas.openxmlformats.org/officeDocument/2006/relationships" id="281" r:id="R0f5d97019fec49a0"/>
    <p:sldId xmlns:r="http://schemas.openxmlformats.org/officeDocument/2006/relationships" id="282" r:id="R1dc8a4fb9f3443de"/>
    <p:sldId xmlns:ns0="http://schemas.openxmlformats.org/officeDocument/2006/relationships" id="283" ns0:id="rIdItmoAppend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Relationships xmlns="http://schemas.openxmlformats.org/package/2006/relationships"><Relationship Type="http://schemas.openxmlformats.org/officeDocument/2006/relationships/theme" Target="/ppt/theme/theme1.xml" Id="R727dbb0e6ff1414f"/><Relationship Type="http://schemas.openxmlformats.org/officeDocument/2006/relationships/slideMaster" Target="/ppt/slideMasters/slideMaster1.xml" Id="Rc8889575a70f4fc6"/><Relationship Type="http://schemas.openxmlformats.org/officeDocument/2006/relationships/notesMaster" Target="/ppt/notesMasters/notesMaster1.xml" Id="R76fa9575e8a64648"/><Relationship Type="http://schemas.openxmlformats.org/officeDocument/2006/relationships/presProps" Target="/ppt/presProps.xml" Id="R6ad3ed7f7fcb4147"/><Relationship Type="http://schemas.openxmlformats.org/officeDocument/2006/relationships/viewProps" Target="/ppt/viewProps.xml" Id="R0fa0cc09b8304eae"/><Relationship Type="http://schemas.openxmlformats.org/officeDocument/2006/relationships/tableStyles" Target="/ppt/tableStyles.xml" Id="R343fa51ce87a4199"/><Relationship Type="http://schemas.openxmlformats.org/officeDocument/2006/relationships/slide" Target="/ppt/slides/slide1.xml" Id="Rb8fac63c1cf540d4"/><Relationship Type="http://schemas.openxmlformats.org/officeDocument/2006/relationships/slide" Target="/ppt/slides/slide2.xml" Id="R1442ffc11a554b8c"/><Relationship Type="http://schemas.openxmlformats.org/officeDocument/2006/relationships/slide" Target="/ppt/slides/slide3.xml" Id="R6c71a0c5586e4027"/><Relationship Type="http://schemas.openxmlformats.org/officeDocument/2006/relationships/slide" Target="/ppt/slides/slide4.xml" Id="R4e787efb13c244f2"/><Relationship Type="http://schemas.openxmlformats.org/officeDocument/2006/relationships/slide" Target="/ppt/slides/slide5.xml" Id="Re2508d8b6cef4f44"/><Relationship Type="http://schemas.openxmlformats.org/officeDocument/2006/relationships/slide" Target="/ppt/slides/slide6.xml" Id="R307af5e500934f68"/><Relationship Type="http://schemas.openxmlformats.org/officeDocument/2006/relationships/slide" Target="/ppt/slides/slide7.xml" Id="R75cea6c4e6f44252"/><Relationship Type="http://schemas.openxmlformats.org/officeDocument/2006/relationships/slide" Target="/ppt/slides/slide8.xml" Id="R0204cf3bcb49452d"/><Relationship Type="http://schemas.openxmlformats.org/officeDocument/2006/relationships/slide" Target="/ppt/slides/slide9.xml" Id="Re16ea8073cc84014"/><Relationship Type="http://schemas.openxmlformats.org/officeDocument/2006/relationships/slide" Target="/ppt/slides/slide10.xml" Id="R86a8d029b7ac4bda"/><Relationship Type="http://schemas.openxmlformats.org/officeDocument/2006/relationships/slide" Target="/ppt/slides/slide11.xml" Id="R06c3980e96024d57"/><Relationship Type="http://schemas.openxmlformats.org/officeDocument/2006/relationships/slide" Target="/ppt/slides/slide12.xml" Id="R8497fc862f774a2c"/><Relationship Type="http://schemas.openxmlformats.org/officeDocument/2006/relationships/slide" Target="/ppt/slides/slide13.xml" Id="R570ce773a4224620"/><Relationship Type="http://schemas.openxmlformats.org/officeDocument/2006/relationships/slide" Target="/ppt/slides/slide14.xml" Id="R9f8b372b94d546af"/><Relationship Type="http://schemas.openxmlformats.org/officeDocument/2006/relationships/slide" Target="/ppt/slides/slide15.xml" Id="Rc24f0a09eafd4f60"/><Relationship Type="http://schemas.openxmlformats.org/officeDocument/2006/relationships/slide" Target="/ppt/slides/slide16.xml" Id="Rbd79ec17263e44a9"/><Relationship Type="http://schemas.openxmlformats.org/officeDocument/2006/relationships/slide" Target="/ppt/slides/slide17.xml" Id="Rf3ca6a03ff744869"/><Relationship Type="http://schemas.openxmlformats.org/officeDocument/2006/relationships/slide" Target="/ppt/slides/slide18.xml" Id="R5505b18a76f34bc8"/><Relationship Type="http://schemas.openxmlformats.org/officeDocument/2006/relationships/slide" Target="/ppt/slides/slide19.xml" Id="Refc7a64b90d946b8"/><Relationship Type="http://schemas.openxmlformats.org/officeDocument/2006/relationships/slide" Target="/ppt/slides/slide20.xml" Id="Reb54e1d06bce4fb1"/><Relationship Type="http://schemas.openxmlformats.org/officeDocument/2006/relationships/slide" Target="/ppt/slides/slide21.xml" Id="Rf64d806fc4a74305"/><Relationship Type="http://schemas.openxmlformats.org/officeDocument/2006/relationships/slide" Target="/ppt/slides/slide22.xml" Id="R74a2e6dd09da4680"/><Relationship Type="http://schemas.openxmlformats.org/officeDocument/2006/relationships/slide" Target="/ppt/slides/slide23.xml" Id="Rddadb6cea4234c22"/><Relationship Type="http://schemas.openxmlformats.org/officeDocument/2006/relationships/slide" Target="/ppt/slides/slide24.xml" Id="Rc34375d5918441fb"/><Relationship Type="http://schemas.openxmlformats.org/officeDocument/2006/relationships/slide" Target="/ppt/slides/slide25.xml" Id="R6f04bf2737e84adb"/><Relationship Type="http://schemas.openxmlformats.org/officeDocument/2006/relationships/slide" Target="/ppt/slides/slide26.xml" Id="R0f5d97019fec49a0"/><Relationship Type="http://schemas.openxmlformats.org/officeDocument/2006/relationships/slide" Target="/ppt/slides/slide27.xml" Id="R1dc8a4fb9f3443de"/><Relationship Id="rIdItmoAppend28" Type="http://schemas.openxmlformats.org/officeDocument/2006/relationships/slide" Target="/ppt/slides/slide28.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fdab8dae4e44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cf6db174624f8c" /><Relationship Type="http://schemas.openxmlformats.org/officeDocument/2006/relationships/notesMaster" Target="/ppt/notesMasters/notesMaster1.xml" Id="R75935daf580543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4f6c185ac64561" /><Relationship Type="http://schemas.openxmlformats.org/officeDocument/2006/relationships/notesMaster" Target="/ppt/notesMasters/notesMaster1.xml" Id="Ra3a64f4b75224f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d0188b911c4958" /><Relationship Type="http://schemas.openxmlformats.org/officeDocument/2006/relationships/notesMaster" Target="/ppt/notesMasters/notesMaster1.xml" Id="R1f332b3015714d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be508052e4e81" /><Relationship Type="http://schemas.openxmlformats.org/officeDocument/2006/relationships/notesMaster" Target="/ppt/notesMasters/notesMaster1.xml" Id="Rd6d6cf1d81f044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ffeb1065914569" /><Relationship Type="http://schemas.openxmlformats.org/officeDocument/2006/relationships/notesMaster" Target="/ppt/notesMasters/notesMaster1.xml" Id="R7c145cb3140544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2315647f0142fb" /><Relationship Type="http://schemas.openxmlformats.org/officeDocument/2006/relationships/notesMaster" Target="/ppt/notesMasters/notesMaster1.xml" Id="Rca297ee776d54f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8e039ae8c440d2" /><Relationship Type="http://schemas.openxmlformats.org/officeDocument/2006/relationships/notesMaster" Target="/ppt/notesMasters/notesMaster1.xml" Id="R3f3df7ccb2984d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7df8046f984f18" /><Relationship Type="http://schemas.openxmlformats.org/officeDocument/2006/relationships/notesMaster" Target="/ppt/notesMasters/notesMaster1.xml" Id="Rc3413cd53e75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ce91182a9649c6" /><Relationship Type="http://schemas.openxmlformats.org/officeDocument/2006/relationships/notesMaster" Target="/ppt/notesMasters/notesMaster1.xml" Id="Rd136cab60dc847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85663db30b43ae" /><Relationship Type="http://schemas.openxmlformats.org/officeDocument/2006/relationships/notesMaster" Target="/ppt/notesMasters/notesMaster1.xml" Id="R59dc6d0f358945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8ab94a38a4482" /><Relationship Type="http://schemas.openxmlformats.org/officeDocument/2006/relationships/notesMaster" Target="/ppt/notesMasters/notesMaster1.xml" Id="Rf67a203faef84d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a1a09059f04ac4" /><Relationship Type="http://schemas.openxmlformats.org/officeDocument/2006/relationships/notesMaster" Target="/ppt/notesMasters/notesMaster1.xml" Id="R84e8c25340fb40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303c4f0747416f" /><Relationship Type="http://schemas.openxmlformats.org/officeDocument/2006/relationships/notesMaster" Target="/ppt/notesMasters/notesMaster1.xml" Id="R37bcf32e940242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85df7aa1364234" /><Relationship Type="http://schemas.openxmlformats.org/officeDocument/2006/relationships/notesMaster" Target="/ppt/notesMasters/notesMaster1.xml" Id="R9c6f61de11ce48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bc35bb0e644205" /><Relationship Type="http://schemas.openxmlformats.org/officeDocument/2006/relationships/notesMaster" Target="/ppt/notesMasters/notesMaster1.xml" Id="R697988e2a63848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be2558c6e54c13" /><Relationship Type="http://schemas.openxmlformats.org/officeDocument/2006/relationships/notesMaster" Target="/ppt/notesMasters/notesMaster1.xml" Id="Re2b6f834cd7e43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0410e737d141c1" /><Relationship Type="http://schemas.openxmlformats.org/officeDocument/2006/relationships/notesMaster" Target="/ppt/notesMasters/notesMaster1.xml" Id="R5b45638cce9b49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6faeab27ab4a91" /><Relationship Type="http://schemas.openxmlformats.org/officeDocument/2006/relationships/notesMaster" Target="/ppt/notesMasters/notesMaster1.xml" Id="R92148e2a733b4e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62e9c3b8764b63" /><Relationship Type="http://schemas.openxmlformats.org/officeDocument/2006/relationships/notesMaster" Target="/ppt/notesMasters/notesMaster1.xml" Id="R02d509f29e4d42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bd2ab1c421473f" /><Relationship Type="http://schemas.openxmlformats.org/officeDocument/2006/relationships/notesMaster" Target="/ppt/notesMasters/notesMaster1.xml" Id="Rf5ed749477b94f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38973adc3d46b0" /><Relationship Type="http://schemas.openxmlformats.org/officeDocument/2006/relationships/notesMaster" Target="/ppt/notesMasters/notesMaster1.xml" Id="R9d5244f76b9b49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a8f86838464306" /><Relationship Type="http://schemas.openxmlformats.org/officeDocument/2006/relationships/notesMaster" Target="/ppt/notesMasters/notesMaster1.xml" Id="R5686a87e682141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d8dc0a9ac84a69" /><Relationship Type="http://schemas.openxmlformats.org/officeDocument/2006/relationships/notesMaster" Target="/ppt/notesMasters/notesMaster1.xml" Id="Rf29e00c271a24f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12de3304464c44" /><Relationship Type="http://schemas.openxmlformats.org/officeDocument/2006/relationships/notesMaster" Target="/ppt/notesMasters/notesMaster1.xml" Id="R396dab3b669f45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16c9e9c3c04d82" /><Relationship Type="http://schemas.openxmlformats.org/officeDocument/2006/relationships/notesMaster" Target="/ppt/notesMasters/notesMaster1.xml" Id="R45fdc90363a147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6f095a73d44ca1" /><Relationship Type="http://schemas.openxmlformats.org/officeDocument/2006/relationships/notesMaster" Target="/ppt/notesMasters/notesMaster1.xml" Id="R7d51c96dbffa40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6c98b093704bb1" /><Relationship Type="http://schemas.openxmlformats.org/officeDocument/2006/relationships/notesMaster" Target="/ppt/notesMasters/notesMaster1.xml" Id="Ra154a8b7ce3c4c7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d6280c545745a5" /><Relationship Type="http://schemas.openxmlformats.org/officeDocument/2006/relationships/notesMaster" Target="/ppt/notesMasters/notesMaster1.xml" Id="R29f2532bfa1d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Итоговая оценка AP37: {"candidate":"ap26_core_mature_precision_calendar_fallback_cap2","h":"5","n_scope":"3260","n_signals":"695","first":"2024-01-09","last":"2026-08-25","hit_rate":"0.7338129496402878","base_rate":"0.294478527607362","pooled_lift":"2.491906474820144","adjusted_lift":"2.5091882251629154","frequency":"1.038420490928495","currency_rate_min":"1.023479188900747","currency_rate_max":"1.0608324439701173","symmetric_bps":"74.55139335041945","forward_bps":"133.73372418970007"}</a:t>
            </a:r>
            <a:endParaRPr/>
          </a:p>
          <a:p xmlns:a="http://schemas.openxmlformats.org/drawingml/2006/main">
            <a:r>
              <a:t>Источник: results/research/after_publication/ap37_effective/retrospective_all_horizons.csv. Пять валют, 695 сигналов. Первый следующий курс уже опубликован. Известный первый шаг помогает оценке. Это метрика относительно действующего сегодня официального курса ЦБ, не доказанная экономия на банковской котировке. Параметры причинные, но открытая история многократно использовалась в исследовании.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Lift на слайде pooled=0.7338129496402878/0.294478527607362=2.491906474820144. Adjusted по коридору/периоду=2.5091882251629154, это другая агрегация. Выгода ±h=74.55139335041945 б.п. Клиентскую выгоду/выручку ещё нужно измерить в пилоте.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https://github.com/tarma3v/international_transfers_signals/tree/ivan-experiments/model/final_temperature_model_v1.json</a:t>
            </a:r>
            <a:endParaRPr/>
          </a:p>
          <a:p xmlns:a="http://schemas.openxmlformats.org/drawingml/2006/main">
            <a:r>
              <a:t>Фильтр клиентского текста, местного времени и общего лимита банка — продуктовый контракт, его влияние не включено в AP37 scorecard.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https://github.com/tarma3v/international_transfers_signals/tree/ivan-experiments/research/after_publication_ap37_effective_models.py</a:t>
            </a:r>
            <a:endParaRPr/>
          </a:p>
          <a:p xmlns:a="http://schemas.openxmlformats.org/drawingml/2006/main">
            <a:r>
              <a:t>Календарная неделя ISO, cap2 не означает автоматический cap2 на любом скользящем семидневном окне. Для клиента общий лимит банка суммарный.</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UI-изображения main 3263473. В нижнем пуше фраза «ждать чаще не помогало» заменена редактируемым фактом редкости без намёка на будущее. Для пилота исторические шаблоны проверяются на фактах и используют банковскую котировку.</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Q&amp;A 05.09, с.7: курс приложения в реальном времени и связан с поставщиками ликвидности.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https://github.com/tarma3v/international_transfers_signals/blob/3263473/submission/12-dizayn-interfeysa.md</a:t>
            </a:r>
            <a:endParaRPr/>
          </a:p>
          <a:p xmlns:a="http://schemas.openxmlformats.org/drawingml/2006/main">
            <a:r>
              <a:t>Важно различать положение суммы в историческом диапазоне и вероятность future-only события. Визуальный индикатор из main менять для температуры не требуется.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30 дней жизни заявки — продуктовая гипотеза команды, не условие ТЗ.</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Простой контроль known_next_not_lower_cd3: hit 0.5778474399164054, pooled lift 1.9622735980494599, frequency 1.4298826040554962. Разная частота оговорена, это не изолированная абляция при одинаковом бюджете.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Исходное изображение пользователя сохраняется без изменений. Это иллюстрация AP50 temperature и AP37 push после публикации. 6/6 попаданий на фрагменте не означает 100% точности модели. Нельзя причинно интерпретировать наложение осей разного масштаба.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T4: HistGradientBoosting на 53 признаках. T5: causally ranked CNY/RUB basis + поквартальная логистическая калибровка по валюте/горизонту. T14 добавляет ранний CNY perpetual только h1/h3, если завершённая свеча доступна. T16 вечером улучшает только оценку размера эффекта h3/h5, не заменяет температуру и не переносит автоматически AP37 lift на каждый час. 15:30 — срез выбранной модели, не конец всей торговой сессии.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https://github.com/tarma3v/international_transfers_signals/tree/ivan-experiments/model/final_temperature_model_v1.json</a:t>
            </a:r>
            <a:endParaRPr/>
          </a:p>
          <a:p xmlns:a="http://schemas.openxmlformats.org/drawingml/2006/main">
            <a:r>
              <a:t>Экран 03 исходного прототипа показывает желаемое обновление пуша. Оно не является гарантией доставки или замены на iOS/Android. Реализация транспорта вне скоупа.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https://github.com/tarma3v/international_transfers_signals/blob/3263473/design/pushi-100-variantov.md</a:t>
            </a:r>
            <a:endParaRPr/>
          </a:p>
          <a:p xmlns:a="http://schemas.openxmlformats.org/drawingml/2006/main">
            <a:r>
              <a:t>Числа и даты примеров в этой таблице демонстрационные. В пилоте обязательны актуальный источник, проверка истины каждого факта и согласование банка.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Реальные объёмы, маржа, согласия, адресаты и комиссии не предоставлены. Нет обещания срока окупаемости или статистической мощности пилота без этих данных.</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Исследования с клиентами и боевые интеграции в скоуп хакатона не входят.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Температура=100×калиброванная вероятность. Это внутренняя модельная оценка, а не новая пользовательская метрика. Полный интерфейс наследуем из main.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https://github.com/tarma3v/international_transfers_signals/tree/ivan-experiments/tests/test_final_temperature_model.py</a:t>
            </a:r>
            <a:endParaRPr/>
          </a:p>
          <a:p xmlns:a="http://schemas.openxmlformats.org/drawingml/2006/main">
            <a:r>
              <a:t>https://github.com/tarma3v/international_transfers_signals/tree/ivan-experiments/model/final_temperature_model_v1.json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Q&amp;A 05.09 с.3–5. Симметричная разметка локального минимума ±h присутствует в исследовании отдельно от headline lift. Для сообщения «окно закрывается» применяется другой таргет. Полная матрица: https://github.com/tarma3v/international_transfers_signals/tree/ivan-experiments/results/research/final_case_metric_matrix.csv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https://github.com/tarma3v/international_transfers_signals/tree/ivan-experiments/results/research/after_publication/ap37_effective/retrospective_all_horizons.csv</a:t>
            </a:r>
            <a:endParaRP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endParaRPr/>
          </a:p>
          <a:p xmlns:a="http://schemas.openxmlformats.org/drawingml/2006/main">
            <a:r>
              <a:t>Все пять горизонтов: [{"candidate":"ap26_core_mature_precision_calendar_fallback_cap2","h":"1","n_scope":"3280","n_signals":"695","first":"2024-01-09","last":"2026-08-31","hit_rate":"1.0","base_rate":"0.5161585365853658","pooled_lift":"1.9373892498523333","adjusted_lift":"1.9435228980650257","frequency":"1.031813361611877","currency_rate_min":"1.016967126193001","currency_rate_max":"1.0540827147401908","symmetric_bps":"31.438854227192166","forward_bps":"95.36018083744467"},{"candidate":"ap26_core_mature_precision_calendar_fallback_cap2","h":"3","n_scope":"3270","n_signals":"695","first":"2024-01-09","last":"2026-08-27","hit_rate":"0.8561151079136691","base_rate":"0.354434250764526","pooled_lift":"2.4154412449333025","adjusted_lift":"2.428673730515981","frequency":"1.0362087326943556","currency_rate_min":"1.0212992545260917","currency_rate_max":"1.058572949946752","symmetric_bps":"61.96540813077257","forward_bps":"124.18698865290492"},{"candidate":"ap26_core_mature_precision_calendar_fallback_cap2","h":"5","n_scope":"3260","n_signals":"695","first":"2024-01-09","last":"2026-08-25","hit_rate":"0.7338129496402878","base_rate":"0.294478527607362","pooled_lift":"2.491906474820144","adjusted_lift":"2.5091882251629154","frequency":"1.038420490928495","currency_rate_min":"1.023479188900747","currency_rate_max":"1.0608324439701173","symmetric_bps":"74.55139335041945","forward_bps":"133.73372418970007"},{"candidate":"ap26_core_mature_precision_calendar_fallback_cap2","h":"10","n_scope":"3235","n_signals":"685","first":"2024-01-09","last":"2026-08-18","hit_rate":"0.5591240875912409","base_rate":"0.22812982998454404","pooled_lift":"2.450903012679762","adjusted_lift":"2.479315705615442","frequency":"1.0311827956989248","currency_rate_min":"1.0161290322580645","currency_rate_max":"1.053763440860215","symmetric_bps":"79.46991513903394","forward_bps":"133.10413607007362"},{"candidate":"ap26_core_mature_precision_calendar_fallback_cap2","h":"20","n_scope":"3185","n_signals":"671","first":"2024-01-09","last":"2026-08-04","hit_rate":"0.4113263785394933","base_rate":"0.165149136577708","pooled_lift":"2.490635961308529","adjusted_lift":"2.5249873834516006","frequency":"1.0255458515283842","currency_rate_min":"1.0087336244541485","currency_rate_max":"1.046943231441048","symmetric_bps":"88.54723544975964","forward_bps":"130.23124876097734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https://github.com/tarma3v/international_transfers_signals/blob/ivan-experiments/results/research/round7/audit/breakdown_h5.csv</a:t>
            </a:r>
            <a:endParaRPr/>
          </a:p>
          <a:p xmlns:a="http://schemas.openxmlformats.org/drawingml/2006/main">
            <a:r>
              <a:t>Границы периода: results/research/round7/audit/period.json. 2025-01-10..2026-08-26, 2020 строк валюта-дата. Коридоры AMD, KGS, KZT, TJS, UZS.</a:t>
            </a:r>
            <a:endParaRPr/>
          </a:p>
          <a:p xmlns:a="http://schemas.openxmlformats.org/drawingml/2006/main">
            <a:r>
              <a:t>Сохранённая политика incumbent, CNY availability-router. h=5 следующих публикаций. Hit = текущий действующий курс ЦБ не выше минимума следующих пяти курсов. Pooled lift = 0.5513833992094862 / 0.26782178217821784 = 2.0587698085086177. 279 попаданий / 506 сигналов. Частота 1.1946037099494098.</a:t>
            </a:r>
            <a:endParaRPr/>
          </a:p>
          <a:p xmlns:a="http://schemas.openxmlformats.org/drawingml/2006/main">
            <a:r>
              <a:t>Lift с поправкой на состав валют и периодов 2.0529084958019066 отличается от pooled lift способом агрегации. Симметричная выгода 47.9081165161289 б.п., future-only 95.20087810368796 б.п. Обе оценки от действующего ЦБ, не банковская экономия.</a:t>
            </a:r>
            <a:endParaRPr/>
          </a:p>
          <a:p xmlns:a="http://schemas.openxmlformats.org/drawingml/2006/main">
            <a:r>
              <a:t>Это не модель совсем без ЦБ: исторический и действующий ЦБ остаются входами. Исключён следующий, ещё не опубликованный курс. Завершённые свечи CNY/RUB, геометрическая средняя к CBR и ранг на предыдущих 250 наблюдениях. Причинный порог по предыдущим 20 оценкам, верхние 22%. При отсутствии сессии noon fallback. Общая цифра включает дни с биржей и резервные дни.</a:t>
            </a:r>
            <a:endParaRPr/>
          </a:p>
          <a:p xmlns:a="http://schemas.openxmlformats.org/drawingml/2006/main">
            <a:r>
              <a:t>Политика редких дневных сигналов отличается от калибровки вероятностей T5 на следующем слайде. Основной итоговый поток AP37 после получения ЦБ не изменён. Дневной вариант показан как проверенный резерв, не как заново объединённая политика отправки.</a:t>
            </a:r>
            <a:endParaRPr/>
          </a:p>
          <a:p xmlns:a="http://schemas.openxmlformats.org/drawingml/2006/main">
            <a:r>
              <a:t>Период неоднократно использовался в исследованиях, новый независимый тест нужен. Публикационная задержка бесплатного биржевого источника не сертифицирована, в пилоте нужен фактический as-of журнал.</a:t>
            </a:r>
            <a:endParaRPr/>
          </a:p>
          <a:p xmlns:a="http://schemas.openxmlformats.org/drawingml/2006/main">
            <a:r>
              <a:t>Прежний слайд о version_b заменён для ясности финальной защиты. Исследование и авторство Даниила сохранены в research/version_b_honest_audit.py и предыдущем файле презентации.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https://github.com/tarma3v/international_transfers_signals/tree/ivan-experiments/research/temperature_t5_market_grid.py</a:t>
            </a:r>
            <a:endParaRPr/>
          </a:p>
          <a:p xmlns:a="http://schemas.openxmlformats.org/drawingml/2006/main">
            <a:r>
              <a:t>https://github.com/tarma3v/international_transfers_signals/tree/ivan-experiments/results/research/temperature/t5_market_grid/calibration_metrics.csv</a:t>
            </a:r>
            <a:endParaRPr/>
          </a:p>
          <a:p xmlns:a="http://schemas.openxmlformats.org/drawingml/2006/main">
            <a:r>
              <a:t>https://github.com/tarma3v/international_transfers_signals/tree/ivan-experiments/research/temperature_t46_local_pair_fallback_report.md</a:t>
            </a:r>
            <a:endParaRPr/>
          </a:p>
          <a:p xmlns:a="http://schemas.openxmlformats.org/drawingml/2006/main">
            <a:r>
              <a:t>CNY/RUB не создаёт арбитраж и не задаёт один-к-одному остальные валюты. Это ликвидный рублёвый индикатор относительно медленного публичного ориентира. Дневной Brier не следует сравнивать с вечерним без одинаковой выборки.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Источник: main 3263473, submission/figures/06-makety-interfeysa.png. Изображение сохранено, поверх тела нижнего пуша добавлен редактируемый факт редкости вместо «ждать чаще не помогало».</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endParaRP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endParaRPr/>
          </a:p>
          <a:p xmlns:a="http://schemas.openxmlformats.org/drawingml/2006/main">
            <a:r>
              <a:t>Роли и выполненные зоны работы по источникам main и ivan-experiments. Численные доли участия не указаны: инструкция ZAGRUZKA.md называет 33/33/33 заглушкой, фактические значения должны подтвердить участники.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https://github.com/tarma3v/international_transfers_signals/tree/ivan-experiments/output/defense_visuals/chart_evidence.json</a:t>
            </a:r>
          </a:p>
          <a:p xmlns:a="http://schemas.openxmlformats.org/drawingml/2006/main">
            <a:r>
              <a:t>https://github.com/tarma3v/international_transfers_signals/tree/ivan-experiments/results/research/after_publication/ap37_effective/diagnostic_breakdown.csv</a:t>
            </a:r>
          </a:p>
          <a:p xmlns:a="http://schemas.openxmlformats.org/drawingml/2006/main">
            <a:r>
              <a:t>Коридоры связаны общим движением рубля. Пять валют не являются пятью независимыми рынками.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Кейс 455: https://talenttrack.aitalenthub.ru/hackathon/cases/455</a:t>
            </a:r>
          </a:p>
          <a:p xmlns:a="http://schemas.openxmlformats.org/drawingml/2006/main">
            <a:r>
              <a:t>Q&amp;A 04.09.2026 и 05.09.2026: главная метрика lift по hit rate, выгода ±h отдельно. Только факты о прошлом и настоящем в клиентском тексте. Данные, доступные на дату T, включая уже опубликованный курс на завтра, допустимы. Курс ЦБ не является курсом исполнения.</a:t>
            </a:r>
          </a:p>
          <a:p xmlns:a="http://schemas.openxmlformats.org/drawingml/2006/main">
            <a:r>
              <a:t>Источник: https://github.com/tarma3v/international_transfers_signals/tree/ivan-experiments/results/research/after_publication/ap37_effective/retrospective_all_horizons.csv</a:t>
            </a:r>
          </a:p>
          <a:p xmlns:a="http://schemas.openxmlformats.org/drawingml/2006/main">
            <a:r>
              <a:t>Зафиксированный кандидат ap26_core_mature_precision_calendar_fallback_cap2. База: действующий сегодня курс ЦБ, будущие публикации. h5: 2024-01-09..2026-08-25, 3260 строк, 695 сигналов. Параметры причинные, но семейство выбрано после многих опытов на уже открывавшейся истории. Это ретроспектива, не новый независимый holdout. Исторический receipt предполагается по календарю (18:30 МСК), фактический журнал получения не сертифицирован. В рабочем контракте обязателен verified_receipt_at.</a:t>
            </a:r>
          </a:p>
          <a:p xmlns:a="http://schemas.openxmlformats.org/drawingml/2006/main">
            <a:r>
              <a:t>https://github.com/tarma3v/international_transfers_signals/tree/ivan-experiments/research/after_publication_ap49_effective.py</a:t>
            </a:r>
          </a:p>
          <a:p xmlns:a="http://schemas.openxmlformats.org/drawingml/2006/main">
            <a:r>
              <a:t>https://github.com/tarma3v/international_transfers_signals/tree/ivan-experiments/research/after_publication_ap50_temperature_models.py</a:t>
            </a:r>
          </a:p>
          <a:p xmlns:a="http://schemas.openxmlformats.org/drawingml/2006/main">
            <a:r>
              <a:t>https://github.com/tarma3v/international_transfers_signals/tree/ivan-experiments/research/after_publication_ap37_effective_models.py</a:t>
            </a:r>
          </a:p>
          <a:p xmlns:a="http://schemas.openxmlformats.org/drawingml/2006/main">
            <a:r>
              <a:t>Эксперты AP37: ap26_y20, ridge_survival, distributional_cat. Качество резервной группы: созревшие исходы h20 до даты T минус 2 дня, сглаживание глобальной и локальной частоты. Резерв после разогрева84д, при trailing rate&lt;1 и отсутствии ядра, при тишине&gt;=10д или конце недели с достаточным качеством.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Таблица: results/research/round7/direct_pairs/later_by_horizon.csv и results/research/round7/residual_floor/later_by_horizon.csv. [["Вариант","Lift*"],["CNY/RUB с резервом на истории","2,053"],["Добавка прямой пары 25 %","2,043"],["Общая модель поправки к CNY","2,038"],["Индивидуальные веса валют","1,978"]]</a:t>
            </a:r>
          </a:p>
          <a:p xmlns:a="http://schemas.openxmlformats.org/drawingml/2006/main">
            <a:r>
              <a:t>Политики выбраны на очищенном 2024 и оценены на уже изученной ретроспективе 2025–2026. Первый вариант incumbent, второй last_basis_soft_w025, третий global_quantile_w10, четвёртый per_currency_weights. Поправка к CNY обучает квантиль будущего минимума глобально по валютам, добавляется с весом 10%.</a:t>
            </a:r>
          </a:p>
          <a:p xmlns:a="http://schemas.openxmlformats.org/drawingml/2006/main">
            <a:r>
              <a:t>Список других семейств: EXPERIMENTS_SUMMARY.md, разделы «Что не дало устойчивого выигрыша» и AP34-E/AP36-E. Их цифры не смешиваются с этой таблицей из-за разных периодов и целей. Таблица не доказывает, что все ансамбли хуже: она показывает конкретную проверку прямых пар. Свежие источники, калибровка и отбор по созревшим ответам входят в итоговый контракт model/final_temperature_model_v1.json. Все оценки ЦБ являются исследовательскими, не исполнимой котировкой.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e2528e3c844cd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b7367cc47042f5" /><Relationship Type="http://schemas.openxmlformats.org/officeDocument/2006/relationships/slideLayout" Target="/ppt/slideLayouts/slideLayout1.xml" Id="Rab463ad3fdc64f7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463ad3fdc64f7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f524adda9d42cb" /><Relationship Type="http://schemas.openxmlformats.org/officeDocument/2006/relationships/notesSlide" Target="/ppt/notesSlides/notesSlide1.xml" Id="Ra6e60386de2c44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f8a93aef784b32" /><Relationship Type="http://schemas.openxmlformats.org/officeDocument/2006/relationships/notesSlide" Target="/ppt/notesSlides/notesSlide2.xml" Id="Rd9f5a15b1dc543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fac66ceb8541de" /><Relationship Type="http://schemas.openxmlformats.org/officeDocument/2006/relationships/notesSlide" Target="/ppt/notesSlides/notesSlide3.xml" Id="R4cfa49b0d6d949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a33c099b5543f1" /><Relationship Type="http://schemas.openxmlformats.org/officeDocument/2006/relationships/notesSlide" Target="/ppt/notesSlides/notesSlide4.xml" Id="Rcf23e18cb4ea47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2527567c7e4e14" /><Relationship Type="http://schemas.openxmlformats.org/officeDocument/2006/relationships/image" Target="/ppt/media/image.png" Id="R7693fa76573f4692" /><Relationship Type="http://schemas.openxmlformats.org/officeDocument/2006/relationships/notesSlide" Target="/ppt/notesSlides/notesSlide5.xml" Id="Re8bb0dca9acb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a8433f123f4f3a" /><Relationship Type="http://schemas.openxmlformats.org/officeDocument/2006/relationships/image" Target="/ppt/media/image2.png" Id="R83d875fe698943fb" /><Relationship Type="http://schemas.openxmlformats.org/officeDocument/2006/relationships/notesSlide" Target="/ppt/notesSlides/notesSlide6.xml" Id="Rd9f08e1d20f742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f659f41de04879" /><Relationship Type="http://schemas.openxmlformats.org/officeDocument/2006/relationships/image" Target="/ppt/media/image3.png" Id="Rde3b4faa253043dc" /><Relationship Type="http://schemas.openxmlformats.org/officeDocument/2006/relationships/notesSlide" Target="/ppt/notesSlides/notesSlide7.xml" Id="Rc861b3efa90a40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59be5df9b44573" /><Relationship Type="http://schemas.openxmlformats.org/officeDocument/2006/relationships/image" Target="/ppt/media/image4.png" Id="Rdeb52e25b18d4b30" /><Relationship Type="http://schemas.openxmlformats.org/officeDocument/2006/relationships/notesSlide" Target="/ppt/notesSlides/notesSlide8.xml" Id="Rb57a196d323449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7c407ce2274f5a" /><Relationship Type="http://schemas.openxmlformats.org/officeDocument/2006/relationships/chart" Target="/ppt/slides/charts/chart1.xml" Id="R5d8b17cb950545d9" /><Relationship Type="http://schemas.openxmlformats.org/officeDocument/2006/relationships/notesSlide" Target="/ppt/notesSlides/notesSlide9.xml" Id="Ra5274f51c0bc40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fbaf5aef364133" /><Relationship Type="http://schemas.openxmlformats.org/officeDocument/2006/relationships/image" Target="/ppt/media/image5.png" Id="R487d56a98aa74985" /><Relationship Type="http://schemas.openxmlformats.org/officeDocument/2006/relationships/notesSlide" Target="/ppt/notesSlides/notesSlide10.xml" Id="R0cadf57c16f442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fa3c89929c46fb" /><Relationship Type="http://schemas.openxmlformats.org/officeDocument/2006/relationships/notesSlide" Target="/ppt/notesSlides/notesSlide11.xml" Id="R3d7b870eb28f4d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de278c44d7453a" /><Relationship Type="http://schemas.openxmlformats.org/officeDocument/2006/relationships/image" Target="/ppt/media/image6.png" Id="Rbc0a8ca95ff94b19" /><Relationship Type="http://schemas.openxmlformats.org/officeDocument/2006/relationships/image" Target="/ppt/media/image7.png" Id="R0f44f78bba954af9" /><Relationship Type="http://schemas.openxmlformats.org/officeDocument/2006/relationships/notesSlide" Target="/ppt/notesSlides/notesSlide12.xml" Id="R41a698caeaf74b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105e8a4e8d47cf" /><Relationship Type="http://schemas.openxmlformats.org/officeDocument/2006/relationships/notesSlide" Target="/ppt/notesSlides/notesSlide13.xml" Id="Rb9038269dd6144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82d9cfc0534972" /><Relationship Type="http://schemas.openxmlformats.org/officeDocument/2006/relationships/notesSlide" Target="/ppt/notesSlides/notesSlide14.xml" Id="R9f4ccfc2219b45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eb8d2524844334" /><Relationship Type="http://schemas.openxmlformats.org/officeDocument/2006/relationships/notesSlide" Target="/ppt/notesSlides/notesSlide15.xml" Id="Rc18432bd83db40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7b29d33ca944aa1" /><Relationship Type="http://schemas.openxmlformats.org/officeDocument/2006/relationships/notesSlide" Target="/ppt/notesSlides/notesSlide16.xml" Id="Rfdcc8264781a4c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44b084ce0c4d8c" /><Relationship Type="http://schemas.openxmlformats.org/officeDocument/2006/relationships/notesSlide" Target="/ppt/notesSlides/notesSlide17.xml" Id="R94bee54a050947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f4809400e74b91" /><Relationship Type="http://schemas.openxmlformats.org/officeDocument/2006/relationships/notesSlide" Target="/ppt/notesSlides/notesSlide18.xml" Id="Ra4e91128a18345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25c1d80d9d46ea" /><Relationship Type="http://schemas.openxmlformats.org/officeDocument/2006/relationships/notesSlide" Target="/ppt/notesSlides/notesSlide19.xml" Id="R770d02e4fa224f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25157957b44eaf" /><Relationship Type="http://schemas.openxmlformats.org/officeDocument/2006/relationships/notesSlide" Target="/ppt/notesSlides/notesSlide20.xml" Id="Ra9c3ec017c6540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898fce87774ca7" /><Relationship Type="http://schemas.openxmlformats.org/officeDocument/2006/relationships/chart" Target="/ppt/slides/charts/chart2.xml" Id="Rb31a8bf3f27d45e4" /><Relationship Type="http://schemas.openxmlformats.org/officeDocument/2006/relationships/notesSlide" Target="/ppt/notesSlides/notesSlide21.xml" Id="Rcc64d7f3856d4a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d9bc1f8c46a411b" /><Relationship Type="http://schemas.openxmlformats.org/officeDocument/2006/relationships/notesSlide" Target="/ppt/notesSlides/notesSlide22.xml" Id="Rfb959d3b0ebb46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40b6c367fd4598" /><Relationship Type="http://schemas.openxmlformats.org/officeDocument/2006/relationships/notesSlide" Target="/ppt/notesSlides/notesSlide23.xml" Id="R8c3b346abe564c2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34134cdf2d4107" /><Relationship Type="http://schemas.openxmlformats.org/officeDocument/2006/relationships/image" Target="/ppt/media/image8.png" Id="R1d50d6832b7240e9" /><Relationship Type="http://schemas.openxmlformats.org/officeDocument/2006/relationships/notesSlide" Target="/ppt/notesSlides/notesSlide24.xml" Id="R228657fb581c45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492f7efd1c432a" /><Relationship Type="http://schemas.openxmlformats.org/officeDocument/2006/relationships/notesSlide" Target="/ppt/notesSlides/notesSlide25.xml" Id="Rf63348eab82147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6051814fb404e0c" /><Relationship Type="http://schemas.openxmlformats.org/officeDocument/2006/relationships/chart" Target="/ppt/slides/charts/chart3.xml" Id="R9e764a7274c64645" /><Relationship Type="http://schemas.openxmlformats.org/officeDocument/2006/relationships/notesSlide" Target="/ppt/notesSlides/notesSlide26.xml" Id="R236b2cc27b3a4f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759891dbc534f86" /><Relationship Type="http://schemas.openxmlformats.org/officeDocument/2006/relationships/notesSlide" Target="/ppt/notesSlides/notesSlide27.xml" Id="R34c188d6799146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a554bf1a68d493c" /><Relationship Type="http://schemas.openxmlformats.org/officeDocument/2006/relationships/notesSlide" Target="/ppt/notesSlides/notesSlide28.xml" Id="Rb40ea28b112940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Data'!$A$2:$A$2</c:f>
              <c:strCache>
                <c:ptCount val="1"/>
                <c:pt idx="0">
                  <c:v>h = 5</c:v>
                </c:pt>
              </c:strCache>
            </c:strRef>
          </c:cat>
          <c:val>
            <c:numRef>
              <c:f>'Chart Data'!$B$2:$B$2</c:f>
              <c:numCache>
                <c:formatCode>0.0%</c:formatCode>
                <c:ptCount val="1"/>
                <c:pt idx="0">
                  <c:v>0.73381294964</c:v>
                </c:pt>
              </c:numCache>
            </c:numRef>
          </c:val>
        </c:ser>
        <c:ser>
          <c:idx val="1"/>
          <c:order val="1"/>
          <c:tx>
            <c:v>Случайный день</c:v>
          </c:tx>
          <c:spPr>
            <a:solidFill xmlns:a="http://schemas.openxmlformats.org/drawingml/2006/main">
              <a:srgbClr val="A6AFB8"/>
            </a:solidFill>
          </c:spPr>
          <c:cat>
            <c:strRef>
              <c:f>'Chart Data'!$C$2:$C$2</c:f>
              <c:strCache>
                <c:ptCount val="1"/>
                <c:pt idx="0">
                  <c:v>h = 5</c:v>
                </c:pt>
              </c:strCache>
            </c:strRef>
          </c:cat>
          <c:val>
            <c:numRef>
              <c:f>'Chart Data'!$D$2:$D$2</c:f>
              <c:numCache>
                <c:formatCode>0.0%</c:formatCode>
                <c:ptCount val="1"/>
                <c:pt idx="0">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Доля удачных дней</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Data'!$A$2:$A$5</c:f>
              <c:strCache>
                <c:ptCount val="4"/>
                <c:pt idx="0">
                  <c:v>3 публикации</c:v>
                </c:pt>
                <c:pt idx="1">
                  <c:v>5 публикаций</c:v>
                </c:pt>
                <c:pt idx="2">
                  <c:v>10 публикаций</c:v>
                </c:pt>
                <c:pt idx="3">
                  <c:v>20 публикаций</c:v>
                </c:pt>
              </c:strCache>
            </c:strRef>
          </c:cat>
          <c:val>
            <c:numRef>
              <c:f>'Chart Data'!$B$2:$B$5</c:f>
              <c:numCache>
                <c:formatCode>0.0%</c:formatCode>
                <c:ptCount val="4"/>
                <c:pt idx="0">
                  <c:v>0.856115107914</c:v>
                </c:pt>
                <c:pt idx="1">
                  <c:v>0.73381294964</c:v>
                </c:pt>
                <c:pt idx="2">
                  <c:v>0.559124087591</c:v>
                </c:pt>
                <c:pt idx="3">
                  <c:v>0.411326378539</c:v>
                </c:pt>
              </c:numCache>
            </c:numRef>
          </c:val>
        </c:ser>
        <c:ser>
          <c:idx val="1"/>
          <c:order val="1"/>
          <c:tx>
            <c:v>Случайный день</c:v>
          </c:tx>
          <c:spPr>
            <a:solidFill xmlns:a="http://schemas.openxmlformats.org/drawingml/2006/main">
              <a:srgbClr val="A6AFB8"/>
            </a:solidFill>
          </c:spPr>
          <c:cat>
            <c:strRef>
              <c:f>'Chart Data'!$C$2:$C$5</c:f>
              <c:strCache>
                <c:ptCount val="4"/>
                <c:pt idx="0">
                  <c:v>3 публикации</c:v>
                </c:pt>
                <c:pt idx="1">
                  <c:v>5 публикаций</c:v>
                </c:pt>
                <c:pt idx="2">
                  <c:v>10 публикаций</c:v>
                </c:pt>
                <c:pt idx="3">
                  <c:v>20 публикаций</c:v>
                </c:pt>
              </c:strCache>
            </c:strRef>
          </c:cat>
          <c:val>
            <c:numRef>
              <c:f>'Chart Data'!$D$2:$D$5</c:f>
              <c:numCache>
                <c:formatCode>0.0%</c:formatCode>
                <c:ptCount val="4"/>
                <c:pt idx="0">
                  <c:v>0.354434250765</c:v>
                </c:pt>
                <c:pt idx="1">
                  <c:v>0.294478527607</c:v>
                </c:pt>
                <c:pt idx="2">
                  <c:v>0.228129829985</c:v>
                </c:pt>
                <c:pt idx="3">
                  <c:v>0.165149136578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A2530"/>
                </a:solidFill>
                <a:latin typeface="Cambria"/>
                <a:ea typeface="Cambria"/>
                <a:cs typeface="Cambria"/>
              </a:rPr>
              <a:t>Попадание на следующих пяти публикациях</a:t>
            </a:r>
          </a:p>
        </c:rich>
      </c:tx>
      <c:overlay val="0"/>
      <c:txPr>
        <a:bodyPr xmlns:a="http://schemas.openxmlformats.org/drawingml/2006/main" anchorCtr="1"/>
        <a:lstStyle xmlns:a="http://schemas.openxmlformats.org/drawingml/2006/main"/>
        <a:p xmlns:a="http://schemas.openxmlformats.org/drawingml/2006/main">
          <a:pPr>
            <a:defRPr sz="1575" b="1">
              <a:solidFill>
                <a:srgbClr val="1A2530"/>
              </a:solidFill>
              <a:latin typeface="Cambria"/>
              <a:ea typeface="Cambria"/>
              <a:cs typeface="Cambria"/>
            </a:defRPr>
          </a:pPr>
        </a:p>
      </c:txPr>
    </c:title>
    <c:plotArea>
      <c:barChart>
        <c:barDir val="col"/>
        <c:grouping val="clustered"/>
        <c:varyColors val="0"/>
        <c:ser>
          <c:idx val="0"/>
          <c:order val="0"/>
          <c:tx>
            <c:v>Сигналы AP37</c:v>
          </c:tx>
          <c:spPr>
            <a:solidFill xmlns:a="http://schemas.openxmlformats.org/drawingml/2006/main">
              <a:srgbClr val="16674F"/>
            </a:solidFill>
          </c:spPr>
          <c:cat>
            <c:strRef>
              <c:f>'Chart Data'!$A$2:$A$6</c:f>
              <c:strCache>
                <c:ptCount val="5"/>
                <c:pt idx="0">
                  <c:v>AMD</c:v>
                </c:pt>
                <c:pt idx="1">
                  <c:v>KGS</c:v>
                </c:pt>
                <c:pt idx="2">
                  <c:v>KZT</c:v>
                </c:pt>
                <c:pt idx="3">
                  <c:v>TJS</c:v>
                </c:pt>
                <c:pt idx="4">
                  <c:v>UZS</c:v>
                </c:pt>
              </c:strCache>
            </c:strRef>
          </c:cat>
          <c:val>
            <c:numRef>
              <c:f>'Chart Data'!$B$2:$B$6</c:f>
              <c:numCache>
                <c:formatCode>0.0%</c:formatCode>
                <c:ptCount val="5"/>
                <c:pt idx="0">
                  <c:v>0.746478873239</c:v>
                </c:pt>
                <c:pt idx="1">
                  <c:v>0.726618705036</c:v>
                </c:pt>
                <c:pt idx="2">
                  <c:v>0.68115942029</c:v>
                </c:pt>
                <c:pt idx="3">
                  <c:v>0.748201438849</c:v>
                </c:pt>
                <c:pt idx="4">
                  <c:v>0.766423357664</c:v>
                </c:pt>
              </c:numCache>
            </c:numRef>
          </c:val>
        </c:ser>
        <c:ser>
          <c:idx val="1"/>
          <c:order val="1"/>
          <c:tx>
            <c:v>Случайный день</c:v>
          </c:tx>
          <c:spPr>
            <a:solidFill xmlns:a="http://schemas.openxmlformats.org/drawingml/2006/main">
              <a:srgbClr val="A6AFB8"/>
            </a:solidFill>
          </c:spPr>
          <c:cat>
            <c:strRef>
              <c:f>'Chart Data'!$C$2:$C$6</c:f>
              <c:strCache>
                <c:ptCount val="5"/>
                <c:pt idx="0">
                  <c:v>AMD</c:v>
                </c:pt>
                <c:pt idx="1">
                  <c:v>KGS</c:v>
                </c:pt>
                <c:pt idx="2">
                  <c:v>KZT</c:v>
                </c:pt>
                <c:pt idx="3">
                  <c:v>TJS</c:v>
                </c:pt>
                <c:pt idx="4">
                  <c:v>UZS</c:v>
                </c:pt>
              </c:strCache>
            </c:strRef>
          </c:cat>
          <c:val>
            <c:numRef>
              <c:f>'Chart Data'!$D$2:$D$6</c:f>
              <c:numCache>
                <c:formatCode>0.0%</c:formatCode>
                <c:ptCount val="5"/>
                <c:pt idx="0">
                  <c:v>0.29754601227</c:v>
                </c:pt>
                <c:pt idx="1">
                  <c:v>0.292944785276</c:v>
                </c:pt>
                <c:pt idx="2">
                  <c:v>0.266871165644</c:v>
                </c:pt>
                <c:pt idx="3">
                  <c:v>0.320552147239</c:v>
                </c:pt>
                <c:pt idx="4">
                  <c:v>0.294478527607</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4E5966"/>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5715">
            <a:solidFill>
              <a:srgbClr val="BFC7CE"/>
            </a:solidFill>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5715">
              <a:solidFill>
                <a:srgbClr val="E8EC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966"/>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FDEB87-0B22-495E-88A8-7DA8DE8C456D}"/>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ФИНАЛЬНАЯ ЗАЩИТА · 07.09.2026 · КОМАНДА 11</a:t>
            </a:r>
            <a:endParaRPr sz="1300"/>
          </a:p>
        </p:txBody>
      </p:sp>
      <p:sp>
        <p:nvSpPr>
          <p:cNvPr id="3" name="Text 1">
            <a:extLst xmlns:a="http://schemas.openxmlformats.org/drawingml/2006/main">
              <a:ext uri="{FF2B5EF4-FFF2-40B4-BE49-F238E27FC236}">
                <a16:creationId xmlns:a16="http://schemas.microsoft.com/office/drawing/2014/main" id="{7676B032-B1C7-49BF-8454-DF9AA793576D}"/>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Как поймать выгодный момент</a:t>
            </a:r>
            <a:endParaRPr sz="4000"/>
          </a:p>
          <a:p xmlns:a="http://schemas.openxmlformats.org/drawingml/2006/main">
            <a:pPr marL="0" indent="0">
              <a:lnSpc>
                <a:spcPts val="4600"/>
              </a:lnSpc>
              <a:buNone/>
            </a:pPr>
            <a:r>
              <a:rPr sz="4000" b="1">
                <a:solidFill>
                  <a:srgbClr val="FFFFFF"/>
                </a:solidFill>
                <a:latin typeface="Cambria"/>
                <a:ea typeface="Cambria"/>
                <a:cs typeface="Cambria"/>
              </a:rPr>
              <a:t>для перевода за рубеж</a:t>
            </a:r>
            <a:endParaRPr sz="4000"/>
          </a:p>
        </p:txBody>
      </p:sp>
      <p:sp>
        <p:nvSpPr>
          <p:cNvPr id="4" name="Text 2">
            <a:extLst xmlns:a="http://schemas.openxmlformats.org/drawingml/2006/main">
              <a:ext uri="{FF2B5EF4-FFF2-40B4-BE49-F238E27FC236}">
                <a16:creationId xmlns:a16="http://schemas.microsoft.com/office/drawing/2014/main" id="{3C74765E-9739-47FA-BAF3-5606FD25F8E9}"/>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Сигнальный слой над существующим переводом: RUB → TJS, UZS, KGS, AMD, KZT. Модель выбирает момент, а клиент видит понятный факт о текущем курсе и истории.</a:t>
            </a:r>
            <a:endParaRPr sz="1500"/>
          </a:p>
        </p:txBody>
      </p:sp>
      <p:sp>
        <p:nvSpPr>
          <p:cNvPr id="5" name="">
            <a:extLst xmlns:a="http://schemas.openxmlformats.org/drawingml/2006/main">
              <a:ext uri="{FF2B5EF4-FFF2-40B4-BE49-F238E27FC236}">
                <a16:creationId xmlns:a16="http://schemas.microsoft.com/office/drawing/2014/main" id="{D37EBC64-1230-4823-8B75-10B2BE3B6256}"/>
              </a:ext>
            </a:extLst>
          </p:cNvPr>
          <p:cNvSpPr>
            <a:spLocks xmlns:a="http://schemas.openxmlformats.org/drawingml/2006/main" noGrp="1"/>
          </p:cNvSpPr>
          <p:nvPr/>
        </p:nvSpPr>
        <p:spPr>
          <a:xfrm xmlns:a="http://schemas.openxmlformats.org/drawingml/2006/main">
            <a:off x="640080"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6FBFA1"/>
                </a:solidFill>
                <a:latin typeface="Cambria"/>
                <a:ea typeface="Cambria"/>
                <a:cs typeface="Cambria"/>
              </a:defRPr>
            </a:pPr>
            <a:r>
              <a:rPr sz="2800" b="1">
                <a:solidFill>
                  <a:srgbClr val="6FBFA1"/>
                </a:solidFill>
                <a:latin typeface="Cambria"/>
                <a:ea typeface="Cambria"/>
                <a:cs typeface="Cambria"/>
              </a:rPr>
              <a:t>2,492 lift</a:t>
            </a:r>
          </a:p>
        </p:txBody>
      </p:sp>
      <p:sp>
        <p:nvSpPr>
          <p:cNvPr id="6" name="">
            <a:extLst xmlns:a="http://schemas.openxmlformats.org/drawingml/2006/main">
              <a:ext uri="{FF2B5EF4-FFF2-40B4-BE49-F238E27FC236}">
                <a16:creationId xmlns:a16="http://schemas.microsoft.com/office/drawing/2014/main" id="{F868D920-E0AF-418D-9D68-9EF9EE115085}"/>
              </a:ext>
            </a:extLst>
          </p:cNvPr>
          <p:cNvSpPr>
            <a:spLocks xmlns:a="http://schemas.openxmlformats.org/drawingml/2006/main" noGrp="1"/>
          </p:cNvSpPr>
          <p:nvPr/>
        </p:nvSpPr>
        <p:spPr>
          <a:xfrm xmlns:a="http://schemas.openxmlformats.org/drawingml/2006/main">
            <a:off x="640080"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73,38 % удачных сигналов</a:t>
            </a:r>
          </a:p>
        </p:txBody>
      </p:sp>
      <p:sp>
        <p:nvSpPr>
          <p:cNvPr id="7" name="">
            <a:extLst xmlns:a="http://schemas.openxmlformats.org/drawingml/2006/main">
              <a:ext uri="{FF2B5EF4-FFF2-40B4-BE49-F238E27FC236}">
                <a16:creationId xmlns:a16="http://schemas.microsoft.com/office/drawing/2014/main" id="{D9557E94-6550-43A4-BB6C-8DC2AE061C48}"/>
              </a:ext>
            </a:extLst>
          </p:cNvPr>
          <p:cNvSpPr>
            <a:spLocks xmlns:a="http://schemas.openxmlformats.org/drawingml/2006/main" noGrp="1"/>
          </p:cNvSpPr>
          <p:nvPr/>
        </p:nvSpPr>
        <p:spPr>
          <a:xfrm xmlns:a="http://schemas.openxmlformats.org/drawingml/2006/main">
            <a:off x="4370832"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FFFFFF"/>
                </a:solidFill>
                <a:latin typeface="Cambria"/>
                <a:ea typeface="Cambria"/>
                <a:cs typeface="Cambria"/>
              </a:defRPr>
            </a:pPr>
            <a:r>
              <a:rPr sz="2800" b="1">
                <a:solidFill>
                  <a:srgbClr val="FFFFFF"/>
                </a:solidFill>
                <a:latin typeface="Cambria"/>
                <a:ea typeface="Cambria"/>
                <a:cs typeface="Cambria"/>
              </a:rPr>
              <a:t>+74,55 б.п.</a:t>
            </a:r>
          </a:p>
        </p:txBody>
      </p:sp>
      <p:sp>
        <p:nvSpPr>
          <p:cNvPr id="8" name="">
            <a:extLst xmlns:a="http://schemas.openxmlformats.org/drawingml/2006/main">
              <a:ext uri="{FF2B5EF4-FFF2-40B4-BE49-F238E27FC236}">
                <a16:creationId xmlns:a16="http://schemas.microsoft.com/office/drawing/2014/main" id="{EFF3656A-39F7-4BF6-90B8-42C30F9C6B65}"/>
              </a:ext>
            </a:extLst>
          </p:cNvPr>
          <p:cNvSpPr>
            <a:spLocks xmlns:a="http://schemas.openxmlformats.org/drawingml/2006/main" noGrp="1"/>
          </p:cNvSpPr>
          <p:nvPr/>
        </p:nvSpPr>
        <p:spPr>
          <a:xfrm xmlns:a="http://schemas.openxmlformats.org/drawingml/2006/main">
            <a:off x="4370832"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Выгода момента в окне ±5</a:t>
            </a:r>
          </a:p>
        </p:txBody>
      </p:sp>
      <p:sp>
        <p:nvSpPr>
          <p:cNvPr id="9" name="">
            <a:extLst xmlns:a="http://schemas.openxmlformats.org/drawingml/2006/main">
              <a:ext uri="{FF2B5EF4-FFF2-40B4-BE49-F238E27FC236}">
                <a16:creationId xmlns:a16="http://schemas.microsoft.com/office/drawing/2014/main" id="{0C0F26E3-E951-4B74-AE75-B7AF4A382D31}"/>
              </a:ext>
            </a:extLst>
          </p:cNvPr>
          <p:cNvSpPr>
            <a:spLocks xmlns:a="http://schemas.openxmlformats.org/drawingml/2006/main" noGrp="1"/>
          </p:cNvSpPr>
          <p:nvPr/>
        </p:nvSpPr>
        <p:spPr>
          <a:xfrm xmlns:a="http://schemas.openxmlformats.org/drawingml/2006/main">
            <a:off x="8101584" y="5056632"/>
            <a:ext cx="34290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1">
                <a:solidFill>
                  <a:srgbClr val="E0A75E"/>
                </a:solidFill>
                <a:latin typeface="Cambria"/>
                <a:ea typeface="Cambria"/>
                <a:cs typeface="Cambria"/>
              </a:defRPr>
            </a:pPr>
            <a:r>
              <a:rPr sz="2800" b="1">
                <a:solidFill>
                  <a:srgbClr val="E0A75E"/>
                </a:solidFill>
                <a:latin typeface="Cambria"/>
                <a:ea typeface="Cambria"/>
                <a:cs typeface="Cambria"/>
              </a:rPr>
              <a:t>1,04 / нед.</a:t>
            </a:r>
          </a:p>
        </p:txBody>
      </p:sp>
      <p:sp>
        <p:nvSpPr>
          <p:cNvPr id="10" name="">
            <a:extLst xmlns:a="http://schemas.openxmlformats.org/drawingml/2006/main">
              <a:ext uri="{FF2B5EF4-FFF2-40B4-BE49-F238E27FC236}">
                <a16:creationId xmlns:a16="http://schemas.microsoft.com/office/drawing/2014/main" id="{DBC35FD5-7FEB-4FC3-9ADE-D6E3C0790398}"/>
              </a:ext>
            </a:extLst>
          </p:cNvPr>
          <p:cNvSpPr>
            <a:spLocks xmlns:a="http://schemas.openxmlformats.org/drawingml/2006/main" noGrp="1"/>
          </p:cNvSpPr>
          <p:nvPr/>
        </p:nvSpPr>
        <p:spPr>
          <a:xfrm xmlns:a="http://schemas.openxmlformats.org/drawingml/2006/main">
            <a:off x="8101584" y="5660136"/>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Сигналов на валюту, в среднем</a:t>
            </a:r>
          </a:p>
        </p:txBody>
      </p:sp>
      <p:sp>
        <p:nvSpPr>
          <p:cNvPr id="11" name="">
            <a:extLst xmlns:a="http://schemas.openxmlformats.org/drawingml/2006/main">
              <a:ext uri="{FF2B5EF4-FFF2-40B4-BE49-F238E27FC236}">
                <a16:creationId xmlns:a16="http://schemas.microsoft.com/office/drawing/2014/main" id="{055B7F08-3FFE-47B7-B206-BE0E760016AD}"/>
              </a:ext>
            </a:extLst>
          </p:cNvPr>
          <p:cNvSpPr>
            <a:spLocks xmlns:a="http://schemas.openxmlformats.org/drawingml/2006/main" noGrp="1"/>
          </p:cNvSpPr>
          <p:nvPr/>
        </p:nvSpPr>
        <p:spPr>
          <a:xfrm xmlns:a="http://schemas.openxmlformats.org/drawingml/2006/main">
            <a:off x="640080" y="6345936"/>
            <a:ext cx="108813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a:solidFill>
                  <a:srgbClr val="AAB6C3"/>
                </a:solidFill>
                <a:latin typeface="Calibri"/>
                <a:ea typeface="Calibri"/>
                <a:cs typeface="Calibri"/>
              </a:defRPr>
            </a:pPr>
            <a:r>
              <a:rPr sz="1000">
                <a:solidFill>
                  <a:srgbClr val="AAB6C3"/>
                </a:solidFill>
                <a:latin typeface="Calibri"/>
                <a:ea typeface="Calibri"/>
                <a:cs typeface="Calibri"/>
              </a:rPr>
              <a:t>h=5. 09.01.2024–25.08.2026. После получения ЦБ, от действующего курса. Открытая ретроспектива, не банковская экономия.</a:t>
            </a:r>
          </a:p>
        </p:txBody>
      </p:sp>
    </p:spTree>
    <p:extLst>
      <p:ext uri="{BB962C8B-B14F-4D97-AF65-F5344CB8AC3E}">
        <p14:creationId xmlns:p14="http://schemas.microsoft.com/office/powerpoint/2010/main" val="4490537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0A85BC1-1F96-4B77-9596-414E286446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74376CC0-E9EE-456A-8837-1C851ECF5E0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4" name="Text 2">
            <a:extLst xmlns:a="http://schemas.openxmlformats.org/drawingml/2006/main">
              <a:ext uri="{FF2B5EF4-FFF2-40B4-BE49-F238E27FC236}">
                <a16:creationId xmlns:a16="http://schemas.microsoft.com/office/drawing/2014/main" id="{D2842730-85ED-4F04-9342-CF40870BF1E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Ценность: клиент перестаёт выбирать момент вслепую</a:t>
            </a:r>
            <a:endParaRPr sz="2700"/>
          </a:p>
        </p:txBody>
      </p:sp>
      <p:sp>
        <p:nvSpPr>
          <p:cNvPr id="5" name="Text 3">
            <a:extLst xmlns:a="http://schemas.openxmlformats.org/drawingml/2006/main">
              <a:ext uri="{FF2B5EF4-FFF2-40B4-BE49-F238E27FC236}">
                <a16:creationId xmlns:a16="http://schemas.microsoft.com/office/drawing/2014/main" id="{C56499BC-52C5-4854-9398-A8885BB6E970}"/>
              </a:ext>
            </a:extLst>
          </p:cNvPr>
          <p:cNvSpPr>
            <a:spLocks xmlns:a="http://schemas.openxmlformats.org/drawingml/2006/main" noGrp="1"/>
          </p:cNvSpPr>
          <p:nvPr/>
        </p:nvSpPr>
        <p:spPr>
          <a:xfrm xmlns:a="http://schemas.openxmlformats.org/drawingml/2006/main">
            <a:off x="640080" y="1097280"/>
            <a:ext cx="10881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Клиент видит, сколько получит семья и как текущий курс выглядит на фоне истории. Банк выбирает редкий повод напомнить о переводе.</a:t>
            </a:r>
            <a:endParaRPr sz="1350"/>
          </a:p>
        </p:txBody>
      </p:sp>
      <p:sp>
        <p:nvSpPr>
          <p:cNvPr id="6" name="Shape 4">
            <a:extLst xmlns:a="http://schemas.openxmlformats.org/drawingml/2006/main">
              <a:ext uri="{FF2B5EF4-FFF2-40B4-BE49-F238E27FC236}">
                <a16:creationId xmlns:a16="http://schemas.microsoft.com/office/drawing/2014/main" id="{2E029BE9-8C35-4DA9-A278-CDA50F54EE4C}"/>
              </a:ext>
            </a:extLst>
          </p:cNvPr>
          <p:cNvSpPr>
            <a:spLocks xmlns:a="http://schemas.openxmlformats.org/drawingml/2006/main" noGrp="1"/>
          </p:cNvSpPr>
          <p:nvPr/>
        </p:nvSpPr>
        <p:spPr>
          <a:xfrm xmlns:a="http://schemas.openxmlformats.org/drawingml/2006/main">
            <a:off x="64008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75A7BA44-47E9-4F75-9553-ABBCFE909660}"/>
              </a:ext>
            </a:extLst>
          </p:cNvPr>
          <p:cNvSpPr>
            <a:spLocks xmlns:a="http://schemas.openxmlformats.org/drawingml/2006/main" noGrp="1"/>
          </p:cNvSpPr>
          <p:nvPr/>
        </p:nvSpPr>
        <p:spPr>
          <a:xfrm xmlns:a="http://schemas.openxmlformats.org/drawingml/2006/main">
            <a:off x="65836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6674F"/>
                </a:solidFill>
                <a:latin typeface="Cambria"/>
                <a:ea typeface="Cambria"/>
                <a:cs typeface="Cambria"/>
              </a:rPr>
              <a:t>2,492 lift</a:t>
            </a:r>
            <a:endParaRPr sz="3400"/>
          </a:p>
        </p:txBody>
      </p:sp>
      <p:sp>
        <p:nvSpPr>
          <p:cNvPr id="8" name="Text 6">
            <a:extLst xmlns:a="http://schemas.openxmlformats.org/drawingml/2006/main">
              <a:ext uri="{FF2B5EF4-FFF2-40B4-BE49-F238E27FC236}">
                <a16:creationId xmlns:a16="http://schemas.microsoft.com/office/drawing/2014/main" id="{1B1806C4-C345-4CB2-B29F-5C7CAA5E7144}"/>
              </a:ext>
            </a:extLst>
          </p:cNvPr>
          <p:cNvSpPr>
            <a:spLocks xmlns:a="http://schemas.openxmlformats.org/drawingml/2006/main" noGrp="1"/>
          </p:cNvSpPr>
          <p:nvPr/>
        </p:nvSpPr>
        <p:spPr>
          <a:xfrm xmlns:a="http://schemas.openxmlformats.org/drawingml/2006/main">
            <a:off x="84124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Попадание: 73,38 % против 29,45 % у случайного дня. Горизонт: следующие пять публикаций ЦБ.</a:t>
            </a:r>
            <a:endParaRPr sz="1150"/>
          </a:p>
        </p:txBody>
      </p:sp>
      <p:sp>
        <p:nvSpPr>
          <p:cNvPr id="9" name="Shape 7">
            <a:extLst xmlns:a="http://schemas.openxmlformats.org/drawingml/2006/main">
              <a:ext uri="{FF2B5EF4-FFF2-40B4-BE49-F238E27FC236}">
                <a16:creationId xmlns:a16="http://schemas.microsoft.com/office/drawing/2014/main" id="{30C0EAD4-95C5-42DF-A1F0-AAEDF0CBDE54}"/>
              </a:ext>
            </a:extLst>
          </p:cNvPr>
          <p:cNvSpPr>
            <a:spLocks xmlns:a="http://schemas.openxmlformats.org/drawingml/2006/main" noGrp="1"/>
          </p:cNvSpPr>
          <p:nvPr/>
        </p:nvSpPr>
        <p:spPr>
          <a:xfrm xmlns:a="http://schemas.openxmlformats.org/drawingml/2006/main">
            <a:off x="4325112"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7CB3FAEC-F94C-4E15-B9B7-69E5714CC2D1}"/>
              </a:ext>
            </a:extLst>
          </p:cNvPr>
          <p:cNvSpPr>
            <a:spLocks xmlns:a="http://schemas.openxmlformats.org/drawingml/2006/main" noGrp="1"/>
          </p:cNvSpPr>
          <p:nvPr/>
        </p:nvSpPr>
        <p:spPr>
          <a:xfrm xmlns:a="http://schemas.openxmlformats.org/drawingml/2006/main">
            <a:off x="4343400"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1A2530"/>
                </a:solidFill>
                <a:latin typeface="Cambria"/>
                <a:ea typeface="Cambria"/>
                <a:cs typeface="Cambria"/>
              </a:rPr>
              <a:t>+74,55 б. п.</a:t>
            </a:r>
            <a:endParaRPr sz="3400"/>
          </a:p>
        </p:txBody>
      </p:sp>
      <p:sp>
        <p:nvSpPr>
          <p:cNvPr id="11" name="Text 9">
            <a:extLst xmlns:a="http://schemas.openxmlformats.org/drawingml/2006/main">
              <a:ext uri="{FF2B5EF4-FFF2-40B4-BE49-F238E27FC236}">
                <a16:creationId xmlns:a16="http://schemas.microsoft.com/office/drawing/2014/main" id="{CF110C7C-AA89-48C8-B603-4E6C0C005CB4}"/>
              </a:ext>
            </a:extLst>
          </p:cNvPr>
          <p:cNvSpPr>
            <a:spLocks xmlns:a="http://schemas.openxmlformats.org/drawingml/2006/main" noGrp="1"/>
          </p:cNvSpPr>
          <p:nvPr/>
        </p:nvSpPr>
        <p:spPr>
          <a:xfrm xmlns:a="http://schemas.openxmlformats.org/drawingml/2006/main">
            <a:off x="4526280"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Выгода момента в окне ±5 публикаций. Это результат по публичному курсу ЦБ, не обещанная экономия клиента.</a:t>
            </a:r>
            <a:endParaRPr sz="1150"/>
          </a:p>
        </p:txBody>
      </p:sp>
      <p:sp>
        <p:nvSpPr>
          <p:cNvPr id="12" name="Shape 10">
            <a:extLst xmlns:a="http://schemas.openxmlformats.org/drawingml/2006/main">
              <a:ext uri="{FF2B5EF4-FFF2-40B4-BE49-F238E27FC236}">
                <a16:creationId xmlns:a16="http://schemas.microsoft.com/office/drawing/2014/main" id="{15A8F195-0D2F-4DE7-A4FC-68751FC207BE}"/>
              </a:ext>
            </a:extLst>
          </p:cNvPr>
          <p:cNvSpPr>
            <a:spLocks xmlns:a="http://schemas.openxmlformats.org/drawingml/2006/main" noGrp="1"/>
          </p:cNvSpPr>
          <p:nvPr/>
        </p:nvSpPr>
        <p:spPr>
          <a:xfrm xmlns:a="http://schemas.openxmlformats.org/drawingml/2006/main">
            <a:off x="8001000" y="1700784"/>
            <a:ext cx="3520440" cy="1700784"/>
          </a:xfrm>
          <a:prstGeom xmlns:a="http://schemas.openxmlformats.org/drawingml/2006/main" prst="roundRect">
            <a:avLst>
              <a:gd name="adj" fmla="val 322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00290744-A6E0-4515-93F9-F03E205A3514}"/>
              </a:ext>
            </a:extLst>
          </p:cNvPr>
          <p:cNvSpPr>
            <a:spLocks xmlns:a="http://schemas.openxmlformats.org/drawingml/2006/main" noGrp="1"/>
          </p:cNvSpPr>
          <p:nvPr/>
        </p:nvSpPr>
        <p:spPr>
          <a:xfrm xmlns:a="http://schemas.openxmlformats.org/drawingml/2006/main">
            <a:off x="8019288" y="1865376"/>
            <a:ext cx="34838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400" b="1">
                <a:solidFill>
                  <a:srgbClr val="9C5B12"/>
                </a:solidFill>
                <a:latin typeface="Cambria"/>
                <a:ea typeface="Cambria"/>
                <a:cs typeface="Cambria"/>
              </a:rPr>
              <a:t>1,04 / нед.</a:t>
            </a:r>
            <a:endParaRPr sz="3400"/>
          </a:p>
        </p:txBody>
      </p:sp>
      <p:sp>
        <p:nvSpPr>
          <p:cNvPr id="14" name="Text 12">
            <a:extLst xmlns:a="http://schemas.openxmlformats.org/drawingml/2006/main">
              <a:ext uri="{FF2B5EF4-FFF2-40B4-BE49-F238E27FC236}">
                <a16:creationId xmlns:a16="http://schemas.microsoft.com/office/drawing/2014/main" id="{98371ADC-5985-4579-A674-7203AF6C216E}"/>
              </a:ext>
            </a:extLst>
          </p:cNvPr>
          <p:cNvSpPr>
            <a:spLocks xmlns:a="http://schemas.openxmlformats.org/drawingml/2006/main" noGrp="1"/>
          </p:cNvSpPr>
          <p:nvPr/>
        </p:nvSpPr>
        <p:spPr>
          <a:xfrm xmlns:a="http://schemas.openxmlformats.org/drawingml/2006/main">
            <a:off x="8202168" y="2615184"/>
            <a:ext cx="3118104"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50">
                <a:solidFill>
                  <a:srgbClr val="4E5966"/>
                </a:solidFill>
                <a:latin typeface="Calibri"/>
                <a:ea typeface="Calibri"/>
                <a:cs typeface="Calibri"/>
              </a:rPr>
              <a:t>Столько сигналов приходится на валюту в среднем. Не больше двух за календарную неделю.</a:t>
            </a:r>
            <a:endParaRPr sz="1150"/>
          </a:p>
        </p:txBody>
      </p:sp>
      <p:sp>
        <p:nvSpPr>
          <p:cNvPr id="15" name="Shape 13">
            <a:extLst xmlns:a="http://schemas.openxmlformats.org/drawingml/2006/main">
              <a:ext uri="{FF2B5EF4-FFF2-40B4-BE49-F238E27FC236}">
                <a16:creationId xmlns:a16="http://schemas.microsoft.com/office/drawing/2014/main" id="{625E3045-17B2-42C8-AE30-5DDC4A76B964}"/>
              </a:ext>
            </a:extLst>
          </p:cNvPr>
          <p:cNvSpPr>
            <a:spLocks xmlns:a="http://schemas.openxmlformats.org/drawingml/2006/main" noGrp="1"/>
          </p:cNvSpPr>
          <p:nvPr/>
        </p:nvSpPr>
        <p:spPr>
          <a:xfrm xmlns:a="http://schemas.openxmlformats.org/drawingml/2006/main">
            <a:off x="64008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6" name="Text 14">
            <a:extLst xmlns:a="http://schemas.openxmlformats.org/drawingml/2006/main">
              <a:ext uri="{FF2B5EF4-FFF2-40B4-BE49-F238E27FC236}">
                <a16:creationId xmlns:a16="http://schemas.microsoft.com/office/drawing/2014/main" id="{5EDE3B40-2EA8-4AE2-B919-F1A682EA806C}"/>
              </a:ext>
            </a:extLst>
          </p:cNvPr>
          <p:cNvSpPr>
            <a:spLocks xmlns:a="http://schemas.openxmlformats.org/drawingml/2006/main" noGrp="1"/>
          </p:cNvSpPr>
          <p:nvPr/>
        </p:nvSpPr>
        <p:spPr>
          <a:xfrm xmlns:a="http://schemas.openxmlformats.org/drawingml/2006/main">
            <a:off x="89611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Индикатор на экране суммы</a:t>
            </a:r>
            <a:endParaRPr sz="1550"/>
          </a:p>
        </p:txBody>
      </p:sp>
      <p:sp>
        <p:nvSpPr>
          <p:cNvPr id="17" name="Text 15">
            <a:extLst xmlns:a="http://schemas.openxmlformats.org/drawingml/2006/main">
              <a:ext uri="{FF2B5EF4-FFF2-40B4-BE49-F238E27FC236}">
                <a16:creationId xmlns:a16="http://schemas.microsoft.com/office/drawing/2014/main" id="{EA07E3BD-B8B2-4506-A963-322AA86B73CF}"/>
              </a:ext>
            </a:extLst>
          </p:cNvPr>
          <p:cNvSpPr>
            <a:spLocks xmlns:a="http://schemas.openxmlformats.org/drawingml/2006/main" noGrp="1"/>
          </p:cNvSpPr>
          <p:nvPr/>
        </p:nvSpPr>
        <p:spPr>
          <a:xfrm xmlns:a="http://schemas.openxmlformats.org/drawingml/2006/main">
            <a:off x="89611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Сумма получателя и сравнение с историей. Температура модели остаётся внутренней оценкой.</a:t>
            </a:r>
            <a:endParaRPr sz="1250"/>
          </a:p>
        </p:txBody>
      </p:sp>
      <p:sp>
        <p:nvSpPr>
          <p:cNvPr id="18" name="Shape 16">
            <a:extLst xmlns:a="http://schemas.openxmlformats.org/drawingml/2006/main">
              <a:ext uri="{FF2B5EF4-FFF2-40B4-BE49-F238E27FC236}">
                <a16:creationId xmlns:a16="http://schemas.microsoft.com/office/drawing/2014/main" id="{2103FEBC-6F5F-4CAA-820A-921482C71FD0}"/>
              </a:ext>
            </a:extLst>
          </p:cNvPr>
          <p:cNvSpPr>
            <a:spLocks xmlns:a="http://schemas.openxmlformats.org/drawingml/2006/main" noGrp="1"/>
          </p:cNvSpPr>
          <p:nvPr/>
        </p:nvSpPr>
        <p:spPr>
          <a:xfrm xmlns:a="http://schemas.openxmlformats.org/drawingml/2006/main">
            <a:off x="4325112"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19" name="Text 17">
            <a:extLst xmlns:a="http://schemas.openxmlformats.org/drawingml/2006/main">
              <a:ext uri="{FF2B5EF4-FFF2-40B4-BE49-F238E27FC236}">
                <a16:creationId xmlns:a16="http://schemas.microsoft.com/office/drawing/2014/main" id="{D1A27117-175C-48DB-9EB6-F8A45B88E97A}"/>
              </a:ext>
            </a:extLst>
          </p:cNvPr>
          <p:cNvSpPr>
            <a:spLocks xmlns:a="http://schemas.openxmlformats.org/drawingml/2006/main" noGrp="1"/>
          </p:cNvSpPr>
          <p:nvPr/>
        </p:nvSpPr>
        <p:spPr>
          <a:xfrm xmlns:a="http://schemas.openxmlformats.org/drawingml/2006/main">
            <a:off x="4581144"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2 · Оповещение об уровне</a:t>
            </a:r>
            <a:endParaRPr sz="1550"/>
          </a:p>
        </p:txBody>
      </p:sp>
      <p:sp>
        <p:nvSpPr>
          <p:cNvPr id="20" name="Text 18">
            <a:extLst xmlns:a="http://schemas.openxmlformats.org/drawingml/2006/main">
              <a:ext uri="{FF2B5EF4-FFF2-40B4-BE49-F238E27FC236}">
                <a16:creationId xmlns:a16="http://schemas.microsoft.com/office/drawing/2014/main" id="{BBD3E8E5-D2FB-4F05-8D7E-3FAA289ACCC1}"/>
              </a:ext>
            </a:extLst>
          </p:cNvPr>
          <p:cNvSpPr>
            <a:spLocks xmlns:a="http://schemas.openxmlformats.org/drawingml/2006/main" noGrp="1"/>
          </p:cNvSpPr>
          <p:nvPr/>
        </p:nvSpPr>
        <p:spPr>
          <a:xfrm xmlns:a="http://schemas.openxmlformats.org/drawingml/2006/main">
            <a:off x="4581144"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Порог называет сам клиент. Он получает возможность дождаться нужного курса, а банк – данные о намерении, которых у него нет.</a:t>
            </a:r>
            <a:endParaRPr sz="1250"/>
          </a:p>
        </p:txBody>
      </p:sp>
      <p:sp>
        <p:nvSpPr>
          <p:cNvPr id="21" name="Shape 19">
            <a:extLst xmlns:a="http://schemas.openxmlformats.org/drawingml/2006/main">
              <a:ext uri="{FF2B5EF4-FFF2-40B4-BE49-F238E27FC236}">
                <a16:creationId xmlns:a16="http://schemas.microsoft.com/office/drawing/2014/main" id="{0A640DAE-AB12-44AD-9DBD-CC6C85C06F24}"/>
              </a:ext>
            </a:extLst>
          </p:cNvPr>
          <p:cNvSpPr>
            <a:spLocks xmlns:a="http://schemas.openxmlformats.org/drawingml/2006/main" noGrp="1"/>
          </p:cNvSpPr>
          <p:nvPr/>
        </p:nvSpPr>
        <p:spPr>
          <a:xfrm xmlns:a="http://schemas.openxmlformats.org/drawingml/2006/main">
            <a:off x="8001000" y="3712464"/>
            <a:ext cx="3520440" cy="1956816"/>
          </a:xfrm>
          <a:prstGeom xmlns:a="http://schemas.openxmlformats.org/drawingml/2006/main" prst="roundRect">
            <a:avLst>
              <a:gd name="adj" fmla="val 2804"/>
            </a:avLst>
          </a:prstGeom>
          <a:solidFill xmlns:a="http://schemas.openxmlformats.org/drawingml/2006/main">
            <a:srgbClr val="F4F6F8"/>
          </a:solidFill>
        </p:spPr>
      </p:sp>
      <p:sp>
        <p:nvSpPr>
          <p:cNvPr id="22" name="Text 20">
            <a:extLst xmlns:a="http://schemas.openxmlformats.org/drawingml/2006/main">
              <a:ext uri="{FF2B5EF4-FFF2-40B4-BE49-F238E27FC236}">
                <a16:creationId xmlns:a16="http://schemas.microsoft.com/office/drawing/2014/main" id="{376C8CE9-47CE-4080-8EC8-62FF47838841}"/>
              </a:ext>
            </a:extLst>
          </p:cNvPr>
          <p:cNvSpPr>
            <a:spLocks xmlns:a="http://schemas.openxmlformats.org/drawingml/2006/main" noGrp="1"/>
          </p:cNvSpPr>
          <p:nvPr/>
        </p:nvSpPr>
        <p:spPr>
          <a:xfrm xmlns:a="http://schemas.openxmlformats.org/drawingml/2006/main">
            <a:off x="8257032" y="3895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3 · Отбор адресата</a:t>
            </a:r>
            <a:endParaRPr sz="1550"/>
          </a:p>
        </p:txBody>
      </p:sp>
      <p:sp>
        <p:nvSpPr>
          <p:cNvPr id="23" name="Text 21">
            <a:extLst xmlns:a="http://schemas.openxmlformats.org/drawingml/2006/main">
              <a:ext uri="{FF2B5EF4-FFF2-40B4-BE49-F238E27FC236}">
                <a16:creationId xmlns:a16="http://schemas.microsoft.com/office/drawing/2014/main" id="{E99CD497-8EB7-4A39-BF22-BC8386A74F3A}"/>
              </a:ext>
            </a:extLst>
          </p:cNvPr>
          <p:cNvSpPr>
            <a:spLocks xmlns:a="http://schemas.openxmlformats.org/drawingml/2006/main" noGrp="1"/>
          </p:cNvSpPr>
          <p:nvPr/>
        </p:nvSpPr>
        <p:spPr>
          <a:xfrm xmlns:a="http://schemas.openxmlformats.org/drawingml/2006/main">
            <a:off x="8257032" y="4425696"/>
            <a:ext cx="3008376"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банк добавит согласие клиента и общий лимит сообщений. Клиентских данных на хакатоне нет.</a:t>
            </a:r>
            <a:endParaRPr sz="1250"/>
          </a:p>
        </p:txBody>
      </p:sp>
      <p:sp>
        <p:nvSpPr>
          <p:cNvPr id="24" name="Text 22">
            <a:extLst xmlns:a="http://schemas.openxmlformats.org/drawingml/2006/main">
              <a:ext uri="{FF2B5EF4-FFF2-40B4-BE49-F238E27FC236}">
                <a16:creationId xmlns:a16="http://schemas.microsoft.com/office/drawing/2014/main" id="{52EB03D9-5E3E-4C52-A131-E14F24D5553F}"/>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AP37, h=5, 09.01.2024–25.08.2026. Открытая ретроспектива после получения нового курса ЦБ.</a:t>
            </a:r>
            <a:endParaRPr sz="1050"/>
          </a:p>
        </p:txBody>
      </p:sp>
    </p:spTree>
    <p:extLst>
      <p:ext uri="{BB962C8B-B14F-4D97-AF65-F5344CB8AC3E}">
        <p14:creationId xmlns:p14="http://schemas.microsoft.com/office/powerpoint/2010/main" val="13841300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9C2964-94CB-4598-A5CD-8C3F9B55EA3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BE66FB4-F93F-460F-B62F-F0ABFE3BBF9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62187979-FDD9-472D-8DF7-175AA9DCA23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Триггер: что вообще становится сигналом</a:t>
            </a:r>
            <a:endParaRPr sz="2700"/>
          </a:p>
        </p:txBody>
      </p:sp>
      <p:sp>
        <p:nvSpPr>
          <p:cNvPr id="5" name="Shape 3">
            <a:extLst xmlns:a="http://schemas.openxmlformats.org/drawingml/2006/main">
              <a:ext uri="{FF2B5EF4-FFF2-40B4-BE49-F238E27FC236}">
                <a16:creationId xmlns:a16="http://schemas.microsoft.com/office/drawing/2014/main" id="{25C0AA43-0AC9-4FD4-BF50-000ECCBE919B}"/>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6" name="Text 4">
            <a:extLst xmlns:a="http://schemas.openxmlformats.org/drawingml/2006/main">
              <a:ext uri="{FF2B5EF4-FFF2-40B4-BE49-F238E27FC236}">
                <a16:creationId xmlns:a16="http://schemas.microsoft.com/office/drawing/2014/main" id="{1CF65E21-C657-4D5F-8C68-38F46C62D69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FDCE46C0-BA16-4F10-83BA-1ED657E0FA75}"/>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50E33367-6FB3-489A-A499-4892BADC4F6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D49BE620-3D40-444A-9AB0-DB0403DC8EA8}"/>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0937F499-D88C-4F3C-894A-82E679A893C0}"/>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1294267-3DD2-4EF3-A72C-B9D4571694D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B08BE2B-4834-425F-9667-D2B0149A93C8}"/>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D2F353C9-A657-43DF-BD09-5326E3B6BBD5}"/>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EDA4B77-4861-47AF-8925-51F708AAE9B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B55422B6-D488-4141-B787-DD982DAF58FC}"/>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749D939E-E751-4885-96FC-C4C3FD9C1147}"/>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1151CA2-FEDA-441B-BA51-051D6BE3104F}"/>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A4284FCD-B4CE-45EA-8516-6BD925BD2800}"/>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B2C21D07-F9FF-4F76-BB3B-8FF60ED6106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1DDD7809-6943-48FF-894B-0E3CBA6F2536}"/>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95C9CF2B-D4C6-4467-BFDA-66AE290E5BB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2392DE1B-9E2A-424C-91AD-65F929E4E511}"/>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Первые два шага клиент не видит. Модель обновляется по мере поступления данных: история ЦБ, завершённые биржевые свечи, затем новый опубликованный курс.</a:t>
            </a:r>
            <a:endParaRPr sz="1350"/>
          </a:p>
        </p:txBody>
      </p:sp>
      <p:sp>
        <p:nvSpPr>
          <p:cNvPr id="23" name="Shape 21">
            <a:extLst xmlns:a="http://schemas.openxmlformats.org/drawingml/2006/main">
              <a:ext uri="{FF2B5EF4-FFF2-40B4-BE49-F238E27FC236}">
                <a16:creationId xmlns:a16="http://schemas.microsoft.com/office/drawing/2014/main" id="{91B23BD2-34C0-4011-B5FA-04C983DE5578}"/>
              </a:ext>
            </a:extLst>
          </p:cNvPr>
          <p:cNvSpPr>
            <a:spLocks xmlns:a="http://schemas.openxmlformats.org/drawingml/2006/main" noGrp="1"/>
          </p:cNvSpPr>
          <p:nvPr/>
        </p:nvSpPr>
        <p:spPr>
          <a:xfrm xmlns:a="http://schemas.openxmlformats.org/drawingml/2006/main">
            <a:off x="64008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7555B284-3612-4345-A295-5694CB74BBD7}"/>
              </a:ext>
            </a:extLst>
          </p:cNvPr>
          <p:cNvSpPr>
            <a:spLocks xmlns:a="http://schemas.openxmlformats.org/drawingml/2006/main" noGrp="1"/>
          </p:cNvSpPr>
          <p:nvPr/>
        </p:nvSpPr>
        <p:spPr>
          <a:xfrm xmlns:a="http://schemas.openxmlformats.org/drawingml/2006/main">
            <a:off x="89611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Модель момента</a:t>
            </a:r>
            <a:endParaRPr sz="1550"/>
          </a:p>
        </p:txBody>
      </p:sp>
      <p:sp>
        <p:nvSpPr>
          <p:cNvPr id="25" name="Text 23">
            <a:extLst xmlns:a="http://schemas.openxmlformats.org/drawingml/2006/main">
              <a:ext uri="{FF2B5EF4-FFF2-40B4-BE49-F238E27FC236}">
                <a16:creationId xmlns:a16="http://schemas.microsoft.com/office/drawing/2014/main" id="{EC7C94E3-850C-4703-A8E3-24314C26F228}"/>
              </a:ext>
            </a:extLst>
          </p:cNvPr>
          <p:cNvSpPr>
            <a:spLocks xmlns:a="http://schemas.openxmlformats.org/drawingml/2006/main" noGrp="1"/>
          </p:cNvSpPr>
          <p:nvPr/>
        </p:nvSpPr>
        <p:spPr>
          <a:xfrm xmlns:a="http://schemas.openxmlformats.org/drawingml/2006/main">
            <a:off x="89611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Оценка удачности перевода на ближайшие пять публикаций. Отдельный фильтр решает, нужен ли пуш.</a:t>
            </a:r>
            <a:endParaRPr sz="1250"/>
          </a:p>
        </p:txBody>
      </p:sp>
      <p:sp>
        <p:nvSpPr>
          <p:cNvPr id="26" name="Shape 24">
            <a:extLst xmlns:a="http://schemas.openxmlformats.org/drawingml/2006/main">
              <a:ext uri="{FF2B5EF4-FFF2-40B4-BE49-F238E27FC236}">
                <a16:creationId xmlns:a16="http://schemas.microsoft.com/office/drawing/2014/main" id="{C82635A0-274D-4CC1-9853-A18070D11F35}"/>
              </a:ext>
            </a:extLst>
          </p:cNvPr>
          <p:cNvSpPr>
            <a:spLocks xmlns:a="http://schemas.openxmlformats.org/drawingml/2006/main" noGrp="1"/>
          </p:cNvSpPr>
          <p:nvPr/>
        </p:nvSpPr>
        <p:spPr>
          <a:xfrm xmlns:a="http://schemas.openxmlformats.org/drawingml/2006/main">
            <a:off x="4325112"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475AA993-3AE3-4D34-9D45-377D92762895}"/>
              </a:ext>
            </a:extLst>
          </p:cNvPr>
          <p:cNvSpPr>
            <a:spLocks xmlns:a="http://schemas.openxmlformats.org/drawingml/2006/main" noGrp="1"/>
          </p:cNvSpPr>
          <p:nvPr/>
        </p:nvSpPr>
        <p:spPr>
          <a:xfrm xmlns:a="http://schemas.openxmlformats.org/drawingml/2006/main">
            <a:off x="4581144"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Факт для клиента</a:t>
            </a:r>
            <a:endParaRPr sz="1550"/>
          </a:p>
        </p:txBody>
      </p:sp>
      <p:sp>
        <p:nvSpPr>
          <p:cNvPr id="28" name="Text 26">
            <a:extLst xmlns:a="http://schemas.openxmlformats.org/drawingml/2006/main">
              <a:ext uri="{FF2B5EF4-FFF2-40B4-BE49-F238E27FC236}">
                <a16:creationId xmlns:a16="http://schemas.microsoft.com/office/drawing/2014/main" id="{5C4777BD-676F-4218-91CB-873D012CA6C3}"/>
              </a:ext>
            </a:extLst>
          </p:cNvPr>
          <p:cNvSpPr>
            <a:spLocks xmlns:a="http://schemas.openxmlformats.org/drawingml/2006/main" noGrp="1"/>
          </p:cNvSpPr>
          <p:nvPr/>
        </p:nvSpPr>
        <p:spPr>
          <a:xfrm xmlns:a="http://schemas.openxmlformats.org/drawingml/2006/main">
            <a:off x="4581144"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Уровень относительно прошлых 90 дней, изменение за неделю или достигнутый порог клиента. Только проверяемый факт.</a:t>
            </a:r>
            <a:endParaRPr sz="1250"/>
          </a:p>
        </p:txBody>
      </p:sp>
      <p:sp>
        <p:nvSpPr>
          <p:cNvPr id="29" name="Shape 27">
            <a:extLst xmlns:a="http://schemas.openxmlformats.org/drawingml/2006/main">
              <a:ext uri="{FF2B5EF4-FFF2-40B4-BE49-F238E27FC236}">
                <a16:creationId xmlns:a16="http://schemas.microsoft.com/office/drawing/2014/main" id="{E649DF89-7066-41E2-8851-752ED36C71CE}"/>
              </a:ext>
            </a:extLst>
          </p:cNvPr>
          <p:cNvSpPr>
            <a:spLocks xmlns:a="http://schemas.openxmlformats.org/drawingml/2006/main" noGrp="1"/>
          </p:cNvSpPr>
          <p:nvPr/>
        </p:nvSpPr>
        <p:spPr>
          <a:xfrm xmlns:a="http://schemas.openxmlformats.org/drawingml/2006/main">
            <a:off x="8001000" y="2066544"/>
            <a:ext cx="3520440" cy="2011680"/>
          </a:xfrm>
          <a:prstGeom xmlns:a="http://schemas.openxmlformats.org/drawingml/2006/main" prst="roundRect">
            <a:avLst>
              <a:gd name="adj" fmla="val 2727"/>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EEF9E1C8-E623-403D-8EFB-717BA9D364D4}"/>
              </a:ext>
            </a:extLst>
          </p:cNvPr>
          <p:cNvSpPr>
            <a:spLocks xmlns:a="http://schemas.openxmlformats.org/drawingml/2006/main" noGrp="1"/>
          </p:cNvSpPr>
          <p:nvPr/>
        </p:nvSpPr>
        <p:spPr>
          <a:xfrm xmlns:a="http://schemas.openxmlformats.org/drawingml/2006/main">
            <a:off x="8257032" y="224942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Свой уровень</a:t>
            </a:r>
            <a:endParaRPr sz="1550"/>
          </a:p>
        </p:txBody>
      </p:sp>
      <p:sp>
        <p:nvSpPr>
          <p:cNvPr id="31" name="Text 29">
            <a:extLst xmlns:a="http://schemas.openxmlformats.org/drawingml/2006/main">
              <a:ext uri="{FF2B5EF4-FFF2-40B4-BE49-F238E27FC236}">
                <a16:creationId xmlns:a16="http://schemas.microsoft.com/office/drawing/2014/main" id="{37BBF6FF-F0FB-4571-8729-131BF76CF9F2}"/>
              </a:ext>
            </a:extLst>
          </p:cNvPr>
          <p:cNvSpPr>
            <a:spLocks xmlns:a="http://schemas.openxmlformats.org/drawingml/2006/main" noGrp="1"/>
          </p:cNvSpPr>
          <p:nvPr/>
        </p:nvSpPr>
        <p:spPr>
          <a:xfrm xmlns:a="http://schemas.openxmlformats.org/drawingml/2006/main">
            <a:off x="8257032" y="2779776"/>
            <a:ext cx="3008376"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Клиент сам называет нужную сумму получателю. Это дополнительная ветка продукта, отдельно от качества модели.</a:t>
            </a:r>
            <a:endParaRPr sz="1250"/>
          </a:p>
        </p:txBody>
      </p:sp>
      <p:sp>
        <p:nvSpPr>
          <p:cNvPr id="32" name="Shape 30">
            <a:extLst xmlns:a="http://schemas.openxmlformats.org/drawingml/2006/main">
              <a:ext uri="{FF2B5EF4-FFF2-40B4-BE49-F238E27FC236}">
                <a16:creationId xmlns:a16="http://schemas.microsoft.com/office/drawing/2014/main" id="{BA19E8E6-2A25-4648-A37E-F45A289179C0}"/>
              </a:ext>
            </a:extLst>
          </p:cNvPr>
          <p:cNvSpPr>
            <a:spLocks xmlns:a="http://schemas.openxmlformats.org/drawingml/2006/main" noGrp="1"/>
          </p:cNvSpPr>
          <p:nvPr/>
        </p:nvSpPr>
        <p:spPr>
          <a:xfrm xmlns:a="http://schemas.openxmlformats.org/drawingml/2006/main">
            <a:off x="640080" y="4315968"/>
            <a:ext cx="10881360" cy="1371600"/>
          </a:xfrm>
          <a:prstGeom xmlns:a="http://schemas.openxmlformats.org/drawingml/2006/main" prst="roundRect">
            <a:avLst>
              <a:gd name="adj" fmla="val 4000"/>
            </a:avLst>
          </a:prstGeom>
          <a:solidFill xmlns:a="http://schemas.openxmlformats.org/drawingml/2006/main">
            <a:srgbClr val="1A2530"/>
          </a:solidFill>
        </p:spPr>
      </p:sp>
      <p:sp>
        <p:nvSpPr>
          <p:cNvPr id="33" name="Text 31">
            <a:extLst xmlns:a="http://schemas.openxmlformats.org/drawingml/2006/main">
              <a:ext uri="{FF2B5EF4-FFF2-40B4-BE49-F238E27FC236}">
                <a16:creationId xmlns:a16="http://schemas.microsoft.com/office/drawing/2014/main" id="{895431C6-F236-40AA-B040-5108D3549B07}"/>
              </a:ext>
            </a:extLst>
          </p:cNvPr>
          <p:cNvSpPr>
            <a:spLocks xmlns:a="http://schemas.openxmlformats.org/drawingml/2006/main" noGrp="1"/>
          </p:cNvSpPr>
          <p:nvPr/>
        </p:nvSpPr>
        <p:spPr>
          <a:xfrm xmlns:a="http://schemas.openxmlformats.org/drawingml/2006/main">
            <a:off x="914400" y="44714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Модель выбирает момент, текст объясняет настоящее</a:t>
            </a:r>
            <a:endParaRPr sz="1550"/>
          </a:p>
        </p:txBody>
      </p:sp>
      <p:sp>
        <p:nvSpPr>
          <p:cNvPr id="34" name="Text 32">
            <a:extLst xmlns:a="http://schemas.openxmlformats.org/drawingml/2006/main">
              <a:ext uri="{FF2B5EF4-FFF2-40B4-BE49-F238E27FC236}">
                <a16:creationId xmlns:a16="http://schemas.microsoft.com/office/drawing/2014/main" id="{7756B851-3922-4D78-88D1-16DBA9AD6C2B}"/>
              </a:ext>
            </a:extLst>
          </p:cNvPr>
          <p:cNvSpPr>
            <a:spLocks xmlns:a="http://schemas.openxmlformats.org/drawingml/2006/main" noGrp="1"/>
          </p:cNvSpPr>
          <p:nvPr/>
        </p:nvSpPr>
        <p:spPr>
          <a:xfrm xmlns:a="http://schemas.openxmlformats.org/drawingml/2006/main">
            <a:off x="914400" y="4846320"/>
            <a:ext cx="103327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Температура 0–100 используется внутри системы. В пуш и виджет не выводим вероятность будущего курса. Если для сильного сигнала нет подходящего факта, коммуникацию пропускаем.</a:t>
            </a:r>
            <a:endParaRPr sz="1250"/>
          </a:p>
        </p:txBody>
      </p:sp>
      <p:sp>
        <p:nvSpPr>
          <p:cNvPr id="35" name="Text 33">
            <a:extLst xmlns:a="http://schemas.openxmlformats.org/drawingml/2006/main">
              <a:ext uri="{FF2B5EF4-FFF2-40B4-BE49-F238E27FC236}">
                <a16:creationId xmlns:a16="http://schemas.microsoft.com/office/drawing/2014/main" id="{C966DB1F-E544-48A8-8FCF-5B400F5B0CB7}"/>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Частоту после клиентских фильтров нужно отдельно измерить в пилоте. Метрики модели считаются до них.</a:t>
            </a:r>
            <a:endParaRPr sz="1050"/>
          </a:p>
        </p:txBody>
      </p:sp>
    </p:spTree>
    <p:extLst>
      <p:ext uri="{BB962C8B-B14F-4D97-AF65-F5344CB8AC3E}">
        <p14:creationId xmlns:p14="http://schemas.microsoft.com/office/powerpoint/2010/main" val="6718995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AD9234F-CA3D-4177-A300-D1CF9BE529F1}"/>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5970F8A6-C720-4A6B-9A72-324D92EDF61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6343C0DE-E75B-4175-A140-735BB81FBC9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Фильтр: что отсеивается до отправки</a:t>
            </a:r>
            <a:endParaRPr sz="2700"/>
          </a:p>
        </p:txBody>
      </p:sp>
      <p:sp>
        <p:nvSpPr>
          <p:cNvPr id="5" name="Shape 3">
            <a:extLst xmlns:a="http://schemas.openxmlformats.org/drawingml/2006/main">
              <a:ext uri="{FF2B5EF4-FFF2-40B4-BE49-F238E27FC236}">
                <a16:creationId xmlns:a16="http://schemas.microsoft.com/office/drawing/2014/main" id="{78DC6574-870B-4667-BE0D-56DFC18C489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6BAC066C-C616-404C-8855-1749AE05E48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3F6B7F3-8084-47B7-B630-3ECF6C094A69}"/>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A97D6D63-3F0A-4ACA-87F5-C9C4B0FB230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9" name="Text 7">
            <a:extLst xmlns:a="http://schemas.openxmlformats.org/drawingml/2006/main">
              <a:ext uri="{FF2B5EF4-FFF2-40B4-BE49-F238E27FC236}">
                <a16:creationId xmlns:a16="http://schemas.microsoft.com/office/drawing/2014/main" id="{A9EC4136-BF61-4AC8-9637-0F7E3132A9FE}"/>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9FD39CE-B370-4570-A18B-31C7060E777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719EECC5-E5C4-4B12-A252-136584E8143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F0BDC346-78A2-4BA7-883D-FE0ABE4F70C6}"/>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55BDCDBA-802E-4619-A56C-FFBCA73E5176}"/>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DF303A22-8D1C-47A2-B3E5-AACCC48C5E6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8840DA76-E9BF-43A1-B141-578DA0DACF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EFF386EA-476E-4BD4-B8F0-4362809F4206}"/>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945685A4-79F8-4E8B-9DD7-E0DD629E305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1D1C1527-5FA9-46DF-8279-1790ED9B666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AA1F901-D270-4FFB-BF84-1C304294C1F1}"/>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E1C9A788-9AAE-4B2F-B9C0-FBF65043652A}"/>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6C04959F-8883-4F13-AE77-AC995969510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sp>
        <p:nvSpPr>
          <p:cNvPr id="22" name="Text 20">
            <a:extLst xmlns:a="http://schemas.openxmlformats.org/drawingml/2006/main">
              <a:ext uri="{FF2B5EF4-FFF2-40B4-BE49-F238E27FC236}">
                <a16:creationId xmlns:a16="http://schemas.microsoft.com/office/drawing/2014/main" id="{B48BBB89-6B8F-44A7-AF74-DEA0C07656E9}"/>
              </a:ext>
            </a:extLst>
          </p:cNvPr>
          <p:cNvSpPr>
            <a:spLocks xmlns:a="http://schemas.openxmlformats.org/drawingml/2006/main" noGrp="1"/>
          </p:cNvSpPr>
          <p:nvPr/>
        </p:nvSpPr>
        <p:spPr>
          <a:xfrm xmlns:a="http://schemas.openxmlformats.org/drawingml/2006/main">
            <a:off x="640080" y="1481328"/>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Из сработавших оставляем те, что дойдут живыми и вовремя. Второй шаг клиент тоже не видит – но именно он решает, станет ли продукт спамом.</a:t>
            </a:r>
            <a:endParaRPr sz="1350"/>
          </a:p>
        </p:txBody>
      </p:sp>
      <p:sp>
        <p:nvSpPr>
          <p:cNvPr id="23" name="Shape 21">
            <a:extLst xmlns:a="http://schemas.openxmlformats.org/drawingml/2006/main">
              <a:ext uri="{FF2B5EF4-FFF2-40B4-BE49-F238E27FC236}">
                <a16:creationId xmlns:a16="http://schemas.microsoft.com/office/drawing/2014/main" id="{772DEB66-B0E1-480A-B811-3EF53016E7C2}"/>
              </a:ext>
            </a:extLst>
          </p:cNvPr>
          <p:cNvSpPr>
            <a:spLocks xmlns:a="http://schemas.openxmlformats.org/drawingml/2006/main" noGrp="1"/>
          </p:cNvSpPr>
          <p:nvPr/>
        </p:nvSpPr>
        <p:spPr>
          <a:xfrm xmlns:a="http://schemas.openxmlformats.org/drawingml/2006/main">
            <a:off x="640080"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4" name="Text 22">
            <a:extLst xmlns:a="http://schemas.openxmlformats.org/drawingml/2006/main">
              <a:ext uri="{FF2B5EF4-FFF2-40B4-BE49-F238E27FC236}">
                <a16:creationId xmlns:a16="http://schemas.microsoft.com/office/drawing/2014/main" id="{803B01A6-85D1-46C0-A623-63E5DB1BBC2F}"/>
              </a:ext>
            </a:extLst>
          </p:cNvPr>
          <p:cNvSpPr>
            <a:spLocks xmlns:a="http://schemas.openxmlformats.org/drawingml/2006/main" noGrp="1"/>
          </p:cNvSpPr>
          <p:nvPr/>
        </p:nvSpPr>
        <p:spPr>
          <a:xfrm xmlns:a="http://schemas.openxmlformats.org/drawingml/2006/main">
            <a:off x="896112"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Прореживание серий</a:t>
            </a:r>
            <a:endParaRPr sz="1550"/>
          </a:p>
        </p:txBody>
      </p:sp>
      <p:sp>
        <p:nvSpPr>
          <p:cNvPr id="25" name="Text 23">
            <a:extLst xmlns:a="http://schemas.openxmlformats.org/drawingml/2006/main">
              <a:ext uri="{FF2B5EF4-FFF2-40B4-BE49-F238E27FC236}">
                <a16:creationId xmlns:a16="http://schemas.microsoft.com/office/drawing/2014/main" id="{3A22B007-8D62-4C4C-B8BE-C92C78D6D393}"/>
              </a:ext>
            </a:extLst>
          </p:cNvPr>
          <p:cNvSpPr>
            <a:spLocks xmlns:a="http://schemas.openxmlformats.org/drawingml/2006/main" noGrp="1"/>
          </p:cNvSpPr>
          <p:nvPr/>
        </p:nvSpPr>
        <p:spPr>
          <a:xfrm xmlns:a="http://schemas.openxmlformats.org/drawingml/2006/main">
            <a:off x="896112"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AP37 ограничивает поток двумя сигналами в неделю на валюту. Сильное ядро дополняется резервным сигналом при долгой тишине.</a:t>
            </a:r>
            <a:endParaRPr sz="1250"/>
          </a:p>
        </p:txBody>
      </p:sp>
      <p:sp>
        <p:nvSpPr>
          <p:cNvPr id="26" name="Shape 24">
            <a:extLst xmlns:a="http://schemas.openxmlformats.org/drawingml/2006/main">
              <a:ext uri="{FF2B5EF4-FFF2-40B4-BE49-F238E27FC236}">
                <a16:creationId xmlns:a16="http://schemas.microsoft.com/office/drawing/2014/main" id="{1841536A-DC82-4040-A4A8-9320E09D4AE4}"/>
              </a:ext>
            </a:extLst>
          </p:cNvPr>
          <p:cNvSpPr>
            <a:spLocks xmlns:a="http://schemas.openxmlformats.org/drawingml/2006/main" noGrp="1"/>
          </p:cNvSpPr>
          <p:nvPr/>
        </p:nvSpPr>
        <p:spPr>
          <a:xfrm xmlns:a="http://schemas.openxmlformats.org/drawingml/2006/main">
            <a:off x="6153912" y="2048256"/>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27" name="Text 25">
            <a:extLst xmlns:a="http://schemas.openxmlformats.org/drawingml/2006/main">
              <a:ext uri="{FF2B5EF4-FFF2-40B4-BE49-F238E27FC236}">
                <a16:creationId xmlns:a16="http://schemas.microsoft.com/office/drawing/2014/main" id="{6BADEAF1-0D94-4D91-ABA2-729D2F4F58D8}"/>
              </a:ext>
            </a:extLst>
          </p:cNvPr>
          <p:cNvSpPr>
            <a:spLocks xmlns:a="http://schemas.openxmlformats.org/drawingml/2006/main" noGrp="1"/>
          </p:cNvSpPr>
          <p:nvPr/>
        </p:nvSpPr>
        <p:spPr>
          <a:xfrm xmlns:a="http://schemas.openxmlformats.org/drawingml/2006/main">
            <a:off x="6409944" y="2231136"/>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Календарные ограничения</a:t>
            </a:r>
            <a:endParaRPr sz="1550"/>
          </a:p>
        </p:txBody>
      </p:sp>
      <p:sp>
        <p:nvSpPr>
          <p:cNvPr id="28" name="Text 26">
            <a:extLst xmlns:a="http://schemas.openxmlformats.org/drawingml/2006/main">
              <a:ext uri="{FF2B5EF4-FFF2-40B4-BE49-F238E27FC236}">
                <a16:creationId xmlns:a16="http://schemas.microsoft.com/office/drawing/2014/main" id="{1718D42E-4EC2-4AC7-84E6-DB59C2DA8747}"/>
              </a:ext>
            </a:extLst>
          </p:cNvPr>
          <p:cNvSpPr>
            <a:spLocks xmlns:a="http://schemas.openxmlformats.org/drawingml/2006/main" noGrp="1"/>
          </p:cNvSpPr>
          <p:nvPr/>
        </p:nvSpPr>
        <p:spPr>
          <a:xfrm xmlns:a="http://schemas.openxmlformats.org/drawingml/2006/main">
            <a:off x="6409944" y="2761488"/>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Продуктовое правило: учитываем значимые даты коридора. Например, не используем поздравительный повод 24 апреля для Армении.</a:t>
            </a:r>
            <a:endParaRPr sz="1250"/>
          </a:p>
        </p:txBody>
      </p:sp>
      <p:sp>
        <p:nvSpPr>
          <p:cNvPr id="29" name="Shape 27">
            <a:extLst xmlns:a="http://schemas.openxmlformats.org/drawingml/2006/main">
              <a:ext uri="{FF2B5EF4-FFF2-40B4-BE49-F238E27FC236}">
                <a16:creationId xmlns:a16="http://schemas.microsoft.com/office/drawing/2014/main" id="{273A2DCC-2202-4412-94ED-72F6E140ADAB}"/>
              </a:ext>
            </a:extLst>
          </p:cNvPr>
          <p:cNvSpPr>
            <a:spLocks xmlns:a="http://schemas.openxmlformats.org/drawingml/2006/main" noGrp="1"/>
          </p:cNvSpPr>
          <p:nvPr/>
        </p:nvSpPr>
        <p:spPr>
          <a:xfrm xmlns:a="http://schemas.openxmlformats.org/drawingml/2006/main">
            <a:off x="640080"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0" name="Text 28">
            <a:extLst xmlns:a="http://schemas.openxmlformats.org/drawingml/2006/main">
              <a:ext uri="{FF2B5EF4-FFF2-40B4-BE49-F238E27FC236}">
                <a16:creationId xmlns:a16="http://schemas.microsoft.com/office/drawing/2014/main" id="{A4FBF6C2-58CF-414D-8BB9-8A1EF976D6DD}"/>
              </a:ext>
            </a:extLst>
          </p:cNvPr>
          <p:cNvSpPr>
            <a:spLocks xmlns:a="http://schemas.openxmlformats.org/drawingml/2006/main" noGrp="1"/>
          </p:cNvSpPr>
          <p:nvPr/>
        </p:nvSpPr>
        <p:spPr>
          <a:xfrm xmlns:a="http://schemas.openxmlformats.org/drawingml/2006/main">
            <a:off x="896112"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Часовые пояса</a:t>
            </a:r>
            <a:endParaRPr sz="1550"/>
          </a:p>
        </p:txBody>
      </p:sp>
      <p:sp>
        <p:nvSpPr>
          <p:cNvPr id="31" name="Text 29">
            <a:extLst xmlns:a="http://schemas.openxmlformats.org/drawingml/2006/main">
              <a:ext uri="{FF2B5EF4-FFF2-40B4-BE49-F238E27FC236}">
                <a16:creationId xmlns:a16="http://schemas.microsoft.com/office/drawing/2014/main" id="{B8B665CD-0710-4204-A3AD-0E24E5BC6F26}"/>
              </a:ext>
            </a:extLst>
          </p:cNvPr>
          <p:cNvSpPr>
            <a:spLocks xmlns:a="http://schemas.openxmlformats.org/drawingml/2006/main" noGrp="1"/>
          </p:cNvSpPr>
          <p:nvPr/>
        </p:nvSpPr>
        <p:spPr>
          <a:xfrm xmlns:a="http://schemas.openxmlformats.org/drawingml/2006/main">
            <a:off x="896112"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Отправка по местному времени клиента. Если вечерняя публикация попала в ночь, утром заново проверяем сигнал и курс.</a:t>
            </a:r>
            <a:endParaRPr sz="1250"/>
          </a:p>
        </p:txBody>
      </p:sp>
      <p:sp>
        <p:nvSpPr>
          <p:cNvPr id="32" name="Shape 30">
            <a:extLst xmlns:a="http://schemas.openxmlformats.org/drawingml/2006/main">
              <a:ext uri="{FF2B5EF4-FFF2-40B4-BE49-F238E27FC236}">
                <a16:creationId xmlns:a16="http://schemas.microsoft.com/office/drawing/2014/main" id="{725500F5-D53B-48C5-9D70-B92366ADDF0E}"/>
              </a:ext>
            </a:extLst>
          </p:cNvPr>
          <p:cNvSpPr>
            <a:spLocks xmlns:a="http://schemas.openxmlformats.org/drawingml/2006/main" noGrp="1"/>
          </p:cNvSpPr>
          <p:nvPr/>
        </p:nvSpPr>
        <p:spPr>
          <a:xfrm xmlns:a="http://schemas.openxmlformats.org/drawingml/2006/main">
            <a:off x="6153912" y="3730752"/>
            <a:ext cx="5367528" cy="1572768"/>
          </a:xfrm>
          <a:prstGeom xmlns:a="http://schemas.openxmlformats.org/drawingml/2006/main" prst="roundRect">
            <a:avLst>
              <a:gd name="adj" fmla="val 3488"/>
            </a:avLst>
          </a:prstGeom>
          <a:solidFill xmlns:a="http://schemas.openxmlformats.org/drawingml/2006/main">
            <a:srgbClr val="F4F6F8"/>
          </a:solidFill>
        </p:spPr>
      </p:sp>
      <p:sp>
        <p:nvSpPr>
          <p:cNvPr id="33" name="Text 31">
            <a:extLst xmlns:a="http://schemas.openxmlformats.org/drawingml/2006/main">
              <a:ext uri="{FF2B5EF4-FFF2-40B4-BE49-F238E27FC236}">
                <a16:creationId xmlns:a16="http://schemas.microsoft.com/office/drawing/2014/main" id="{855FB4D2-E3AF-4FE5-9148-30B43A19B10A}"/>
              </a:ext>
            </a:extLst>
          </p:cNvPr>
          <p:cNvSpPr>
            <a:spLocks xmlns:a="http://schemas.openxmlformats.org/drawingml/2006/main" noGrp="1"/>
          </p:cNvSpPr>
          <p:nvPr/>
        </p:nvSpPr>
        <p:spPr>
          <a:xfrm xmlns:a="http://schemas.openxmlformats.org/drawingml/2006/main">
            <a:off x="6409944" y="3913632"/>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Достоверность и свежесть</a:t>
            </a:r>
            <a:endParaRPr sz="1550"/>
          </a:p>
        </p:txBody>
      </p:sp>
      <p:sp>
        <p:nvSpPr>
          <p:cNvPr id="34" name="Text 32">
            <a:extLst xmlns:a="http://schemas.openxmlformats.org/drawingml/2006/main">
              <a:ext uri="{FF2B5EF4-FFF2-40B4-BE49-F238E27FC236}">
                <a16:creationId xmlns:a16="http://schemas.microsoft.com/office/drawing/2014/main" id="{8BF5743A-B2B1-4637-A0A4-C8288032171A}"/>
              </a:ext>
            </a:extLst>
          </p:cNvPr>
          <p:cNvSpPr>
            <a:spLocks xmlns:a="http://schemas.openxmlformats.org/drawingml/2006/main" noGrp="1"/>
          </p:cNvSpPr>
          <p:nvPr/>
        </p:nvSpPr>
        <p:spPr>
          <a:xfrm xmlns:a="http://schemas.openxmlformats.org/drawingml/2006/main">
            <a:off x="6409944" y="4443984"/>
            <a:ext cx="4855464"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получен источник, нет сильного сигнала или безопасного текста: молчим. Слабый сигнал не отправляем ради плана.</a:t>
            </a:r>
            <a:endParaRPr sz="1250"/>
          </a:p>
        </p:txBody>
      </p:sp>
      <p:sp>
        <p:nvSpPr>
          <p:cNvPr id="35" name="Shape 33">
            <a:extLst xmlns:a="http://schemas.openxmlformats.org/drawingml/2006/main">
              <a:ext uri="{FF2B5EF4-FFF2-40B4-BE49-F238E27FC236}">
                <a16:creationId xmlns:a16="http://schemas.microsoft.com/office/drawing/2014/main" id="{76979E29-5C1E-42FD-8A40-201366B8B936}"/>
              </a:ext>
            </a:extLst>
          </p:cNvPr>
          <p:cNvSpPr>
            <a:spLocks xmlns:a="http://schemas.openxmlformats.org/drawingml/2006/main" noGrp="1"/>
          </p:cNvSpPr>
          <p:nvPr/>
        </p:nvSpPr>
        <p:spPr>
          <a:xfrm xmlns:a="http://schemas.openxmlformats.org/drawingml/2006/main">
            <a:off x="640080" y="5358384"/>
            <a:ext cx="10881360" cy="1133856"/>
          </a:xfrm>
          <a:prstGeom xmlns:a="http://schemas.openxmlformats.org/drawingml/2006/main" prst="roundRect">
            <a:avLst>
              <a:gd name="adj" fmla="val 4839"/>
            </a:avLst>
          </a:prstGeom>
          <a:solidFill xmlns:a="http://schemas.openxmlformats.org/drawingml/2006/main">
            <a:srgbClr val="1A2530"/>
          </a:solidFill>
        </p:spPr>
      </p:sp>
      <p:sp>
        <p:nvSpPr>
          <p:cNvPr id="36" name="Text 34">
            <a:extLst xmlns:a="http://schemas.openxmlformats.org/drawingml/2006/main">
              <a:ext uri="{FF2B5EF4-FFF2-40B4-BE49-F238E27FC236}">
                <a16:creationId xmlns:a16="http://schemas.microsoft.com/office/drawing/2014/main" id="{6B7A5CD1-372E-4A81-928E-A041BC3AE9A5}"/>
              </a:ext>
            </a:extLst>
          </p:cNvPr>
          <p:cNvSpPr>
            <a:spLocks xmlns:a="http://schemas.openxmlformats.org/drawingml/2006/main" noGrp="1"/>
          </p:cNvSpPr>
          <p:nvPr/>
        </p:nvSpPr>
        <p:spPr>
          <a:xfrm xmlns:a="http://schemas.openxmlformats.org/drawingml/2006/main">
            <a:off x="914400" y="551383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Граница прототипа и пилота</a:t>
            </a:r>
            <a:endParaRPr sz="1550"/>
          </a:p>
        </p:txBody>
      </p:sp>
      <p:sp>
        <p:nvSpPr>
          <p:cNvPr id="37" name="Text 35">
            <a:extLst xmlns:a="http://schemas.openxmlformats.org/drawingml/2006/main">
              <a:ext uri="{FF2B5EF4-FFF2-40B4-BE49-F238E27FC236}">
                <a16:creationId xmlns:a16="http://schemas.microsoft.com/office/drawing/2014/main" id="{2301F2EE-2C09-41BC-91BC-BAEA3D620076}"/>
              </a:ext>
            </a:extLst>
          </p:cNvPr>
          <p:cNvSpPr>
            <a:spLocks xmlns:a="http://schemas.openxmlformats.org/drawingml/2006/main" noGrp="1"/>
          </p:cNvSpPr>
          <p:nvPr/>
        </p:nvSpPr>
        <p:spPr>
          <a:xfrm xmlns:a="http://schemas.openxmlformats.org/drawingml/2006/main">
            <a:off x="914400" y="5888736"/>
            <a:ext cx="103327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Фильтр AP37 уже реализован: в среднем 1,04 сигнала на валюту в неделю. Общий лимит на клиента, время отправки и разрешения должен подключить банк.</a:t>
            </a:r>
            <a:endParaRPr sz="1250"/>
          </a:p>
        </p:txBody>
      </p:sp>
    </p:spTree>
    <p:extLst>
      <p:ext uri="{BB962C8B-B14F-4D97-AF65-F5344CB8AC3E}">
        <p14:creationId xmlns:p14="http://schemas.microsoft.com/office/powerpoint/2010/main" val="14141502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9D0393D-A399-4AF3-9CD4-87836E5E202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955592CB-0740-4709-8E6C-D9A0FD097C2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EA456DC0-9239-4EF7-8180-7C5F224ED06C}"/>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одно сообщение, одно число</a:t>
            </a:r>
            <a:endParaRPr sz="2700"/>
          </a:p>
        </p:txBody>
      </p:sp>
      <p:sp>
        <p:nvSpPr>
          <p:cNvPr id="5" name="Shape 3">
            <a:extLst xmlns:a="http://schemas.openxmlformats.org/drawingml/2006/main">
              <a:ext uri="{FF2B5EF4-FFF2-40B4-BE49-F238E27FC236}">
                <a16:creationId xmlns:a16="http://schemas.microsoft.com/office/drawing/2014/main" id="{73E9EEA4-7595-41CC-BEB3-082096C31462}"/>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C432919-0D64-4022-881C-777734712216}"/>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DC21F17D-764B-44AD-9856-5573953DCA38}"/>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07218229-4CD5-4B8F-A24D-4774ED1DEC3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AE5EEE34-B9F0-4B30-9558-1391D50AF6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1E75DA44-F4D4-42E8-A603-00D0D0178D9B}"/>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3DEFB84-51F0-4F72-843E-893CB22CBB3A}"/>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2" name="Text 10">
            <a:extLst xmlns:a="http://schemas.openxmlformats.org/drawingml/2006/main">
              <a:ext uri="{FF2B5EF4-FFF2-40B4-BE49-F238E27FC236}">
                <a16:creationId xmlns:a16="http://schemas.microsoft.com/office/drawing/2014/main" id="{8B6EA2C8-AEE2-4FDA-8DCA-7F6B208EE5E2}"/>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30BB0514-056E-46FC-BBE9-38F2CC4A08FC}"/>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06B1CEC7-DF97-439F-B9F5-852D02E85205}"/>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F7BC0DAC-2117-462D-915B-61CEBC9EFEA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58AFEE15-174D-4554-8164-C52DBE42FD44}"/>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4A01311-A947-47BE-BF59-E12469DF9A7A}"/>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46BD9C1-7586-4581-8D3C-9960746A73E9}"/>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481BDC16-A9CD-4EF8-A022-5D727B412CB7}"/>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75C5DD45-1D06-4790-8074-D32D8BDA115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0A411C0F-2C36-4C9F-A9D2-16F6A56F8E1F}"/>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7693fa76573f4692"/>
          <a:stretch xmlns:a="http://schemas.openxmlformats.org/drawingml/2006/main">
            <a:fillRect l="0" t="0" r="0" b="0"/>
          </a:stretch>
        </p:blipFill>
        <p:spPr>
          <a:xfrm xmlns:a="http://schemas.openxmlformats.org/drawingml/2006/main">
            <a:off x="640080" y="1627632"/>
            <a:ext cx="2194560" cy="2975823"/>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714A9415-BD3C-4739-9FDD-5DFDDC81A11F}"/>
              </a:ext>
            </a:extLst>
          </p:cNvPr>
          <p:cNvSpPr>
            <a:spLocks xmlns:a="http://schemas.openxmlformats.org/drawingml/2006/main" noGrp="1"/>
          </p:cNvSpPr>
          <p:nvPr/>
        </p:nvSpPr>
        <p:spPr>
          <a:xfrm xmlns:a="http://schemas.openxmlformats.org/drawingml/2006/main">
            <a:off x="315468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47742747-6080-4BD5-8040-B94086038B18}"/>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Единица – сумма получателя</a:t>
            </a:r>
            <a:endParaRPr sz="1550"/>
          </a:p>
        </p:txBody>
      </p:sp>
      <p:sp>
        <p:nvSpPr>
          <p:cNvPr id="25" name="Text 22">
            <a:extLst xmlns:a="http://schemas.openxmlformats.org/drawingml/2006/main">
              <a:ext uri="{FF2B5EF4-FFF2-40B4-BE49-F238E27FC236}">
                <a16:creationId xmlns:a16="http://schemas.microsoft.com/office/drawing/2014/main" id="{0F03A4E3-00E7-4817-8C8C-4D999E291F6D}"/>
              </a:ext>
            </a:extLst>
          </p:cNvPr>
          <p:cNvSpPr>
            <a:spLocks xmlns:a="http://schemas.openxmlformats.org/drawingml/2006/main" noGrp="1"/>
          </p:cNvSpPr>
          <p:nvPr/>
        </p:nvSpPr>
        <p:spPr>
          <a:xfrm xmlns:a="http://schemas.openxmlformats.org/drawingml/2006/main">
            <a:off x="341071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На первом месте сумма получателя. В макете она иллюстративная, по ЦБ. В пилоте нужна актуальная котировка банка.</a:t>
            </a:r>
            <a:endParaRPr sz="1250"/>
          </a:p>
        </p:txBody>
      </p:sp>
      <p:sp>
        <p:nvSpPr>
          <p:cNvPr id="26" name="Shape 23">
            <a:extLst xmlns:a="http://schemas.openxmlformats.org/drawingml/2006/main">
              <a:ext uri="{FF2B5EF4-FFF2-40B4-BE49-F238E27FC236}">
                <a16:creationId xmlns:a16="http://schemas.microsoft.com/office/drawing/2014/main" id="{DEC77F61-7063-4E86-BDF4-D2FB6309A3CC}"/>
              </a:ext>
            </a:extLst>
          </p:cNvPr>
          <p:cNvSpPr>
            <a:spLocks xmlns:a="http://schemas.openxmlformats.org/drawingml/2006/main" noGrp="1"/>
          </p:cNvSpPr>
          <p:nvPr/>
        </p:nvSpPr>
        <p:spPr>
          <a:xfrm xmlns:a="http://schemas.openxmlformats.org/drawingml/2006/main">
            <a:off x="7452360" y="1627632"/>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71E21027-3358-4954-ADA2-55FE111E95BC}"/>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курса вместо «сегодня»</a:t>
            </a:r>
            <a:endParaRPr sz="1550"/>
          </a:p>
        </p:txBody>
      </p:sp>
      <p:sp>
        <p:nvSpPr>
          <p:cNvPr id="28" name="Text 25">
            <a:extLst xmlns:a="http://schemas.openxmlformats.org/drawingml/2006/main">
              <a:ext uri="{FF2B5EF4-FFF2-40B4-BE49-F238E27FC236}">
                <a16:creationId xmlns:a16="http://schemas.microsoft.com/office/drawing/2014/main" id="{C3F9DB75-FB29-457B-AC56-1B2D0A314B39}"/>
              </a:ext>
            </a:extLst>
          </p:cNvPr>
          <p:cNvSpPr>
            <a:spLocks xmlns:a="http://schemas.openxmlformats.org/drawingml/2006/main" noGrp="1"/>
          </p:cNvSpPr>
          <p:nvPr/>
        </p:nvSpPr>
        <p:spPr>
          <a:xfrm xmlns:a="http://schemas.openxmlformats.org/drawingml/2006/main">
            <a:off x="7708392" y="2340864"/>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«Курс ЦБ на 4 сентября» остаётся правдой и через неделю. Слово «сегодня» ломается от задержки и от часовых поясов.</a:t>
            </a:r>
            <a:endParaRPr sz="1250"/>
          </a:p>
        </p:txBody>
      </p:sp>
      <p:sp>
        <p:nvSpPr>
          <p:cNvPr id="29" name="Shape 26">
            <a:extLst xmlns:a="http://schemas.openxmlformats.org/drawingml/2006/main">
              <a:ext uri="{FF2B5EF4-FFF2-40B4-BE49-F238E27FC236}">
                <a16:creationId xmlns:a16="http://schemas.microsoft.com/office/drawing/2014/main" id="{EB879C59-5251-4A2A-90A1-F82616A7275B}"/>
              </a:ext>
            </a:extLst>
          </p:cNvPr>
          <p:cNvSpPr>
            <a:spLocks xmlns:a="http://schemas.openxmlformats.org/drawingml/2006/main" noGrp="1"/>
          </p:cNvSpPr>
          <p:nvPr/>
        </p:nvSpPr>
        <p:spPr>
          <a:xfrm xmlns:a="http://schemas.openxmlformats.org/drawingml/2006/main">
            <a:off x="315468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32475BFC-8BA1-40CC-AD5F-CC63CDD974F5}"/>
              </a:ext>
            </a:extLst>
          </p:cNvPr>
          <p:cNvSpPr>
            <a:spLocks xmlns:a="http://schemas.openxmlformats.org/drawingml/2006/main" noGrp="1"/>
          </p:cNvSpPr>
          <p:nvPr/>
        </p:nvSpPr>
        <p:spPr>
          <a:xfrm xmlns:a="http://schemas.openxmlformats.org/drawingml/2006/main">
            <a:off x="341071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Деньги первыми, дата в конце</a:t>
            </a:r>
            <a:endParaRPr sz="1550"/>
          </a:p>
        </p:txBody>
      </p:sp>
      <p:sp>
        <p:nvSpPr>
          <p:cNvPr id="31" name="Text 28">
            <a:extLst xmlns:a="http://schemas.openxmlformats.org/drawingml/2006/main">
              <a:ext uri="{FF2B5EF4-FFF2-40B4-BE49-F238E27FC236}">
                <a16:creationId xmlns:a16="http://schemas.microsoft.com/office/drawing/2014/main" id="{7E3422B8-636B-4806-A08A-A6CD16658C5D}"/>
              </a:ext>
            </a:extLst>
          </p:cNvPr>
          <p:cNvSpPr>
            <a:spLocks xmlns:a="http://schemas.openxmlformats.org/drawingml/2006/main" noGrp="1"/>
          </p:cNvSpPr>
          <p:nvPr/>
        </p:nvSpPr>
        <p:spPr>
          <a:xfrm xmlns:a="http://schemas.openxmlformats.org/drawingml/2006/main">
            <a:off x="341071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Проверка на читателе: дата в начале читается как срок платежа. Клиент, открывший пуш назавтра, решает, что опоздал.</a:t>
            </a:r>
            <a:endParaRPr sz="1250"/>
          </a:p>
        </p:txBody>
      </p:sp>
      <p:sp>
        <p:nvSpPr>
          <p:cNvPr id="32" name="Shape 29">
            <a:extLst xmlns:a="http://schemas.openxmlformats.org/drawingml/2006/main">
              <a:ext uri="{FF2B5EF4-FFF2-40B4-BE49-F238E27FC236}">
                <a16:creationId xmlns:a16="http://schemas.microsoft.com/office/drawing/2014/main" id="{A63419D5-AC34-4DC1-BAF7-85E3E824D5E8}"/>
              </a:ext>
            </a:extLst>
          </p:cNvPr>
          <p:cNvSpPr>
            <a:spLocks xmlns:a="http://schemas.openxmlformats.org/drawingml/2006/main" noGrp="1"/>
          </p:cNvSpPr>
          <p:nvPr/>
        </p:nvSpPr>
        <p:spPr>
          <a:xfrm xmlns:a="http://schemas.openxmlformats.org/drawingml/2006/main">
            <a:off x="7452360" y="3749040"/>
            <a:ext cx="4069080" cy="1975104"/>
          </a:xfrm>
          <a:prstGeom xmlns:a="http://schemas.openxmlformats.org/drawingml/2006/main" prst="roundRect">
            <a:avLst>
              <a:gd name="adj" fmla="val 2778"/>
            </a:avLst>
          </a:prstGeom>
          <a:solidFill xmlns:a="http://schemas.openxmlformats.org/drawingml/2006/main">
            <a:srgbClr val="F4F6F8"/>
          </a:solidFill>
        </p:spPr>
      </p:sp>
      <p:sp>
        <p:nvSpPr>
          <p:cNvPr id="33" name="Text 30">
            <a:extLst xmlns:a="http://schemas.openxmlformats.org/drawingml/2006/main">
              <a:ext uri="{FF2B5EF4-FFF2-40B4-BE49-F238E27FC236}">
                <a16:creationId xmlns:a16="http://schemas.microsoft.com/office/drawing/2014/main" id="{8C348B7D-6759-47C4-BD9A-72A1C93232A5}"/>
              </a:ext>
            </a:extLst>
          </p:cNvPr>
          <p:cNvSpPr>
            <a:spLocks xmlns:a="http://schemas.openxmlformats.org/drawingml/2006/main" noGrp="1"/>
          </p:cNvSpPr>
          <p:nvPr/>
        </p:nvSpPr>
        <p:spPr>
          <a:xfrm xmlns:a="http://schemas.openxmlformats.org/drawingml/2006/main">
            <a:off x="7708392" y="3931920"/>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Температура остаётся внутри</a:t>
            </a:r>
            <a:endParaRPr sz="1550"/>
          </a:p>
        </p:txBody>
      </p:sp>
      <p:sp>
        <p:nvSpPr>
          <p:cNvPr id="34" name="Text 31">
            <a:extLst xmlns:a="http://schemas.openxmlformats.org/drawingml/2006/main">
              <a:ext uri="{FF2B5EF4-FFF2-40B4-BE49-F238E27FC236}">
                <a16:creationId xmlns:a16="http://schemas.microsoft.com/office/drawing/2014/main" id="{42496937-F7BF-4181-868B-8562636B1937}"/>
              </a:ext>
            </a:extLst>
          </p:cNvPr>
          <p:cNvSpPr>
            <a:spLocks xmlns:a="http://schemas.openxmlformats.org/drawingml/2006/main" noGrp="1"/>
          </p:cNvSpPr>
          <p:nvPr/>
        </p:nvSpPr>
        <p:spPr>
          <a:xfrm xmlns:a="http://schemas.openxmlformats.org/drawingml/2006/main">
            <a:off x="7708392" y="4462272"/>
            <a:ext cx="3557016"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Пользователь видит сумму, дату и факт о прошлом. Не показываем ему «80 % шанса» или утверждение «курс вырастет».</a:t>
            </a:r>
            <a:endParaRPr sz="1250"/>
          </a:p>
        </p:txBody>
      </p:sp>
      <p:sp>
        <p:nvSpPr>
          <p:cNvPr id="35" name="Text 32">
            <a:extLst xmlns:a="http://schemas.openxmlformats.org/drawingml/2006/main">
              <a:ext uri="{FF2B5EF4-FFF2-40B4-BE49-F238E27FC236}">
                <a16:creationId xmlns:a16="http://schemas.microsoft.com/office/drawing/2014/main" id="{220E2BED-E2D1-4E18-83D1-4FFB1368917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 команды сохранён. Числа в экранах иллюстративные, по ЦБ, а не реальная банковская котировка.</a:t>
            </a:r>
            <a:endParaRPr sz="1050"/>
          </a:p>
        </p:txBody>
      </p:sp>
      <p:sp>
        <p:nvSpPr>
          <p:cNvPr id="37" name="">
            <a:extLst xmlns:a="http://schemas.openxmlformats.org/drawingml/2006/main">
              <a:ext uri="{FF2B5EF4-FFF2-40B4-BE49-F238E27FC236}">
                <a16:creationId xmlns:a16="http://schemas.microsoft.com/office/drawing/2014/main" id="{E95F3941-2D9C-4F38-97A0-76D426900741}"/>
              </a:ext>
            </a:extLst>
          </p:cNvPr>
          <p:cNvSpPr>
            <a:spLocks xmlns:a="http://schemas.openxmlformats.org/drawingml/2006/main" noGrp="1"/>
          </p:cNvSpPr>
          <p:nvPr/>
        </p:nvSpPr>
        <p:spPr>
          <a:xfrm xmlns:a="http://schemas.openxmlformats.org/drawingml/2006/main">
            <a:off x="967435" y="3657600"/>
            <a:ext cx="1522476" cy="31546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AC4A3BD-B870-4666-935B-D7079AB3E864}"/>
              </a:ext>
            </a:extLst>
          </p:cNvPr>
          <p:cNvSpPr>
            <a:spLocks xmlns:a="http://schemas.openxmlformats.org/drawingml/2006/main" noGrp="1"/>
          </p:cNvSpPr>
          <p:nvPr/>
        </p:nvSpPr>
        <p:spPr>
          <a:xfrm xmlns:a="http://schemas.openxmlformats.org/drawingml/2006/main">
            <a:off x="981151" y="3664915"/>
            <a:ext cx="1495044" cy="3008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За 30 000 ₽ — 3 198 сомони.</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Лучше было 8 дней из 90.</a:t>
            </a:r>
          </a:p>
          <a:p xmlns:a="http://schemas.openxmlformats.org/drawingml/2006/main">
            <a:pPr>
              <a:defRPr sz="540">
                <a:solidFill>
                  <a:srgbClr val="30353B"/>
                </a:solidFill>
                <a:latin typeface="Calibri"/>
                <a:ea typeface="Calibri"/>
                <a:cs typeface="Calibri"/>
              </a:defRPr>
            </a:pPr>
            <a:r>
              <a:rPr sz="54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7618332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5A15F08-E8F8-48DD-89D6-4579D99C590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C1082C6A-F055-48B8-81AD-BAB0D010C1F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7FC64BAD-9169-4A5E-94EA-F2B8DB5D0F0A}"/>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Экран перевода: клиент попадает не на главную</a:t>
            </a:r>
            <a:endParaRPr sz="2700"/>
          </a:p>
        </p:txBody>
      </p:sp>
      <p:sp>
        <p:nvSpPr>
          <p:cNvPr id="5" name="Shape 3">
            <a:extLst xmlns:a="http://schemas.openxmlformats.org/drawingml/2006/main">
              <a:ext uri="{FF2B5EF4-FFF2-40B4-BE49-F238E27FC236}">
                <a16:creationId xmlns:a16="http://schemas.microsoft.com/office/drawing/2014/main" id="{911A5D72-9597-4A20-9360-8B06AAF60608}"/>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0E705AB-4083-4081-A159-5FC087761CCD}"/>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14322CF3-9666-42A1-A2A7-5545E797638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F1A7361C-9910-4089-9840-32EE4B17E566}"/>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18AA6613-2A8A-4E23-A03A-17D0CA54FCA0}"/>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7ADD7DC2-3F57-465C-B142-2453BD203456}"/>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6292FB3E-19FD-4805-B32A-AE4E1981D347}"/>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63CC1B90-6829-4677-AA81-6A13BFD56A61}"/>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6404EF8-DD69-4201-9CA4-724ACBF41AC4}"/>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308D51B1-5887-4FA7-8E3F-573DE21C5E9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5" name="Text 13">
            <a:extLst xmlns:a="http://schemas.openxmlformats.org/drawingml/2006/main">
              <a:ext uri="{FF2B5EF4-FFF2-40B4-BE49-F238E27FC236}">
                <a16:creationId xmlns:a16="http://schemas.microsoft.com/office/drawing/2014/main" id="{FF97F35A-F6E3-424F-968F-D42859193FCB}"/>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8F508D65-8B7D-4A06-B1DD-F0544ADAF278}"/>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070B02A0-6C10-4AD1-95CF-2236051B240C}"/>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EBA6F98A-EC33-479F-ADCF-2D739A4962F2}"/>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31A91FAE-12D4-4BF4-A9D0-12AE7E560A2D}"/>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BCA7D52D-8138-4E8E-8764-6F8C7C9C6129}"/>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E71DBD3A-9971-4C6C-AE70-CAE9CA555BAD}"/>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83d875fe698943fb"/>
          <a:stretch xmlns:a="http://schemas.openxmlformats.org/drawingml/2006/main">
            <a:fillRect l="0" t="0" r="0" b="0"/>
          </a:stretch>
        </p:blipFill>
        <p:spPr>
          <a:xfrm xmlns:a="http://schemas.openxmlformats.org/drawingml/2006/main">
            <a:off x="640080" y="1627632"/>
            <a:ext cx="2194560" cy="4081882"/>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10B8DAEA-2839-422F-9484-EA829FCCDF26}"/>
              </a:ext>
            </a:extLst>
          </p:cNvPr>
          <p:cNvSpPr>
            <a:spLocks xmlns:a="http://schemas.openxmlformats.org/drawingml/2006/main" noGrp="1"/>
          </p:cNvSpPr>
          <p:nvPr/>
        </p:nvSpPr>
        <p:spPr>
          <a:xfrm xmlns:a="http://schemas.openxmlformats.org/drawingml/2006/main">
            <a:off x="3154680" y="16276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5BAC0EA5-20E4-4052-9C9A-A84ED280589F}"/>
              </a:ext>
            </a:extLst>
          </p:cNvPr>
          <p:cNvSpPr>
            <a:spLocks xmlns:a="http://schemas.openxmlformats.org/drawingml/2006/main" noGrp="1"/>
          </p:cNvSpPr>
          <p:nvPr/>
        </p:nvSpPr>
        <p:spPr>
          <a:xfrm xmlns:a="http://schemas.openxmlformats.org/drawingml/2006/main">
            <a:off x="3410712" y="18105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Предзаполнение вместо ввода с нуля</a:t>
            </a:r>
            <a:endParaRPr sz="1550"/>
          </a:p>
        </p:txBody>
      </p:sp>
      <p:sp>
        <p:nvSpPr>
          <p:cNvPr id="25" name="Text 22">
            <a:extLst xmlns:a="http://schemas.openxmlformats.org/drawingml/2006/main">
              <a:ext uri="{FF2B5EF4-FFF2-40B4-BE49-F238E27FC236}">
                <a16:creationId xmlns:a16="http://schemas.microsoft.com/office/drawing/2014/main" id="{18027016-AB78-49F7-9EA1-80B53149C97A}"/>
              </a:ext>
            </a:extLst>
          </p:cNvPr>
          <p:cNvSpPr>
            <a:spLocks xmlns:a="http://schemas.openxmlformats.org/drawingml/2006/main" noGrp="1"/>
          </p:cNvSpPr>
          <p:nvPr/>
        </p:nvSpPr>
        <p:spPr>
          <a:xfrm xmlns:a="http://schemas.openxmlformats.org/drawingml/2006/main">
            <a:off x="3410712" y="23408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Тап открывает перевод по тому коридору, о котором был пуш. Получатель и сумма – из последнего перевода. Клиент меняет, но не набирает заново.</a:t>
            </a:r>
            <a:endParaRPr sz="1250"/>
          </a:p>
        </p:txBody>
      </p:sp>
      <p:sp>
        <p:nvSpPr>
          <p:cNvPr id="26" name="Shape 23">
            <a:extLst xmlns:a="http://schemas.openxmlformats.org/drawingml/2006/main">
              <a:ext uri="{FF2B5EF4-FFF2-40B4-BE49-F238E27FC236}">
                <a16:creationId xmlns:a16="http://schemas.microsoft.com/office/drawing/2014/main" id="{2B9CCFA5-AFAE-47E6-BE00-19B3EC4891FE}"/>
              </a:ext>
            </a:extLst>
          </p:cNvPr>
          <p:cNvSpPr>
            <a:spLocks xmlns:a="http://schemas.openxmlformats.org/drawingml/2006/main" noGrp="1"/>
          </p:cNvSpPr>
          <p:nvPr/>
        </p:nvSpPr>
        <p:spPr>
          <a:xfrm xmlns:a="http://schemas.openxmlformats.org/drawingml/2006/main">
            <a:off x="3154680" y="3200400"/>
            <a:ext cx="8366760" cy="1481328"/>
          </a:xfrm>
          <a:prstGeom xmlns:a="http://schemas.openxmlformats.org/drawingml/2006/main" prst="roundRect">
            <a:avLst>
              <a:gd name="adj" fmla="val 3704"/>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84278DF3-188A-4CA0-AD80-933EDAE3F978}"/>
              </a:ext>
            </a:extLst>
          </p:cNvPr>
          <p:cNvSpPr>
            <a:spLocks xmlns:a="http://schemas.openxmlformats.org/drawingml/2006/main" noGrp="1"/>
          </p:cNvSpPr>
          <p:nvPr/>
        </p:nvSpPr>
        <p:spPr>
          <a:xfrm xmlns:a="http://schemas.openxmlformats.org/drawingml/2006/main">
            <a:off x="3410712" y="3383280"/>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Число пересчитывается при открытии</a:t>
            </a:r>
            <a:endParaRPr sz="1550"/>
          </a:p>
        </p:txBody>
      </p:sp>
      <p:sp>
        <p:nvSpPr>
          <p:cNvPr id="28" name="Text 25">
            <a:extLst xmlns:a="http://schemas.openxmlformats.org/drawingml/2006/main">
              <a:ext uri="{FF2B5EF4-FFF2-40B4-BE49-F238E27FC236}">
                <a16:creationId xmlns:a16="http://schemas.microsoft.com/office/drawing/2014/main" id="{E7ACF19D-FCAE-4BF7-ADB1-64814B63CBBB}"/>
              </a:ext>
            </a:extLst>
          </p:cNvPr>
          <p:cNvSpPr>
            <a:spLocks xmlns:a="http://schemas.openxmlformats.org/drawingml/2006/main" noGrp="1"/>
          </p:cNvSpPr>
          <p:nvPr/>
        </p:nvSpPr>
        <p:spPr>
          <a:xfrm xmlns:a="http://schemas.openxmlformats.org/drawingml/2006/main">
            <a:off x="3410712" y="3913632"/>
            <a:ext cx="785469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При открытии заново получаем котировку банка и внутреннюю оценку момента. Сохраняем контекст пуша, но показываем актуальные условия.</a:t>
            </a:r>
            <a:endParaRPr sz="1250"/>
          </a:p>
        </p:txBody>
      </p:sp>
      <p:sp>
        <p:nvSpPr>
          <p:cNvPr id="29" name="Shape 26">
            <a:extLst xmlns:a="http://schemas.openxmlformats.org/drawingml/2006/main">
              <a:ext uri="{FF2B5EF4-FFF2-40B4-BE49-F238E27FC236}">
                <a16:creationId xmlns:a16="http://schemas.microsoft.com/office/drawing/2014/main" id="{108BD1BE-3E2B-4323-AFB7-B9BDA8EC7704}"/>
              </a:ext>
            </a:extLst>
          </p:cNvPr>
          <p:cNvSpPr>
            <a:spLocks xmlns:a="http://schemas.openxmlformats.org/drawingml/2006/main" noGrp="1"/>
          </p:cNvSpPr>
          <p:nvPr/>
        </p:nvSpPr>
        <p:spPr>
          <a:xfrm xmlns:a="http://schemas.openxmlformats.org/drawingml/2006/main">
            <a:off x="3154680" y="4828032"/>
            <a:ext cx="8366760" cy="1426464"/>
          </a:xfrm>
          <a:prstGeom xmlns:a="http://schemas.openxmlformats.org/drawingml/2006/main" prst="roundRect">
            <a:avLst>
              <a:gd name="adj" fmla="val 3846"/>
            </a:avLst>
          </a:prstGeom>
          <a:solidFill xmlns:a="http://schemas.openxmlformats.org/drawingml/2006/main">
            <a:srgbClr val="F4F6F8"/>
          </a:solidFill>
        </p:spPr>
      </p:sp>
      <p:sp>
        <p:nvSpPr>
          <p:cNvPr id="30" name="Text 27">
            <a:extLst xmlns:a="http://schemas.openxmlformats.org/drawingml/2006/main">
              <a:ext uri="{FF2B5EF4-FFF2-40B4-BE49-F238E27FC236}">
                <a16:creationId xmlns:a16="http://schemas.microsoft.com/office/drawing/2014/main" id="{9E9CC4B5-E8CE-40FA-AC17-54618F8F7CBF}"/>
              </a:ext>
            </a:extLst>
          </p:cNvPr>
          <p:cNvSpPr>
            <a:spLocks xmlns:a="http://schemas.openxmlformats.org/drawingml/2006/main" noGrp="1"/>
          </p:cNvSpPr>
          <p:nvPr/>
        </p:nvSpPr>
        <p:spPr>
          <a:xfrm xmlns:a="http://schemas.openxmlformats.org/drawingml/2006/main">
            <a:off x="3410712" y="5010912"/>
            <a:ext cx="7854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Курс приложения не равен курсу ЦБ</a:t>
            </a:r>
            <a:endParaRPr sz="1550"/>
          </a:p>
        </p:txBody>
      </p:sp>
      <p:sp>
        <p:nvSpPr>
          <p:cNvPr id="31" name="Text 28">
            <a:extLst xmlns:a="http://schemas.openxmlformats.org/drawingml/2006/main">
              <a:ext uri="{FF2B5EF4-FFF2-40B4-BE49-F238E27FC236}">
                <a16:creationId xmlns:a16="http://schemas.microsoft.com/office/drawing/2014/main" id="{586CCB23-A096-439B-9C41-E76F8A2495E9}"/>
              </a:ext>
            </a:extLst>
          </p:cNvPr>
          <p:cNvSpPr>
            <a:spLocks xmlns:a="http://schemas.openxmlformats.org/drawingml/2006/main" noGrp="1"/>
          </p:cNvSpPr>
          <p:nvPr/>
        </p:nvSpPr>
        <p:spPr>
          <a:xfrm xmlns:a="http://schemas.openxmlformats.org/drawingml/2006/main">
            <a:off x="3410712" y="5541264"/>
            <a:ext cx="785469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Бэктест выполнен по ЦБ. Суммы в макете примерные. Перед подтверждением клиент должен увидеть реальный курс, комиссию и итоговую сумму.</a:t>
            </a:r>
            <a:endParaRPr sz="1250"/>
          </a:p>
        </p:txBody>
      </p:sp>
    </p:spTree>
    <p:extLst>
      <p:ext uri="{BB962C8B-B14F-4D97-AF65-F5344CB8AC3E}">
        <p14:creationId xmlns:p14="http://schemas.microsoft.com/office/powerpoint/2010/main" val="576642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807FB7-A06A-45C8-B3A9-4F73E9AA54A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277B063F-DCA5-44E1-A8FC-D5E8B3D2D0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C20E7D29-022D-46DB-A8FB-E303356BB369}"/>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Решение: «подождать» – не поражение продукта</a:t>
            </a:r>
            <a:endParaRPr sz="2700"/>
          </a:p>
        </p:txBody>
      </p:sp>
      <p:sp>
        <p:nvSpPr>
          <p:cNvPr id="5" name="Shape 3">
            <a:extLst xmlns:a="http://schemas.openxmlformats.org/drawingml/2006/main">
              <a:ext uri="{FF2B5EF4-FFF2-40B4-BE49-F238E27FC236}">
                <a16:creationId xmlns:a16="http://schemas.microsoft.com/office/drawing/2014/main" id="{7534F8D6-AFBF-441A-9D69-CF4C726C78C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78612E22-2533-4D1F-A373-39D93683A8DF}"/>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4C4863B-9F66-442E-A6DF-4451AB53E4A4}"/>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3ECF2361-0FDF-4077-93DF-68E4C6101ED1}"/>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67C2ED71-3EE9-4A8F-8700-FD7B1E45F3DF}"/>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E37CA4E7-57FA-46D5-9678-71665416849E}"/>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46433BDB-4C2C-4C95-AE79-21D6309ECC5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BFCEDDF1-C91D-48E9-9B93-D767ACEC4B74}"/>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D9DF718-A097-4F27-8073-63075DE4490E}"/>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B8ED18C4-2E1E-4E63-B877-2E671B121CD7}"/>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9FEF58D9-1732-4861-BF5F-F5CE61F3AB58}"/>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066C6FE6-BA8A-4734-860B-DA1F38E3E269}"/>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DDF6FCBC-3F7E-414D-B5F4-2529FA11672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18" name="Text 16">
            <a:extLst xmlns:a="http://schemas.openxmlformats.org/drawingml/2006/main">
              <a:ext uri="{FF2B5EF4-FFF2-40B4-BE49-F238E27FC236}">
                <a16:creationId xmlns:a16="http://schemas.microsoft.com/office/drawing/2014/main" id="{765FA76D-156B-47B4-8BF8-949F970ADB27}"/>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B93ABDB-058B-4E65-9D11-7EDA09EB8F44}"/>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31215D1A-2F8A-4753-A464-C8553D001F92}"/>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DEFCAE3C-29D7-4DAF-BA64-DD9E40A8A421}"/>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7A1AC"/>
                </a:solidFill>
                <a:latin typeface="Calibri"/>
                <a:ea typeface="Calibri"/>
                <a:cs typeface="Calibri"/>
              </a:rPr>
              <a:t>6 · Удержание</a:t>
            </a:r>
            <a:endParaRPr sz="1050"/>
          </a:p>
        </p:txBody>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de3b4faa253043dc"/>
          <a:stretch xmlns:a="http://schemas.openxmlformats.org/drawingml/2006/main">
            <a:fillRect l="0" t="0" r="0" b="0"/>
          </a:stretch>
        </p:blipFill>
        <p:spPr>
          <a:xfrm xmlns:a="http://schemas.openxmlformats.org/drawingml/2006/main">
            <a:off x="640080" y="1627632"/>
            <a:ext cx="2194560" cy="4476902"/>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5275468E-1A2C-453C-A0AA-81BD3D4E4EFF}"/>
              </a:ext>
            </a:extLst>
          </p:cNvPr>
          <p:cNvSpPr>
            <a:spLocks xmlns:a="http://schemas.openxmlformats.org/drawingml/2006/main" noGrp="1"/>
          </p:cNvSpPr>
          <p:nvPr/>
        </p:nvSpPr>
        <p:spPr>
          <a:xfrm xmlns:a="http://schemas.openxmlformats.org/drawingml/2006/main">
            <a:off x="3154680" y="1627632"/>
            <a:ext cx="83667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a:solidFill>
                  <a:srgbClr val="4E5966"/>
                </a:solidFill>
                <a:latin typeface="Calibri"/>
                <a:ea typeface="Calibri"/>
                <a:cs typeface="Calibri"/>
              </a:rPr>
              <a:t>Три равноправных исхода. Перевести, задать свой уровень или ничего не делать. Клиент сам принимает решение.</a:t>
            </a:r>
            <a:endParaRPr sz="1350"/>
          </a:p>
        </p:txBody>
      </p:sp>
      <p:sp>
        <p:nvSpPr>
          <p:cNvPr id="24" name="Shape 21">
            <a:extLst xmlns:a="http://schemas.openxmlformats.org/drawingml/2006/main">
              <a:ext uri="{FF2B5EF4-FFF2-40B4-BE49-F238E27FC236}">
                <a16:creationId xmlns:a16="http://schemas.microsoft.com/office/drawing/2014/main" id="{E04F7D8B-C867-46E5-8DAD-231D45116065}"/>
              </a:ext>
            </a:extLst>
          </p:cNvPr>
          <p:cNvSpPr>
            <a:spLocks xmlns:a="http://schemas.openxmlformats.org/drawingml/2006/main" noGrp="1"/>
          </p:cNvSpPr>
          <p:nvPr/>
        </p:nvSpPr>
        <p:spPr>
          <a:xfrm xmlns:a="http://schemas.openxmlformats.org/drawingml/2006/main">
            <a:off x="3154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5" name="Text 22">
            <a:extLst xmlns:a="http://schemas.openxmlformats.org/drawingml/2006/main">
              <a:ext uri="{FF2B5EF4-FFF2-40B4-BE49-F238E27FC236}">
                <a16:creationId xmlns:a16="http://schemas.microsoft.com/office/drawing/2014/main" id="{4BFCCD79-3B6F-45B4-9B6B-9EE78BE01035}"/>
              </a:ext>
            </a:extLst>
          </p:cNvPr>
          <p:cNvSpPr>
            <a:spLocks xmlns:a="http://schemas.openxmlformats.org/drawingml/2006/main" noGrp="1"/>
          </p:cNvSpPr>
          <p:nvPr/>
        </p:nvSpPr>
        <p:spPr>
          <a:xfrm xmlns:a="http://schemas.openxmlformats.org/drawingml/2006/main">
            <a:off x="3410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Перевести сейчас</a:t>
            </a:r>
            <a:endParaRPr sz="1550"/>
          </a:p>
        </p:txBody>
      </p:sp>
      <p:sp>
        <p:nvSpPr>
          <p:cNvPr id="26" name="Text 23">
            <a:extLst xmlns:a="http://schemas.openxmlformats.org/drawingml/2006/main">
              <a:ext uri="{FF2B5EF4-FFF2-40B4-BE49-F238E27FC236}">
                <a16:creationId xmlns:a16="http://schemas.microsoft.com/office/drawing/2014/main" id="{2935DDDE-A07A-483A-B11D-C972DD3D3BB9}"/>
              </a:ext>
            </a:extLst>
          </p:cNvPr>
          <p:cNvSpPr>
            <a:spLocks xmlns:a="http://schemas.openxmlformats.org/drawingml/2006/main" noGrp="1"/>
          </p:cNvSpPr>
          <p:nvPr/>
        </p:nvSpPr>
        <p:spPr>
          <a:xfrm xmlns:a="http://schemas.openxmlformats.org/drawingml/2006/main">
            <a:off x="3410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Основной исход. Экран уже предзаполнен, решение одно и в один тап.</a:t>
            </a:r>
            <a:endParaRPr sz="1250"/>
          </a:p>
        </p:txBody>
      </p:sp>
      <p:sp>
        <p:nvSpPr>
          <p:cNvPr id="27" name="Shape 24">
            <a:extLst xmlns:a="http://schemas.openxmlformats.org/drawingml/2006/main">
              <a:ext uri="{FF2B5EF4-FFF2-40B4-BE49-F238E27FC236}">
                <a16:creationId xmlns:a16="http://schemas.microsoft.com/office/drawing/2014/main" id="{E096BD6F-1DA5-4E94-97A1-C5257FDB3C2A}"/>
              </a:ext>
            </a:extLst>
          </p:cNvPr>
          <p:cNvSpPr>
            <a:spLocks xmlns:a="http://schemas.openxmlformats.org/drawingml/2006/main" noGrp="1"/>
          </p:cNvSpPr>
          <p:nvPr/>
        </p:nvSpPr>
        <p:spPr>
          <a:xfrm xmlns:a="http://schemas.openxmlformats.org/drawingml/2006/main">
            <a:off x="6016752"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28" name="Text 25">
            <a:extLst xmlns:a="http://schemas.openxmlformats.org/drawingml/2006/main">
              <a:ext uri="{FF2B5EF4-FFF2-40B4-BE49-F238E27FC236}">
                <a16:creationId xmlns:a16="http://schemas.microsoft.com/office/drawing/2014/main" id="{A4EFA652-FB3E-457A-8B28-470641908093}"/>
              </a:ext>
            </a:extLst>
          </p:cNvPr>
          <p:cNvSpPr>
            <a:spLocks xmlns:a="http://schemas.openxmlformats.org/drawingml/2006/main" noGrp="1"/>
          </p:cNvSpPr>
          <p:nvPr/>
        </p:nvSpPr>
        <p:spPr>
          <a:xfrm xmlns:a="http://schemas.openxmlformats.org/drawingml/2006/main">
            <a:off x="6272784"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Задать свой уровень</a:t>
            </a:r>
            <a:endParaRPr sz="1550"/>
          </a:p>
        </p:txBody>
      </p:sp>
      <p:sp>
        <p:nvSpPr>
          <p:cNvPr id="29" name="Text 26">
            <a:extLst xmlns:a="http://schemas.openxmlformats.org/drawingml/2006/main">
              <a:ext uri="{FF2B5EF4-FFF2-40B4-BE49-F238E27FC236}">
                <a16:creationId xmlns:a16="http://schemas.microsoft.com/office/drawing/2014/main" id="{4A2F2768-BA87-461F-AA76-A2EDAFE3AC50}"/>
              </a:ext>
            </a:extLst>
          </p:cNvPr>
          <p:cNvSpPr>
            <a:spLocks xmlns:a="http://schemas.openxmlformats.org/drawingml/2006/main" noGrp="1"/>
          </p:cNvSpPr>
          <p:nvPr/>
        </p:nvSpPr>
        <p:spPr>
          <a:xfrm xmlns:a="http://schemas.openxmlformats.org/drawingml/2006/main">
            <a:off x="6272784"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Кнопка равной величины рядом с переводом. Клиент называет сумму, при которой напишем.</a:t>
            </a:r>
            <a:endParaRPr sz="1250"/>
          </a:p>
        </p:txBody>
      </p:sp>
      <p:sp>
        <p:nvSpPr>
          <p:cNvPr id="30" name="Shape 27">
            <a:extLst xmlns:a="http://schemas.openxmlformats.org/drawingml/2006/main">
              <a:ext uri="{FF2B5EF4-FFF2-40B4-BE49-F238E27FC236}">
                <a16:creationId xmlns:a16="http://schemas.microsoft.com/office/drawing/2014/main" id="{D45D5074-B6DF-479E-96E6-D7804E2CF705}"/>
              </a:ext>
            </a:extLst>
          </p:cNvPr>
          <p:cNvSpPr>
            <a:spLocks xmlns:a="http://schemas.openxmlformats.org/drawingml/2006/main" noGrp="1"/>
          </p:cNvSpPr>
          <p:nvPr/>
        </p:nvSpPr>
        <p:spPr>
          <a:xfrm xmlns:a="http://schemas.openxmlformats.org/drawingml/2006/main">
            <a:off x="8869680" y="2103120"/>
            <a:ext cx="2651760" cy="1755648"/>
          </a:xfrm>
          <a:prstGeom xmlns:a="http://schemas.openxmlformats.org/drawingml/2006/main" prst="roundRect">
            <a:avLst>
              <a:gd name="adj" fmla="val 3125"/>
            </a:avLst>
          </a:prstGeom>
          <a:solidFill xmlns:a="http://schemas.openxmlformats.org/drawingml/2006/main">
            <a:srgbClr val="F4F6F8"/>
          </a:solidFill>
        </p:spPr>
      </p:sp>
      <p:sp>
        <p:nvSpPr>
          <p:cNvPr id="31" name="Text 28">
            <a:extLst xmlns:a="http://schemas.openxmlformats.org/drawingml/2006/main">
              <a:ext uri="{FF2B5EF4-FFF2-40B4-BE49-F238E27FC236}">
                <a16:creationId xmlns:a16="http://schemas.microsoft.com/office/drawing/2014/main" id="{ABAB3904-696E-42AC-A1D0-BC99177FBC48}"/>
              </a:ext>
            </a:extLst>
          </p:cNvPr>
          <p:cNvSpPr>
            <a:spLocks xmlns:a="http://schemas.openxmlformats.org/drawingml/2006/main" noGrp="1"/>
          </p:cNvSpPr>
          <p:nvPr/>
        </p:nvSpPr>
        <p:spPr>
          <a:xfrm xmlns:a="http://schemas.openxmlformats.org/drawingml/2006/main">
            <a:off x="9125712" y="2286000"/>
            <a:ext cx="21396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Ничего не делать</a:t>
            </a:r>
            <a:endParaRPr sz="1550"/>
          </a:p>
        </p:txBody>
      </p:sp>
      <p:sp>
        <p:nvSpPr>
          <p:cNvPr id="32" name="Text 29">
            <a:extLst xmlns:a="http://schemas.openxmlformats.org/drawingml/2006/main">
              <a:ext uri="{FF2B5EF4-FFF2-40B4-BE49-F238E27FC236}">
                <a16:creationId xmlns:a16="http://schemas.microsoft.com/office/drawing/2014/main" id="{FFB0F221-36CA-43C0-83D6-563ECB610B81}"/>
              </a:ext>
            </a:extLst>
          </p:cNvPr>
          <p:cNvSpPr>
            <a:spLocks xmlns:a="http://schemas.openxmlformats.org/drawingml/2006/main" noGrp="1"/>
          </p:cNvSpPr>
          <p:nvPr/>
        </p:nvSpPr>
        <p:spPr>
          <a:xfrm xmlns:a="http://schemas.openxmlformats.org/drawingml/2006/main">
            <a:off x="9125712" y="2816352"/>
            <a:ext cx="2139696"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Тоже нормально. Индикатор остаётся на экране и ничего не требует.</a:t>
            </a:r>
            <a:endParaRPr sz="1250"/>
          </a:p>
        </p:txBody>
      </p:sp>
      <p:sp>
        <p:nvSpPr>
          <p:cNvPr id="33" name="Shape 30">
            <a:extLst xmlns:a="http://schemas.openxmlformats.org/drawingml/2006/main">
              <a:ext uri="{FF2B5EF4-FFF2-40B4-BE49-F238E27FC236}">
                <a16:creationId xmlns:a16="http://schemas.microsoft.com/office/drawing/2014/main" id="{882261E7-2E14-4ABF-AD4B-1EE71B6F8133}"/>
              </a:ext>
            </a:extLst>
          </p:cNvPr>
          <p:cNvSpPr>
            <a:spLocks xmlns:a="http://schemas.openxmlformats.org/drawingml/2006/main" noGrp="1"/>
          </p:cNvSpPr>
          <p:nvPr/>
        </p:nvSpPr>
        <p:spPr>
          <a:xfrm xmlns:a="http://schemas.openxmlformats.org/drawingml/2006/main">
            <a:off x="3154680" y="4005072"/>
            <a:ext cx="8366760" cy="2084832"/>
          </a:xfrm>
          <a:prstGeom xmlns:a="http://schemas.openxmlformats.org/drawingml/2006/main" prst="roundRect">
            <a:avLst>
              <a:gd name="adj" fmla="val 2632"/>
            </a:avLst>
          </a:prstGeom>
          <a:solidFill xmlns:a="http://schemas.openxmlformats.org/drawingml/2006/main">
            <a:srgbClr val="1A2530"/>
          </a:solidFill>
        </p:spPr>
      </p:sp>
      <p:sp>
        <p:nvSpPr>
          <p:cNvPr id="34" name="Text 31">
            <a:extLst xmlns:a="http://schemas.openxmlformats.org/drawingml/2006/main">
              <a:ext uri="{FF2B5EF4-FFF2-40B4-BE49-F238E27FC236}">
                <a16:creationId xmlns:a16="http://schemas.microsoft.com/office/drawing/2014/main" id="{7C04477F-B7DF-4AE9-839C-65B287FC21C3}"/>
              </a:ext>
            </a:extLst>
          </p:cNvPr>
          <p:cNvSpPr>
            <a:spLocks xmlns:a="http://schemas.openxmlformats.org/drawingml/2006/main" noGrp="1"/>
          </p:cNvSpPr>
          <p:nvPr/>
        </p:nvSpPr>
        <p:spPr>
          <a:xfrm xmlns:a="http://schemas.openxmlformats.org/drawingml/2006/main">
            <a:off x="3429000" y="4160520"/>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Наша развилка: куда девать честное «сейчас как обычно»</a:t>
            </a:r>
            <a:endParaRPr sz="1550"/>
          </a:p>
        </p:txBody>
      </p:sp>
      <p:sp>
        <p:nvSpPr>
          <p:cNvPr id="35" name="Text 32">
            <a:extLst xmlns:a="http://schemas.openxmlformats.org/drawingml/2006/main">
              <a:ext uri="{FF2B5EF4-FFF2-40B4-BE49-F238E27FC236}">
                <a16:creationId xmlns:a16="http://schemas.microsoft.com/office/drawing/2014/main" id="{0FC79B6B-E257-4BC5-A5EB-E9CDD015E58A}"/>
              </a:ext>
            </a:extLst>
          </p:cNvPr>
          <p:cNvSpPr>
            <a:spLocks xmlns:a="http://schemas.openxmlformats.org/drawingml/2006/main" noGrp="1"/>
          </p:cNvSpPr>
          <p:nvPr/>
        </p:nvSpPr>
        <p:spPr>
          <a:xfrm xmlns:a="http://schemas.openxmlformats.org/drawingml/2006/main">
            <a:off x="3429000" y="4535424"/>
            <a:ext cx="7818120"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Если клиенту не подходит сумма, он может задать свой уровень. Оповещение сохраняет его намерение без давления.</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Шкала на экране сравнивает текущую сумму с историей. Это не внутренняя температура модели и не обещание будущего.</a:t>
            </a:r>
            <a:endParaRPr sz="1250"/>
          </a:p>
        </p:txBody>
      </p:sp>
    </p:spTree>
    <p:extLst>
      <p:ext uri="{BB962C8B-B14F-4D97-AF65-F5344CB8AC3E}">
        <p14:creationId xmlns:p14="http://schemas.microsoft.com/office/powerpoint/2010/main" val="874798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1D699EC-2C12-4BF8-881C-DFD539955F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88BB933D-F5E7-4DB3-B391-1D28ADEA740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4" name="Text 2">
            <a:extLst xmlns:a="http://schemas.openxmlformats.org/drawingml/2006/main">
              <a:ext uri="{FF2B5EF4-FFF2-40B4-BE49-F238E27FC236}">
                <a16:creationId xmlns:a16="http://schemas.microsoft.com/office/drawing/2014/main" id="{FB01EAB3-F3DD-4BA0-8498-514D0A57135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Удержание и ветка тишины</a:t>
            </a:r>
            <a:endParaRPr sz="2700"/>
          </a:p>
        </p:txBody>
      </p:sp>
      <p:sp>
        <p:nvSpPr>
          <p:cNvPr id="5" name="Shape 3">
            <a:extLst xmlns:a="http://schemas.openxmlformats.org/drawingml/2006/main">
              <a:ext uri="{FF2B5EF4-FFF2-40B4-BE49-F238E27FC236}">
                <a16:creationId xmlns:a16="http://schemas.microsoft.com/office/drawing/2014/main" id="{F6DA6B23-5DDD-446C-BB63-79878AE286A0}"/>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6" name="Text 4">
            <a:extLst xmlns:a="http://schemas.openxmlformats.org/drawingml/2006/main">
              <a:ext uri="{FF2B5EF4-FFF2-40B4-BE49-F238E27FC236}">
                <a16:creationId xmlns:a16="http://schemas.microsoft.com/office/drawing/2014/main" id="{4CBF41F0-2CEE-4FBC-82E5-E1485CDFF937}"/>
              </a:ext>
            </a:extLst>
          </p:cNvPr>
          <p:cNvSpPr>
            <a:spLocks xmlns:a="http://schemas.openxmlformats.org/drawingml/2006/main" noGrp="1"/>
          </p:cNvSpPr>
          <p:nvPr/>
        </p:nvSpPr>
        <p:spPr>
          <a:xfrm xmlns:a="http://schemas.openxmlformats.org/drawingml/2006/main">
            <a:off x="118872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1 · Триггер</a:t>
            </a:r>
            <a:endParaRPr sz="1050"/>
          </a:p>
        </p:txBody>
      </p:sp>
      <p:sp>
        <p:nvSpPr>
          <p:cNvPr id="7" name="Text 5">
            <a:extLst xmlns:a="http://schemas.openxmlformats.org/drawingml/2006/main">
              <a:ext uri="{FF2B5EF4-FFF2-40B4-BE49-F238E27FC236}">
                <a16:creationId xmlns:a16="http://schemas.microsoft.com/office/drawing/2014/main" id="{6910A42E-A9FB-4B61-A8DE-5A1EE9482BB6}"/>
              </a:ext>
            </a:extLst>
          </p:cNvPr>
          <p:cNvSpPr>
            <a:spLocks xmlns:a="http://schemas.openxmlformats.org/drawingml/2006/main" noGrp="1"/>
          </p:cNvSpPr>
          <p:nvPr/>
        </p:nvSpPr>
        <p:spPr>
          <a:xfrm xmlns:a="http://schemas.openxmlformats.org/drawingml/2006/main">
            <a:off x="2788920"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8" name="Shape 6">
            <a:extLst xmlns:a="http://schemas.openxmlformats.org/drawingml/2006/main">
              <a:ext uri="{FF2B5EF4-FFF2-40B4-BE49-F238E27FC236}">
                <a16:creationId xmlns:a16="http://schemas.microsoft.com/office/drawing/2014/main" id="{B167A787-1CC8-4DD5-B524-A3F92CDE6A59}"/>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9" name="Text 7">
            <a:extLst xmlns:a="http://schemas.openxmlformats.org/drawingml/2006/main">
              <a:ext uri="{FF2B5EF4-FFF2-40B4-BE49-F238E27FC236}">
                <a16:creationId xmlns:a16="http://schemas.microsoft.com/office/drawing/2014/main" id="{D9BAE259-32CC-42CE-AD08-E26C071082BA}"/>
              </a:ext>
            </a:extLst>
          </p:cNvPr>
          <p:cNvSpPr>
            <a:spLocks xmlns:a="http://schemas.openxmlformats.org/drawingml/2006/main" noGrp="1"/>
          </p:cNvSpPr>
          <p:nvPr/>
        </p:nvSpPr>
        <p:spPr>
          <a:xfrm xmlns:a="http://schemas.openxmlformats.org/drawingml/2006/main">
            <a:off x="2935224"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2 · Фильтр</a:t>
            </a:r>
            <a:endParaRPr sz="1050"/>
          </a:p>
        </p:txBody>
      </p:sp>
      <p:sp>
        <p:nvSpPr>
          <p:cNvPr id="10" name="Text 8">
            <a:extLst xmlns:a="http://schemas.openxmlformats.org/drawingml/2006/main">
              <a:ext uri="{FF2B5EF4-FFF2-40B4-BE49-F238E27FC236}">
                <a16:creationId xmlns:a16="http://schemas.microsoft.com/office/drawing/2014/main" id="{CAE7DD28-3F88-4FC7-A4A1-1FCACFB6CC9F}"/>
              </a:ext>
            </a:extLst>
          </p:cNvPr>
          <p:cNvSpPr>
            <a:spLocks xmlns:a="http://schemas.openxmlformats.org/drawingml/2006/main" noGrp="1"/>
          </p:cNvSpPr>
          <p:nvPr/>
        </p:nvSpPr>
        <p:spPr>
          <a:xfrm xmlns:a="http://schemas.openxmlformats.org/drawingml/2006/main">
            <a:off x="4535424"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1" name="Shape 9">
            <a:extLst xmlns:a="http://schemas.openxmlformats.org/drawingml/2006/main">
              <a:ext uri="{FF2B5EF4-FFF2-40B4-BE49-F238E27FC236}">
                <a16:creationId xmlns:a16="http://schemas.microsoft.com/office/drawing/2014/main" id="{2691C489-88CA-479E-B479-3A04B084F4DE}"/>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2" name="Text 10">
            <a:extLst xmlns:a="http://schemas.openxmlformats.org/drawingml/2006/main">
              <a:ext uri="{FF2B5EF4-FFF2-40B4-BE49-F238E27FC236}">
                <a16:creationId xmlns:a16="http://schemas.microsoft.com/office/drawing/2014/main" id="{508172EB-CA49-4D57-B908-76C3062C330D}"/>
              </a:ext>
            </a:extLst>
          </p:cNvPr>
          <p:cNvSpPr>
            <a:spLocks xmlns:a="http://schemas.openxmlformats.org/drawingml/2006/main" noGrp="1"/>
          </p:cNvSpPr>
          <p:nvPr/>
        </p:nvSpPr>
        <p:spPr>
          <a:xfrm xmlns:a="http://schemas.openxmlformats.org/drawingml/2006/main">
            <a:off x="4681728"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3 · Пуш</a:t>
            </a:r>
            <a:endParaRPr sz="1050"/>
          </a:p>
        </p:txBody>
      </p:sp>
      <p:sp>
        <p:nvSpPr>
          <p:cNvPr id="13" name="Text 11">
            <a:extLst xmlns:a="http://schemas.openxmlformats.org/drawingml/2006/main">
              <a:ext uri="{FF2B5EF4-FFF2-40B4-BE49-F238E27FC236}">
                <a16:creationId xmlns:a16="http://schemas.microsoft.com/office/drawing/2014/main" id="{C5B4FAF1-49AE-49B8-99B6-9695B2008500}"/>
              </a:ext>
            </a:extLst>
          </p:cNvPr>
          <p:cNvSpPr>
            <a:spLocks xmlns:a="http://schemas.openxmlformats.org/drawingml/2006/main" noGrp="1"/>
          </p:cNvSpPr>
          <p:nvPr/>
        </p:nvSpPr>
        <p:spPr>
          <a:xfrm xmlns:a="http://schemas.openxmlformats.org/drawingml/2006/main">
            <a:off x="6281928"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4" name="Shape 12">
            <a:extLst xmlns:a="http://schemas.openxmlformats.org/drawingml/2006/main">
              <a:ext uri="{FF2B5EF4-FFF2-40B4-BE49-F238E27FC236}">
                <a16:creationId xmlns:a16="http://schemas.microsoft.com/office/drawing/2014/main" id="{857FE554-02BF-49DD-9828-F9CA07B059CD}"/>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5" name="Text 13">
            <a:extLst xmlns:a="http://schemas.openxmlformats.org/drawingml/2006/main">
              <a:ext uri="{FF2B5EF4-FFF2-40B4-BE49-F238E27FC236}">
                <a16:creationId xmlns:a16="http://schemas.microsoft.com/office/drawing/2014/main" id="{E272628D-1C1A-42CE-AAFE-9F6C517AD6CF}"/>
              </a:ext>
            </a:extLst>
          </p:cNvPr>
          <p:cNvSpPr>
            <a:spLocks xmlns:a="http://schemas.openxmlformats.org/drawingml/2006/main" noGrp="1"/>
          </p:cNvSpPr>
          <p:nvPr/>
        </p:nvSpPr>
        <p:spPr>
          <a:xfrm xmlns:a="http://schemas.openxmlformats.org/drawingml/2006/main">
            <a:off x="6428232"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4 · Экран перевода</a:t>
            </a:r>
            <a:endParaRPr sz="1050"/>
          </a:p>
        </p:txBody>
      </p:sp>
      <p:sp>
        <p:nvSpPr>
          <p:cNvPr id="16" name="Text 14">
            <a:extLst xmlns:a="http://schemas.openxmlformats.org/drawingml/2006/main">
              <a:ext uri="{FF2B5EF4-FFF2-40B4-BE49-F238E27FC236}">
                <a16:creationId xmlns:a16="http://schemas.microsoft.com/office/drawing/2014/main" id="{6EFFE7B9-BD58-46FD-8BB1-CA07CB6ABC5C}"/>
              </a:ext>
            </a:extLst>
          </p:cNvPr>
          <p:cNvSpPr>
            <a:spLocks xmlns:a="http://schemas.openxmlformats.org/drawingml/2006/main" noGrp="1"/>
          </p:cNvSpPr>
          <p:nvPr/>
        </p:nvSpPr>
        <p:spPr>
          <a:xfrm xmlns:a="http://schemas.openxmlformats.org/drawingml/2006/main">
            <a:off x="8028432"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17" name="Shape 15">
            <a:extLst xmlns:a="http://schemas.openxmlformats.org/drawingml/2006/main">
              <a:ext uri="{FF2B5EF4-FFF2-40B4-BE49-F238E27FC236}">
                <a16:creationId xmlns:a16="http://schemas.microsoft.com/office/drawing/2014/main" id="{86EB0BEC-575C-4238-8D19-259A65DE1BF8}"/>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oundRect">
            <a:avLst>
              <a:gd name="adj" fmla="val 31250"/>
            </a:avLst>
          </a:prstGeom>
          <a:solidFill xmlns:a="http://schemas.openxmlformats.org/drawingml/2006/main">
            <a:srgbClr val="D8DEE4"/>
          </a:solidFill>
        </p:spPr>
      </p:sp>
      <p:sp>
        <p:nvSpPr>
          <p:cNvPr id="18" name="Text 16">
            <a:extLst xmlns:a="http://schemas.openxmlformats.org/drawingml/2006/main">
              <a:ext uri="{FF2B5EF4-FFF2-40B4-BE49-F238E27FC236}">
                <a16:creationId xmlns:a16="http://schemas.microsoft.com/office/drawing/2014/main" id="{BB25E294-596A-47E8-AE1D-A1119877782E}"/>
              </a:ext>
            </a:extLst>
          </p:cNvPr>
          <p:cNvSpPr>
            <a:spLocks xmlns:a="http://schemas.openxmlformats.org/drawingml/2006/main" noGrp="1"/>
          </p:cNvSpPr>
          <p:nvPr/>
        </p:nvSpPr>
        <p:spPr>
          <a:xfrm xmlns:a="http://schemas.openxmlformats.org/drawingml/2006/main">
            <a:off x="8174736"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672"/>
                </a:solidFill>
                <a:latin typeface="Calibri"/>
                <a:ea typeface="Calibri"/>
                <a:cs typeface="Calibri"/>
              </a:rPr>
              <a:t>5 · Решение</a:t>
            </a:r>
            <a:endParaRPr sz="1050"/>
          </a:p>
        </p:txBody>
      </p:sp>
      <p:sp>
        <p:nvSpPr>
          <p:cNvPr id="19" name="Text 17">
            <a:extLst xmlns:a="http://schemas.openxmlformats.org/drawingml/2006/main">
              <a:ext uri="{FF2B5EF4-FFF2-40B4-BE49-F238E27FC236}">
                <a16:creationId xmlns:a16="http://schemas.microsoft.com/office/drawing/2014/main" id="{F7F5DA65-2BFC-4150-B5C8-8C4E477A4370}"/>
              </a:ext>
            </a:extLst>
          </p:cNvPr>
          <p:cNvSpPr>
            <a:spLocks xmlns:a="http://schemas.openxmlformats.org/drawingml/2006/main" noGrp="1"/>
          </p:cNvSpPr>
          <p:nvPr/>
        </p:nvSpPr>
        <p:spPr>
          <a:xfrm xmlns:a="http://schemas.openxmlformats.org/drawingml/2006/main">
            <a:off x="9774936" y="987552"/>
            <a:ext cx="1463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B6BEC7"/>
                </a:solidFill>
                <a:latin typeface="Calibri"/>
                <a:ea typeface="Calibri"/>
                <a:cs typeface="Calibri"/>
              </a:rPr>
              <a:t>›</a:t>
            </a:r>
            <a:endParaRPr sz="1200"/>
          </a:p>
        </p:txBody>
      </p:sp>
      <p:sp>
        <p:nvSpPr>
          <p:cNvPr id="20" name="Shape 18">
            <a:extLst xmlns:a="http://schemas.openxmlformats.org/drawingml/2006/main">
              <a:ext uri="{FF2B5EF4-FFF2-40B4-BE49-F238E27FC236}">
                <a16:creationId xmlns:a16="http://schemas.microsoft.com/office/drawing/2014/main" id="{472814B2-555F-4114-9D7D-B539F7199434}"/>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oundRect">
            <a:avLst>
              <a:gd name="adj" fmla="val 31250"/>
            </a:avLst>
          </a:prstGeom>
          <a:solidFill xmlns:a="http://schemas.openxmlformats.org/drawingml/2006/main">
            <a:srgbClr val="9C5B12"/>
          </a:solidFill>
        </p:spPr>
      </p:sp>
      <p:sp>
        <p:nvSpPr>
          <p:cNvPr id="21" name="Text 19">
            <a:extLst xmlns:a="http://schemas.openxmlformats.org/drawingml/2006/main">
              <a:ext uri="{FF2B5EF4-FFF2-40B4-BE49-F238E27FC236}">
                <a16:creationId xmlns:a16="http://schemas.microsoft.com/office/drawing/2014/main" id="{65D42F5C-9679-4C2A-AD4A-20272A664EF0}"/>
              </a:ext>
            </a:extLst>
          </p:cNvPr>
          <p:cNvSpPr>
            <a:spLocks xmlns:a="http://schemas.openxmlformats.org/drawingml/2006/main" noGrp="1"/>
          </p:cNvSpPr>
          <p:nvPr/>
        </p:nvSpPr>
        <p:spPr>
          <a:xfrm xmlns:a="http://schemas.openxmlformats.org/drawingml/2006/main">
            <a:off x="9921240" y="987552"/>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6 · Удержание</a:t>
            </a:r>
            <a:endParaRPr sz="105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deb52e25b18d4b30"/>
          <a:stretch xmlns:a="http://schemas.openxmlformats.org/drawingml/2006/main">
            <a:fillRect l="0" t="0" r="0" b="0"/>
          </a:stretch>
        </p:blipFill>
        <p:spPr>
          <a:xfrm xmlns:a="http://schemas.openxmlformats.org/drawingml/2006/main">
            <a:off x="640080" y="1627632"/>
            <a:ext cx="2194560" cy="4064325"/>
          </a:xfrm>
          <a:prstGeom xmlns:a="http://schemas.openxmlformats.org/drawingml/2006/main" prst="rect">
            <a:avLst/>
          </a:prstGeom>
        </p:spPr>
      </p:pic>
      <p:sp>
        <p:nvSpPr>
          <p:cNvPr id="23" name="Shape 20">
            <a:extLst xmlns:a="http://schemas.openxmlformats.org/drawingml/2006/main">
              <a:ext uri="{FF2B5EF4-FFF2-40B4-BE49-F238E27FC236}">
                <a16:creationId xmlns:a16="http://schemas.microsoft.com/office/drawing/2014/main" id="{4DF1E1D4-06E6-4CB9-9A3D-711AC2710779}"/>
              </a:ext>
            </a:extLst>
          </p:cNvPr>
          <p:cNvSpPr>
            <a:spLocks xmlns:a="http://schemas.openxmlformats.org/drawingml/2006/main" noGrp="1"/>
          </p:cNvSpPr>
          <p:nvPr/>
        </p:nvSpPr>
        <p:spPr>
          <a:xfrm xmlns:a="http://schemas.openxmlformats.org/drawingml/2006/main">
            <a:off x="315468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4" name="Text 21">
            <a:extLst xmlns:a="http://schemas.openxmlformats.org/drawingml/2006/main">
              <a:ext uri="{FF2B5EF4-FFF2-40B4-BE49-F238E27FC236}">
                <a16:creationId xmlns:a16="http://schemas.microsoft.com/office/drawing/2014/main" id="{FB3BF8ED-B976-487B-ABC2-953FA7E86087}"/>
              </a:ext>
            </a:extLst>
          </p:cNvPr>
          <p:cNvSpPr>
            <a:spLocks xmlns:a="http://schemas.openxmlformats.org/drawingml/2006/main" noGrp="1"/>
          </p:cNvSpPr>
          <p:nvPr/>
        </p:nvSpPr>
        <p:spPr>
          <a:xfrm xmlns:a="http://schemas.openxmlformats.org/drawingml/2006/main">
            <a:off x="341071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Оповещение живёт 30 дней</a:t>
            </a:r>
            <a:endParaRPr sz="1550"/>
          </a:p>
        </p:txBody>
      </p:sp>
      <p:sp>
        <p:nvSpPr>
          <p:cNvPr id="25" name="Text 22">
            <a:extLst xmlns:a="http://schemas.openxmlformats.org/drawingml/2006/main">
              <a:ext uri="{FF2B5EF4-FFF2-40B4-BE49-F238E27FC236}">
                <a16:creationId xmlns:a16="http://schemas.microsoft.com/office/drawing/2014/main" id="{5D45D47E-1B71-4DCC-BC59-80E66FC61E9D}"/>
              </a:ext>
            </a:extLst>
          </p:cNvPr>
          <p:cNvSpPr>
            <a:spLocks xmlns:a="http://schemas.openxmlformats.org/drawingml/2006/main" noGrp="1"/>
          </p:cNvSpPr>
          <p:nvPr/>
        </p:nvSpPr>
        <p:spPr>
          <a:xfrm xmlns:a="http://schemas.openxmlformats.org/drawingml/2006/main">
            <a:off x="341071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Дальше переспрашиваем. Бессрочное оповещение через полгода станет спамом по поводу, который клиент уже забыл.</a:t>
            </a:r>
            <a:endParaRPr sz="1250"/>
          </a:p>
        </p:txBody>
      </p:sp>
      <p:sp>
        <p:nvSpPr>
          <p:cNvPr id="26" name="Shape 23">
            <a:extLst xmlns:a="http://schemas.openxmlformats.org/drawingml/2006/main">
              <a:ext uri="{FF2B5EF4-FFF2-40B4-BE49-F238E27FC236}">
                <a16:creationId xmlns:a16="http://schemas.microsoft.com/office/drawing/2014/main" id="{1724CBF5-4E43-40F2-9964-2E78012E42A8}"/>
              </a:ext>
            </a:extLst>
          </p:cNvPr>
          <p:cNvSpPr>
            <a:spLocks xmlns:a="http://schemas.openxmlformats.org/drawingml/2006/main" noGrp="1"/>
          </p:cNvSpPr>
          <p:nvPr/>
        </p:nvSpPr>
        <p:spPr>
          <a:xfrm xmlns:a="http://schemas.openxmlformats.org/drawingml/2006/main">
            <a:off x="7452360" y="1627632"/>
            <a:ext cx="4069080" cy="1609344"/>
          </a:xfrm>
          <a:prstGeom xmlns:a="http://schemas.openxmlformats.org/drawingml/2006/main" prst="roundRect">
            <a:avLst>
              <a:gd name="adj" fmla="val 3409"/>
            </a:avLst>
          </a:prstGeom>
          <a:solidFill xmlns:a="http://schemas.openxmlformats.org/drawingml/2006/main">
            <a:srgbClr val="F4F6F8"/>
          </a:solidFill>
        </p:spPr>
      </p:sp>
      <p:sp>
        <p:nvSpPr>
          <p:cNvPr id="27" name="Text 24">
            <a:extLst xmlns:a="http://schemas.openxmlformats.org/drawingml/2006/main">
              <a:ext uri="{FF2B5EF4-FFF2-40B4-BE49-F238E27FC236}">
                <a16:creationId xmlns:a16="http://schemas.microsoft.com/office/drawing/2014/main" id="{317D1C78-468A-49EA-9413-70AE8119D447}"/>
              </a:ext>
            </a:extLst>
          </p:cNvPr>
          <p:cNvSpPr>
            <a:spLocks xmlns:a="http://schemas.openxmlformats.org/drawingml/2006/main" noGrp="1"/>
          </p:cNvSpPr>
          <p:nvPr/>
        </p:nvSpPr>
        <p:spPr>
          <a:xfrm xmlns:a="http://schemas.openxmlformats.org/drawingml/2006/main">
            <a:off x="7708392" y="1810512"/>
            <a:ext cx="35570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Частота названа заранее</a:t>
            </a:r>
            <a:endParaRPr sz="1550"/>
          </a:p>
        </p:txBody>
      </p:sp>
      <p:sp>
        <p:nvSpPr>
          <p:cNvPr id="28" name="Text 25">
            <a:extLst xmlns:a="http://schemas.openxmlformats.org/drawingml/2006/main">
              <a:ext uri="{FF2B5EF4-FFF2-40B4-BE49-F238E27FC236}">
                <a16:creationId xmlns:a16="http://schemas.microsoft.com/office/drawing/2014/main" id="{C387DD9F-78B3-4681-A875-267EC2121563}"/>
              </a:ext>
            </a:extLst>
          </p:cNvPr>
          <p:cNvSpPr>
            <a:spLocks xmlns:a="http://schemas.openxmlformats.org/drawingml/2006/main" noGrp="1"/>
          </p:cNvSpPr>
          <p:nvPr/>
        </p:nvSpPr>
        <p:spPr>
          <a:xfrm xmlns:a="http://schemas.openxmlformats.org/drawingml/2006/main">
            <a:off x="7708392" y="2340864"/>
            <a:ext cx="3557016"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«Столько давали 14 дней из последних девяноста». Клиент сам решает, реалистичен ли его уровень, – и не ждёт напрасно.</a:t>
            </a:r>
            <a:endParaRPr sz="1250"/>
          </a:p>
        </p:txBody>
      </p:sp>
      <p:sp>
        <p:nvSpPr>
          <p:cNvPr id="29" name="Shape 26">
            <a:extLst xmlns:a="http://schemas.openxmlformats.org/drawingml/2006/main">
              <a:ext uri="{FF2B5EF4-FFF2-40B4-BE49-F238E27FC236}">
                <a16:creationId xmlns:a16="http://schemas.microsoft.com/office/drawing/2014/main" id="{F3A26C65-F622-40EF-97E3-A3D0BEAE7F7F}"/>
              </a:ext>
            </a:extLst>
          </p:cNvPr>
          <p:cNvSpPr>
            <a:spLocks xmlns:a="http://schemas.openxmlformats.org/drawingml/2006/main" noGrp="1"/>
          </p:cNvSpPr>
          <p:nvPr/>
        </p:nvSpPr>
        <p:spPr>
          <a:xfrm xmlns:a="http://schemas.openxmlformats.org/drawingml/2006/main">
            <a:off x="3154680" y="3401568"/>
            <a:ext cx="8366760" cy="2249424"/>
          </a:xfrm>
          <a:prstGeom xmlns:a="http://schemas.openxmlformats.org/drawingml/2006/main" prst="roundRect">
            <a:avLst>
              <a:gd name="adj" fmla="val 2439"/>
            </a:avLst>
          </a:prstGeom>
          <a:solidFill xmlns:a="http://schemas.openxmlformats.org/drawingml/2006/main">
            <a:srgbClr val="1A2530"/>
          </a:solidFill>
        </p:spPr>
      </p:sp>
      <p:sp>
        <p:nvSpPr>
          <p:cNvPr id="30" name="Text 27">
            <a:extLst xmlns:a="http://schemas.openxmlformats.org/drawingml/2006/main">
              <a:ext uri="{FF2B5EF4-FFF2-40B4-BE49-F238E27FC236}">
                <a16:creationId xmlns:a16="http://schemas.microsoft.com/office/drawing/2014/main" id="{AC377A91-6475-44C2-8036-E039E38B0358}"/>
              </a:ext>
            </a:extLst>
          </p:cNvPr>
          <p:cNvSpPr>
            <a:spLocks xmlns:a="http://schemas.openxmlformats.org/drawingml/2006/main" noGrp="1"/>
          </p:cNvSpPr>
          <p:nvPr/>
        </p:nvSpPr>
        <p:spPr>
          <a:xfrm xmlns:a="http://schemas.openxmlformats.org/drawingml/2006/main">
            <a:off x="3429000" y="3557016"/>
            <a:ext cx="7818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Ветка тишины: что происходит, когда сигнала нет</a:t>
            </a:r>
            <a:endParaRPr sz="1550"/>
          </a:p>
        </p:txBody>
      </p:sp>
      <p:sp>
        <p:nvSpPr>
          <p:cNvPr id="31" name="Text 28">
            <a:extLst xmlns:a="http://schemas.openxmlformats.org/drawingml/2006/main">
              <a:ext uri="{FF2B5EF4-FFF2-40B4-BE49-F238E27FC236}">
                <a16:creationId xmlns:a16="http://schemas.microsoft.com/office/drawing/2014/main" id="{64B209F4-AEF8-499C-865D-B00173993A60}"/>
              </a:ext>
            </a:extLst>
          </p:cNvPr>
          <p:cNvSpPr>
            <a:spLocks xmlns:a="http://schemas.openxmlformats.org/drawingml/2006/main" noGrp="1"/>
          </p:cNvSpPr>
          <p:nvPr/>
        </p:nvSpPr>
        <p:spPr>
          <a:xfrm xmlns:a="http://schemas.openxmlformats.org/drawingml/2006/main">
            <a:off x="3429000" y="3931920"/>
            <a:ext cx="7818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В большинство дней модель не создаёт пуш. Исторический индикатор на экране и оповещение об уровне продолжают работать.</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Отключение модельных подсказок не должно удалять уровень, который клиент задал сам. Это отдельные настройки.</a:t>
            </a:r>
            <a:endParaRPr sz="1250"/>
          </a:p>
        </p:txBody>
      </p:sp>
    </p:spTree>
    <p:extLst>
      <p:ext uri="{BB962C8B-B14F-4D97-AF65-F5344CB8AC3E}">
        <p14:creationId xmlns:p14="http://schemas.microsoft.com/office/powerpoint/2010/main" val="1848919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7DCC5-95FD-4BF5-BD91-F63858B3052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4FAF21C3-23EA-434C-BAE4-FC928C4052B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4" name="Text 2">
            <a:extLst xmlns:a="http://schemas.openxmlformats.org/drawingml/2006/main">
              <a:ext uri="{FF2B5EF4-FFF2-40B4-BE49-F238E27FC236}">
                <a16:creationId xmlns:a16="http://schemas.microsoft.com/office/drawing/2014/main" id="{D7C72AA9-6A2C-4030-B324-B4E3B532ADE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Сигнал: 73,38 % удачных дней вместо 29,45 %</a:t>
            </a:r>
            <a:endParaRPr sz="2700"/>
          </a:p>
        </p:txBody>
      </p:sp>
      <p:sp>
        <p:nvSpPr>
          <p:cNvPr id="5" name="">
            <a:extLst xmlns:a="http://schemas.openxmlformats.org/drawingml/2006/main">
              <a:ext uri="{FF2B5EF4-FFF2-40B4-BE49-F238E27FC236}">
                <a16:creationId xmlns:a16="http://schemas.microsoft.com/office/drawing/2014/main" id="{7A05966A-9BF2-4E67-A532-72DB2364112B}"/>
              </a:ext>
            </a:extLst>
          </p:cNvPr>
          <p:cNvSpPr>
            <a:spLocks xmlns:a="http://schemas.openxmlformats.org/drawingml/2006/main" noGrp="1"/>
          </p:cNvSpPr>
          <p:nvPr/>
        </p:nvSpPr>
        <p:spPr>
          <a:xfrm xmlns:a="http://schemas.openxmlformats.org/drawingml/2006/main">
            <a:off x="640080" y="1097280"/>
            <a:ext cx="1088136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После получения нового курса ЦБ. Оцениваем относительно курса, действующего сегодня.</a:t>
            </a:r>
          </a:p>
        </p:txBody>
      </p:sp>
      <p:graphicFrame>
        <p:nvGraphicFramePr>
          <p:cNvPr id="18" name="Chart"/>
          <p:cNvGraphicFramePr/>
          <p:nvPr/>
        </p:nvGraphicFramePr>
        <p:xfrm>
          <a:off xmlns:a="http://schemas.openxmlformats.org/drawingml/2006/main" x="640080" y="1737360"/>
          <a:ext xmlns:a="http://schemas.openxmlformats.org/drawingml/2006/main" cx="5852160" cy="4160520"/>
        </p:xfrm>
        <a:graphic xmlns:a="http://schemas.openxmlformats.org/drawingml/2006/main">
          <a:graphicData uri="http://schemas.openxmlformats.org/drawingml/2006/chart">
            <c:chart xmlns:r="http://schemas.openxmlformats.org/officeDocument/2006/relationships" xmlns:c="http://schemas.openxmlformats.org/drawingml/2006/chart" r:id="R5d8b17cb950545d9"/>
          </a:graphicData>
        </a:graphic>
      </p:graphicFrame>
      <p:sp>
        <p:nvSpPr>
          <p:cNvPr id="7" name="">
            <a:extLst xmlns:a="http://schemas.openxmlformats.org/drawingml/2006/main">
              <a:ext uri="{FF2B5EF4-FFF2-40B4-BE49-F238E27FC236}">
                <a16:creationId xmlns:a16="http://schemas.microsoft.com/office/drawing/2014/main" id="{2FECDD1C-301C-4C30-916E-F45CC011E7A2}"/>
              </a:ext>
            </a:extLst>
          </p:cNvPr>
          <p:cNvSpPr>
            <a:spLocks xmlns:a="http://schemas.openxmlformats.org/drawingml/2006/main" noGrp="1"/>
          </p:cNvSpPr>
          <p:nvPr/>
        </p:nvSpPr>
        <p:spPr>
          <a:xfrm xmlns:a="http://schemas.openxmlformats.org/drawingml/2006/main">
            <a:off x="6766560" y="1755648"/>
            <a:ext cx="4754880" cy="1609344"/>
          </a:xfrm>
          <a:prstGeom xmlns:a="http://schemas.openxmlformats.org/drawingml/2006/main" prst="roundRect">
            <a:avLst>
              <a:gd name="adj" fmla="val 3409"/>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0C8795-3F92-441A-B4CC-80CB5A5263FF}"/>
              </a:ext>
            </a:extLst>
          </p:cNvPr>
          <p:cNvSpPr>
            <a:spLocks xmlns:a="http://schemas.openxmlformats.org/drawingml/2006/main" noGrp="1"/>
          </p:cNvSpPr>
          <p:nvPr/>
        </p:nvSpPr>
        <p:spPr>
          <a:xfrm xmlns:a="http://schemas.openxmlformats.org/drawingml/2006/main">
            <a:off x="7022592" y="1938528"/>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Что добавил отбор сигналов</a:t>
            </a:r>
          </a:p>
        </p:txBody>
      </p:sp>
      <p:sp>
        <p:nvSpPr>
          <p:cNvPr id="9" name="">
            <a:extLst xmlns:a="http://schemas.openxmlformats.org/drawingml/2006/main">
              <a:ext uri="{FF2B5EF4-FFF2-40B4-BE49-F238E27FC236}">
                <a16:creationId xmlns:a16="http://schemas.microsoft.com/office/drawing/2014/main" id="{53573E7B-A0FD-4C49-B8FD-06D50B3CA40E}"/>
              </a:ext>
            </a:extLst>
          </p:cNvPr>
          <p:cNvSpPr>
            <a:spLocks xmlns:a="http://schemas.openxmlformats.org/drawingml/2006/main" noGrp="1"/>
          </p:cNvSpPr>
          <p:nvPr/>
        </p:nvSpPr>
        <p:spPr>
          <a:xfrm xmlns:a="http://schemas.openxmlformats.org/drawingml/2006/main">
            <a:off x="7022592" y="2514600"/>
            <a:ext cx="4242816"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Простое правило «завтра не дешевле»: lift 1,962. Итоговый AP37: 2,492.</a:t>
            </a:r>
          </a:p>
        </p:txBody>
      </p:sp>
      <p:sp>
        <p:nvSpPr>
          <p:cNvPr id="10" name="">
            <a:extLst xmlns:a="http://schemas.openxmlformats.org/drawingml/2006/main">
              <a:ext uri="{FF2B5EF4-FFF2-40B4-BE49-F238E27FC236}">
                <a16:creationId xmlns:a16="http://schemas.microsoft.com/office/drawing/2014/main" id="{9F3279A3-18DF-4B14-ABA8-207C1540FC1C}"/>
              </a:ext>
            </a:extLst>
          </p:cNvPr>
          <p:cNvSpPr>
            <a:spLocks xmlns:a="http://schemas.openxmlformats.org/drawingml/2006/main" noGrp="1"/>
          </p:cNvSpPr>
          <p:nvPr/>
        </p:nvSpPr>
        <p:spPr>
          <a:xfrm xmlns:a="http://schemas.openxmlformats.org/drawingml/2006/main">
            <a:off x="6766560" y="3547872"/>
            <a:ext cx="4754880" cy="2029968"/>
          </a:xfrm>
          <a:prstGeom xmlns:a="http://schemas.openxmlformats.org/drawingml/2006/main" prst="roundRect">
            <a:avLst>
              <a:gd name="adj" fmla="val 270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86297A-E747-4F65-B660-5DEFABA9916B}"/>
              </a:ext>
            </a:extLst>
          </p:cNvPr>
          <p:cNvSpPr>
            <a:spLocks xmlns:a="http://schemas.openxmlformats.org/drawingml/2006/main" noGrp="1"/>
          </p:cNvSpPr>
          <p:nvPr/>
        </p:nvSpPr>
        <p:spPr>
          <a:xfrm xmlns:a="http://schemas.openxmlformats.org/drawingml/2006/main">
            <a:off x="7022592" y="3730752"/>
            <a:ext cx="424281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Сравнение по одной базе</a:t>
            </a:r>
          </a:p>
        </p:txBody>
      </p:sp>
      <p:sp>
        <p:nvSpPr>
          <p:cNvPr id="12" name="">
            <a:extLst xmlns:a="http://schemas.openxmlformats.org/drawingml/2006/main">
              <a:ext uri="{FF2B5EF4-FFF2-40B4-BE49-F238E27FC236}">
                <a16:creationId xmlns:a16="http://schemas.microsoft.com/office/drawing/2014/main" id="{12B95B51-2DAD-41BA-A9E4-F8D1CD5B1003}"/>
              </a:ext>
            </a:extLst>
          </p:cNvPr>
          <p:cNvSpPr>
            <a:spLocks xmlns:a="http://schemas.openxmlformats.org/drawingml/2006/main" noGrp="1"/>
          </p:cNvSpPr>
          <p:nvPr/>
        </p:nvSpPr>
        <p:spPr>
          <a:xfrm xmlns:a="http://schemas.openxmlformats.org/drawingml/2006/main">
            <a:off x="7022592" y="4306824"/>
            <a:ext cx="4242816" cy="1115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Один период, пять валют, действующий курс ЦБ. У AP37 695 сигналов и 1,04 сигнала в неделю. У простого правила 1,43.</a:t>
            </a:r>
          </a:p>
        </p:txBody>
      </p:sp>
      <p:sp>
        <p:nvSpPr>
          <p:cNvPr id="13" name="">
            <a:extLst xmlns:a="http://schemas.openxmlformats.org/drawingml/2006/main">
              <a:ext uri="{FF2B5EF4-FFF2-40B4-BE49-F238E27FC236}">
                <a16:creationId xmlns:a16="http://schemas.microsoft.com/office/drawing/2014/main" id="{20AE9426-3C16-4164-9AB7-9ADC683CD9E9}"/>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09.01.2024–25.08.2026. Открытая ретроспектива. Это не банковская доходность и не новый независимый тест.</a:t>
            </a:r>
          </a:p>
        </p:txBody>
      </p:sp>
    </p:spTree>
    <p:extLst>
      <p:ext uri="{BB962C8B-B14F-4D97-AF65-F5344CB8AC3E}">
        <p14:creationId xmlns:p14="http://schemas.microsoft.com/office/powerpoint/2010/main" val="1923367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CA38CD-8DC1-4344-B8B6-B5F49021CF6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141D20-9784-4AB3-A7F2-31078D5D2C64}"/>
              </a:ext>
            </a:extLst>
          </p:cNvPr>
          <p:cNvSpPr>
            <a:spLocks xmlns:a="http://schemas.openxmlformats.org/drawingml/2006/main" noGrp="1"/>
          </p:cNvSpPr>
          <p:nvPr/>
        </p:nvSpPr>
        <p:spPr>
          <a:xfrm xmlns:a="http://schemas.openxmlformats.org/drawingml/2006/main">
            <a:off x="640080" y="493776"/>
            <a:ext cx="384048"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00" b="1">
                <a:solidFill>
                  <a:srgbClr val="FFFFFF"/>
                </a:solidFill>
                <a:latin typeface="Calibri"/>
                <a:ea typeface="Calibri"/>
                <a:cs typeface="Calibri"/>
              </a:defRPr>
            </a:pPr>
            <a:r>
              <a:rPr sz="1300" b="1">
                <a:solidFill>
                  <a:srgbClr val="FFFFFF"/>
                </a:solidFill>
                <a:latin typeface="Calibri"/>
                <a:ea typeface="Calibri"/>
                <a:cs typeface="Calibri"/>
              </a:rPr>
              <a:t>3</a:t>
            </a:r>
          </a:p>
        </p:txBody>
      </p:sp>
      <p:sp>
        <p:nvSpPr>
          <p:cNvPr id="3" name="">
            <a:extLst xmlns:a="http://schemas.openxmlformats.org/drawingml/2006/main">
              <a:ext uri="{FF2B5EF4-FFF2-40B4-BE49-F238E27FC236}">
                <a16:creationId xmlns:a16="http://schemas.microsoft.com/office/drawing/2014/main" id="{1BF8386C-F7A1-45A6-8952-CA52F02F201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Температура и курс: пример для узбекского сума</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87d56a98aa74985"/>
          <a:stretch xmlns:a="http://schemas.openxmlformats.org/drawingml/2006/main"/>
        </p:blipFill>
        <p:spPr>
          <a:xfrm xmlns:a="http://schemas.openxmlformats.org/drawingml/2006/main">
            <a:off x="1807570" y="1124712"/>
            <a:ext cx="8546381" cy="480974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E31267-E123-4CFA-9F43-F5CD8B0DA1E8}"/>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Выбранный удачный фрагмент открытой ретроспективы, 18.05–23.06.2026. Температура внутренняя. Общие метрики — на всём периоде.</a:t>
            </a:r>
          </a:p>
        </p:txBody>
      </p:sp>
    </p:spTree>
    <p:extLst>
      <p:ext uri="{BB962C8B-B14F-4D97-AF65-F5344CB8AC3E}">
        <p14:creationId xmlns:p14="http://schemas.microsoft.com/office/powerpoint/2010/main" val="16127251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86998B-29C1-4F49-A06F-6BB3AA2F78C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3E7435-2F55-49CD-9285-5CC1BF5B7C3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4" name="Text 2">
            <a:extLst xmlns:a="http://schemas.openxmlformats.org/drawingml/2006/main">
              <a:ext uri="{FF2B5EF4-FFF2-40B4-BE49-F238E27FC236}">
                <a16:creationId xmlns:a16="http://schemas.microsoft.com/office/drawing/2014/main" id="{88FA839B-C337-40BB-B705-38130525A9A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Модель в течение дня: какой источник уже доступен</a:t>
            </a:r>
            <a:endParaRPr sz="2700"/>
          </a:p>
        </p:txBody>
      </p:sp>
      <p:sp>
        <p:nvSpPr>
          <p:cNvPr id="5" name="">
            <a:extLst xmlns:a="http://schemas.openxmlformats.org/drawingml/2006/main">
              <a:ext uri="{FF2B5EF4-FFF2-40B4-BE49-F238E27FC236}">
                <a16:creationId xmlns:a16="http://schemas.microsoft.com/office/drawing/2014/main" id="{B5CDD227-2B01-40F5-9A26-B98345038793}"/>
              </a:ext>
            </a:extLst>
          </p:cNvPr>
          <p:cNvSpPr>
            <a:spLocks xmlns:a="http://schemas.openxmlformats.org/drawingml/2006/main" noGrp="1"/>
          </p:cNvSpPr>
          <p:nvPr/>
        </p:nvSpPr>
        <p:spPr>
          <a:xfrm xmlns:a="http://schemas.openxmlformats.org/drawingml/2006/main">
            <a:off x="640080" y="1097280"/>
            <a:ext cx="1088136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Часы задают срез данных. Переключение после ЦБ запускает факт получения, а не наступление 18:00.</a:t>
            </a:r>
          </a:p>
        </p:txBody>
      </p:sp>
      <p:sp>
        <p:nvSpPr>
          <p:cNvPr id="6" name="">
            <a:extLst xmlns:a="http://schemas.openxmlformats.org/drawingml/2006/main">
              <a:ext uri="{FF2B5EF4-FFF2-40B4-BE49-F238E27FC236}">
                <a16:creationId xmlns:a16="http://schemas.microsoft.com/office/drawing/2014/main" id="{6194D5A7-181F-44D7-9E24-FB63B7D94616}"/>
              </a:ext>
            </a:extLst>
          </p:cNvPr>
          <p:cNvSpPr>
            <a:spLocks xmlns:a="http://schemas.openxmlformats.org/drawingml/2006/main" noGrp="1"/>
          </p:cNvSpPr>
          <p:nvPr/>
        </p:nvSpPr>
        <p:spPr>
          <a:xfrm xmlns:a="http://schemas.openxmlformats.org/drawingml/2006/main">
            <a:off x="640080"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E2031D-1BC0-44C7-8288-29336646A5BE}"/>
              </a:ext>
            </a:extLst>
          </p:cNvPr>
          <p:cNvSpPr>
            <a:spLocks xmlns:a="http://schemas.openxmlformats.org/drawingml/2006/main" noGrp="1"/>
          </p:cNvSpPr>
          <p:nvPr/>
        </p:nvSpPr>
        <p:spPr>
          <a:xfrm xmlns:a="http://schemas.openxmlformats.org/drawingml/2006/main">
            <a:off x="896112"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До рынка</a:t>
            </a:r>
          </a:p>
        </p:txBody>
      </p:sp>
      <p:sp>
        <p:nvSpPr>
          <p:cNvPr id="8" name="">
            <a:extLst xmlns:a="http://schemas.openxmlformats.org/drawingml/2006/main">
              <a:ext uri="{FF2B5EF4-FFF2-40B4-BE49-F238E27FC236}">
                <a16:creationId xmlns:a16="http://schemas.microsoft.com/office/drawing/2014/main" id="{B9AB22E2-5BDB-4419-8880-C8BE3C18FB00}"/>
              </a:ext>
            </a:extLst>
          </p:cNvPr>
          <p:cNvSpPr>
            <a:spLocks xmlns:a="http://schemas.openxmlformats.org/drawingml/2006/main" noGrp="1"/>
          </p:cNvSpPr>
          <p:nvPr/>
        </p:nvSpPr>
        <p:spPr>
          <a:xfrm xmlns:a="http://schemas.openxmlformats.org/drawingml/2006/main">
            <a:off x="896112"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История ЦБ.</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Бустинг по трендам, уровням, волатильности и календарю.</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Ограниченная уверенность.</a:t>
            </a:r>
          </a:p>
        </p:txBody>
      </p:sp>
      <p:sp>
        <p:nvSpPr>
          <p:cNvPr id="9" name="">
            <a:extLst xmlns:a="http://schemas.openxmlformats.org/drawingml/2006/main">
              <a:ext uri="{FF2B5EF4-FFF2-40B4-BE49-F238E27FC236}">
                <a16:creationId xmlns:a16="http://schemas.microsoft.com/office/drawing/2014/main" id="{A5BE39FB-6245-439D-AADA-4A103B532688}"/>
              </a:ext>
            </a:extLst>
          </p:cNvPr>
          <p:cNvSpPr>
            <a:spLocks xmlns:a="http://schemas.openxmlformats.org/drawingml/2006/main" noGrp="1"/>
          </p:cNvSpPr>
          <p:nvPr/>
        </p:nvSpPr>
        <p:spPr>
          <a:xfrm xmlns:a="http://schemas.openxmlformats.org/drawingml/2006/main">
            <a:off x="3401568"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AB59AE-677C-4711-BFFC-09F3FF15F32D}"/>
              </a:ext>
            </a:extLst>
          </p:cNvPr>
          <p:cNvSpPr>
            <a:spLocks xmlns:a="http://schemas.openxmlformats.org/drawingml/2006/main" noGrp="1"/>
          </p:cNvSpPr>
          <p:nvPr/>
        </p:nvSpPr>
        <p:spPr>
          <a:xfrm xmlns:a="http://schemas.openxmlformats.org/drawingml/2006/main">
            <a:off x="3657600"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10:30–15:30</a:t>
            </a:r>
          </a:p>
        </p:txBody>
      </p:sp>
      <p:sp>
        <p:nvSpPr>
          <p:cNvPr id="11" name="">
            <a:extLst xmlns:a="http://schemas.openxmlformats.org/drawingml/2006/main">
              <a:ext uri="{FF2B5EF4-FFF2-40B4-BE49-F238E27FC236}">
                <a16:creationId xmlns:a16="http://schemas.microsoft.com/office/drawing/2014/main" id="{F36E9848-CD09-4BFF-AF03-202F8E865B1C}"/>
              </a:ext>
            </a:extLst>
          </p:cNvPr>
          <p:cNvSpPr>
            <a:spLocks xmlns:a="http://schemas.openxmlformats.org/drawingml/2006/main" noGrp="1"/>
          </p:cNvSpPr>
          <p:nvPr/>
        </p:nvSpPr>
        <p:spPr>
          <a:xfrm xmlns:a="http://schemas.openxmlformats.org/drawingml/2006/main">
            <a:off x="3657600"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Завершённые свечи CNY/RUB начиная с 10:00.</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Средняя цена к текущему ЦБ, ранг по прошлым дням и калибровка.</a:t>
            </a:r>
          </a:p>
        </p:txBody>
      </p:sp>
      <p:sp>
        <p:nvSpPr>
          <p:cNvPr id="12" name="">
            <a:extLst xmlns:a="http://schemas.openxmlformats.org/drawingml/2006/main">
              <a:ext uri="{FF2B5EF4-FFF2-40B4-BE49-F238E27FC236}">
                <a16:creationId xmlns:a16="http://schemas.microsoft.com/office/drawing/2014/main" id="{AB208ACA-A678-4477-AF2B-FD518FE3D975}"/>
              </a:ext>
            </a:extLst>
          </p:cNvPr>
          <p:cNvSpPr>
            <a:spLocks xmlns:a="http://schemas.openxmlformats.org/drawingml/2006/main" noGrp="1"/>
          </p:cNvSpPr>
          <p:nvPr/>
        </p:nvSpPr>
        <p:spPr>
          <a:xfrm xmlns:a="http://schemas.openxmlformats.org/drawingml/2006/main">
            <a:off x="6163056"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E042E1F-AEBD-445C-ADC9-0E0EF03E78C6}"/>
              </a:ext>
            </a:extLst>
          </p:cNvPr>
          <p:cNvSpPr>
            <a:spLocks xmlns:a="http://schemas.openxmlformats.org/drawingml/2006/main" noGrp="1"/>
          </p:cNvSpPr>
          <p:nvPr/>
        </p:nvSpPr>
        <p:spPr>
          <a:xfrm xmlns:a="http://schemas.openxmlformats.org/drawingml/2006/main">
            <a:off x="6419088"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9C5B12"/>
                </a:solidFill>
                <a:latin typeface="Cambria"/>
                <a:ea typeface="Cambria"/>
                <a:cs typeface="Cambria"/>
              </a:defRPr>
            </a:pPr>
            <a:r>
              <a:rPr sz="1550" b="1">
                <a:solidFill>
                  <a:srgbClr val="9C5B12"/>
                </a:solidFill>
                <a:latin typeface="Cambria"/>
                <a:ea typeface="Cambria"/>
                <a:cs typeface="Cambria"/>
              </a:rPr>
              <a:t>15:30–получение</a:t>
            </a:r>
          </a:p>
        </p:txBody>
      </p:sp>
      <p:sp>
        <p:nvSpPr>
          <p:cNvPr id="14" name="">
            <a:extLst xmlns:a="http://schemas.openxmlformats.org/drawingml/2006/main">
              <a:ext uri="{FF2B5EF4-FFF2-40B4-BE49-F238E27FC236}">
                <a16:creationId xmlns:a16="http://schemas.microsoft.com/office/drawing/2014/main" id="{4AF340B8-2484-4EBD-9230-E759D8F680B7}"/>
              </a:ext>
            </a:extLst>
          </p:cNvPr>
          <p:cNvSpPr>
            <a:spLocks xmlns:a="http://schemas.openxmlformats.org/drawingml/2006/main" noGrp="1"/>
          </p:cNvSpPr>
          <p:nvPr/>
        </p:nvSpPr>
        <p:spPr>
          <a:xfrm xmlns:a="http://schemas.openxmlformats.org/drawingml/2006/main">
            <a:off x="6419088"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Удерживаем последний доступный дневной прогноз.</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Без новых данных не изображаем обновление.</a:t>
            </a:r>
          </a:p>
        </p:txBody>
      </p:sp>
      <p:sp>
        <p:nvSpPr>
          <p:cNvPr id="15" name="">
            <a:extLst xmlns:a="http://schemas.openxmlformats.org/drawingml/2006/main">
              <a:ext uri="{FF2B5EF4-FFF2-40B4-BE49-F238E27FC236}">
                <a16:creationId xmlns:a16="http://schemas.microsoft.com/office/drawing/2014/main" id="{2F434272-91E1-4048-BA13-8414282A7B53}"/>
              </a:ext>
            </a:extLst>
          </p:cNvPr>
          <p:cNvSpPr>
            <a:spLocks xmlns:a="http://schemas.openxmlformats.org/drawingml/2006/main" noGrp="1"/>
          </p:cNvSpPr>
          <p:nvPr/>
        </p:nvSpPr>
        <p:spPr>
          <a:xfrm xmlns:a="http://schemas.openxmlformats.org/drawingml/2006/main">
            <a:off x="8924544" y="1783080"/>
            <a:ext cx="2606040" cy="2971800"/>
          </a:xfrm>
          <a:prstGeom xmlns:a="http://schemas.openxmlformats.org/drawingml/2006/main" prst="roundRect">
            <a:avLst>
              <a:gd name="adj" fmla="val 2105"/>
            </a:avLst>
          </a:prstGeom>
          <a:solidFill xmlns:a="http://schemas.openxmlformats.org/drawingml/2006/main">
            <a:srgbClr val="F4F6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D543BC-7184-4A2A-954B-047B0D8D1E3B}"/>
              </a:ext>
            </a:extLst>
          </p:cNvPr>
          <p:cNvSpPr>
            <a:spLocks xmlns:a="http://schemas.openxmlformats.org/drawingml/2006/main" noGrp="1"/>
          </p:cNvSpPr>
          <p:nvPr/>
        </p:nvSpPr>
        <p:spPr>
          <a:xfrm xmlns:a="http://schemas.openxmlformats.org/drawingml/2006/main">
            <a:off x="9180576" y="1965960"/>
            <a:ext cx="2093976"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После получения</a:t>
            </a:r>
          </a:p>
        </p:txBody>
      </p:sp>
      <p:sp>
        <p:nvSpPr>
          <p:cNvPr id="17" name="">
            <a:extLst xmlns:a="http://schemas.openxmlformats.org/drawingml/2006/main">
              <a:ext uri="{FF2B5EF4-FFF2-40B4-BE49-F238E27FC236}">
                <a16:creationId xmlns:a16="http://schemas.microsoft.com/office/drawing/2014/main" id="{2B90FE56-EBB4-4460-98CF-8319E32D9565}"/>
              </a:ext>
            </a:extLst>
          </p:cNvPr>
          <p:cNvSpPr>
            <a:spLocks xmlns:a="http://schemas.openxmlformats.org/drawingml/2006/main" noGrp="1"/>
          </p:cNvSpPr>
          <p:nvPr/>
        </p:nvSpPr>
        <p:spPr>
          <a:xfrm xmlns:a="http://schemas.openxmlformats.org/drawingml/2006/main">
            <a:off x="9180576" y="2542032"/>
            <a:ext cx="2093976"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Уже известное изменение ЦБ на завтра и исторические модели.</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CatBoost оценивает вероятность, AP37 отдельно отбирает пуш.</a:t>
            </a:r>
          </a:p>
        </p:txBody>
      </p:sp>
      <p:sp>
        <p:nvSpPr>
          <p:cNvPr id="18" name="">
            <a:extLst xmlns:a="http://schemas.openxmlformats.org/drawingml/2006/main">
              <a:ext uri="{FF2B5EF4-FFF2-40B4-BE49-F238E27FC236}">
                <a16:creationId xmlns:a16="http://schemas.microsoft.com/office/drawing/2014/main" id="{AB894553-1A28-44FB-A910-C33A421073AF}"/>
              </a:ext>
            </a:extLst>
          </p:cNvPr>
          <p:cNvSpPr>
            <a:spLocks xmlns:a="http://schemas.openxmlformats.org/drawingml/2006/main" noGrp="1"/>
          </p:cNvSpPr>
          <p:nvPr/>
        </p:nvSpPr>
        <p:spPr>
          <a:xfrm xmlns:a="http://schemas.openxmlformats.org/drawingml/2006/main">
            <a:off x="640080" y="4992624"/>
            <a:ext cx="10881360" cy="1152144"/>
          </a:xfrm>
          <a:prstGeom xmlns:a="http://schemas.openxmlformats.org/drawingml/2006/main" prst="roundRect">
            <a:avLst>
              <a:gd name="adj" fmla="val 4762"/>
            </a:avLst>
          </a:prstGeom>
          <a:solidFill xmlns:a="http://schemas.openxmlformats.org/drawingml/2006/main">
            <a:srgbClr val="1A253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63AA63-3375-4EC6-9DAB-DA61D96D35B1}"/>
              </a:ext>
            </a:extLst>
          </p:cNvPr>
          <p:cNvSpPr>
            <a:spLocks xmlns:a="http://schemas.openxmlformats.org/drawingml/2006/main" noGrp="1"/>
          </p:cNvSpPr>
          <p:nvPr/>
        </p:nvSpPr>
        <p:spPr>
          <a:xfrm xmlns:a="http://schemas.openxmlformats.org/drawingml/2006/main">
            <a:off x="914400" y="5148072"/>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Когда отправляем</a:t>
            </a:r>
          </a:p>
        </p:txBody>
      </p:sp>
      <p:sp>
        <p:nvSpPr>
          <p:cNvPr id="20" name="">
            <a:extLst xmlns:a="http://schemas.openxmlformats.org/drawingml/2006/main">
              <a:ext uri="{FF2B5EF4-FFF2-40B4-BE49-F238E27FC236}">
                <a16:creationId xmlns:a16="http://schemas.microsoft.com/office/drawing/2014/main" id="{FBA51C07-C93E-4E53-889A-2EE67980D6BA}"/>
              </a:ext>
            </a:extLst>
          </p:cNvPr>
          <p:cNvSpPr>
            <a:spLocks xmlns:a="http://schemas.openxmlformats.org/drawingml/2006/main" noGrp="1"/>
          </p:cNvSpPr>
          <p:nvPr/>
        </p:nvSpPr>
        <p:spPr>
          <a:xfrm xmlns:a="http://schemas.openxmlformats.org/drawingml/2006/main">
            <a:off x="914400" y="5568696"/>
            <a:ext cx="10332720" cy="393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Сильный сигнал после получения ЦБ, затем проверка местного времени и условий банка. При переносе на утро считаем заново.</a:t>
            </a:r>
          </a:p>
        </p:txBody>
      </p:sp>
      <p:sp>
        <p:nvSpPr>
          <p:cNvPr id="21" name="">
            <a:extLst xmlns:a="http://schemas.openxmlformats.org/drawingml/2006/main">
              <a:ext uri="{FF2B5EF4-FFF2-40B4-BE49-F238E27FC236}">
                <a16:creationId xmlns:a16="http://schemas.microsoft.com/office/drawing/2014/main" id="{4DB7133F-6573-4C1E-A2C4-49A9B01747D7}"/>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Выходной или сбой источника: история и последнее доступное состояние. Нет новых данных — нет фиктивного обновления.</a:t>
            </a:r>
          </a:p>
        </p:txBody>
      </p:sp>
    </p:spTree>
    <p:extLst>
      <p:ext uri="{BB962C8B-B14F-4D97-AF65-F5344CB8AC3E}">
        <p14:creationId xmlns:p14="http://schemas.microsoft.com/office/powerpoint/2010/main" val="21165185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ADB2A00-9B56-4041-8222-4D7A752F827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B3C177C-D240-4558-82B0-239C0414461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4" name="Text 2">
            <a:extLst xmlns:a="http://schemas.openxmlformats.org/drawingml/2006/main">
              <a:ext uri="{FF2B5EF4-FFF2-40B4-BE49-F238E27FC236}">
                <a16:creationId xmlns:a16="http://schemas.microsoft.com/office/drawing/2014/main" id="{DDBA8352-4062-4D69-AE37-8DC443CF319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Пуш: что происходит, если его открыли не сразу</a:t>
            </a:r>
            <a:endParaRPr sz="27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bc0a8ca95ff94b19"/>
          <a:stretch xmlns:a="http://schemas.openxmlformats.org/drawingml/2006/main">
            <a:fillRect l="0" t="0" r="0" b="0"/>
          </a:stretch>
        </p:blipFill>
        <p:spPr>
          <a:xfrm xmlns:a="http://schemas.openxmlformats.org/drawingml/2006/main">
            <a:off x="640080" y="1188720"/>
            <a:ext cx="2468880" cy="2676266"/>
          </a:xfrm>
          <a:prstGeom xmlns:a="http://schemas.openxmlformats.org/drawingml/2006/main" prst="rect">
            <a:avLst/>
          </a:prstGeom>
        </p:spPr>
      </p:pic>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0f44f78bba954af9"/>
          <a:stretch xmlns:a="http://schemas.openxmlformats.org/drawingml/2006/main">
            <a:fillRect l="0" t="0" r="0" b="0"/>
          </a:stretch>
        </p:blipFill>
        <p:spPr>
          <a:xfrm xmlns:a="http://schemas.openxmlformats.org/drawingml/2006/main">
            <a:off x="3246120" y="1188720"/>
            <a:ext cx="2468880" cy="5036515"/>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BE39509B-0C17-42E4-B2AB-46CF55D6A6DB}"/>
              </a:ext>
            </a:extLst>
          </p:cNvPr>
          <p:cNvSpPr>
            <a:spLocks xmlns:a="http://schemas.openxmlformats.org/drawingml/2006/main" noGrp="1"/>
          </p:cNvSpPr>
          <p:nvPr/>
        </p:nvSpPr>
        <p:spPr>
          <a:xfrm xmlns:a="http://schemas.openxmlformats.org/drawingml/2006/main">
            <a:off x="5852160" y="118872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8" name="Text 4">
            <a:extLst xmlns:a="http://schemas.openxmlformats.org/drawingml/2006/main">
              <a:ext uri="{FF2B5EF4-FFF2-40B4-BE49-F238E27FC236}">
                <a16:creationId xmlns:a16="http://schemas.microsoft.com/office/drawing/2014/main" id="{84E44D5F-E67B-4BC2-8F4C-CF2EF05384CC}"/>
              </a:ext>
            </a:extLst>
          </p:cNvPr>
          <p:cNvSpPr>
            <a:spLocks xmlns:a="http://schemas.openxmlformats.org/drawingml/2006/main" noGrp="1"/>
          </p:cNvSpPr>
          <p:nvPr/>
        </p:nvSpPr>
        <p:spPr>
          <a:xfrm xmlns:a="http://schemas.openxmlformats.org/drawingml/2006/main">
            <a:off x="6108192" y="137160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Обновляем контекст при открытии</a:t>
            </a:r>
            <a:endParaRPr sz="1550"/>
          </a:p>
        </p:txBody>
      </p:sp>
      <p:sp>
        <p:nvSpPr>
          <p:cNvPr id="9" name="Text 5">
            <a:extLst xmlns:a="http://schemas.openxmlformats.org/drawingml/2006/main">
              <a:ext uri="{FF2B5EF4-FFF2-40B4-BE49-F238E27FC236}">
                <a16:creationId xmlns:a16="http://schemas.microsoft.com/office/drawing/2014/main" id="{29B63CB1-CB66-4AFF-A4DD-5075DC85FD80}"/>
              </a:ext>
            </a:extLst>
          </p:cNvPr>
          <p:cNvSpPr>
            <a:spLocks xmlns:a="http://schemas.openxmlformats.org/drawingml/2006/main" noGrp="1"/>
          </p:cNvSpPr>
          <p:nvPr/>
        </p:nvSpPr>
        <p:spPr>
          <a:xfrm xmlns:a="http://schemas.openxmlformats.org/drawingml/2006/main">
            <a:off x="6108192" y="190195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Не рассчитываем, что старый пуш обязательно заменится на устройстве. По нажатию всегда загружаем свежие условия и показываем изменение суммы.</a:t>
            </a:r>
            <a:endParaRPr sz="1250"/>
          </a:p>
        </p:txBody>
      </p:sp>
      <p:sp>
        <p:nvSpPr>
          <p:cNvPr id="10" name="Shape 6">
            <a:extLst xmlns:a="http://schemas.openxmlformats.org/drawingml/2006/main">
              <a:ext uri="{FF2B5EF4-FFF2-40B4-BE49-F238E27FC236}">
                <a16:creationId xmlns:a16="http://schemas.microsoft.com/office/drawing/2014/main" id="{B2EB08E2-449A-4188-8F51-841660D39C15}"/>
              </a:ext>
            </a:extLst>
          </p:cNvPr>
          <p:cNvSpPr>
            <a:spLocks xmlns:a="http://schemas.openxmlformats.org/drawingml/2006/main" noGrp="1"/>
          </p:cNvSpPr>
          <p:nvPr/>
        </p:nvSpPr>
        <p:spPr>
          <a:xfrm xmlns:a="http://schemas.openxmlformats.org/drawingml/2006/main">
            <a:off x="5852160" y="292608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1" name="Text 7">
            <a:extLst xmlns:a="http://schemas.openxmlformats.org/drawingml/2006/main">
              <a:ext uri="{FF2B5EF4-FFF2-40B4-BE49-F238E27FC236}">
                <a16:creationId xmlns:a16="http://schemas.microsoft.com/office/drawing/2014/main" id="{551C31B6-FEDB-4886-A927-3F6631154BBD}"/>
              </a:ext>
            </a:extLst>
          </p:cNvPr>
          <p:cNvSpPr>
            <a:spLocks xmlns:a="http://schemas.openxmlformats.org/drawingml/2006/main" noGrp="1"/>
          </p:cNvSpPr>
          <p:nvPr/>
        </p:nvSpPr>
        <p:spPr>
          <a:xfrm xmlns:a="http://schemas.openxmlformats.org/drawingml/2006/main">
            <a:off x="6108192" y="310896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E3226"/>
                </a:solidFill>
                <a:latin typeface="Cambria"/>
                <a:ea typeface="Cambria"/>
                <a:cs typeface="Cambria"/>
              </a:rPr>
              <a:t>Дата и источник в сообщении</a:t>
            </a:r>
            <a:endParaRPr sz="1550"/>
          </a:p>
        </p:txBody>
      </p:sp>
      <p:sp>
        <p:nvSpPr>
          <p:cNvPr id="12" name="Text 8">
            <a:extLst xmlns:a="http://schemas.openxmlformats.org/drawingml/2006/main">
              <a:ext uri="{FF2B5EF4-FFF2-40B4-BE49-F238E27FC236}">
                <a16:creationId xmlns:a16="http://schemas.microsoft.com/office/drawing/2014/main" id="{E22840B7-88FE-4FB4-A218-88B9BE6F8319}"/>
              </a:ext>
            </a:extLst>
          </p:cNvPr>
          <p:cNvSpPr>
            <a:spLocks xmlns:a="http://schemas.openxmlformats.org/drawingml/2006/main" noGrp="1"/>
          </p:cNvSpPr>
          <p:nvPr/>
        </p:nvSpPr>
        <p:spPr>
          <a:xfrm xmlns:a="http://schemas.openxmlformats.org/drawingml/2006/main">
            <a:off x="6108192" y="363931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Пуш остаётся историческим сообщением. Дата курса позволяет понять, к какому моменту относилась сумма.</a:t>
            </a:r>
            <a:endParaRPr sz="1250"/>
          </a:p>
        </p:txBody>
      </p:sp>
      <p:sp>
        <p:nvSpPr>
          <p:cNvPr id="13" name="Shape 9">
            <a:extLst xmlns:a="http://schemas.openxmlformats.org/drawingml/2006/main">
              <a:ext uri="{FF2B5EF4-FFF2-40B4-BE49-F238E27FC236}">
                <a16:creationId xmlns:a16="http://schemas.microsoft.com/office/drawing/2014/main" id="{0B92732E-6480-468F-B18D-261EC4CBECF8}"/>
              </a:ext>
            </a:extLst>
          </p:cNvPr>
          <p:cNvSpPr>
            <a:spLocks xmlns:a="http://schemas.openxmlformats.org/drawingml/2006/main" noGrp="1"/>
          </p:cNvSpPr>
          <p:nvPr/>
        </p:nvSpPr>
        <p:spPr>
          <a:xfrm xmlns:a="http://schemas.openxmlformats.org/drawingml/2006/main">
            <a:off x="5852160" y="4663440"/>
            <a:ext cx="5669280" cy="1572768"/>
          </a:xfrm>
          <a:prstGeom xmlns:a="http://schemas.openxmlformats.org/drawingml/2006/main" prst="roundRect">
            <a:avLst>
              <a:gd name="adj" fmla="val 3488"/>
            </a:avLst>
          </a:prstGeom>
          <a:solidFill xmlns:a="http://schemas.openxmlformats.org/drawingml/2006/main">
            <a:srgbClr val="F4F6F8"/>
          </a:solidFill>
        </p:spPr>
      </p:sp>
      <p:sp>
        <p:nvSpPr>
          <p:cNvPr id="14" name="Text 10">
            <a:extLst xmlns:a="http://schemas.openxmlformats.org/drawingml/2006/main">
              <a:ext uri="{FF2B5EF4-FFF2-40B4-BE49-F238E27FC236}">
                <a16:creationId xmlns:a16="http://schemas.microsoft.com/office/drawing/2014/main" id="{7328998F-4562-4844-8D4E-0BE87BB5EBD6}"/>
              </a:ext>
            </a:extLst>
          </p:cNvPr>
          <p:cNvSpPr>
            <a:spLocks xmlns:a="http://schemas.openxmlformats.org/drawingml/2006/main" noGrp="1"/>
          </p:cNvSpPr>
          <p:nvPr/>
        </p:nvSpPr>
        <p:spPr>
          <a:xfrm xmlns:a="http://schemas.openxmlformats.org/drawingml/2006/main">
            <a:off x="6108192" y="4846320"/>
            <a:ext cx="515721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Свежая оценка вместо срока «сутки»</a:t>
            </a:r>
            <a:endParaRPr sz="1550"/>
          </a:p>
        </p:txBody>
      </p:sp>
      <p:sp>
        <p:nvSpPr>
          <p:cNvPr id="15" name="Text 11">
            <a:extLst xmlns:a="http://schemas.openxmlformats.org/drawingml/2006/main">
              <a:ext uri="{FF2B5EF4-FFF2-40B4-BE49-F238E27FC236}">
                <a16:creationId xmlns:a16="http://schemas.microsoft.com/office/drawing/2014/main" id="{9674EE9D-7020-45FA-B2BA-77C1567E8F9C}"/>
              </a:ext>
            </a:extLst>
          </p:cNvPr>
          <p:cNvSpPr>
            <a:spLocks xmlns:a="http://schemas.openxmlformats.org/drawingml/2006/main" noGrp="1"/>
          </p:cNvSpPr>
          <p:nvPr/>
        </p:nvSpPr>
        <p:spPr>
          <a:xfrm xmlns:a="http://schemas.openxmlformats.org/drawingml/2006/main">
            <a:off x="6108192" y="5376672"/>
            <a:ext cx="515721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Температуру пересчитываем из доступных данных. Если источник устарел, не показываем старую оценку как новую и не обещаем прежние условия.</a:t>
            </a:r>
            <a:endParaRPr sz="1250"/>
          </a:p>
        </p:txBody>
      </p:sp>
      <p:sp>
        <p:nvSpPr>
          <p:cNvPr id="16" name="Text 12">
            <a:extLst xmlns:a="http://schemas.openxmlformats.org/drawingml/2006/main">
              <a:ext uri="{FF2B5EF4-FFF2-40B4-BE49-F238E27FC236}">
                <a16:creationId xmlns:a16="http://schemas.microsoft.com/office/drawing/2014/main" id="{106F178B-A886-47BA-9461-03424B4DA631}"/>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Макеты сценария «момент изменился». Суммы по ЦБ иллюстративные. В пилоте используем актуальные условия банка.</a:t>
            </a:r>
            <a:endParaRPr sz="1050"/>
          </a:p>
        </p:txBody>
      </p:sp>
    </p:spTree>
    <p:extLst>
      <p:ext uri="{BB962C8B-B14F-4D97-AF65-F5344CB8AC3E}">
        <p14:creationId xmlns:p14="http://schemas.microsoft.com/office/powerpoint/2010/main" val="9090730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8A18EF-F5B1-4086-B97B-55B2776A5DEA}"/>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B3271CC0-2175-48A5-9FEF-ADF0FCCA933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6</a:t>
            </a:r>
            <a:endParaRPr sz="1400"/>
          </a:p>
        </p:txBody>
      </p:sp>
      <p:sp>
        <p:nvSpPr>
          <p:cNvPr id="4" name="Text 2">
            <a:extLst xmlns:a="http://schemas.openxmlformats.org/drawingml/2006/main">
              <a:ext uri="{FF2B5EF4-FFF2-40B4-BE49-F238E27FC236}">
                <a16:creationId xmlns:a16="http://schemas.microsoft.com/office/drawing/2014/main" id="{76B68D28-A18E-49D8-A898-70F51373542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Тексты: сто вариантов, девятнадцать в пилот</a:t>
            </a:r>
            <a:endParaRPr sz="2700"/>
          </a:p>
        </p:txBody>
      </p:sp>
      <p:sp>
        <p:nvSpPr>
          <p:cNvPr id="5" name="Text 3">
            <a:extLst xmlns:a="http://schemas.openxmlformats.org/drawingml/2006/main">
              <a:ext uri="{FF2B5EF4-FFF2-40B4-BE49-F238E27FC236}">
                <a16:creationId xmlns:a16="http://schemas.microsoft.com/office/drawing/2014/main" id="{AEB6E5A8-98D2-4B39-8014-C2CC5F9FF6E0}"/>
              </a:ext>
            </a:extLst>
          </p:cNvPr>
          <p:cNvSpPr>
            <a:spLocks xmlns:a="http://schemas.openxmlformats.org/drawingml/2006/main" noGrp="1"/>
          </p:cNvSpPr>
          <p:nvPr/>
        </p:nvSpPr>
        <p:spPr>
          <a:xfrm xmlns:a="http://schemas.openxmlformats.org/drawingml/2006/main">
            <a:off x="640080" y="1097280"/>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4E5966"/>
                </a:solidFill>
                <a:latin typeface="Calibri"/>
                <a:ea typeface="Calibri"/>
                <a:cs typeface="Calibri"/>
              </a:rPr>
              <a:t>Для каждого сообщения проверяем факт, дату и источник. Примеры ниже иллюстративные, с расчётом по ЦБ.</a:t>
            </a:r>
            <a:endParaRPr sz="1350"/>
          </a:p>
        </p:txBody>
      </p:sp>
      <p:sp>
        <p:nvSpPr>
          <p:cNvPr id="6" name="Shape 4">
            <a:extLst xmlns:a="http://schemas.openxmlformats.org/drawingml/2006/main">
              <a:ext uri="{FF2B5EF4-FFF2-40B4-BE49-F238E27FC236}">
                <a16:creationId xmlns:a16="http://schemas.microsoft.com/office/drawing/2014/main" id="{5F2C61EA-CA39-4177-96CD-B68D98609EDC}"/>
              </a:ext>
            </a:extLst>
          </p:cNvPr>
          <p:cNvSpPr>
            <a:spLocks xmlns:a="http://schemas.openxmlformats.org/drawingml/2006/main" noGrp="1"/>
          </p:cNvSpPr>
          <p:nvPr/>
        </p:nvSpPr>
        <p:spPr>
          <a:xfrm xmlns:a="http://schemas.openxmlformats.org/drawingml/2006/main">
            <a:off x="64008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93C05B00-4E6A-4ACC-B1F2-AEC7DBD6F43E}"/>
              </a:ext>
            </a:extLst>
          </p:cNvPr>
          <p:cNvSpPr>
            <a:spLocks xmlns:a="http://schemas.openxmlformats.org/drawingml/2006/main" noGrp="1"/>
          </p:cNvSpPr>
          <p:nvPr/>
        </p:nvSpPr>
        <p:spPr>
          <a:xfrm xmlns:a="http://schemas.openxmlformats.org/drawingml/2006/main">
            <a:off x="89611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Понятная сумма</a:t>
            </a:r>
            <a:endParaRPr sz="1550"/>
          </a:p>
        </p:txBody>
      </p:sp>
      <p:sp>
        <p:nvSpPr>
          <p:cNvPr id="8" name="Text 6">
            <a:extLst xmlns:a="http://schemas.openxmlformats.org/drawingml/2006/main">
              <a:ext uri="{FF2B5EF4-FFF2-40B4-BE49-F238E27FC236}">
                <a16:creationId xmlns:a16="http://schemas.microsoft.com/office/drawing/2014/main" id="{F0925C07-07B4-47B1-9BA5-076CEF5D4224}"/>
              </a:ext>
            </a:extLst>
          </p:cNvPr>
          <p:cNvSpPr>
            <a:spLocks xmlns:a="http://schemas.openxmlformats.org/drawingml/2006/main" noGrp="1"/>
          </p:cNvSpPr>
          <p:nvPr/>
        </p:nvSpPr>
        <p:spPr>
          <a:xfrm xmlns:a="http://schemas.openxmlformats.org/drawingml/2006/main">
            <a:off x="89611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пилоте сумма из котировки банка. В прототипе расчёт по ЦБ явно назван ориентиром.</a:t>
            </a:r>
            <a:endParaRPr sz="1250"/>
          </a:p>
        </p:txBody>
      </p:sp>
      <p:sp>
        <p:nvSpPr>
          <p:cNvPr id="9" name="Shape 7">
            <a:extLst xmlns:a="http://schemas.openxmlformats.org/drawingml/2006/main">
              <a:ext uri="{FF2B5EF4-FFF2-40B4-BE49-F238E27FC236}">
                <a16:creationId xmlns:a16="http://schemas.microsoft.com/office/drawing/2014/main" id="{864AE9C2-355D-4614-8F16-6203875E19E8}"/>
              </a:ext>
            </a:extLst>
          </p:cNvPr>
          <p:cNvSpPr>
            <a:spLocks xmlns:a="http://schemas.openxmlformats.org/drawingml/2006/main" noGrp="1"/>
          </p:cNvSpPr>
          <p:nvPr/>
        </p:nvSpPr>
        <p:spPr>
          <a:xfrm xmlns:a="http://schemas.openxmlformats.org/drawingml/2006/main">
            <a:off x="4325112"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A497CB07-207C-451E-8326-C9B3B51C55D4}"/>
              </a:ext>
            </a:extLst>
          </p:cNvPr>
          <p:cNvSpPr>
            <a:spLocks xmlns:a="http://schemas.openxmlformats.org/drawingml/2006/main" noGrp="1"/>
          </p:cNvSpPr>
          <p:nvPr/>
        </p:nvSpPr>
        <p:spPr>
          <a:xfrm xmlns:a="http://schemas.openxmlformats.org/drawingml/2006/main">
            <a:off x="4581144"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Дата последней</a:t>
            </a:r>
            <a:endParaRPr sz="1550"/>
          </a:p>
        </p:txBody>
      </p:sp>
      <p:sp>
        <p:nvSpPr>
          <p:cNvPr id="11" name="Text 9">
            <a:extLst xmlns:a="http://schemas.openxmlformats.org/drawingml/2006/main">
              <a:ext uri="{FF2B5EF4-FFF2-40B4-BE49-F238E27FC236}">
                <a16:creationId xmlns:a16="http://schemas.microsoft.com/office/drawing/2014/main" id="{65E85C34-2170-4C30-94D2-B2B553CEEC33}"/>
              </a:ext>
            </a:extLst>
          </p:cNvPr>
          <p:cNvSpPr>
            <a:spLocks xmlns:a="http://schemas.openxmlformats.org/drawingml/2006/main" noGrp="1"/>
          </p:cNvSpPr>
          <p:nvPr/>
        </p:nvSpPr>
        <p:spPr>
          <a:xfrm xmlns:a="http://schemas.openxmlformats.org/drawingml/2006/main">
            <a:off x="4581144"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В начале она читается как срок платежа: «вижу 4 сентября – значит, опоздал».</a:t>
            </a:r>
            <a:endParaRPr sz="1250"/>
          </a:p>
        </p:txBody>
      </p:sp>
      <p:sp>
        <p:nvSpPr>
          <p:cNvPr id="12" name="Shape 10">
            <a:extLst xmlns:a="http://schemas.openxmlformats.org/drawingml/2006/main">
              <a:ext uri="{FF2B5EF4-FFF2-40B4-BE49-F238E27FC236}">
                <a16:creationId xmlns:a16="http://schemas.microsoft.com/office/drawing/2014/main" id="{25F31455-F04D-4996-9A57-49C1A0E5E11E}"/>
              </a:ext>
            </a:extLst>
          </p:cNvPr>
          <p:cNvSpPr>
            <a:spLocks xmlns:a="http://schemas.openxmlformats.org/drawingml/2006/main" noGrp="1"/>
          </p:cNvSpPr>
          <p:nvPr/>
        </p:nvSpPr>
        <p:spPr>
          <a:xfrm xmlns:a="http://schemas.openxmlformats.org/drawingml/2006/main">
            <a:off x="8001000" y="1426464"/>
            <a:ext cx="3520440" cy="1481328"/>
          </a:xfrm>
          <a:prstGeom xmlns:a="http://schemas.openxmlformats.org/drawingml/2006/main" prst="roundRect">
            <a:avLst>
              <a:gd name="adj" fmla="val 3704"/>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8727528D-34A1-422F-888F-33FE2518363C}"/>
              </a:ext>
            </a:extLst>
          </p:cNvPr>
          <p:cNvSpPr>
            <a:spLocks xmlns:a="http://schemas.openxmlformats.org/drawingml/2006/main" noGrp="1"/>
          </p:cNvSpPr>
          <p:nvPr/>
        </p:nvSpPr>
        <p:spPr>
          <a:xfrm xmlns:a="http://schemas.openxmlformats.org/drawingml/2006/main">
            <a:off x="8257032" y="1609344"/>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Только проверяемые факты</a:t>
            </a:r>
            <a:endParaRPr sz="1550"/>
          </a:p>
        </p:txBody>
      </p:sp>
      <p:sp>
        <p:nvSpPr>
          <p:cNvPr id="14" name="Text 12">
            <a:extLst xmlns:a="http://schemas.openxmlformats.org/drawingml/2006/main">
              <a:ext uri="{FF2B5EF4-FFF2-40B4-BE49-F238E27FC236}">
                <a16:creationId xmlns:a16="http://schemas.microsoft.com/office/drawing/2014/main" id="{A1B907A2-DC35-4EBC-B6D8-2FC7D7B0DC53}"/>
              </a:ext>
            </a:extLst>
          </p:cNvPr>
          <p:cNvSpPr>
            <a:spLocks xmlns:a="http://schemas.openxmlformats.org/drawingml/2006/main" noGrp="1"/>
          </p:cNvSpPr>
          <p:nvPr/>
        </p:nvSpPr>
        <p:spPr>
          <a:xfrm xmlns:a="http://schemas.openxmlformats.org/drawingml/2006/main">
            <a:off x="8257032" y="2139696"/>
            <a:ext cx="300837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Историческое сравнение не заменяем прогнозом. Если подходящего факта нет, модельный пуш пропускаем.</a:t>
            </a:r>
            <a:endParaRPr sz="1250"/>
          </a:p>
        </p:txBody>
      </p:sp>
      <p:graphicFrame>
        <p:nvGraphicFramePr>
          <p:cNvPr id="33" name="Table 0"/>
          <p:cNvGraphicFramePr/>
          <p:nvPr/>
        </p:nvGraphicFramePr>
        <p:xfrm>
          <a:off xmlns:a="http://schemas.openxmlformats.org/drawingml/2006/main" x="640080" y="3035808"/>
          <a:ext xmlns:a="http://schemas.openxmlformats.org/drawingml/2006/main" cx="10881360" cy="914400"/>
        </p:xfrm>
        <a:graphic xmlns:a="http://schemas.openxmlformats.org/drawingml/2006/main">
          <a:graphicData uri="http://schemas.openxmlformats.org/drawingml/2006/table">
            <a:tbl>
              <a:tblPr/>
              <a:tblGrid>
                <a:gridCol w="2103120"/>
                <a:gridCol w="2926080"/>
                <a:gridCol w="5852160"/>
              </a:tblGrid>
              <a:tr h="310896">
                <a:tc>
                  <a:txBody>
                    <a:bodyPr/>
                    <a:lstStyle/>
                    <a:p>
                      <a:pPr marL="0" indent="0">
                        <a:buNone/>
                      </a:pPr>
                      <a:r>
                        <a:rPr sz="1150" b="1">
                          <a:solidFill>
                            <a:srgbClr val="4E5966"/>
                          </a:solidFill>
                          <a:latin typeface="Calibri"/>
                          <a:ea typeface="Calibri"/>
                          <a:cs typeface="Calibri"/>
                        </a:rPr>
                        <a:t>Повод</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Заголовок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b="1">
                          <a:solidFill>
                            <a:srgbClr val="4E5966"/>
                          </a:solidFill>
                          <a:latin typeface="Calibri"/>
                          <a:ea typeface="Calibri"/>
                          <a:cs typeface="Calibri"/>
                        </a:rPr>
                        <a:t>Текст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Уровень достигнут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Дошло до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4 402 000 сум. Ваш ориентир: 4 400 000.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Редкий момент</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Такой курс бывает нечасто</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По ЦБ за 30 000 ₽: 3 198 сомони. Лучше было 8 дней из 90. Курс на 4 сентября.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Изменение за неделю</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Рубль укрепился к сому</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 неделю на 2,1 % по ЦБ. Условия перевода по курсу банка: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Праздник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Навруз муборак!</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Пусть близкие будут рядом. Условия перевода: в приложении.</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310896">
                <a:tc>
                  <a:txBody>
                    <a:bodyPr/>
                    <a:lstStyle/>
                    <a:p>
                      <a:pPr marL="0" indent="0">
                        <a:buNone/>
                      </a:pPr>
                      <a:r>
                        <a:rPr sz="1150">
                          <a:solidFill>
                            <a:srgbClr val="4E5966"/>
                          </a:solidFill>
                          <a:latin typeface="Calibri"/>
                          <a:ea typeface="Calibri"/>
                          <a:cs typeface="Calibri"/>
                        </a:rPr>
                        <a:t>Свой уровень</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Сколько должно дойти домой?</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50">
                          <a:solidFill>
                            <a:srgbClr val="4E5966"/>
                          </a:solidFill>
                          <a:latin typeface="Calibri"/>
                          <a:ea typeface="Calibri"/>
                          <a:cs typeface="Calibri"/>
                        </a:rPr>
                        <a:t>Задайте нужную сумму получателю. Сообщим о достижении вашего уровня.</a:t>
                      </a:r>
                      <a:endParaRPr sz="115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
        <p:nvSpPr>
          <p:cNvPr id="16" name="Shape 13">
            <a:extLst xmlns:a="http://schemas.openxmlformats.org/drawingml/2006/main">
              <a:ext uri="{FF2B5EF4-FFF2-40B4-BE49-F238E27FC236}">
                <a16:creationId xmlns:a16="http://schemas.microsoft.com/office/drawing/2014/main" id="{EADF1550-D625-4235-94DB-22D7B0F236A2}"/>
              </a:ext>
            </a:extLst>
          </p:cNvPr>
          <p:cNvSpPr>
            <a:spLocks xmlns:a="http://schemas.openxmlformats.org/drawingml/2006/main" noGrp="1"/>
          </p:cNvSpPr>
          <p:nvPr/>
        </p:nvSpPr>
        <p:spPr>
          <a:xfrm xmlns:a="http://schemas.openxmlformats.org/drawingml/2006/main">
            <a:off x="640080" y="5230368"/>
            <a:ext cx="10881360" cy="1188720"/>
          </a:xfrm>
          <a:prstGeom xmlns:a="http://schemas.openxmlformats.org/drawingml/2006/main" prst="roundRect">
            <a:avLst>
              <a:gd name="adj" fmla="val 4615"/>
            </a:avLst>
          </a:prstGeom>
          <a:solidFill xmlns:a="http://schemas.openxmlformats.org/drawingml/2006/main">
            <a:srgbClr val="1A2530"/>
          </a:solidFill>
        </p:spPr>
      </p:sp>
      <p:sp>
        <p:nvSpPr>
          <p:cNvPr id="17" name="Text 14">
            <a:extLst xmlns:a="http://schemas.openxmlformats.org/drawingml/2006/main">
              <a:ext uri="{FF2B5EF4-FFF2-40B4-BE49-F238E27FC236}">
                <a16:creationId xmlns:a16="http://schemas.microsoft.com/office/drawing/2014/main" id="{5C9119D4-8B53-4EAB-AE31-E8CABDDDDEDB}"/>
              </a:ext>
            </a:extLst>
          </p:cNvPr>
          <p:cNvSpPr>
            <a:spLocks xmlns:a="http://schemas.openxmlformats.org/drawingml/2006/main" noGrp="1"/>
          </p:cNvSpPr>
          <p:nvPr/>
        </p:nvSpPr>
        <p:spPr>
          <a:xfrm xmlns:a="http://schemas.openxmlformats.org/drawingml/2006/main">
            <a:off x="914400" y="5385816"/>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E89484"/>
                </a:solidFill>
                <a:latin typeface="Cambria"/>
                <a:ea typeface="Cambria"/>
                <a:cs typeface="Cambria"/>
              </a:rPr>
              <a:t>Чего в наборе нет и не будет</a:t>
            </a:r>
            <a:endParaRPr sz="1550"/>
          </a:p>
        </p:txBody>
      </p:sp>
      <p:sp>
        <p:nvSpPr>
          <p:cNvPr id="18" name="Text 15">
            <a:extLst xmlns:a="http://schemas.openxmlformats.org/drawingml/2006/main">
              <a:ext uri="{FF2B5EF4-FFF2-40B4-BE49-F238E27FC236}">
                <a16:creationId xmlns:a16="http://schemas.microsoft.com/office/drawing/2014/main" id="{1D4A9C26-DB00-421B-9ABF-B77D6273F59F}"/>
              </a:ext>
            </a:extLst>
          </p:cNvPr>
          <p:cNvSpPr>
            <a:spLocks xmlns:a="http://schemas.openxmlformats.org/drawingml/2006/main" noGrp="1"/>
          </p:cNvSpPr>
          <p:nvPr/>
        </p:nvSpPr>
        <p:spPr>
          <a:xfrm xmlns:a="http://schemas.openxmlformats.org/drawingml/2006/main">
            <a:off x="914400" y="5760720"/>
            <a:ext cx="103327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C7CFD8"/>
                </a:solidFill>
                <a:latin typeface="Calibri"/>
                <a:ea typeface="Calibri"/>
                <a:cs typeface="Calibri"/>
              </a:rPr>
              <a:t>Не используем «курс вырастет», «успейте, пока не подорожало», «гарантируем лучший курс». Прогноз остаётся внутри модели, клиент получает факт.</a:t>
            </a:r>
            <a:endParaRPr sz="1250"/>
          </a:p>
        </p:txBody>
      </p:sp>
    </p:spTree>
    <p:extLst>
      <p:ext uri="{BB962C8B-B14F-4D97-AF65-F5344CB8AC3E}">
        <p14:creationId xmlns:p14="http://schemas.microsoft.com/office/powerpoint/2010/main" val="12799119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105A642-BACC-4487-9610-B5B3999D730C}"/>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044E1C98-F408-466C-BB4C-833DA022AB8E}"/>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7</a:t>
            </a:r>
            <a:endParaRPr sz="1400"/>
          </a:p>
        </p:txBody>
      </p:sp>
      <p:sp>
        <p:nvSpPr>
          <p:cNvPr id="4" name="Text 2">
            <a:extLst xmlns:a="http://schemas.openxmlformats.org/drawingml/2006/main">
              <a:ext uri="{FF2B5EF4-FFF2-40B4-BE49-F238E27FC236}">
                <a16:creationId xmlns:a16="http://schemas.microsoft.com/office/drawing/2014/main" id="{B379CDC2-6916-4423-BC0D-EC54DD5E284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Что мы предлагаем запускать</a:t>
            </a:r>
            <a:endParaRPr sz="2700"/>
          </a:p>
        </p:txBody>
      </p:sp>
      <p:sp>
        <p:nvSpPr>
          <p:cNvPr id="5" name="Shape 3">
            <a:extLst xmlns:a="http://schemas.openxmlformats.org/drawingml/2006/main">
              <a:ext uri="{FF2B5EF4-FFF2-40B4-BE49-F238E27FC236}">
                <a16:creationId xmlns:a16="http://schemas.microsoft.com/office/drawing/2014/main" id="{9C03B6DD-A9EA-4CF4-829B-983FD4C8E027}"/>
              </a:ext>
            </a:extLst>
          </p:cNvPr>
          <p:cNvSpPr>
            <a:spLocks xmlns:a="http://schemas.openxmlformats.org/drawingml/2006/main" noGrp="1"/>
          </p:cNvSpPr>
          <p:nvPr/>
        </p:nvSpPr>
        <p:spPr>
          <a:xfrm xmlns:a="http://schemas.openxmlformats.org/drawingml/2006/main">
            <a:off x="640080"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F66D4CC0-2BC6-4F73-B066-53466A49D9BA}"/>
              </a:ext>
            </a:extLst>
          </p:cNvPr>
          <p:cNvSpPr>
            <a:spLocks xmlns:a="http://schemas.openxmlformats.org/drawingml/2006/main" noGrp="1"/>
          </p:cNvSpPr>
          <p:nvPr/>
        </p:nvSpPr>
        <p:spPr>
          <a:xfrm xmlns:a="http://schemas.openxmlformats.org/drawingml/2006/main">
            <a:off x="896112"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Основное: пилот сигнального слоя</a:t>
            </a:r>
            <a:endParaRPr sz="1550"/>
          </a:p>
        </p:txBody>
      </p:sp>
      <p:sp>
        <p:nvSpPr>
          <p:cNvPr id="7" name="Text 5">
            <a:extLst xmlns:a="http://schemas.openxmlformats.org/drawingml/2006/main">
              <a:ext uri="{FF2B5EF4-FFF2-40B4-BE49-F238E27FC236}">
                <a16:creationId xmlns:a16="http://schemas.microsoft.com/office/drawing/2014/main" id="{3196FEF7-7E4C-42CB-BCFC-B56FDBEE7ED0}"/>
              </a:ext>
            </a:extLst>
          </p:cNvPr>
          <p:cNvSpPr>
            <a:spLocks xmlns:a="http://schemas.openxmlformats.org/drawingml/2006/main" noGrp="1"/>
          </p:cNvSpPr>
          <p:nvPr/>
        </p:nvSpPr>
        <p:spPr>
          <a:xfrm xmlns:a="http://schemas.openxmlformats.org/drawingml/2006/main">
            <a:off x="896112"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Финальный кандидат объединяет доступные источники и отбирает редкие сигналы. Главный горизонт для объяснения: пять публикаций.</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Сначала сопоставляем сигнал с реальной котировкой банка. Затем проверяем на клиентах дополнительный объём переводов против контрольной группы.</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Код работает на исторических данных. Подключение боевых источников и отправки ещё требуется.</a:t>
            </a:r>
            <a:endParaRPr sz="1250"/>
          </a:p>
        </p:txBody>
      </p:sp>
      <p:sp>
        <p:nvSpPr>
          <p:cNvPr id="8" name="Shape 6">
            <a:extLst xmlns:a="http://schemas.openxmlformats.org/drawingml/2006/main">
              <a:ext uri="{FF2B5EF4-FFF2-40B4-BE49-F238E27FC236}">
                <a16:creationId xmlns:a16="http://schemas.microsoft.com/office/drawing/2014/main" id="{D4B6E11E-154F-461D-BA0C-DE940BE3D2D0}"/>
              </a:ext>
            </a:extLst>
          </p:cNvPr>
          <p:cNvSpPr>
            <a:spLocks xmlns:a="http://schemas.openxmlformats.org/drawingml/2006/main" noGrp="1"/>
          </p:cNvSpPr>
          <p:nvPr/>
        </p:nvSpPr>
        <p:spPr>
          <a:xfrm xmlns:a="http://schemas.openxmlformats.org/drawingml/2006/main">
            <a:off x="6153912" y="1115568"/>
            <a:ext cx="5367528" cy="3127248"/>
          </a:xfrm>
          <a:prstGeom xmlns:a="http://schemas.openxmlformats.org/drawingml/2006/main" prst="roundRect">
            <a:avLst>
              <a:gd name="adj" fmla="val 1754"/>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2BC5A545-BDD3-4C14-8FDF-45AF0B77B778}"/>
              </a:ext>
            </a:extLst>
          </p:cNvPr>
          <p:cNvSpPr>
            <a:spLocks xmlns:a="http://schemas.openxmlformats.org/drawingml/2006/main" noGrp="1"/>
          </p:cNvSpPr>
          <p:nvPr/>
        </p:nvSpPr>
        <p:spPr>
          <a:xfrm xmlns:a="http://schemas.openxmlformats.org/drawingml/2006/main">
            <a:off x="6409944" y="1298448"/>
            <a:ext cx="4855464"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Дополнительно: уровень и интерфейс</a:t>
            </a:r>
            <a:endParaRPr sz="1550"/>
          </a:p>
        </p:txBody>
      </p:sp>
      <p:sp>
        <p:nvSpPr>
          <p:cNvPr id="10" name="Text 8">
            <a:extLst xmlns:a="http://schemas.openxmlformats.org/drawingml/2006/main">
              <a:ext uri="{FF2B5EF4-FFF2-40B4-BE49-F238E27FC236}">
                <a16:creationId xmlns:a16="http://schemas.microsoft.com/office/drawing/2014/main" id="{FE96BD34-919E-400A-BE1B-E42A50F978D5}"/>
              </a:ext>
            </a:extLst>
          </p:cNvPr>
          <p:cNvSpPr>
            <a:spLocks xmlns:a="http://schemas.openxmlformats.org/drawingml/2006/main" noGrp="1"/>
          </p:cNvSpPr>
          <p:nvPr/>
        </p:nvSpPr>
        <p:spPr>
          <a:xfrm xmlns:a="http://schemas.openxmlformats.org/drawingml/2006/main">
            <a:off x="6409944" y="1828800"/>
            <a:ext cx="4855464"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Клиент задаёт нужную сумму получателю. При открытии пуша видит актуальные условия, историческое сравнение и возможность оставить оповещение.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помогает системе оценить состояние в любой момент. В интерфейсе сохраняются факты, а не вероятность будущего.</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4E5966"/>
                </a:solidFill>
                <a:latin typeface="Calibri"/>
                <a:ea typeface="Calibri"/>
                <a:cs typeface="Calibri"/>
              </a:defRPr>
            </a:pPr>
            <a:r>
              <a:rPr sz="1250">
                <a:solidFill>
                  <a:srgbClr val="4E5966"/>
                </a:solidFill>
                <a:latin typeface="Calibri"/>
                <a:ea typeface="Calibri"/>
                <a:cs typeface="Calibri"/>
              </a:rPr>
              <a:t>Календарные поводы проверяем отдельно, не прибавляем их к измеренной точности модели.</a:t>
            </a:r>
            <a:endParaRPr sz="1250"/>
          </a:p>
        </p:txBody>
      </p:sp>
      <p:sp>
        <p:nvSpPr>
          <p:cNvPr id="11" name="Text 9">
            <a:extLst xmlns:a="http://schemas.openxmlformats.org/drawingml/2006/main">
              <a:ext uri="{FF2B5EF4-FFF2-40B4-BE49-F238E27FC236}">
                <a16:creationId xmlns:a16="http://schemas.microsoft.com/office/drawing/2014/main" id="{098AEE2E-FF6D-4E67-A1E0-74D8C5F385A2}"/>
              </a:ext>
            </a:extLst>
          </p:cNvPr>
          <p:cNvSpPr>
            <a:spLocks xmlns:a="http://schemas.openxmlformats.org/drawingml/2006/main" noGrp="1"/>
          </p:cNvSpPr>
          <p:nvPr/>
        </p:nvSpPr>
        <p:spPr>
          <a:xfrm xmlns:a="http://schemas.openxmlformats.org/drawingml/2006/main">
            <a:off x="640080" y="4407408"/>
            <a:ext cx="108813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A2530"/>
                </a:solidFill>
                <a:latin typeface="Cambria"/>
                <a:ea typeface="Cambria"/>
                <a:cs typeface="Cambria"/>
              </a:rPr>
              <a:t>Допущения, на которых всё держится</a:t>
            </a:r>
            <a:endParaRPr sz="1450"/>
          </a:p>
        </p:txBody>
      </p:sp>
      <p:graphicFrame>
        <p:nvGraphicFramePr>
          <p:cNvPr id="23" name="Table 0"/>
          <p:cNvGraphicFramePr/>
          <p:nvPr/>
        </p:nvGraphicFramePr>
        <p:xfrm>
          <a:off xmlns:a="http://schemas.openxmlformats.org/drawingml/2006/main" x="640080" y="4754880"/>
          <a:ext xmlns:a="http://schemas.openxmlformats.org/drawingml/2006/main" cx="10881360" cy="914400"/>
        </p:xfrm>
        <a:graphic xmlns:a="http://schemas.openxmlformats.org/drawingml/2006/main">
          <a:graphicData uri="http://schemas.openxmlformats.org/drawingml/2006/table">
            <a:tbl>
              <a:tblPr/>
              <a:tblGrid>
                <a:gridCol w="5669280"/>
                <a:gridCol w="5212080"/>
              </a:tblGrid>
              <a:tr h="274320">
                <a:tc>
                  <a:txBody>
                    <a:bodyPr/>
                    <a:lstStyle/>
                    <a:p>
                      <a:pPr marL="0" indent="0">
                        <a:buNone/>
                      </a:pPr>
                      <a:r>
                        <a:rPr sz="1100">
                          <a:solidFill>
                            <a:srgbClr val="4E5966"/>
                          </a:solidFill>
                          <a:latin typeface="Calibri"/>
                          <a:ea typeface="Calibri"/>
                          <a:cs typeface="Calibri"/>
                        </a:rPr>
                        <a:t>Публичный курс и курс перевода могут расходиться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Нужна проверка на котировках банка, комиссиях и сроке действия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Историческая связь может измениться</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Новый период и пилот без перенастройки на результатах</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r h="274320">
                <a:tc>
                  <a:txBody>
                    <a:bodyPr/>
                    <a:lstStyle/>
                    <a:p>
                      <a:pPr marL="0" indent="0">
                        <a:buNone/>
                      </a:pPr>
                      <a:r>
                        <a:rPr sz="1100">
                          <a:solidFill>
                            <a:srgbClr val="4E5966"/>
                          </a:solidFill>
                          <a:latin typeface="Calibri"/>
                          <a:ea typeface="Calibri"/>
                          <a:cs typeface="Calibri"/>
                        </a:rPr>
                        <a:t>Пуш может сдвинуть уже запланированный перевод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c>
                  <a:txBody>
                    <a:bodyPr/>
                    <a:lstStyle/>
                    <a:p>
                      <a:pPr marL="0" indent="0">
                        <a:buNone/>
                      </a:pPr>
                      <a:r>
                        <a:rPr sz="1100">
                          <a:solidFill>
                            <a:srgbClr val="4E5966"/>
                          </a:solidFill>
                          <a:latin typeface="Calibri"/>
                          <a:ea typeface="Calibri"/>
                          <a:cs typeface="Calibri"/>
                        </a:rPr>
                        <a:t>Меряем дополнительный объём и каннибализацию за полный период</a:t>
                      </a:r>
                      <a:endParaRPr sz="1100">
                        <a:latin typeface="Calibri"/>
                        <a:ea typeface="Calibri"/>
                        <a:cs typeface="Calibri"/>
                      </a:endParaRPr>
                    </a:p>
                  </a:txBody>
                  <a:tcPr marL="91440" marR="91440" marT="45720" marB="45720" anchor="ctr">
                    <a:lnL w="6350" cmpd="sng">
                      <a:solidFill>
                        <a:srgbClr val="DCE2E8"/>
                      </a:solidFill>
                      <a:prstDash val="solid"/>
                    </a:lnL>
                    <a:lnR w="6350" cmpd="sng">
                      <a:solidFill>
                        <a:srgbClr val="DCE2E8"/>
                      </a:solidFill>
                      <a:prstDash val="solid"/>
                    </a:lnR>
                    <a:lnT w="6350" cmpd="sng">
                      <a:solidFill>
                        <a:srgbClr val="DCE2E8"/>
                      </a:solidFill>
                      <a:prstDash val="solid"/>
                    </a:lnT>
                    <a:lnB w="6350" cmpd="sng">
                      <a:solidFill>
                        <a:srgbClr val="DCE2E8"/>
                      </a:solidFill>
                      <a:prstDash val="solid"/>
                    </a:lnB>
                  </a:tcPr>
                </a:tc>
              </a:tr>
            </a:tbl>
          </a:graphicData>
        </a:graphic>
      </p:graphicFrame>
    </p:spTree>
    <p:extLst>
      <p:ext uri="{BB962C8B-B14F-4D97-AF65-F5344CB8AC3E}">
        <p14:creationId xmlns:p14="http://schemas.microsoft.com/office/powerpoint/2010/main" val="16575155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71A017A-5DC4-43B9-A4E2-5F692ECDCB9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6751D359-F797-423A-9DDB-0C0107318AF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8</a:t>
            </a:r>
            <a:endParaRPr sz="1400"/>
          </a:p>
        </p:txBody>
      </p:sp>
      <p:sp>
        <p:nvSpPr>
          <p:cNvPr id="4" name="Text 2">
            <a:extLst xmlns:a="http://schemas.openxmlformats.org/drawingml/2006/main">
              <a:ext uri="{FF2B5EF4-FFF2-40B4-BE49-F238E27FC236}">
                <a16:creationId xmlns:a16="http://schemas.microsoft.com/office/drawing/2014/main" id="{2880313A-4B36-468F-ABE7-0738A28E75E2}"/>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Следующие шаги</a:t>
            </a:r>
            <a:endParaRPr sz="2700"/>
          </a:p>
        </p:txBody>
      </p:sp>
      <p:sp>
        <p:nvSpPr>
          <p:cNvPr id="5" name="Shape 3">
            <a:extLst xmlns:a="http://schemas.openxmlformats.org/drawingml/2006/main">
              <a:ext uri="{FF2B5EF4-FFF2-40B4-BE49-F238E27FC236}">
                <a16:creationId xmlns:a16="http://schemas.microsoft.com/office/drawing/2014/main" id="{2B6EEFB1-B1E3-41E8-B216-D7595A503EE0}"/>
              </a:ext>
            </a:extLst>
          </p:cNvPr>
          <p:cNvSpPr>
            <a:spLocks xmlns:a="http://schemas.openxmlformats.org/drawingml/2006/main" noGrp="1"/>
          </p:cNvSpPr>
          <p:nvPr/>
        </p:nvSpPr>
        <p:spPr>
          <a:xfrm xmlns:a="http://schemas.openxmlformats.org/drawingml/2006/main">
            <a:off x="64008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A1C5470B-3A61-4AC2-8C6F-821455C7E9B6}"/>
              </a:ext>
            </a:extLst>
          </p:cNvPr>
          <p:cNvSpPr>
            <a:spLocks xmlns:a="http://schemas.openxmlformats.org/drawingml/2006/main" noGrp="1"/>
          </p:cNvSpPr>
          <p:nvPr/>
        </p:nvSpPr>
        <p:spPr>
          <a:xfrm xmlns:a="http://schemas.openxmlformats.org/drawingml/2006/main">
            <a:off x="89611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6674F"/>
                </a:solidFill>
                <a:latin typeface="Cambria"/>
                <a:ea typeface="Cambria"/>
                <a:cs typeface="Cambria"/>
              </a:rPr>
              <a:t>1 · Новый период</a:t>
            </a:r>
            <a:endParaRPr sz="1550"/>
          </a:p>
        </p:txBody>
      </p:sp>
      <p:sp>
        <p:nvSpPr>
          <p:cNvPr id="7" name="Text 5">
            <a:extLst xmlns:a="http://schemas.openxmlformats.org/drawingml/2006/main">
              <a:ext uri="{FF2B5EF4-FFF2-40B4-BE49-F238E27FC236}">
                <a16:creationId xmlns:a16="http://schemas.microsoft.com/office/drawing/2014/main" id="{09C331A2-3F9F-4749-8E55-4217259F4A06}"/>
              </a:ext>
            </a:extLst>
          </p:cNvPr>
          <p:cNvSpPr>
            <a:spLocks xmlns:a="http://schemas.openxmlformats.org/drawingml/2006/main" noGrp="1"/>
          </p:cNvSpPr>
          <p:nvPr/>
        </p:nvSpPr>
        <p:spPr>
          <a:xfrm xmlns:a="http://schemas.openxmlformats.org/drawingml/2006/main">
            <a:off x="89611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Зафиксировать модель и собирать новые результаты без подбора по ним. Хранить точное время получения каждого курса и свечи.</a:t>
            </a:r>
            <a:endParaRPr sz="1250"/>
          </a:p>
        </p:txBody>
      </p:sp>
      <p:sp>
        <p:nvSpPr>
          <p:cNvPr id="8" name="Shape 6">
            <a:extLst xmlns:a="http://schemas.openxmlformats.org/drawingml/2006/main">
              <a:ext uri="{FF2B5EF4-FFF2-40B4-BE49-F238E27FC236}">
                <a16:creationId xmlns:a16="http://schemas.microsoft.com/office/drawing/2014/main" id="{4CB2D382-9525-40A2-9D47-116850CA1AFC}"/>
              </a:ext>
            </a:extLst>
          </p:cNvPr>
          <p:cNvSpPr>
            <a:spLocks xmlns:a="http://schemas.openxmlformats.org/drawingml/2006/main" noGrp="1"/>
          </p:cNvSpPr>
          <p:nvPr/>
        </p:nvSpPr>
        <p:spPr>
          <a:xfrm xmlns:a="http://schemas.openxmlformats.org/drawingml/2006/main">
            <a:off x="4325112"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5A7498AD-FD58-4680-98C4-CE74A42D20FD}"/>
              </a:ext>
            </a:extLst>
          </p:cNvPr>
          <p:cNvSpPr>
            <a:spLocks xmlns:a="http://schemas.openxmlformats.org/drawingml/2006/main" noGrp="1"/>
          </p:cNvSpPr>
          <p:nvPr/>
        </p:nvSpPr>
        <p:spPr>
          <a:xfrm xmlns:a="http://schemas.openxmlformats.org/drawingml/2006/main">
            <a:off x="4581144"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2 · Общий лимит клиента</a:t>
            </a:r>
            <a:endParaRPr sz="1550"/>
          </a:p>
        </p:txBody>
      </p:sp>
      <p:sp>
        <p:nvSpPr>
          <p:cNvPr id="10" name="Text 8">
            <a:extLst xmlns:a="http://schemas.openxmlformats.org/drawingml/2006/main">
              <a:ext uri="{FF2B5EF4-FFF2-40B4-BE49-F238E27FC236}">
                <a16:creationId xmlns:a16="http://schemas.microsoft.com/office/drawing/2014/main" id="{D51E4D0D-E39A-455C-A3AD-11608C95A053}"/>
              </a:ext>
            </a:extLst>
          </p:cNvPr>
          <p:cNvSpPr>
            <a:spLocks xmlns:a="http://schemas.openxmlformats.org/drawingml/2006/main" noGrp="1"/>
          </p:cNvSpPr>
          <p:nvPr/>
        </p:nvSpPr>
        <p:spPr>
          <a:xfrm xmlns:a="http://schemas.openxmlformats.org/drawingml/2006/main">
            <a:off x="4581144"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Подключить разрешения и общую коммуникационную политику банка. Проверить частоту после текстового фильтра и переноса по часовым поясам.</a:t>
            </a:r>
            <a:endParaRPr sz="1250"/>
          </a:p>
        </p:txBody>
      </p:sp>
      <p:sp>
        <p:nvSpPr>
          <p:cNvPr id="11" name="Shape 9">
            <a:extLst xmlns:a="http://schemas.openxmlformats.org/drawingml/2006/main">
              <a:ext uri="{FF2B5EF4-FFF2-40B4-BE49-F238E27FC236}">
                <a16:creationId xmlns:a16="http://schemas.microsoft.com/office/drawing/2014/main" id="{F17DF5A4-EFF3-405F-BC38-FBE2144441BC}"/>
              </a:ext>
            </a:extLst>
          </p:cNvPr>
          <p:cNvSpPr>
            <a:spLocks xmlns:a="http://schemas.openxmlformats.org/drawingml/2006/main" noGrp="1"/>
          </p:cNvSpPr>
          <p:nvPr/>
        </p:nvSpPr>
        <p:spPr>
          <a:xfrm xmlns:a="http://schemas.openxmlformats.org/drawingml/2006/main">
            <a:off x="8001000" y="1115568"/>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8A8B1CE9-3042-4C97-92D1-71B63F71EA6A}"/>
              </a:ext>
            </a:extLst>
          </p:cNvPr>
          <p:cNvSpPr>
            <a:spLocks xmlns:a="http://schemas.openxmlformats.org/drawingml/2006/main" noGrp="1"/>
          </p:cNvSpPr>
          <p:nvPr/>
        </p:nvSpPr>
        <p:spPr>
          <a:xfrm xmlns:a="http://schemas.openxmlformats.org/drawingml/2006/main">
            <a:off x="8257032" y="129844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3 · Курс поставщика</a:t>
            </a:r>
            <a:endParaRPr sz="1550"/>
          </a:p>
        </p:txBody>
      </p:sp>
      <p:sp>
        <p:nvSpPr>
          <p:cNvPr id="13" name="Text 11">
            <a:extLst xmlns:a="http://schemas.openxmlformats.org/drawingml/2006/main">
              <a:ext uri="{FF2B5EF4-FFF2-40B4-BE49-F238E27FC236}">
                <a16:creationId xmlns:a16="http://schemas.microsoft.com/office/drawing/2014/main" id="{D8EA3E0F-C7B4-416A-9E2F-E3D7F66F8F18}"/>
              </a:ext>
            </a:extLst>
          </p:cNvPr>
          <p:cNvSpPr>
            <a:spLocks xmlns:a="http://schemas.openxmlformats.org/drawingml/2006/main" noGrp="1"/>
          </p:cNvSpPr>
          <p:nvPr/>
        </p:nvSpPr>
        <p:spPr>
          <a:xfrm xmlns:a="http://schemas.openxmlformats.org/drawingml/2006/main">
            <a:off x="8257032" y="1828800"/>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Измерить сигнал на исполнимой котировке, с комиссией и сроком действия. Не переносить базисные пункты ЦБ в обещания клиенту.</a:t>
            </a:r>
            <a:endParaRPr sz="1250"/>
          </a:p>
        </p:txBody>
      </p:sp>
      <p:sp>
        <p:nvSpPr>
          <p:cNvPr id="14" name="Shape 12">
            <a:extLst xmlns:a="http://schemas.openxmlformats.org/drawingml/2006/main">
              <a:ext uri="{FF2B5EF4-FFF2-40B4-BE49-F238E27FC236}">
                <a16:creationId xmlns:a16="http://schemas.microsoft.com/office/drawing/2014/main" id="{18914315-C5B6-44EB-AE9C-CDCFEDEF4E20}"/>
              </a:ext>
            </a:extLst>
          </p:cNvPr>
          <p:cNvSpPr>
            <a:spLocks xmlns:a="http://schemas.openxmlformats.org/drawingml/2006/main" noGrp="1"/>
          </p:cNvSpPr>
          <p:nvPr/>
        </p:nvSpPr>
        <p:spPr>
          <a:xfrm xmlns:a="http://schemas.openxmlformats.org/drawingml/2006/main">
            <a:off x="64008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5" name="Text 13">
            <a:extLst xmlns:a="http://schemas.openxmlformats.org/drawingml/2006/main">
              <a:ext uri="{FF2B5EF4-FFF2-40B4-BE49-F238E27FC236}">
                <a16:creationId xmlns:a16="http://schemas.microsoft.com/office/drawing/2014/main" id="{591E68BB-F3FB-46AB-829A-D16F3CD755BE}"/>
              </a:ext>
            </a:extLst>
          </p:cNvPr>
          <p:cNvSpPr>
            <a:spLocks xmlns:a="http://schemas.openxmlformats.org/drawingml/2006/main" noGrp="1"/>
          </p:cNvSpPr>
          <p:nvPr/>
        </p:nvSpPr>
        <p:spPr>
          <a:xfrm xmlns:a="http://schemas.openxmlformats.org/drawingml/2006/main">
            <a:off x="89611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4 · Пилот с холдаутом</a:t>
            </a:r>
            <a:endParaRPr sz="1550"/>
          </a:p>
        </p:txBody>
      </p:sp>
      <p:sp>
        <p:nvSpPr>
          <p:cNvPr id="16" name="Text 14">
            <a:extLst xmlns:a="http://schemas.openxmlformats.org/drawingml/2006/main">
              <a:ext uri="{FF2B5EF4-FFF2-40B4-BE49-F238E27FC236}">
                <a16:creationId xmlns:a16="http://schemas.microsoft.com/office/drawing/2014/main" id="{FE7E3603-3D6C-407E-8366-8F2F61EE8275}"/>
              </a:ext>
            </a:extLst>
          </p:cNvPr>
          <p:cNvSpPr>
            <a:spLocks xmlns:a="http://schemas.openxmlformats.org/drawingml/2006/main" noGrp="1"/>
          </p:cNvSpPr>
          <p:nvPr/>
        </p:nvSpPr>
        <p:spPr>
          <a:xfrm xmlns:a="http://schemas.openxmlformats.org/drawingml/2006/main">
            <a:off x="89611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Сравнить модельные пуши, оповещения об уровне и контроль без новых сообщений. Главная бизнес-метрика: дополнительный net-объём переводов.</a:t>
            </a:r>
            <a:endParaRPr sz="1250"/>
          </a:p>
        </p:txBody>
      </p:sp>
      <p:sp>
        <p:nvSpPr>
          <p:cNvPr id="17" name="Shape 15">
            <a:extLst xmlns:a="http://schemas.openxmlformats.org/drawingml/2006/main">
              <a:ext uri="{FF2B5EF4-FFF2-40B4-BE49-F238E27FC236}">
                <a16:creationId xmlns:a16="http://schemas.microsoft.com/office/drawing/2014/main" id="{DC80D6D5-947F-47F4-84AD-81BDADECAF54}"/>
              </a:ext>
            </a:extLst>
          </p:cNvPr>
          <p:cNvSpPr>
            <a:spLocks xmlns:a="http://schemas.openxmlformats.org/drawingml/2006/main" noGrp="1"/>
          </p:cNvSpPr>
          <p:nvPr/>
        </p:nvSpPr>
        <p:spPr>
          <a:xfrm xmlns:a="http://schemas.openxmlformats.org/drawingml/2006/main">
            <a:off x="4325112"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18" name="Text 16">
            <a:extLst xmlns:a="http://schemas.openxmlformats.org/drawingml/2006/main">
              <a:ext uri="{FF2B5EF4-FFF2-40B4-BE49-F238E27FC236}">
                <a16:creationId xmlns:a16="http://schemas.microsoft.com/office/drawing/2014/main" id="{33400632-28AB-462C-A5DC-DC8428AB8266}"/>
              </a:ext>
            </a:extLst>
          </p:cNvPr>
          <p:cNvSpPr>
            <a:spLocks xmlns:a="http://schemas.openxmlformats.org/drawingml/2006/main" noGrp="1"/>
          </p:cNvSpPr>
          <p:nvPr/>
        </p:nvSpPr>
        <p:spPr>
          <a:xfrm xmlns:a="http://schemas.openxmlformats.org/drawingml/2006/main">
            <a:off x="4581144"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5 · Тексты в продакшн</a:t>
            </a:r>
            <a:endParaRPr sz="1550"/>
          </a:p>
        </p:txBody>
      </p:sp>
      <p:sp>
        <p:nvSpPr>
          <p:cNvPr id="19" name="Text 17">
            <a:extLst xmlns:a="http://schemas.openxmlformats.org/drawingml/2006/main">
              <a:ext uri="{FF2B5EF4-FFF2-40B4-BE49-F238E27FC236}">
                <a16:creationId xmlns:a16="http://schemas.microsoft.com/office/drawing/2014/main" id="{1284FC55-0326-40E7-A3DC-DA9EAC36C99A}"/>
              </a:ext>
            </a:extLst>
          </p:cNvPr>
          <p:cNvSpPr>
            <a:spLocks xmlns:a="http://schemas.openxmlformats.org/drawingml/2006/main" noGrp="1"/>
          </p:cNvSpPr>
          <p:nvPr/>
        </p:nvSpPr>
        <p:spPr>
          <a:xfrm xmlns:a="http://schemas.openxmlformats.org/drawingml/2006/main">
            <a:off x="4581144"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Падежный словарь валют и праздников в коде, проверка приветствий носителем языка, рубрикатор комплаенса по группам текстов.</a:t>
            </a:r>
            <a:endParaRPr sz="1250"/>
          </a:p>
        </p:txBody>
      </p:sp>
      <p:sp>
        <p:nvSpPr>
          <p:cNvPr id="20" name="Shape 18">
            <a:extLst xmlns:a="http://schemas.openxmlformats.org/drawingml/2006/main">
              <a:ext uri="{FF2B5EF4-FFF2-40B4-BE49-F238E27FC236}">
                <a16:creationId xmlns:a16="http://schemas.microsoft.com/office/drawing/2014/main" id="{7C9B9A18-BA21-45A6-BC85-205905301F0D}"/>
              </a:ext>
            </a:extLst>
          </p:cNvPr>
          <p:cNvSpPr>
            <a:spLocks xmlns:a="http://schemas.openxmlformats.org/drawingml/2006/main" noGrp="1"/>
          </p:cNvSpPr>
          <p:nvPr/>
        </p:nvSpPr>
        <p:spPr>
          <a:xfrm xmlns:a="http://schemas.openxmlformats.org/drawingml/2006/main">
            <a:off x="8001000" y="3547872"/>
            <a:ext cx="3520440" cy="2231136"/>
          </a:xfrm>
          <a:prstGeom xmlns:a="http://schemas.openxmlformats.org/drawingml/2006/main" prst="roundRect">
            <a:avLst>
              <a:gd name="adj" fmla="val 2459"/>
            </a:avLst>
          </a:prstGeom>
          <a:solidFill xmlns:a="http://schemas.openxmlformats.org/drawingml/2006/main">
            <a:srgbClr val="F4F6F8"/>
          </a:solidFill>
        </p:spPr>
      </p:sp>
      <p:sp>
        <p:nvSpPr>
          <p:cNvPr id="21" name="Text 19">
            <a:extLst xmlns:a="http://schemas.openxmlformats.org/drawingml/2006/main">
              <a:ext uri="{FF2B5EF4-FFF2-40B4-BE49-F238E27FC236}">
                <a16:creationId xmlns:a16="http://schemas.microsoft.com/office/drawing/2014/main" id="{B68AE82D-6A9D-4BDB-9921-784BB890C90E}"/>
              </a:ext>
            </a:extLst>
          </p:cNvPr>
          <p:cNvSpPr>
            <a:spLocks xmlns:a="http://schemas.openxmlformats.org/drawingml/2006/main" noGrp="1"/>
          </p:cNvSpPr>
          <p:nvPr/>
        </p:nvSpPr>
        <p:spPr>
          <a:xfrm xmlns:a="http://schemas.openxmlformats.org/drawingml/2006/main">
            <a:off x="8257032" y="3730752"/>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6 · Отбор адресата</a:t>
            </a:r>
            <a:endParaRPr sz="1550"/>
          </a:p>
        </p:txBody>
      </p:sp>
      <p:sp>
        <p:nvSpPr>
          <p:cNvPr id="22" name="Text 20">
            <a:extLst xmlns:a="http://schemas.openxmlformats.org/drawingml/2006/main">
              <a:ext uri="{FF2B5EF4-FFF2-40B4-BE49-F238E27FC236}">
                <a16:creationId xmlns:a16="http://schemas.microsoft.com/office/drawing/2014/main" id="{6030910B-6BB3-431C-87D9-17BA71E72A9D}"/>
              </a:ext>
            </a:extLst>
          </p:cNvPr>
          <p:cNvSpPr>
            <a:spLocks xmlns:a="http://schemas.openxmlformats.org/drawingml/2006/main" noGrp="1"/>
          </p:cNvSpPr>
          <p:nvPr/>
        </p:nvSpPr>
        <p:spPr>
          <a:xfrm xmlns:a="http://schemas.openxmlformats.org/drawingml/2006/main">
            <a:off x="8257032" y="4261104"/>
            <a:ext cx="300837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Сегодня спроектирован, но не написан: близость к дате выплаты, баланс, календарь коридора. Он же снижает частоту без потери охвата.</a:t>
            </a:r>
            <a:endParaRPr sz="1250"/>
          </a:p>
        </p:txBody>
      </p:sp>
      <p:sp>
        <p:nvSpPr>
          <p:cNvPr id="23" name="Text 21">
            <a:extLst xmlns:a="http://schemas.openxmlformats.org/drawingml/2006/main">
              <a:ext uri="{FF2B5EF4-FFF2-40B4-BE49-F238E27FC236}">
                <a16:creationId xmlns:a16="http://schemas.microsoft.com/office/drawing/2014/main" id="{6EF1450A-9CE6-4ECE-B8E5-7CE3C3965E6B}"/>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Пилоту нужны банковские котировки, согласия и контрольная группа. Размер и срок определяем по трафику банка.</a:t>
            </a:r>
            <a:endParaRPr sz="1050"/>
          </a:p>
        </p:txBody>
      </p:sp>
    </p:spTree>
    <p:extLst>
      <p:ext uri="{BB962C8B-B14F-4D97-AF65-F5344CB8AC3E}">
        <p14:creationId xmlns:p14="http://schemas.microsoft.com/office/powerpoint/2010/main" val="4568129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1B340F-26EF-44C0-90D1-6BD98C91B066}"/>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9C5B12"/>
          </a:solidFill>
        </p:spPr>
      </p:sp>
      <p:sp>
        <p:nvSpPr>
          <p:cNvPr id="3" name="Text 1">
            <a:extLst xmlns:a="http://schemas.openxmlformats.org/drawingml/2006/main">
              <a:ext uri="{FF2B5EF4-FFF2-40B4-BE49-F238E27FC236}">
                <a16:creationId xmlns:a16="http://schemas.microsoft.com/office/drawing/2014/main" id="{1308DB0A-EEAD-4BBE-947D-8C1A03083B3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9</a:t>
            </a:r>
            <a:endParaRPr sz="1400"/>
          </a:p>
        </p:txBody>
      </p:sp>
      <p:sp>
        <p:nvSpPr>
          <p:cNvPr id="4" name="Text 2">
            <a:extLst xmlns:a="http://schemas.openxmlformats.org/drawingml/2006/main">
              <a:ext uri="{FF2B5EF4-FFF2-40B4-BE49-F238E27FC236}">
                <a16:creationId xmlns:a16="http://schemas.microsoft.com/office/drawing/2014/main" id="{F946C3FE-0A91-4E26-88D7-8B0F92F4FFB5}"/>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A2530"/>
                </a:solidFill>
                <a:latin typeface="Cambria"/>
                <a:ea typeface="Cambria"/>
                <a:cs typeface="Cambria"/>
              </a:rPr>
              <a:t>Температура внутри, понятные факты на экране</a:t>
            </a:r>
            <a:endParaRPr sz="2700"/>
          </a:p>
        </p:txBody>
      </p:sp>
      <p:sp>
        <p:nvSpPr>
          <p:cNvPr id="5" name="">
            <a:extLst xmlns:a="http://schemas.openxmlformats.org/drawingml/2006/main">
              <a:ext uri="{FF2B5EF4-FFF2-40B4-BE49-F238E27FC236}">
                <a16:creationId xmlns:a16="http://schemas.microsoft.com/office/drawing/2014/main" id="{8CAD513A-E7D9-402D-9F3E-9B36BB360929}"/>
              </a:ext>
            </a:extLst>
          </p:cNvPr>
          <p:cNvSpPr>
            <a:spLocks xmlns:a="http://schemas.openxmlformats.org/drawingml/2006/main" noGrp="1"/>
          </p:cNvSpPr>
          <p:nvPr/>
        </p:nvSpPr>
        <p:spPr>
          <a:xfrm xmlns:a="http://schemas.openxmlformats.org/drawingml/2006/main">
            <a:off x="640080" y="1325880"/>
            <a:ext cx="5367528" cy="3072384"/>
          </a:xfrm>
          <a:prstGeom xmlns:a="http://schemas.openxmlformats.org/drawingml/2006/main" prst="roundRect">
            <a:avLst>
              <a:gd name="adj" fmla="val 1786"/>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873B15-5775-4FC3-A02F-7155F771CEF5}"/>
              </a:ext>
            </a:extLst>
          </p:cNvPr>
          <p:cNvSpPr>
            <a:spLocks xmlns:a="http://schemas.openxmlformats.org/drawingml/2006/main" noGrp="1"/>
          </p:cNvSpPr>
          <p:nvPr/>
        </p:nvSpPr>
        <p:spPr>
          <a:xfrm xmlns:a="http://schemas.openxmlformats.org/drawingml/2006/main">
            <a:off x="896112"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Что рассчитывает система</a:t>
            </a:r>
          </a:p>
        </p:txBody>
      </p:sp>
      <p:sp>
        <p:nvSpPr>
          <p:cNvPr id="7" name="">
            <a:extLst xmlns:a="http://schemas.openxmlformats.org/drawingml/2006/main">
              <a:ext uri="{FF2B5EF4-FFF2-40B4-BE49-F238E27FC236}">
                <a16:creationId xmlns:a16="http://schemas.microsoft.com/office/drawing/2014/main" id="{38E8B448-7766-4568-8923-DA809BAB5F1E}"/>
              </a:ext>
            </a:extLst>
          </p:cNvPr>
          <p:cNvSpPr>
            <a:spLocks xmlns:a="http://schemas.openxmlformats.org/drawingml/2006/main" noGrp="1"/>
          </p:cNvSpPr>
          <p:nvPr/>
        </p:nvSpPr>
        <p:spPr>
          <a:xfrm xmlns:a="http://schemas.openxmlformats.org/drawingml/2006/main">
            <a:off x="896112" y="2084832"/>
            <a:ext cx="4855464" cy="21579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Температура от 0 до 100: оценка вероятности, что на выбранном горизонте более дешёвого дня не будет.</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Отдельно оцениваем размер изменения и свежесть источника. Для пуша используем собственный строгий фильтр.</a:t>
            </a:r>
          </a:p>
        </p:txBody>
      </p:sp>
      <p:sp>
        <p:nvSpPr>
          <p:cNvPr id="8" name="">
            <a:extLst xmlns:a="http://schemas.openxmlformats.org/drawingml/2006/main">
              <a:ext uri="{FF2B5EF4-FFF2-40B4-BE49-F238E27FC236}">
                <a16:creationId xmlns:a16="http://schemas.microsoft.com/office/drawing/2014/main" id="{35D7BEC5-00E5-49BB-9270-C12F2A39DA5E}"/>
              </a:ext>
            </a:extLst>
          </p:cNvPr>
          <p:cNvSpPr>
            <a:spLocks xmlns:a="http://schemas.openxmlformats.org/drawingml/2006/main" noGrp="1"/>
          </p:cNvSpPr>
          <p:nvPr/>
        </p:nvSpPr>
        <p:spPr>
          <a:xfrm xmlns:a="http://schemas.openxmlformats.org/drawingml/2006/main">
            <a:off x="6153912" y="1325880"/>
            <a:ext cx="5367528" cy="3072384"/>
          </a:xfrm>
          <a:prstGeom xmlns:a="http://schemas.openxmlformats.org/drawingml/2006/main" prst="roundRect">
            <a:avLst>
              <a:gd name="adj" fmla="val 1786"/>
            </a:avLst>
          </a:prstGeom>
          <a:solidFill xmlns:a="http://schemas.openxmlformats.org/drawingml/2006/main">
            <a:srgbClr val="F4F6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32CFB8-C7EF-4C57-A691-6EB4E2922493}"/>
              </a:ext>
            </a:extLst>
          </p:cNvPr>
          <p:cNvSpPr>
            <a:spLocks xmlns:a="http://schemas.openxmlformats.org/drawingml/2006/main" noGrp="1"/>
          </p:cNvSpPr>
          <p:nvPr/>
        </p:nvSpPr>
        <p:spPr>
          <a:xfrm xmlns:a="http://schemas.openxmlformats.org/drawingml/2006/main">
            <a:off x="6409944"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Что видит клиент</a:t>
            </a:r>
          </a:p>
        </p:txBody>
      </p:sp>
      <p:sp>
        <p:nvSpPr>
          <p:cNvPr id="10" name="">
            <a:extLst xmlns:a="http://schemas.openxmlformats.org/drawingml/2006/main">
              <a:ext uri="{FF2B5EF4-FFF2-40B4-BE49-F238E27FC236}">
                <a16:creationId xmlns:a16="http://schemas.microsoft.com/office/drawing/2014/main" id="{3045913D-B726-4EA0-B8F7-08C382BCA05A}"/>
              </a:ext>
            </a:extLst>
          </p:cNvPr>
          <p:cNvSpPr>
            <a:spLocks xmlns:a="http://schemas.openxmlformats.org/drawingml/2006/main" noGrp="1"/>
          </p:cNvSpPr>
          <p:nvPr/>
        </p:nvSpPr>
        <p:spPr>
          <a:xfrm xmlns:a="http://schemas.openxmlformats.org/drawingml/2006/main">
            <a:off x="6409944" y="2084832"/>
            <a:ext cx="4855464" cy="21579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Сколько получит близкий человек. Как текущий курс выглядит на фоне истории. Достигнут ли его собственный уровень.</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Шкала в макете сравнивает с прошлыми днями. Температуру, вероятность и обещание будущего не выводим.</a:t>
            </a:r>
          </a:p>
        </p:txBody>
      </p:sp>
      <p:sp>
        <p:nvSpPr>
          <p:cNvPr id="11" name="">
            <a:extLst xmlns:a="http://schemas.openxmlformats.org/drawingml/2006/main">
              <a:ext uri="{FF2B5EF4-FFF2-40B4-BE49-F238E27FC236}">
                <a16:creationId xmlns:a16="http://schemas.microsoft.com/office/drawing/2014/main" id="{2855B286-1982-418C-8E48-DD72061B71E9}"/>
              </a:ext>
            </a:extLst>
          </p:cNvPr>
          <p:cNvSpPr>
            <a:spLocks xmlns:a="http://schemas.openxmlformats.org/drawingml/2006/main" noGrp="1"/>
          </p:cNvSpPr>
          <p:nvPr/>
        </p:nvSpPr>
        <p:spPr>
          <a:xfrm xmlns:a="http://schemas.openxmlformats.org/drawingml/2006/main">
            <a:off x="640080" y="4681728"/>
            <a:ext cx="10881360" cy="1371600"/>
          </a:xfrm>
          <a:prstGeom xmlns:a="http://schemas.openxmlformats.org/drawingml/2006/main" prst="roundRect">
            <a:avLst>
              <a:gd name="adj" fmla="val 4000"/>
            </a:avLst>
          </a:prstGeom>
          <a:solidFill xmlns:a="http://schemas.openxmlformats.org/drawingml/2006/main">
            <a:srgbClr val="1A253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AEC660-1C7A-4A8C-A62B-E92768A55907}"/>
              </a:ext>
            </a:extLst>
          </p:cNvPr>
          <p:cNvSpPr>
            <a:spLocks xmlns:a="http://schemas.openxmlformats.org/drawingml/2006/main" noGrp="1"/>
          </p:cNvSpPr>
          <p:nvPr/>
        </p:nvSpPr>
        <p:spPr>
          <a:xfrm xmlns:a="http://schemas.openxmlformats.org/drawingml/2006/main">
            <a:off x="914400" y="4837176"/>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Результат для кейса</a:t>
            </a:r>
          </a:p>
        </p:txBody>
      </p:sp>
      <p:sp>
        <p:nvSpPr>
          <p:cNvPr id="13" name="">
            <a:extLst xmlns:a="http://schemas.openxmlformats.org/drawingml/2006/main">
              <a:ext uri="{FF2B5EF4-FFF2-40B4-BE49-F238E27FC236}">
                <a16:creationId xmlns:a16="http://schemas.microsoft.com/office/drawing/2014/main" id="{381A143B-F041-43E0-971E-1CDA60EDFFAC}"/>
              </a:ext>
            </a:extLst>
          </p:cNvPr>
          <p:cNvSpPr>
            <a:spLocks xmlns:a="http://schemas.openxmlformats.org/drawingml/2006/main" noGrp="1"/>
          </p:cNvSpPr>
          <p:nvPr/>
        </p:nvSpPr>
        <p:spPr>
          <a:xfrm xmlns:a="http://schemas.openxmlformats.org/drawingml/2006/main">
            <a:off x="914400" y="5257800"/>
            <a:ext cx="10332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Сигнальный слой, редкий поток событий и готовый сценарий открытия пуша. Доказательство на публичных курсах есть, проверка денежного эффекта остаётся за пилотом.</a:t>
            </a:r>
          </a:p>
        </p:txBody>
      </p:sp>
      <p:sp>
        <p:nvSpPr>
          <p:cNvPr id="14" name="">
            <a:extLst xmlns:a="http://schemas.openxmlformats.org/drawingml/2006/main">
              <a:ext uri="{FF2B5EF4-FFF2-40B4-BE49-F238E27FC236}">
                <a16:creationId xmlns:a16="http://schemas.microsoft.com/office/drawing/2014/main" id="{F27A2507-58FE-490F-AF8F-9355E044E921}"/>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AP37: lift 2,492, выгода ±5 +74,55 б. п., частота 1,04 на валюту в неделю. Открытая ретроспектива.</a:t>
            </a:r>
          </a:p>
        </p:txBody>
      </p:sp>
    </p:spTree>
    <p:extLst>
      <p:ext uri="{BB962C8B-B14F-4D97-AF65-F5344CB8AC3E}">
        <p14:creationId xmlns:p14="http://schemas.microsoft.com/office/powerpoint/2010/main" val="227960552"/>
      </p:ext>
    </p:extLst>
  </p:cSld>
</p:sld>
</file>

<file path=ppt/slides/slide17.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94ADF5-F2EE-4869-B144-FA47F0BCA01E}"/>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КОМАНДА 11</a:t>
            </a:r>
            <a:endParaRPr sz="1300"/>
          </a:p>
        </p:txBody>
      </p:sp>
      <p:sp>
        <p:nvSpPr>
          <p:cNvPr id="3" name="Text 1">
            <a:extLst xmlns:a="http://schemas.openxmlformats.org/drawingml/2006/main">
              <a:ext uri="{FF2B5EF4-FFF2-40B4-BE49-F238E27FC236}">
                <a16:creationId xmlns:a16="http://schemas.microsoft.com/office/drawing/2014/main" id="{DDA28FF5-ECAF-4360-AA16-D7A8FF7A6C34}"/>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Ваши вопросы</a:t>
            </a:r>
            <a:endParaRPr sz="4000"/>
          </a:p>
        </p:txBody>
      </p:sp>
      <p:sp>
        <p:nvSpPr>
          <p:cNvPr id="4" name="Text 2">
            <a:extLst xmlns:a="http://schemas.openxmlformats.org/drawingml/2006/main">
              <a:ext uri="{FF2B5EF4-FFF2-40B4-BE49-F238E27FC236}">
                <a16:creationId xmlns:a16="http://schemas.microsoft.com/office/drawing/2014/main" id="{2B6726CF-94F4-407B-9EF2-59D59D0DAB37}"/>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Дальше: проверка доступности данных, определения метрик, результаты по горизонтам и валютам, состав моделей и интерфейс.</a:t>
            </a:r>
            <a:endParaRPr sz="1500"/>
          </a:p>
        </p:txBody>
      </p:sp>
    </p:spTree>
    <p:extLst>
      <p:ext uri="{BB962C8B-B14F-4D97-AF65-F5344CB8AC3E}">
        <p14:creationId xmlns:p14="http://schemas.microsoft.com/office/powerpoint/2010/main" val="1312785905"/>
      </p:ext>
    </p:extLst>
  </p:cSld>
</p:sld>
</file>

<file path=ppt/slides/slide18.xml><?xml version="1.0" encoding="utf-8"?>
<p:sld xmlns:p="http://schemas.openxmlformats.org/presentationml/2006/main">
  <p:cSld>
    <p:bg>
      <p:bgPr>
        <a:solidFill xmlns:a="http://schemas.openxmlformats.org/drawingml/2006/main">
          <a:srgbClr val="1A25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6F74AD-D38A-42C8-93D3-EA1B4424A6E0}"/>
              </a:ext>
            </a:extLst>
          </p:cNvPr>
          <p:cNvSpPr>
            <a:spLocks xmlns:a="http://schemas.openxmlformats.org/drawingml/2006/main" noGrp="1"/>
          </p:cNvSpPr>
          <p:nvPr/>
        </p:nvSpPr>
        <p:spPr>
          <a:xfrm xmlns:a="http://schemas.openxmlformats.org/drawingml/2006/main">
            <a:off x="640080" y="1874520"/>
            <a:ext cx="10881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9C5B12"/>
                </a:solidFill>
                <a:latin typeface="Calibri"/>
                <a:ea typeface="Calibri"/>
                <a:cs typeface="Calibri"/>
              </a:rPr>
              <a:t>ДОПОЛНИТЕЛЬНЫЕ МАТЕРИАЛЫ</a:t>
            </a:r>
            <a:endParaRPr sz="1300"/>
          </a:p>
        </p:txBody>
      </p:sp>
      <p:sp>
        <p:nvSpPr>
          <p:cNvPr id="3" name="Text 1">
            <a:extLst xmlns:a="http://schemas.openxmlformats.org/drawingml/2006/main">
              <a:ext uri="{FF2B5EF4-FFF2-40B4-BE49-F238E27FC236}">
                <a16:creationId xmlns:a16="http://schemas.microsoft.com/office/drawing/2014/main" id="{9BAE720C-5D23-45C4-BF5E-2BFA5365C816}"/>
              </a:ext>
            </a:extLst>
          </p:cNvPr>
          <p:cNvSpPr>
            <a:spLocks xmlns:a="http://schemas.openxmlformats.org/drawingml/2006/main" noGrp="1"/>
          </p:cNvSpPr>
          <p:nvPr/>
        </p:nvSpPr>
        <p:spPr>
          <a:xfrm xmlns:a="http://schemas.openxmlformats.org/drawingml/2006/main">
            <a:off x="640080" y="224028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000" b="1">
                <a:solidFill>
                  <a:srgbClr val="FFFFFF"/>
                </a:solidFill>
                <a:latin typeface="Cambria"/>
                <a:ea typeface="Cambria"/>
                <a:cs typeface="Cambria"/>
              </a:rPr>
              <a:t>Материал для ответов</a:t>
            </a:r>
            <a:endParaRPr sz="4000"/>
          </a:p>
        </p:txBody>
      </p:sp>
      <p:sp>
        <p:nvSpPr>
          <p:cNvPr id="4" name="Text 2">
            <a:extLst xmlns:a="http://schemas.openxmlformats.org/drawingml/2006/main">
              <a:ext uri="{FF2B5EF4-FFF2-40B4-BE49-F238E27FC236}">
                <a16:creationId xmlns:a16="http://schemas.microsoft.com/office/drawing/2014/main" id="{D6B51A60-E1F4-44E7-A480-25746FEF319E}"/>
              </a:ext>
            </a:extLst>
          </p:cNvPr>
          <p:cNvSpPr>
            <a:spLocks xmlns:a="http://schemas.openxmlformats.org/drawingml/2006/main" noGrp="1"/>
          </p:cNvSpPr>
          <p:nvPr/>
        </p:nvSpPr>
        <p:spPr>
          <a:xfrm xmlns:a="http://schemas.openxmlformats.org/drawingml/2006/main">
            <a:off x="640080" y="4069080"/>
            <a:ext cx="10058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500">
                <a:solidFill>
                  <a:srgbClr val="C7CFD8"/>
                </a:solidFill>
                <a:latin typeface="Calibri"/>
                <a:ea typeface="Calibri"/>
                <a:cs typeface="Calibri"/>
              </a:rPr>
              <a:t>Доступность данных, определения метрик, результаты по горизонтам, сравнение подходов команды, устройство модели и интерфейс.</a:t>
            </a:r>
            <a:endParaRPr sz="1500"/>
          </a:p>
        </p:txBody>
      </p:sp>
    </p:spTree>
    <p:extLst>
      <p:ext uri="{BB962C8B-B14F-4D97-AF65-F5344CB8AC3E}">
        <p14:creationId xmlns:p14="http://schemas.microsoft.com/office/powerpoint/2010/main" val="16885377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CEFD1C5-C2D4-42A9-B4CC-5DD78089236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6F3B8FB0-2D86-4F8E-9495-CED6F4C29457}"/>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П1</a:t>
            </a:r>
            <a:endParaRPr sz="1100"/>
          </a:p>
        </p:txBody>
      </p:sp>
      <p:sp>
        <p:nvSpPr>
          <p:cNvPr id="4" name="Text 2">
            <a:extLst xmlns:a="http://schemas.openxmlformats.org/drawingml/2006/main">
              <a:ext uri="{FF2B5EF4-FFF2-40B4-BE49-F238E27FC236}">
                <a16:creationId xmlns:a16="http://schemas.microsoft.com/office/drawing/2014/main" id="{FF207291-02AD-44CE-B7A0-243D39AE2AD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 мы контролируем доступность данных</a:t>
            </a:r>
            <a:endParaRPr sz="2500"/>
          </a:p>
        </p:txBody>
      </p:sp>
      <p:sp>
        <p:nvSpPr>
          <p:cNvPr id="5" name="Text 3">
            <a:extLst xmlns:a="http://schemas.openxmlformats.org/drawingml/2006/main">
              <a:ext uri="{FF2B5EF4-FFF2-40B4-BE49-F238E27FC236}">
                <a16:creationId xmlns:a16="http://schemas.microsoft.com/office/drawing/2014/main" id="{BB4BA7AC-DAD3-4E02-9393-D08B3DA4D359}"/>
              </a:ext>
            </a:extLst>
          </p:cNvPr>
          <p:cNvSpPr>
            <a:spLocks xmlns:a="http://schemas.openxmlformats.org/drawingml/2006/main" noGrp="1"/>
          </p:cNvSpPr>
          <p:nvPr/>
        </p:nvSpPr>
        <p:spPr>
          <a:xfrm xmlns:a="http://schemas.openxmlformats.org/drawingml/2006/main">
            <a:off x="640080" y="109728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300">
                <a:solidFill>
                  <a:srgbClr val="4E5966"/>
                </a:solidFill>
                <a:latin typeface="Calibri"/>
                <a:ea typeface="Calibri"/>
                <a:cs typeface="Calibri"/>
              </a:rPr>
              <a:t>Каждый прогноз должен использовать только то, что уже доступно на момент запроса. Проверяем границы источников и созревание ответов.</a:t>
            </a:r>
            <a:endParaRPr sz="1300"/>
          </a:p>
        </p:txBody>
      </p:sp>
      <p:sp>
        <p:nvSpPr>
          <p:cNvPr id="6" name="Shape 4">
            <a:extLst xmlns:a="http://schemas.openxmlformats.org/drawingml/2006/main">
              <a:ext uri="{FF2B5EF4-FFF2-40B4-BE49-F238E27FC236}">
                <a16:creationId xmlns:a16="http://schemas.microsoft.com/office/drawing/2014/main" id="{38793515-7426-4878-A91C-59481E63D206}"/>
              </a:ext>
            </a:extLst>
          </p:cNvPr>
          <p:cNvSpPr>
            <a:spLocks xmlns:a="http://schemas.openxmlformats.org/drawingml/2006/main" noGrp="1"/>
          </p:cNvSpPr>
          <p:nvPr/>
        </p:nvSpPr>
        <p:spPr>
          <a:xfrm xmlns:a="http://schemas.openxmlformats.org/drawingml/2006/main">
            <a:off x="64008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7" name="Text 5">
            <a:extLst xmlns:a="http://schemas.openxmlformats.org/drawingml/2006/main">
              <a:ext uri="{FF2B5EF4-FFF2-40B4-BE49-F238E27FC236}">
                <a16:creationId xmlns:a16="http://schemas.microsoft.com/office/drawing/2014/main" id="{3ED310EE-0689-4C24-8172-D525DA0C8AE7}"/>
              </a:ext>
            </a:extLst>
          </p:cNvPr>
          <p:cNvSpPr>
            <a:spLocks xmlns:a="http://schemas.openxmlformats.org/drawingml/2006/main" noGrp="1"/>
          </p:cNvSpPr>
          <p:nvPr/>
        </p:nvSpPr>
        <p:spPr>
          <a:xfrm xmlns:a="http://schemas.openxmlformats.org/drawingml/2006/main">
            <a:off x="89611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Срез на произвольный момент</a:t>
            </a:r>
            <a:endParaRPr sz="1550"/>
          </a:p>
        </p:txBody>
      </p:sp>
      <p:sp>
        <p:nvSpPr>
          <p:cNvPr id="8" name="Text 6">
            <a:extLst xmlns:a="http://schemas.openxmlformats.org/drawingml/2006/main">
              <a:ext uri="{FF2B5EF4-FFF2-40B4-BE49-F238E27FC236}">
                <a16:creationId xmlns:a16="http://schemas.microsoft.com/office/drawing/2014/main" id="{76337C20-8B4D-4BCA-8A94-B80068CC1BA4}"/>
              </a:ext>
            </a:extLst>
          </p:cNvPr>
          <p:cNvSpPr>
            <a:spLocks xmlns:a="http://schemas.openxmlformats.org/drawingml/2006/main" noGrp="1"/>
          </p:cNvSpPr>
          <p:nvPr/>
        </p:nvSpPr>
        <p:spPr>
          <a:xfrm xmlns:a="http://schemas.openxmlformats.org/drawingml/2006/main">
            <a:off x="89611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Завершение свечи и получение курса должны быть не позже запроса. Новый курс ЦБ не включается автоматически в 18:00.</a:t>
            </a:r>
            <a:endParaRPr sz="1250"/>
          </a:p>
        </p:txBody>
      </p:sp>
      <p:sp>
        <p:nvSpPr>
          <p:cNvPr id="9" name="Shape 7">
            <a:extLst xmlns:a="http://schemas.openxmlformats.org/drawingml/2006/main">
              <a:ext uri="{FF2B5EF4-FFF2-40B4-BE49-F238E27FC236}">
                <a16:creationId xmlns:a16="http://schemas.microsoft.com/office/drawing/2014/main" id="{B1854D64-2112-4CBA-84BE-E2C2979EABF1}"/>
              </a:ext>
            </a:extLst>
          </p:cNvPr>
          <p:cNvSpPr>
            <a:spLocks xmlns:a="http://schemas.openxmlformats.org/drawingml/2006/main" noGrp="1"/>
          </p:cNvSpPr>
          <p:nvPr/>
        </p:nvSpPr>
        <p:spPr>
          <a:xfrm xmlns:a="http://schemas.openxmlformats.org/drawingml/2006/main">
            <a:off x="4325112"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0" name="Text 8">
            <a:extLst xmlns:a="http://schemas.openxmlformats.org/drawingml/2006/main">
              <a:ext uri="{FF2B5EF4-FFF2-40B4-BE49-F238E27FC236}">
                <a16:creationId xmlns:a16="http://schemas.microsoft.com/office/drawing/2014/main" id="{89C46DDB-872C-4A89-9006-AF4905631F12}"/>
              </a:ext>
            </a:extLst>
          </p:cNvPr>
          <p:cNvSpPr>
            <a:spLocks xmlns:a="http://schemas.openxmlformats.org/drawingml/2006/main" noGrp="1"/>
          </p:cNvSpPr>
          <p:nvPr/>
        </p:nvSpPr>
        <p:spPr>
          <a:xfrm xmlns:a="http://schemas.openxmlformats.org/drawingml/2006/main">
            <a:off x="4581144"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Обучение только на прошлом</a:t>
            </a:r>
            <a:endParaRPr sz="1550"/>
          </a:p>
        </p:txBody>
      </p:sp>
      <p:sp>
        <p:nvSpPr>
          <p:cNvPr id="11" name="Text 9">
            <a:extLst xmlns:a="http://schemas.openxmlformats.org/drawingml/2006/main">
              <a:ext uri="{FF2B5EF4-FFF2-40B4-BE49-F238E27FC236}">
                <a16:creationId xmlns:a16="http://schemas.microsoft.com/office/drawing/2014/main" id="{BF6477CB-F80F-4BB7-B5AD-D26C934FFC69}"/>
              </a:ext>
            </a:extLst>
          </p:cNvPr>
          <p:cNvSpPr>
            <a:spLocks xmlns:a="http://schemas.openxmlformats.org/drawingml/2006/main" noGrp="1"/>
          </p:cNvSpPr>
          <p:nvPr/>
        </p:nvSpPr>
        <p:spPr>
          <a:xfrm xmlns:a="http://schemas.openxmlformats.org/drawingml/2006/main">
            <a:off x="4581144"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Квартальное обучение. Только ответы, для которых весь горизонт уже завершён. Дополнительный зазор в два дня.</a:t>
            </a:r>
            <a:endParaRPr sz="1250"/>
          </a:p>
        </p:txBody>
      </p:sp>
      <p:sp>
        <p:nvSpPr>
          <p:cNvPr id="12" name="Shape 10">
            <a:extLst xmlns:a="http://schemas.openxmlformats.org/drawingml/2006/main">
              <a:ext uri="{FF2B5EF4-FFF2-40B4-BE49-F238E27FC236}">
                <a16:creationId xmlns:a16="http://schemas.microsoft.com/office/drawing/2014/main" id="{4E9E52B9-D87A-4713-9ECF-B814328F5ED2}"/>
              </a:ext>
            </a:extLst>
          </p:cNvPr>
          <p:cNvSpPr>
            <a:spLocks xmlns:a="http://schemas.openxmlformats.org/drawingml/2006/main" noGrp="1"/>
          </p:cNvSpPr>
          <p:nvPr/>
        </p:nvSpPr>
        <p:spPr>
          <a:xfrm xmlns:a="http://schemas.openxmlformats.org/drawingml/2006/main">
            <a:off x="8001000" y="1591056"/>
            <a:ext cx="3520440" cy="2121408"/>
          </a:xfrm>
          <a:prstGeom xmlns:a="http://schemas.openxmlformats.org/drawingml/2006/main" prst="roundRect">
            <a:avLst>
              <a:gd name="adj" fmla="val 2586"/>
            </a:avLst>
          </a:prstGeom>
          <a:solidFill xmlns:a="http://schemas.openxmlformats.org/drawingml/2006/main">
            <a:srgbClr val="F4F6F8"/>
          </a:solidFill>
        </p:spPr>
      </p:sp>
      <p:sp>
        <p:nvSpPr>
          <p:cNvPr id="13" name="Text 11">
            <a:extLst xmlns:a="http://schemas.openxmlformats.org/drawingml/2006/main">
              <a:ext uri="{FF2B5EF4-FFF2-40B4-BE49-F238E27FC236}">
                <a16:creationId xmlns:a16="http://schemas.microsoft.com/office/drawing/2014/main" id="{12324C58-DD0E-4C22-8298-D67F2B23D768}"/>
              </a:ext>
            </a:extLst>
          </p:cNvPr>
          <p:cNvSpPr>
            <a:spLocks xmlns:a="http://schemas.openxmlformats.org/drawingml/2006/main" noGrp="1"/>
          </p:cNvSpPr>
          <p:nvPr/>
        </p:nvSpPr>
        <p:spPr>
          <a:xfrm xmlns:a="http://schemas.openxmlformats.org/drawingml/2006/main">
            <a:off x="8257032" y="1773936"/>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Проверки неизменности</a:t>
            </a:r>
            <a:endParaRPr sz="1550"/>
          </a:p>
        </p:txBody>
      </p:sp>
      <p:sp>
        <p:nvSpPr>
          <p:cNvPr id="14" name="Text 12">
            <a:extLst xmlns:a="http://schemas.openxmlformats.org/drawingml/2006/main">
              <a:ext uri="{FF2B5EF4-FFF2-40B4-BE49-F238E27FC236}">
                <a16:creationId xmlns:a16="http://schemas.microsoft.com/office/drawing/2014/main" id="{28DF4DD9-394C-411F-9A38-46C6D417F3F2}"/>
              </a:ext>
            </a:extLst>
          </p:cNvPr>
          <p:cNvSpPr>
            <a:spLocks xmlns:a="http://schemas.openxmlformats.org/drawingml/2006/main" noGrp="1"/>
          </p:cNvSpPr>
          <p:nvPr/>
        </p:nvSpPr>
        <p:spPr>
          <a:xfrm xmlns:a="http://schemas.openxmlformats.org/drawingml/2006/main">
            <a:off x="8257032" y="2304288"/>
            <a:ext cx="3008376" cy="12252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Меняем будущие данные и убеждаемся, что прогноз для более раннего среза не изменился. Отдельно проверяем защиту нового курса ЦБ.</a:t>
            </a:r>
            <a:endParaRPr sz="1250"/>
          </a:p>
        </p:txBody>
      </p:sp>
      <p:sp>
        <p:nvSpPr>
          <p:cNvPr id="15" name="Shape 13">
            <a:extLst xmlns:a="http://schemas.openxmlformats.org/drawingml/2006/main">
              <a:ext uri="{FF2B5EF4-FFF2-40B4-BE49-F238E27FC236}">
                <a16:creationId xmlns:a16="http://schemas.microsoft.com/office/drawing/2014/main" id="{6406FEFF-186F-430C-A6DE-A00DBCCF8F2D}"/>
              </a:ext>
            </a:extLst>
          </p:cNvPr>
          <p:cNvSpPr>
            <a:spLocks xmlns:a="http://schemas.openxmlformats.org/drawingml/2006/main" noGrp="1"/>
          </p:cNvSpPr>
          <p:nvPr/>
        </p:nvSpPr>
        <p:spPr>
          <a:xfrm xmlns:a="http://schemas.openxmlformats.org/drawingml/2006/main">
            <a:off x="640080" y="3895344"/>
            <a:ext cx="10881360" cy="2322576"/>
          </a:xfrm>
          <a:prstGeom xmlns:a="http://schemas.openxmlformats.org/drawingml/2006/main" prst="roundRect">
            <a:avLst>
              <a:gd name="adj" fmla="val 2362"/>
            </a:avLst>
          </a:prstGeom>
          <a:solidFill xmlns:a="http://schemas.openxmlformats.org/drawingml/2006/main">
            <a:srgbClr val="1A2530"/>
          </a:solidFill>
        </p:spPr>
      </p:sp>
      <p:sp>
        <p:nvSpPr>
          <p:cNvPr id="16" name="Text 14">
            <a:extLst xmlns:a="http://schemas.openxmlformats.org/drawingml/2006/main">
              <a:ext uri="{FF2B5EF4-FFF2-40B4-BE49-F238E27FC236}">
                <a16:creationId xmlns:a16="http://schemas.microsoft.com/office/drawing/2014/main" id="{FD9E4001-C93E-4825-BF6B-CBC11DC160CD}"/>
              </a:ext>
            </a:extLst>
          </p:cNvPr>
          <p:cNvSpPr>
            <a:spLocks xmlns:a="http://schemas.openxmlformats.org/drawingml/2006/main" noGrp="1"/>
          </p:cNvSpPr>
          <p:nvPr/>
        </p:nvSpPr>
        <p:spPr>
          <a:xfrm xmlns:a="http://schemas.openxmlformats.org/drawingml/2006/main">
            <a:off x="914400" y="4050792"/>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Что ещё нельзя считать доказанным</a:t>
            </a:r>
            <a:endParaRPr sz="1550"/>
          </a:p>
        </p:txBody>
      </p:sp>
      <p:sp>
        <p:nvSpPr>
          <p:cNvPr id="17" name="Text 15">
            <a:extLst xmlns:a="http://schemas.openxmlformats.org/drawingml/2006/main">
              <a:ext uri="{FF2B5EF4-FFF2-40B4-BE49-F238E27FC236}">
                <a16:creationId xmlns:a16="http://schemas.microsoft.com/office/drawing/2014/main" id="{7CACDB67-4911-47AD-88F9-AE9B89E99A1D}"/>
              </a:ext>
            </a:extLst>
          </p:cNvPr>
          <p:cNvSpPr>
            <a:spLocks xmlns:a="http://schemas.openxmlformats.org/drawingml/2006/main" noGrp="1"/>
          </p:cNvSpPr>
          <p:nvPr/>
        </p:nvSpPr>
        <p:spPr>
          <a:xfrm xmlns:a="http://schemas.openxmlformats.org/drawingml/2006/main">
            <a:off x="914400" y="4425696"/>
            <a:ext cx="10332720"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Оценки 2024–2026 относятся к открытой ретроспективе: период уже использовался в исследованиях. Новый независимый тест ещё нужен.</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Историческое время получения курса в бэктесте моделируется по календарю. Для пилота нужен журнал реальных получений, котировки банка и проверка полной цепочки отправки.</a:t>
            </a:r>
            <a:endParaRPr sz="1250"/>
          </a:p>
        </p:txBody>
      </p:sp>
      <p:sp>
        <p:nvSpPr>
          <p:cNvPr id="18" name="Text 16">
            <a:extLst xmlns:a="http://schemas.openxmlformats.org/drawingml/2006/main">
              <a:ext uri="{FF2B5EF4-FFF2-40B4-BE49-F238E27FC236}">
                <a16:creationId xmlns:a16="http://schemas.microsoft.com/office/drawing/2014/main" id="{6F9485FC-46B7-474D-8B25-173CEB2E1F26}"/>
              </a:ext>
            </a:extLst>
          </p:cNvPr>
          <p:cNvSpPr>
            <a:spLocks xmlns:a="http://schemas.openxmlformats.org/drawingml/2006/main" noGrp="1"/>
          </p:cNvSpPr>
          <p:nvPr/>
        </p:nvSpPr>
        <p:spPr>
          <a:xfrm xmlns:a="http://schemas.openxmlformats.org/drawingml/2006/main">
            <a:off x="640080" y="6309360"/>
            <a:ext cx="10881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6E7A88"/>
                </a:solidFill>
                <a:latin typeface="Calibri"/>
                <a:ea typeface="Calibri"/>
                <a:cs typeface="Calibri"/>
              </a:rPr>
              <a:t>Финальный кандидат: model/final_temperature_model_v1.json. Тесты причинности не заменяют новый независимый период.</a:t>
            </a:r>
            <a:endParaRPr sz="1050"/>
          </a:p>
        </p:txBody>
      </p:sp>
    </p:spTree>
    <p:extLst>
      <p:ext uri="{BB962C8B-B14F-4D97-AF65-F5344CB8AC3E}">
        <p14:creationId xmlns:p14="http://schemas.microsoft.com/office/powerpoint/2010/main" val="32983947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F691E1-143E-4CFF-838F-5E26D98B074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742B5F06-E6FC-4F6E-A45B-79D04ADB900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П2</a:t>
            </a:r>
            <a:endParaRPr sz="1100"/>
          </a:p>
        </p:txBody>
      </p:sp>
      <p:sp>
        <p:nvSpPr>
          <p:cNvPr id="4" name="Text 2">
            <a:extLst xmlns:a="http://schemas.openxmlformats.org/drawingml/2006/main">
              <a:ext uri="{FF2B5EF4-FFF2-40B4-BE49-F238E27FC236}">
                <a16:creationId xmlns:a16="http://schemas.microsoft.com/office/drawing/2014/main" id="{1C302297-81D7-4C91-B6C0-F058E9B828B0}"/>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Какие метрики считаем и что они означают</a:t>
            </a:r>
            <a:endParaRPr sz="2500"/>
          </a:p>
        </p:txBody>
      </p:sp>
      <p:graphicFrame>
        <p:nvGraphicFramePr>
          <p:cNvPr id="13" name=""/>
          <p:cNvGraphicFramePr/>
          <p:nvPr/>
        </p:nvGraphicFramePr>
        <p:xfrm>
          <a:off xmlns:a="http://schemas.openxmlformats.org/drawingml/2006/main" x="640080" y="1325880"/>
          <a:ext xmlns:a="http://schemas.openxmlformats.org/drawingml/2006/main" cx="10881360" cy="2788920"/>
        </p:xfrm>
        <a:graphic xmlns:a="http://schemas.openxmlformats.org/drawingml/2006/main">
          <a:graphicData uri="http://schemas.openxmlformats.org/drawingml/2006/table">
            <a:tbl>
              <a:tblPr/>
              <a:tblGrid>
                <a:gridCol w="2423160"/>
                <a:gridCol w="5486400"/>
                <a:gridCol w="2971800"/>
              </a:tblGrid>
              <a:tr h="464820">
                <a:tc>
                  <a:txBody>
                    <a:bodyPr/>
                    <a:lstStyle/>
                    <a:p>
                      <a:r>
                        <a:rPr sz="1300" b="1">
                          <a:solidFill>
                            <a:srgbClr val="4E5966"/>
                          </a:solidFill>
                          <a:latin typeface="Calibri"/>
                          <a:ea typeface="Calibri"/>
                          <a:cs typeface="Calibri"/>
                        </a:rPr>
                        <a:t>Метрика</a:t>
                      </a:r>
                    </a:p>
                  </a:txBody>
                  <a:tcPr marL="91440" marR="91440" marT="45720" marB="45720">
                    <a:solidFill>
                      <a:srgbClr val="F4F6F8"/>
                    </a:solidFill>
                  </a:tcPr>
                </a:tc>
                <a:tc>
                  <a:txBody>
                    <a:bodyPr/>
                    <a:lstStyle/>
                    <a:p>
                      <a:r>
                        <a:rPr sz="1300" b="1">
                          <a:solidFill>
                            <a:srgbClr val="4E5966"/>
                          </a:solidFill>
                          <a:latin typeface="Calibri"/>
                          <a:ea typeface="Calibri"/>
                          <a:cs typeface="Calibri"/>
                        </a:rPr>
                        <a:t>Определение</a:t>
                      </a:r>
                    </a:p>
                  </a:txBody>
                  <a:tcPr marL="91440" marR="91440" marT="45720" marB="45720">
                    <a:solidFill>
                      <a:srgbClr val="F4F6F8"/>
                    </a:solidFill>
                  </a:tcPr>
                </a:tc>
                <a:tc>
                  <a:txBody>
                    <a:bodyPr/>
                    <a:lstStyle/>
                    <a:p>
                      <a:r>
                        <a:rPr sz="1300" b="1">
                          <a:solidFill>
                            <a:srgbClr val="4E5966"/>
                          </a:solidFill>
                          <a:latin typeface="Calibri"/>
                          <a:ea typeface="Calibri"/>
                          <a:cs typeface="Calibri"/>
                        </a:rPr>
                        <a:t>Итог при h = 5</a:t>
                      </a:r>
                    </a:p>
                  </a:txBody>
                  <a:tcPr marL="91440" marR="91440" marT="45720" marB="45720">
                    <a:solidFill>
                      <a:srgbClr val="F4F6F8"/>
                    </a:solidFill>
                  </a:tcPr>
                </a:tc>
              </a:tr>
              <a:tr h="464820">
                <a:tc>
                  <a:txBody>
                    <a:bodyPr/>
                    <a:lstStyle/>
                    <a:p>
                      <a:r>
                        <a:rPr sz="1300" b="0">
                          <a:solidFill>
                            <a:srgbClr val="4E5966"/>
                          </a:solidFill>
                          <a:latin typeface="Calibri"/>
                          <a:ea typeface="Calibri"/>
                          <a:cs typeface="Calibri"/>
                        </a:rPr>
                        <a:t>Hit rate</a:t>
                      </a:r>
                    </a:p>
                  </a:txBody>
                  <a:tcPr marL="91440" marR="91440" marT="45720" marB="45720">
                    <a:solidFill>
                      <a:srgbClr val="FFFFFF"/>
                    </a:solidFill>
                  </a:tcPr>
                </a:tc>
                <a:tc>
                  <a:txBody>
                    <a:bodyPr/>
                    <a:lstStyle/>
                    <a:p>
                      <a:r>
                        <a:rPr sz="1300" b="0">
                          <a:solidFill>
                            <a:srgbClr val="4E5966"/>
                          </a:solidFill>
                          <a:latin typeface="Calibri"/>
                          <a:ea typeface="Calibri"/>
                          <a:cs typeface="Calibri"/>
                        </a:rPr>
                        <a:t>Сегодняшний курс не выше любого из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73,3813 %</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Lift по точности</a:t>
                      </a:r>
                    </a:p>
                  </a:txBody>
                  <a:tcPr marL="91440" marR="91440" marT="45720" marB="45720">
                    <a:solidFill>
                      <a:srgbClr val="FFFFFF"/>
                    </a:solidFill>
                  </a:tcPr>
                </a:tc>
                <a:tc>
                  <a:txBody>
                    <a:bodyPr/>
                    <a:lstStyle/>
                    <a:p>
                      <a:r>
                        <a:rPr sz="1300" b="0">
                          <a:solidFill>
                            <a:srgbClr val="4E5966"/>
                          </a:solidFill>
                          <a:latin typeface="Calibri"/>
                          <a:ea typeface="Calibri"/>
                          <a:cs typeface="Calibri"/>
                        </a:rPr>
                        <a:t>Hit rate сигнала / hit rate случайного дня</a:t>
                      </a:r>
                    </a:p>
                  </a:txBody>
                  <a:tcPr marL="91440" marR="91440" marT="45720" marB="45720">
                    <a:solidFill>
                      <a:srgbClr val="FFFFFF"/>
                    </a:solidFill>
                  </a:tcPr>
                </a:tc>
                <a:tc>
                  <a:txBody>
                    <a:bodyPr/>
                    <a:lstStyle/>
                    <a:p>
                      <a:r>
                        <a:rPr sz="1300" b="0">
                          <a:solidFill>
                            <a:srgbClr val="4E5966"/>
                          </a:solidFill>
                          <a:latin typeface="Calibri"/>
                          <a:ea typeface="Calibri"/>
                          <a:cs typeface="Calibri"/>
                        </a:rPr>
                        <a:t>2,491906</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момента ±h</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Средний курс вокруг дня сигнала, 95 % ДИ: +59,38…+92,46 б. п.</a:t>
                      </a:r>
                    </a:p>
                  </a:txBody>
                  <a:tcPr marL="91440" marR="91440" marT="45720" marB="45720">
                    <a:solidFill>
                      <a:srgbClr val="FFFFFF"/>
                    </a:solidFill>
                  </a:tcPr>
                </a:tc>
                <a:tc>
                  <a:txBody>
                    <a:bodyPr/>
                    <a:lstStyle/>
                    <a:p>
                      <a:r>
                        <a:rPr sz="1300" b="0">
                          <a:solidFill>
                            <a:srgbClr val="4E5966"/>
                          </a:solidFill>
                          <a:latin typeface="Calibri"/>
                          <a:ea typeface="Calibri"/>
                          <a:cs typeface="Calibri"/>
                        </a:rPr>
                        <a:t>+74,5514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Выгода только вперёд</a:t>
                      </a:r>
                    </a:p>
                  </a:txBody>
                  <a:tcPr marL="91440" marR="91440" marT="45720" marB="45720">
                    <a:solidFill>
                      <a:srgbClr val="FFFFFF"/>
                    </a:solidFill>
                  </a:tcPr>
                </a:tc>
                <a:tc>
                  <a:txBody>
                    <a:bodyPr/>
                    <a:lstStyle/>
                    <a:p>
                      <a:r>
                        <a:rPr sz="1300" b="0">
                          <a:solidFill>
                            <a:srgbClr val="4E5966"/>
                          </a:solidFill>
                          <a:latin typeface="Calibri"/>
                          <a:ea typeface="Calibri"/>
                          <a:cs typeface="Calibri"/>
                        </a:rPr>
                        <a:t>Сравнение со средним следующих h курсов</a:t>
                      </a:r>
                    </a:p>
                  </a:txBody>
                  <a:tcPr marL="91440" marR="91440" marT="45720" marB="45720">
                    <a:solidFill>
                      <a:srgbClr val="FFFFFF"/>
                    </a:solidFill>
                  </a:tcPr>
                </a:tc>
                <a:tc>
                  <a:txBody>
                    <a:bodyPr/>
                    <a:lstStyle/>
                    <a:p>
                      <a:r>
                        <a:rPr sz="1300" b="0">
                          <a:solidFill>
                            <a:srgbClr val="4E5966"/>
                          </a:solidFill>
                          <a:latin typeface="Calibri"/>
                          <a:ea typeface="Calibri"/>
                          <a:cs typeface="Calibri"/>
                        </a:rPr>
                        <a:t>+133,7337 б. п.</a:t>
                      </a:r>
                    </a:p>
                  </a:txBody>
                  <a:tcPr marL="91440" marR="91440" marT="45720" marB="45720">
                    <a:solidFill>
                      <a:srgbClr val="FFFFFF"/>
                    </a:solidFill>
                  </a:tcPr>
                </a:tc>
              </a:tr>
              <a:tr h="464820">
                <a:tc>
                  <a:txBody>
                    <a:bodyPr/>
                    <a:lstStyle/>
                    <a:p>
                      <a:r>
                        <a:rPr sz="1300" b="0">
                          <a:solidFill>
                            <a:srgbClr val="4E5966"/>
                          </a:solidFill>
                          <a:latin typeface="Calibri"/>
                          <a:ea typeface="Calibri"/>
                          <a:cs typeface="Calibri"/>
                        </a:rPr>
                        <a:t>Частота</a:t>
                      </a:r>
                    </a:p>
                  </a:txBody>
                  <a:tcPr marL="91440" marR="91440" marT="45720" marB="45720">
                    <a:solidFill>
                      <a:srgbClr val="FFFFFF"/>
                    </a:solidFill>
                  </a:tcPr>
                </a:tc>
                <a:tc>
                  <a:txBody>
                    <a:bodyPr/>
                    <a:lstStyle/>
                    <a:p>
                      <a:r>
                        <a:rPr sz="1300" b="0">
                          <a:solidFill>
                            <a:srgbClr val="4E5966"/>
                          </a:solidFill>
                          <a:latin typeface="Calibri"/>
                          <a:ea typeface="Calibri"/>
                          <a:cs typeface="Calibri"/>
                        </a:rPr>
                        <a:t>Сигналов на валюту в календарную неделю</a:t>
                      </a:r>
                    </a:p>
                  </a:txBody>
                  <a:tcPr marL="91440" marR="91440" marT="45720" marB="45720">
                    <a:solidFill>
                      <a:srgbClr val="FFFFFF"/>
                    </a:solidFill>
                  </a:tcPr>
                </a:tc>
                <a:tc>
                  <a:txBody>
                    <a:bodyPr/>
                    <a:lstStyle/>
                    <a:p>
                      <a:r>
                        <a:rPr sz="1300" b="0">
                          <a:solidFill>
                            <a:srgbClr val="4E5966"/>
                          </a:solidFill>
                          <a:latin typeface="Calibri"/>
                          <a:ea typeface="Calibri"/>
                          <a:cs typeface="Calibri"/>
                        </a:rPr>
                        <a:t>1,03842</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DFFCAD9-6C3D-428B-933F-849ED378E300}"/>
              </a:ext>
            </a:extLst>
          </p:cNvPr>
          <p:cNvSpPr>
            <a:spLocks xmlns:a="http://schemas.openxmlformats.org/drawingml/2006/main" noGrp="1"/>
          </p:cNvSpPr>
          <p:nvPr/>
        </p:nvSpPr>
        <p:spPr>
          <a:xfrm xmlns:a="http://schemas.openxmlformats.org/drawingml/2006/main">
            <a:off x="640080" y="4407408"/>
            <a:ext cx="10881360" cy="1609344"/>
          </a:xfrm>
          <a:prstGeom xmlns:a="http://schemas.openxmlformats.org/drawingml/2006/main" prst="roundRect">
            <a:avLst>
              <a:gd name="adj" fmla="val 3409"/>
            </a:avLst>
          </a:prstGeom>
          <a:solidFill xmlns:a="http://schemas.openxmlformats.org/drawingml/2006/main">
            <a:srgbClr val="1A253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A8839A-BC15-4E58-AC89-6C895F4550B3}"/>
              </a:ext>
            </a:extLst>
          </p:cNvPr>
          <p:cNvSpPr>
            <a:spLocks xmlns:a="http://schemas.openxmlformats.org/drawingml/2006/main" noGrp="1"/>
          </p:cNvSpPr>
          <p:nvPr/>
        </p:nvSpPr>
        <p:spPr>
          <a:xfrm xmlns:a="http://schemas.openxmlformats.org/drawingml/2006/main">
            <a:off x="914400" y="4562856"/>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в отчётах встречается ещё 2,509</a:t>
            </a:r>
          </a:p>
        </p:txBody>
      </p:sp>
      <p:sp>
        <p:nvSpPr>
          <p:cNvPr id="8" name="">
            <a:extLst xmlns:a="http://schemas.openxmlformats.org/drawingml/2006/main">
              <a:ext uri="{FF2B5EF4-FFF2-40B4-BE49-F238E27FC236}">
                <a16:creationId xmlns:a16="http://schemas.microsoft.com/office/drawing/2014/main" id="{C812081E-C2BA-4B12-B9A0-7C1BE363B957}"/>
              </a:ext>
            </a:extLst>
          </p:cNvPr>
          <p:cNvSpPr>
            <a:spLocks xmlns:a="http://schemas.openxmlformats.org/drawingml/2006/main" noGrp="1"/>
          </p:cNvSpPr>
          <p:nvPr/>
        </p:nvSpPr>
        <p:spPr>
          <a:xfrm xmlns:a="http://schemas.openxmlformats.org/drawingml/2006/main">
            <a:off x="914400" y="4983480"/>
            <a:ext cx="10332720"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2,492 получается из общих долей 73,38 % и 29,45 %. 2,509 использует базу с поправкой на коридор и период. Это две агрегации одних сигналов, не два разных результата модели.</a:t>
            </a:r>
          </a:p>
        </p:txBody>
      </p:sp>
      <p:sp>
        <p:nvSpPr>
          <p:cNvPr id="9" name="">
            <a:extLst xmlns:a="http://schemas.openxmlformats.org/drawingml/2006/main">
              <a:ext uri="{FF2B5EF4-FFF2-40B4-BE49-F238E27FC236}">
                <a16:creationId xmlns:a16="http://schemas.microsoft.com/office/drawing/2014/main" id="{A2AC4D93-7372-4CD2-AC7B-C7B5200449D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Q&amp;A: lift по попаданию в будущее, выгода ±h отдельно. h считаем в публикациях. Курс в рублях за единицу валюты.</a:t>
            </a:r>
          </a:p>
        </p:txBody>
      </p:sp>
    </p:spTree>
    <p:extLst>
      <p:ext uri="{BB962C8B-B14F-4D97-AF65-F5344CB8AC3E}">
        <p14:creationId xmlns:p14="http://schemas.microsoft.com/office/powerpoint/2010/main" val="6004084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C13C6-BE8E-42D4-8269-F325D7ADFC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29BE67C-F542-46AB-B68B-8EA2623D43A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П3</a:t>
            </a:r>
            <a:endParaRPr sz="1100"/>
          </a:p>
        </p:txBody>
      </p:sp>
      <p:sp>
        <p:nvSpPr>
          <p:cNvPr id="4" name="Text 2">
            <a:extLst xmlns:a="http://schemas.openxmlformats.org/drawingml/2006/main">
              <a:ext uri="{FF2B5EF4-FFF2-40B4-BE49-F238E27FC236}">
                <a16:creationId xmlns:a16="http://schemas.microsoft.com/office/drawing/2014/main" id="{5072CB56-CC2B-4E28-BCC6-E730D92766D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Попадания сохраняются на разных горизонтах</a:t>
            </a:r>
            <a:endParaRPr sz="2500"/>
          </a:p>
        </p:txBody>
      </p:sp>
      <p:graphicFrame>
        <p:nvGraphicFramePr>
          <p:cNvPr id="11" name="Chart"/>
          <p:cNvGraphicFramePr/>
          <p:nvPr/>
        </p:nvGraphicFramePr>
        <p:xfrm>
          <a:off xmlns:a="http://schemas.openxmlformats.org/drawingml/2006/main" x="640080" y="1143000"/>
          <a:ext xmlns:a="http://schemas.openxmlformats.org/drawingml/2006/main" cx="10881360" cy="4407408"/>
        </p:xfrm>
        <a:graphic xmlns:a="http://schemas.openxmlformats.org/drawingml/2006/main">
          <a:graphicData uri="http://schemas.openxmlformats.org/drawingml/2006/chart">
            <c:chart xmlns:r="http://schemas.openxmlformats.org/officeDocument/2006/relationships" xmlns:c="http://schemas.openxmlformats.org/drawingml/2006/chart" r:id="Rb31a8bf3f27d45e4"/>
          </a:graphicData>
        </a:graphic>
      </p:graphicFrame>
      <p:sp>
        <p:nvSpPr>
          <p:cNvPr id="6" name="">
            <a:extLst xmlns:a="http://schemas.openxmlformats.org/drawingml/2006/main">
              <a:ext uri="{FF2B5EF4-FFF2-40B4-BE49-F238E27FC236}">
                <a16:creationId xmlns:a16="http://schemas.microsoft.com/office/drawing/2014/main" id="{A4E59D87-7347-4475-98F3-200E75129C9B}"/>
              </a:ext>
            </a:extLst>
          </p:cNvPr>
          <p:cNvSpPr>
            <a:spLocks xmlns:a="http://schemas.openxmlformats.org/drawingml/2006/main" noGrp="1"/>
          </p:cNvSpPr>
          <p:nvPr/>
        </p:nvSpPr>
        <p:spPr>
          <a:xfrm xmlns:a="http://schemas.openxmlformats.org/drawingml/2006/main">
            <a:off x="640080" y="562356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h=1: 100 % у сигналов, 51,62 % у случайного дня. Следующий курс уже известен, поэтому это не доказательство прогноза.</a:t>
            </a:r>
          </a:p>
        </p:txBody>
      </p:sp>
      <p:sp>
        <p:nvSpPr>
          <p:cNvPr id="7" name="">
            <a:extLst xmlns:a="http://schemas.openxmlformats.org/drawingml/2006/main">
              <a:ext uri="{FF2B5EF4-FFF2-40B4-BE49-F238E27FC236}">
                <a16:creationId xmlns:a16="http://schemas.microsoft.com/office/drawing/2014/main" id="{A75B75C1-2E2A-4447-A9C4-E57BF6614122}"/>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Для h=3/5/10/20 остаётся неизвестная часть будущего. Разные h имеют разную дату конца.</a:t>
            </a:r>
          </a:p>
        </p:txBody>
      </p:sp>
    </p:spTree>
    <p:extLst>
      <p:ext uri="{BB962C8B-B14F-4D97-AF65-F5344CB8AC3E}">
        <p14:creationId xmlns:p14="http://schemas.microsoft.com/office/powerpoint/2010/main" val="17668445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2B8602-6567-4F87-AB1A-EBCF7D008C48}"/>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176E0E5D-AE23-473B-B695-F89DFC8084E5}"/>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П4</a:t>
            </a:r>
            <a:endParaRPr sz="1100"/>
          </a:p>
        </p:txBody>
      </p:sp>
      <p:sp>
        <p:nvSpPr>
          <p:cNvPr id="4" name="Text 2">
            <a:extLst xmlns:a="http://schemas.openxmlformats.org/drawingml/2006/main">
              <a:ext uri="{FF2B5EF4-FFF2-40B4-BE49-F238E27FC236}">
                <a16:creationId xmlns:a16="http://schemas.microsoft.com/office/drawing/2014/main" id="{220BD794-0DD0-4DC4-B238-37D4C946A651}"/>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Дневной резерв: биржа без завтрашнего ЦБ</a:t>
            </a:r>
            <a:endParaRPr sz="2500"/>
          </a:p>
        </p:txBody>
      </p:sp>
      <p:sp>
        <p:nvSpPr>
          <p:cNvPr id="5" name="">
            <a:extLst xmlns:a="http://schemas.openxmlformats.org/drawingml/2006/main">
              <a:ext uri="{FF2B5EF4-FFF2-40B4-BE49-F238E27FC236}">
                <a16:creationId xmlns:a16="http://schemas.microsoft.com/office/drawing/2014/main" id="{CDEF97C4-4526-44AD-AD7C-C23021477411}"/>
              </a:ext>
            </a:extLst>
          </p:cNvPr>
          <p:cNvSpPr>
            <a:spLocks xmlns:a="http://schemas.openxmlformats.org/drawingml/2006/main" noGrp="1"/>
          </p:cNvSpPr>
          <p:nvPr/>
        </p:nvSpPr>
        <p:spPr>
          <a:xfrm xmlns:a="http://schemas.openxmlformats.org/drawingml/2006/main">
            <a:off x="640080" y="1097280"/>
            <a:ext cx="108813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Срез 15:30. Горизонт: пять следующих публикаций. Пять валют, 10.01.2025–26.08.2026.</a:t>
            </a:r>
          </a:p>
        </p:txBody>
      </p:sp>
      <p:sp>
        <p:nvSpPr>
          <p:cNvPr id="6" name="">
            <a:extLst xmlns:a="http://schemas.openxmlformats.org/drawingml/2006/main">
              <a:ext uri="{FF2B5EF4-FFF2-40B4-BE49-F238E27FC236}">
                <a16:creationId xmlns:a16="http://schemas.microsoft.com/office/drawing/2014/main" id="{FA7756DD-FC29-42E9-BC04-56F8AAA22CF2}"/>
              </a:ext>
            </a:extLst>
          </p:cNvPr>
          <p:cNvSpPr>
            <a:spLocks xmlns:a="http://schemas.openxmlformats.org/drawingml/2006/main" noGrp="1"/>
          </p:cNvSpPr>
          <p:nvPr/>
        </p:nvSpPr>
        <p:spPr>
          <a:xfrm xmlns:a="http://schemas.openxmlformats.org/drawingml/2006/main">
            <a:off x="640080"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21F845-1BD7-4424-8392-1B54DFED7D99}"/>
              </a:ext>
            </a:extLst>
          </p:cNvPr>
          <p:cNvSpPr>
            <a:spLocks xmlns:a="http://schemas.openxmlformats.org/drawingml/2006/main" noGrp="1"/>
          </p:cNvSpPr>
          <p:nvPr/>
        </p:nvSpPr>
        <p:spPr>
          <a:xfrm xmlns:a="http://schemas.openxmlformats.org/drawingml/2006/main">
            <a:off x="896112" y="1920240"/>
            <a:ext cx="4855464"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16674F"/>
                </a:solidFill>
                <a:latin typeface="Cambria"/>
                <a:ea typeface="Cambria"/>
                <a:cs typeface="Cambria"/>
              </a:defRPr>
            </a:pPr>
            <a:r>
              <a:rPr sz="2900" b="1">
                <a:solidFill>
                  <a:srgbClr val="16674F"/>
                </a:solidFill>
                <a:latin typeface="Cambria"/>
                <a:ea typeface="Cambria"/>
                <a:cs typeface="Cambria"/>
              </a:rPr>
              <a:t>2,059 lift</a:t>
            </a:r>
          </a:p>
        </p:txBody>
      </p:sp>
      <p:sp>
        <p:nvSpPr>
          <p:cNvPr id="8" name="">
            <a:extLst xmlns:a="http://schemas.openxmlformats.org/drawingml/2006/main">
              <a:ext uri="{FF2B5EF4-FFF2-40B4-BE49-F238E27FC236}">
                <a16:creationId xmlns:a16="http://schemas.microsoft.com/office/drawing/2014/main" id="{C2E91CAD-CA5C-406F-B53E-1B9CDE4B0F37}"/>
              </a:ext>
            </a:extLst>
          </p:cNvPr>
          <p:cNvSpPr>
            <a:spLocks xmlns:a="http://schemas.openxmlformats.org/drawingml/2006/main" noGrp="1"/>
          </p:cNvSpPr>
          <p:nvPr/>
        </p:nvSpPr>
        <p:spPr>
          <a:xfrm xmlns:a="http://schemas.openxmlformats.org/drawingml/2006/main">
            <a:off x="896112" y="2779776"/>
            <a:ext cx="4855464"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55,14 % попаданий против 26,78 %</a:t>
            </a:r>
          </a:p>
          <a:p xmlns:a="http://schemas.openxmlformats.org/drawingml/2006/main">
            <a:pPr>
              <a:defRPr sz="1700">
                <a:solidFill>
                  <a:srgbClr val="1A2530"/>
                </a:solidFill>
                <a:latin typeface="Calibri"/>
                <a:ea typeface="Calibri"/>
                <a:cs typeface="Calibri"/>
              </a:defRPr>
            </a:pPr>
            <a:r>
              <a:rPr sz="1700">
                <a:solidFill>
                  <a:srgbClr val="1A2530"/>
                </a:solidFill>
                <a:latin typeface="Calibri"/>
                <a:ea typeface="Calibri"/>
                <a:cs typeface="Calibri"/>
              </a:rPr>
              <a:t>у случайного дня.</a:t>
            </a:r>
          </a:p>
        </p:txBody>
      </p:sp>
      <p:sp>
        <p:nvSpPr>
          <p:cNvPr id="9" name="">
            <a:extLst xmlns:a="http://schemas.openxmlformats.org/drawingml/2006/main">
              <a:ext uri="{FF2B5EF4-FFF2-40B4-BE49-F238E27FC236}">
                <a16:creationId xmlns:a16="http://schemas.microsoft.com/office/drawing/2014/main" id="{2A89C7CD-C921-41A4-BBD5-CCE3730FCA94}"/>
              </a:ext>
            </a:extLst>
          </p:cNvPr>
          <p:cNvSpPr>
            <a:spLocks xmlns:a="http://schemas.openxmlformats.org/drawingml/2006/main" noGrp="1"/>
          </p:cNvSpPr>
          <p:nvPr/>
        </p:nvSpPr>
        <p:spPr>
          <a:xfrm xmlns:a="http://schemas.openxmlformats.org/drawingml/2006/main">
            <a:off x="896112" y="3886200"/>
            <a:ext cx="4855464"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506 сигналов, 1,19 на валюту в неделю.</a:t>
            </a:r>
          </a:p>
        </p:txBody>
      </p:sp>
      <p:sp>
        <p:nvSpPr>
          <p:cNvPr id="10" name="">
            <a:extLst xmlns:a="http://schemas.openxmlformats.org/drawingml/2006/main">
              <a:ext uri="{FF2B5EF4-FFF2-40B4-BE49-F238E27FC236}">
                <a16:creationId xmlns:a16="http://schemas.microsoft.com/office/drawing/2014/main" id="{E5AAC8D2-97A4-4717-9F9E-99845D68768B}"/>
              </a:ext>
            </a:extLst>
          </p:cNvPr>
          <p:cNvSpPr>
            <a:spLocks xmlns:a="http://schemas.openxmlformats.org/drawingml/2006/main" noGrp="1"/>
          </p:cNvSpPr>
          <p:nvPr/>
        </p:nvSpPr>
        <p:spPr>
          <a:xfrm xmlns:a="http://schemas.openxmlformats.org/drawingml/2006/main">
            <a:off x="6153912" y="1691640"/>
            <a:ext cx="5367528" cy="2944368"/>
          </a:xfrm>
          <a:prstGeom xmlns:a="http://schemas.openxmlformats.org/drawingml/2006/main" prst="roundRect">
            <a:avLst>
              <a:gd name="adj" fmla="val 1863"/>
            </a:avLst>
          </a:prstGeom>
          <a:solidFill xmlns:a="http://schemas.openxmlformats.org/drawingml/2006/main">
            <a:srgbClr val="F4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C37096-FB23-494B-B23D-21590D06C0A5}"/>
              </a:ext>
            </a:extLst>
          </p:cNvPr>
          <p:cNvSpPr>
            <a:spLocks xmlns:a="http://schemas.openxmlformats.org/drawingml/2006/main" noGrp="1"/>
          </p:cNvSpPr>
          <p:nvPr/>
        </p:nvSpPr>
        <p:spPr>
          <a:xfrm xmlns:a="http://schemas.openxmlformats.org/drawingml/2006/main">
            <a:off x="6409944" y="1911096"/>
            <a:ext cx="4855464"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1">
                <a:solidFill>
                  <a:srgbClr val="16674F"/>
                </a:solidFill>
                <a:latin typeface="Cambria"/>
                <a:ea typeface="Cambria"/>
                <a:cs typeface="Cambria"/>
              </a:defRPr>
            </a:pPr>
            <a:r>
              <a:rPr sz="1600" b="1">
                <a:solidFill>
                  <a:srgbClr val="16674F"/>
                </a:solidFill>
                <a:latin typeface="Cambria"/>
                <a:ea typeface="Cambria"/>
                <a:cs typeface="Cambria"/>
              </a:rPr>
              <a:t>Биржа задаёт дневной сигнал</a:t>
            </a:r>
          </a:p>
        </p:txBody>
      </p:sp>
      <p:sp>
        <p:nvSpPr>
          <p:cNvPr id="12" name="">
            <a:extLst xmlns:a="http://schemas.openxmlformats.org/drawingml/2006/main">
              <a:ext uri="{FF2B5EF4-FFF2-40B4-BE49-F238E27FC236}">
                <a16:creationId xmlns:a16="http://schemas.microsoft.com/office/drawing/2014/main" id="{50F64A32-214C-4C10-9FDB-4F208CCA9CDC}"/>
              </a:ext>
            </a:extLst>
          </p:cNvPr>
          <p:cNvSpPr>
            <a:spLocks xmlns:a="http://schemas.openxmlformats.org/drawingml/2006/main" noGrp="1"/>
          </p:cNvSpPr>
          <p:nvPr/>
        </p:nvSpPr>
        <p:spPr>
          <a:xfrm xmlns:a="http://schemas.openxmlformats.org/drawingml/2006/main">
            <a:off x="6409944" y="2688336"/>
            <a:ext cx="4855464" cy="1645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Средняя CNY/RUB с 10:00 до 15:30 относительно действующего курса ЦБ.</a:t>
            </a:r>
          </a:p>
          <a:p xmlns:a="http://schemas.openxmlformats.org/drawingml/2006/main">
            <a:r>
              <a:t/>
            </a:r>
          </a:p>
          <a:p xmlns:a="http://schemas.openxmlformats.org/drawingml/2006/main">
            <a:pPr>
              <a:defRPr sz="1400">
                <a:solidFill>
                  <a:srgbClr val="4E5966"/>
                </a:solidFill>
                <a:latin typeface="Calibri"/>
                <a:ea typeface="Calibri"/>
                <a:cs typeface="Calibri"/>
              </a:defRPr>
            </a:pPr>
            <a:r>
              <a:rPr sz="1400">
                <a:solidFill>
                  <a:srgbClr val="4E5966"/>
                </a:solidFill>
                <a:latin typeface="Calibri"/>
                <a:ea typeface="Calibri"/>
                <a:cs typeface="Calibri"/>
              </a:rPr>
              <a:t>Ранг по прошлым дням выделяет сильные сигналы. Если свечей нет, включается резерв на истории.</a:t>
            </a:r>
          </a:p>
        </p:txBody>
      </p:sp>
      <p:sp>
        <p:nvSpPr>
          <p:cNvPr id="13" name="">
            <a:extLst xmlns:a="http://schemas.openxmlformats.org/drawingml/2006/main">
              <a:ext uri="{FF2B5EF4-FFF2-40B4-BE49-F238E27FC236}">
                <a16:creationId xmlns:a16="http://schemas.microsoft.com/office/drawing/2014/main" id="{4228A6DC-4C08-4661-9CC2-79E51C27104C}"/>
              </a:ext>
            </a:extLst>
          </p:cNvPr>
          <p:cNvSpPr>
            <a:spLocks xmlns:a="http://schemas.openxmlformats.org/drawingml/2006/main" noGrp="1"/>
          </p:cNvSpPr>
          <p:nvPr/>
        </p:nvSpPr>
        <p:spPr>
          <a:xfrm xmlns:a="http://schemas.openxmlformats.org/drawingml/2006/main">
            <a:off x="640080" y="4919472"/>
            <a:ext cx="10881360" cy="1161288"/>
          </a:xfrm>
          <a:prstGeom xmlns:a="http://schemas.openxmlformats.org/drawingml/2006/main" prst="roundRect">
            <a:avLst>
              <a:gd name="adj" fmla="val 4724"/>
            </a:avLst>
          </a:prstGeom>
          <a:solidFill xmlns:a="http://schemas.openxmlformats.org/drawingml/2006/main">
            <a:srgbClr val="1A253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169041-65C5-43DF-B9F7-C1E2CC707E69}"/>
              </a:ext>
            </a:extLst>
          </p:cNvPr>
          <p:cNvSpPr>
            <a:spLocks xmlns:a="http://schemas.openxmlformats.org/drawingml/2006/main" noGrp="1"/>
          </p:cNvSpPr>
          <p:nvPr/>
        </p:nvSpPr>
        <p:spPr>
          <a:xfrm xmlns:a="http://schemas.openxmlformats.org/drawingml/2006/main">
            <a:off x="914400" y="5074920"/>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Как читаем этот результат</a:t>
            </a:r>
          </a:p>
        </p:txBody>
      </p:sp>
      <p:sp>
        <p:nvSpPr>
          <p:cNvPr id="15" name="">
            <a:extLst xmlns:a="http://schemas.openxmlformats.org/drawingml/2006/main">
              <a:ext uri="{FF2B5EF4-FFF2-40B4-BE49-F238E27FC236}">
                <a16:creationId xmlns:a16="http://schemas.microsoft.com/office/drawing/2014/main" id="{B71384FA-5023-444A-94A0-56F9CBDB79EB}"/>
              </a:ext>
            </a:extLst>
          </p:cNvPr>
          <p:cNvSpPr>
            <a:spLocks xmlns:a="http://schemas.openxmlformats.org/drawingml/2006/main" noGrp="1"/>
          </p:cNvSpPr>
          <p:nvPr/>
        </p:nvSpPr>
        <p:spPr>
          <a:xfrm xmlns:a="http://schemas.openxmlformats.org/drawingml/2006/main">
            <a:off x="914400" y="5504688"/>
            <a:ext cx="1033272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Курс ЦБ на завтра не используем. Попадания считаем от сегодняшнего ЦБ, а не от цены перевода в банке.</a:t>
            </a:r>
          </a:p>
        </p:txBody>
      </p:sp>
      <p:sp>
        <p:nvSpPr>
          <p:cNvPr id="16" name="">
            <a:extLst xmlns:a="http://schemas.openxmlformats.org/drawingml/2006/main">
              <a:ext uri="{FF2B5EF4-FFF2-40B4-BE49-F238E27FC236}">
                <a16:creationId xmlns:a16="http://schemas.microsoft.com/office/drawing/2014/main" id="{9B1F2CA3-C082-44E2-BFB8-1FBDDAED5195}"/>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Открытая ретроспектива. Отдельно проверенный дневной вариант. Это не качество любого часа и не новый закрытый тест.</a:t>
            </a:r>
          </a:p>
        </p:txBody>
      </p:sp>
    </p:spTree>
    <p:extLst>
      <p:ext uri="{BB962C8B-B14F-4D97-AF65-F5344CB8AC3E}">
        <p14:creationId xmlns:p14="http://schemas.microsoft.com/office/powerpoint/2010/main" val="17045341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58DEB5-B5B6-490B-930D-4E518C636E8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400AE3CE-B928-4EBA-B03D-EB8201D5536F}"/>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П5</a:t>
            </a:r>
            <a:endParaRPr sz="1100"/>
          </a:p>
        </p:txBody>
      </p:sp>
      <p:sp>
        <p:nvSpPr>
          <p:cNvPr id="4" name="Text 2">
            <a:extLst xmlns:a="http://schemas.openxmlformats.org/drawingml/2006/main">
              <a:ext uri="{FF2B5EF4-FFF2-40B4-BE49-F238E27FC236}">
                <a16:creationId xmlns:a16="http://schemas.microsoft.com/office/drawing/2014/main" id="{7EADB03A-6E92-4466-AD31-1511773B07CF}"/>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Днём: юань как датчик движения рубля</a:t>
            </a:r>
            <a:endParaRPr sz="2500"/>
          </a:p>
        </p:txBody>
      </p:sp>
      <p:sp>
        <p:nvSpPr>
          <p:cNvPr id="5" name="">
            <a:extLst xmlns:a="http://schemas.openxmlformats.org/drawingml/2006/main">
              <a:ext uri="{FF2B5EF4-FFF2-40B4-BE49-F238E27FC236}">
                <a16:creationId xmlns:a16="http://schemas.microsoft.com/office/drawing/2014/main" id="{1125415A-ABA1-4FDB-BC74-7DD5AD5E7494}"/>
              </a:ext>
            </a:extLst>
          </p:cNvPr>
          <p:cNvSpPr>
            <a:spLocks xmlns:a="http://schemas.openxmlformats.org/drawingml/2006/main" noGrp="1"/>
          </p:cNvSpPr>
          <p:nvPr/>
        </p:nvSpPr>
        <p:spPr>
          <a:xfrm xmlns:a="http://schemas.openxmlformats.org/drawingml/2006/main">
            <a:off x="640080" y="129844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6F884D-7FFF-4AC5-A909-63388F5941D7}"/>
              </a:ext>
            </a:extLst>
          </p:cNvPr>
          <p:cNvSpPr>
            <a:spLocks xmlns:a="http://schemas.openxmlformats.org/drawingml/2006/main" noGrp="1"/>
          </p:cNvSpPr>
          <p:nvPr/>
        </p:nvSpPr>
        <p:spPr>
          <a:xfrm xmlns:a="http://schemas.openxmlformats.org/drawingml/2006/main">
            <a:off x="896112" y="148132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1. Берём завершённые свечи</a:t>
            </a:r>
          </a:p>
        </p:txBody>
      </p:sp>
      <p:sp>
        <p:nvSpPr>
          <p:cNvPr id="7" name="">
            <a:extLst xmlns:a="http://schemas.openxmlformats.org/drawingml/2006/main">
              <a:ext uri="{FF2B5EF4-FFF2-40B4-BE49-F238E27FC236}">
                <a16:creationId xmlns:a16="http://schemas.microsoft.com/office/drawing/2014/main" id="{F5CF3C9B-A221-4354-AF3B-589D93676967}"/>
              </a:ext>
            </a:extLst>
          </p:cNvPr>
          <p:cNvSpPr>
            <a:spLocks xmlns:a="http://schemas.openxmlformats.org/drawingml/2006/main" noGrp="1"/>
          </p:cNvSpPr>
          <p:nvPr/>
        </p:nvSpPr>
        <p:spPr>
          <a:xfrm xmlns:a="http://schemas.openxmlformats.org/drawingml/2006/main">
            <a:off x="896112" y="205740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CNY/RUB с 10:00 до текущего среза, максимум до 15:30. Считаем среднюю доступную цену. Незавершённую свечу не используем.</a:t>
            </a:r>
          </a:p>
        </p:txBody>
      </p:sp>
      <p:sp>
        <p:nvSpPr>
          <p:cNvPr id="8" name="">
            <a:extLst xmlns:a="http://schemas.openxmlformats.org/drawingml/2006/main">
              <a:ext uri="{FF2B5EF4-FFF2-40B4-BE49-F238E27FC236}">
                <a16:creationId xmlns:a16="http://schemas.microsoft.com/office/drawing/2014/main" id="{BC6DE0EF-F9A4-40D5-B109-F77A169A8491}"/>
              </a:ext>
            </a:extLst>
          </p:cNvPr>
          <p:cNvSpPr>
            <a:spLocks xmlns:a="http://schemas.openxmlformats.org/drawingml/2006/main" noGrp="1"/>
          </p:cNvSpPr>
          <p:nvPr/>
        </p:nvSpPr>
        <p:spPr>
          <a:xfrm xmlns:a="http://schemas.openxmlformats.org/drawingml/2006/main">
            <a:off x="6153912" y="1298448"/>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2EC7F2C-3FBE-418B-92F2-BE4DB0B9809D}"/>
              </a:ext>
            </a:extLst>
          </p:cNvPr>
          <p:cNvSpPr>
            <a:spLocks xmlns:a="http://schemas.openxmlformats.org/drawingml/2006/main" noGrp="1"/>
          </p:cNvSpPr>
          <p:nvPr/>
        </p:nvSpPr>
        <p:spPr>
          <a:xfrm xmlns:a="http://schemas.openxmlformats.org/drawingml/2006/main">
            <a:off x="6409944" y="1481328"/>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2. Сравниваем с официальным курсом</a:t>
            </a:r>
          </a:p>
        </p:txBody>
      </p:sp>
      <p:sp>
        <p:nvSpPr>
          <p:cNvPr id="10" name="">
            <a:extLst xmlns:a="http://schemas.openxmlformats.org/drawingml/2006/main">
              <a:ext uri="{FF2B5EF4-FFF2-40B4-BE49-F238E27FC236}">
                <a16:creationId xmlns:a16="http://schemas.microsoft.com/office/drawing/2014/main" id="{CD0C5122-76A3-44CB-B3D2-E85138034E6A}"/>
              </a:ext>
            </a:extLst>
          </p:cNvPr>
          <p:cNvSpPr>
            <a:spLocks xmlns:a="http://schemas.openxmlformats.org/drawingml/2006/main" noGrp="1"/>
          </p:cNvSpPr>
          <p:nvPr/>
        </p:nvSpPr>
        <p:spPr>
          <a:xfrm xmlns:a="http://schemas.openxmlformats.org/drawingml/2006/main">
            <a:off x="6409944" y="2057400"/>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Отношение биржевой средней к доступному ЦБ CNY показывает, куда уже сдвинулся рынок относительно дневного ориентира.</a:t>
            </a:r>
          </a:p>
        </p:txBody>
      </p:sp>
      <p:sp>
        <p:nvSpPr>
          <p:cNvPr id="11" name="">
            <a:extLst xmlns:a="http://schemas.openxmlformats.org/drawingml/2006/main">
              <a:ext uri="{FF2B5EF4-FFF2-40B4-BE49-F238E27FC236}">
                <a16:creationId xmlns:a16="http://schemas.microsoft.com/office/drawing/2014/main" id="{071DF73E-5508-4F8D-9BDB-82123FE90814}"/>
              </a:ext>
            </a:extLst>
          </p:cNvPr>
          <p:cNvSpPr>
            <a:spLocks xmlns:a="http://schemas.openxmlformats.org/drawingml/2006/main" noGrp="1"/>
          </p:cNvSpPr>
          <p:nvPr/>
        </p:nvSpPr>
        <p:spPr>
          <a:xfrm xmlns:a="http://schemas.openxmlformats.org/drawingml/2006/main">
            <a:off x="640080" y="345643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41E262-BD34-4881-98CF-5F6D4A211A62}"/>
              </a:ext>
            </a:extLst>
          </p:cNvPr>
          <p:cNvSpPr>
            <a:spLocks xmlns:a="http://schemas.openxmlformats.org/drawingml/2006/main" noGrp="1"/>
          </p:cNvSpPr>
          <p:nvPr/>
        </p:nvSpPr>
        <p:spPr>
          <a:xfrm xmlns:a="http://schemas.openxmlformats.org/drawingml/2006/main">
            <a:off x="896112" y="363931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3. Переводим в вероятность</a:t>
            </a:r>
          </a:p>
        </p:txBody>
      </p:sp>
      <p:sp>
        <p:nvSpPr>
          <p:cNvPr id="13" name="">
            <a:extLst xmlns:a="http://schemas.openxmlformats.org/drawingml/2006/main">
              <a:ext uri="{FF2B5EF4-FFF2-40B4-BE49-F238E27FC236}">
                <a16:creationId xmlns:a16="http://schemas.microsoft.com/office/drawing/2014/main" id="{0B9D9A8C-A1A5-4059-9EA7-1D400E4983CF}"/>
              </a:ext>
            </a:extLst>
          </p:cNvPr>
          <p:cNvSpPr>
            <a:spLocks xmlns:a="http://schemas.openxmlformats.org/drawingml/2006/main" noGrp="1"/>
          </p:cNvSpPr>
          <p:nvPr/>
        </p:nvSpPr>
        <p:spPr>
          <a:xfrm xmlns:a="http://schemas.openxmlformats.org/drawingml/2006/main">
            <a:off x="896112" y="421538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Ранг среди прошлых значений и логистическая калибровка отдельно по валюте и горизонту. Параметры обновляем поквартально.</a:t>
            </a:r>
          </a:p>
        </p:txBody>
      </p:sp>
      <p:sp>
        <p:nvSpPr>
          <p:cNvPr id="14" name="">
            <a:extLst xmlns:a="http://schemas.openxmlformats.org/drawingml/2006/main">
              <a:ext uri="{FF2B5EF4-FFF2-40B4-BE49-F238E27FC236}">
                <a16:creationId xmlns:a16="http://schemas.microsoft.com/office/drawing/2014/main" id="{D8136A50-78B8-4B2F-B5F5-EFAA657FEE8A}"/>
              </a:ext>
            </a:extLst>
          </p:cNvPr>
          <p:cNvSpPr>
            <a:spLocks xmlns:a="http://schemas.openxmlformats.org/drawingml/2006/main" noGrp="1"/>
          </p:cNvSpPr>
          <p:nvPr/>
        </p:nvSpPr>
        <p:spPr>
          <a:xfrm xmlns:a="http://schemas.openxmlformats.org/drawingml/2006/main">
            <a:off x="6153912" y="3456432"/>
            <a:ext cx="5367528" cy="1993392"/>
          </a:xfrm>
          <a:prstGeom xmlns:a="http://schemas.openxmlformats.org/drawingml/2006/main" prst="roundRect">
            <a:avLst>
              <a:gd name="adj" fmla="val 2752"/>
            </a:avLst>
          </a:prstGeom>
          <a:solidFill xmlns:a="http://schemas.openxmlformats.org/drawingml/2006/main">
            <a:srgbClr val="F4F6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715E2B-222E-4F9F-9A5B-D32E1DB6CDCB}"/>
              </a:ext>
            </a:extLst>
          </p:cNvPr>
          <p:cNvSpPr>
            <a:spLocks xmlns:a="http://schemas.openxmlformats.org/drawingml/2006/main" noGrp="1"/>
          </p:cNvSpPr>
          <p:nvPr/>
        </p:nvSpPr>
        <p:spPr>
          <a:xfrm xmlns:a="http://schemas.openxmlformats.org/drawingml/2006/main">
            <a:off x="6409944" y="3639312"/>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4. Не усложняем без выигрыша</a:t>
            </a:r>
          </a:p>
        </p:txBody>
      </p:sp>
      <p:sp>
        <p:nvSpPr>
          <p:cNvPr id="16" name="">
            <a:extLst xmlns:a="http://schemas.openxmlformats.org/drawingml/2006/main">
              <a:ext uri="{FF2B5EF4-FFF2-40B4-BE49-F238E27FC236}">
                <a16:creationId xmlns:a16="http://schemas.microsoft.com/office/drawing/2014/main" id="{2E97DBF9-58DB-4C8E-A557-566FFBA73CB7}"/>
              </a:ext>
            </a:extLst>
          </p:cNvPr>
          <p:cNvSpPr>
            <a:spLocks xmlns:a="http://schemas.openxmlformats.org/drawingml/2006/main" noGrp="1"/>
          </p:cNvSpPr>
          <p:nvPr/>
        </p:nvSpPr>
        <p:spPr>
          <a:xfrm xmlns:a="http://schemas.openxmlformats.org/drawingml/2006/main">
            <a:off x="6409944" y="4215384"/>
            <a:ext cx="4855464" cy="1078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Прямые AMD/RUB и KZT/RUB проверили. Вероятностная модель с KZT ухудшилась в 2025 году, поэтому в итоговую температуру её не включили.</a:t>
            </a:r>
          </a:p>
        </p:txBody>
      </p:sp>
      <p:sp>
        <p:nvSpPr>
          <p:cNvPr id="17" name="">
            <a:extLst xmlns:a="http://schemas.openxmlformats.org/drawingml/2006/main">
              <a:ext uri="{FF2B5EF4-FFF2-40B4-BE49-F238E27FC236}">
                <a16:creationId xmlns:a16="http://schemas.microsoft.com/office/drawing/2014/main" id="{F056A1F6-7FFD-43DA-921F-281468702F3F}"/>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15:30, h=5, 2025–2026: ошибка вероятности Brier 0,1572 против 0,1999 у базовой частоты. Меньше — лучше.</a:t>
            </a:r>
          </a:p>
        </p:txBody>
      </p:sp>
    </p:spTree>
    <p:extLst>
      <p:ext uri="{BB962C8B-B14F-4D97-AF65-F5344CB8AC3E}">
        <p14:creationId xmlns:p14="http://schemas.microsoft.com/office/powerpoint/2010/main" val="7536156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98B8F8-4A9F-474B-801C-882E7433B1C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C6C8CD1D-A2BA-41B5-95A0-B6A60A5C09E9}"/>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П6</a:t>
            </a:r>
            <a:endParaRPr sz="1100"/>
          </a:p>
        </p:txBody>
      </p:sp>
      <p:sp>
        <p:nvSpPr>
          <p:cNvPr id="4" name="Text 2">
            <a:extLst xmlns:a="http://schemas.openxmlformats.org/drawingml/2006/main">
              <a:ext uri="{FF2B5EF4-FFF2-40B4-BE49-F238E27FC236}">
                <a16:creationId xmlns:a16="http://schemas.microsoft.com/office/drawing/2014/main" id="{9EB62B3B-1E5A-4687-9837-2AB29D4B8E9E}"/>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Интерфейс: семь экранов существующего флоу</a:t>
            </a:r>
            <a:endParaRPr sz="25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1d50d6832b7240e9"/>
          <a:stretch xmlns:a="http://schemas.openxmlformats.org/drawingml/2006/main">
            <a:fillRect l="0" t="0" r="0" b="0"/>
          </a:stretch>
        </p:blipFill>
        <p:spPr>
          <a:xfrm xmlns:a="http://schemas.openxmlformats.org/drawingml/2006/main">
            <a:off x="640080" y="1463040"/>
            <a:ext cx="10881360" cy="324612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9803FA73-2001-41E0-8600-896493A89CEC}"/>
              </a:ext>
            </a:extLst>
          </p:cNvPr>
          <p:cNvSpPr>
            <a:spLocks xmlns:a="http://schemas.openxmlformats.org/drawingml/2006/main" noGrp="1"/>
          </p:cNvSpPr>
          <p:nvPr/>
        </p:nvSpPr>
        <p:spPr>
          <a:xfrm xmlns:a="http://schemas.openxmlformats.org/drawingml/2006/main">
            <a:off x="640080" y="4901184"/>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Семь исходных экранов команды. Шкала показывает положение суммы в историческом диапазоне, а не температуру. Числа иллюстративные по ЦБ, в пилоте нужны реальные условия банка.</a:t>
            </a:r>
            <a:endParaRPr sz="1250"/>
          </a:p>
        </p:txBody>
      </p:sp>
      <p:sp>
        <p:nvSpPr>
          <p:cNvPr id="8" name="">
            <a:extLst xmlns:a="http://schemas.openxmlformats.org/drawingml/2006/main">
              <a:ext uri="{FF2B5EF4-FFF2-40B4-BE49-F238E27FC236}">
                <a16:creationId xmlns:a16="http://schemas.microsoft.com/office/drawing/2014/main" id="{013227E4-B91B-4EDF-83A5-E6CC7D0608D7}"/>
              </a:ext>
            </a:extLst>
          </p:cNvPr>
          <p:cNvSpPr>
            <a:spLocks xmlns:a="http://schemas.openxmlformats.org/drawingml/2006/main" noGrp="1"/>
          </p:cNvSpPr>
          <p:nvPr/>
        </p:nvSpPr>
        <p:spPr>
          <a:xfrm xmlns:a="http://schemas.openxmlformats.org/drawingml/2006/main">
            <a:off x="2239366" y="3012948"/>
            <a:ext cx="1036015" cy="209398"/>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397634-01C4-4B81-B7FE-06427BA8D14D}"/>
              </a:ext>
            </a:extLst>
          </p:cNvPr>
          <p:cNvSpPr>
            <a:spLocks xmlns:a="http://schemas.openxmlformats.org/drawingml/2006/main" noGrp="1"/>
          </p:cNvSpPr>
          <p:nvPr/>
        </p:nvSpPr>
        <p:spPr>
          <a:xfrm xmlns:a="http://schemas.openxmlformats.org/drawingml/2006/main">
            <a:off x="2253082" y="3020263"/>
            <a:ext cx="1008583" cy="194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За 30 000 ₽ — 3 198 сомони.</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Лучше было 8 дней из 90.</a:t>
            </a:r>
          </a:p>
          <a:p xmlns:a="http://schemas.openxmlformats.org/drawingml/2006/main">
            <a:pPr>
              <a:defRPr sz="360">
                <a:solidFill>
                  <a:srgbClr val="30353B"/>
                </a:solidFill>
                <a:latin typeface="Calibri"/>
                <a:ea typeface="Calibri"/>
                <a:cs typeface="Calibri"/>
              </a:defRPr>
            </a:pPr>
            <a:r>
              <a:rPr sz="360">
                <a:solidFill>
                  <a:srgbClr val="30353B"/>
                </a:solidFill>
                <a:latin typeface="Calibri"/>
                <a:ea typeface="Calibri"/>
                <a:cs typeface="Calibri"/>
              </a:rPr>
              <a:t>Курс ЦБ на 4 сентября.</a:t>
            </a:r>
          </a:p>
        </p:txBody>
      </p:sp>
    </p:spTree>
    <p:extLst>
      <p:ext uri="{BB962C8B-B14F-4D97-AF65-F5344CB8AC3E}">
        <p14:creationId xmlns:p14="http://schemas.microsoft.com/office/powerpoint/2010/main" val="109894171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80F8B6-AE03-4BF8-9A28-FE603666E66D}"/>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p:spPr>
      </p:sp>
      <p:sp>
        <p:nvSpPr>
          <p:cNvPr id="3" name="Text 1">
            <a:extLst xmlns:a="http://schemas.openxmlformats.org/drawingml/2006/main">
              <a:ext uri="{FF2B5EF4-FFF2-40B4-BE49-F238E27FC236}">
                <a16:creationId xmlns:a16="http://schemas.microsoft.com/office/drawing/2014/main" id="{055A0FB8-BC72-4383-8D20-82E98E5C79F0}"/>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П7</a:t>
            </a:r>
            <a:endParaRPr sz="1100"/>
          </a:p>
        </p:txBody>
      </p:sp>
      <p:sp>
        <p:nvSpPr>
          <p:cNvPr id="4" name="Text 2">
            <a:extLst xmlns:a="http://schemas.openxmlformats.org/drawingml/2006/main">
              <a:ext uri="{FF2B5EF4-FFF2-40B4-BE49-F238E27FC236}">
                <a16:creationId xmlns:a16="http://schemas.microsoft.com/office/drawing/2014/main" id="{E09F44B7-7A55-4547-B63B-C2088418EFE3}"/>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A2530"/>
                </a:solidFill>
                <a:latin typeface="Cambria"/>
                <a:ea typeface="Cambria"/>
                <a:cs typeface="Cambria"/>
              </a:rPr>
              <a:t>Команда</a:t>
            </a:r>
            <a:endParaRPr sz="2500"/>
          </a:p>
        </p:txBody>
      </p:sp>
      <p:sp>
        <p:nvSpPr>
          <p:cNvPr id="5" name="Shape 3">
            <a:extLst xmlns:a="http://schemas.openxmlformats.org/drawingml/2006/main">
              <a:ext uri="{FF2B5EF4-FFF2-40B4-BE49-F238E27FC236}">
                <a16:creationId xmlns:a16="http://schemas.microsoft.com/office/drawing/2014/main" id="{20734734-274A-4F03-A47A-19131D5C4D60}"/>
              </a:ext>
            </a:extLst>
          </p:cNvPr>
          <p:cNvSpPr>
            <a:spLocks xmlns:a="http://schemas.openxmlformats.org/drawingml/2006/main" noGrp="1"/>
          </p:cNvSpPr>
          <p:nvPr/>
        </p:nvSpPr>
        <p:spPr>
          <a:xfrm xmlns:a="http://schemas.openxmlformats.org/drawingml/2006/main">
            <a:off x="640080"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6" name="Text 4">
            <a:extLst xmlns:a="http://schemas.openxmlformats.org/drawingml/2006/main">
              <a:ext uri="{FF2B5EF4-FFF2-40B4-BE49-F238E27FC236}">
                <a16:creationId xmlns:a16="http://schemas.microsoft.com/office/drawing/2014/main" id="{93F9E89D-B865-4C9E-A47B-130BACDA17E0}"/>
              </a:ext>
            </a:extLst>
          </p:cNvPr>
          <p:cNvSpPr>
            <a:spLocks xmlns:a="http://schemas.openxmlformats.org/drawingml/2006/main" noGrp="1"/>
          </p:cNvSpPr>
          <p:nvPr/>
        </p:nvSpPr>
        <p:spPr>
          <a:xfrm xmlns:a="http://schemas.openxmlformats.org/drawingml/2006/main">
            <a:off x="89611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Александр Тармаев</a:t>
            </a:r>
            <a:endParaRPr sz="1550"/>
          </a:p>
        </p:txBody>
      </p:sp>
      <p:sp>
        <p:nvSpPr>
          <p:cNvPr id="7" name="Text 5">
            <a:extLst xmlns:a="http://schemas.openxmlformats.org/drawingml/2006/main">
              <a:ext uri="{FF2B5EF4-FFF2-40B4-BE49-F238E27FC236}">
                <a16:creationId xmlns:a16="http://schemas.microsoft.com/office/drawing/2014/main" id="{E9ACD906-8BF6-4AA5-BF5A-9A663A16768D}"/>
              </a:ext>
            </a:extLst>
          </p:cNvPr>
          <p:cNvSpPr>
            <a:spLocks xmlns:a="http://schemas.openxmlformats.org/drawingml/2006/main" noGrp="1"/>
          </p:cNvSpPr>
          <p:nvPr/>
        </p:nvSpPr>
        <p:spPr>
          <a:xfrm xmlns:a="http://schemas.openxmlformats.org/drawingml/2006/main">
            <a:off x="896112"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Product. Продуктовая постановка, клиентский путь, макеты, тексты, базовые индикаторы и комплект материалов.</a:t>
            </a:r>
            <a:endParaRPr sz="1250"/>
          </a:p>
        </p:txBody>
      </p:sp>
      <p:sp>
        <p:nvSpPr>
          <p:cNvPr id="8" name="Shape 6">
            <a:extLst xmlns:a="http://schemas.openxmlformats.org/drawingml/2006/main">
              <a:ext uri="{FF2B5EF4-FFF2-40B4-BE49-F238E27FC236}">
                <a16:creationId xmlns:a16="http://schemas.microsoft.com/office/drawing/2014/main" id="{59E031D1-36B0-4E29-8404-3168AFE8C8D7}"/>
              </a:ext>
            </a:extLst>
          </p:cNvPr>
          <p:cNvSpPr>
            <a:spLocks xmlns:a="http://schemas.openxmlformats.org/drawingml/2006/main" noGrp="1"/>
          </p:cNvSpPr>
          <p:nvPr/>
        </p:nvSpPr>
        <p:spPr>
          <a:xfrm xmlns:a="http://schemas.openxmlformats.org/drawingml/2006/main">
            <a:off x="4325112"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9" name="Text 7">
            <a:extLst xmlns:a="http://schemas.openxmlformats.org/drawingml/2006/main">
              <a:ext uri="{FF2B5EF4-FFF2-40B4-BE49-F238E27FC236}">
                <a16:creationId xmlns:a16="http://schemas.microsoft.com/office/drawing/2014/main" id="{136F7EC0-FF17-4B92-9D98-A759B3181E8F}"/>
              </a:ext>
            </a:extLst>
          </p:cNvPr>
          <p:cNvSpPr>
            <a:spLocks xmlns:a="http://schemas.openxmlformats.org/drawingml/2006/main" noGrp="1"/>
          </p:cNvSpPr>
          <p:nvPr/>
        </p:nvSpPr>
        <p:spPr>
          <a:xfrm xmlns:a="http://schemas.openxmlformats.org/drawingml/2006/main">
            <a:off x="4581144"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Даниил Недайборщ</a:t>
            </a:r>
            <a:endParaRPr sz="1550"/>
          </a:p>
        </p:txBody>
      </p:sp>
      <p:sp>
        <p:nvSpPr>
          <p:cNvPr id="10" name="Text 8">
            <a:extLst xmlns:a="http://schemas.openxmlformats.org/drawingml/2006/main">
              <a:ext uri="{FF2B5EF4-FFF2-40B4-BE49-F238E27FC236}">
                <a16:creationId xmlns:a16="http://schemas.microsoft.com/office/drawing/2014/main" id="{1EA83F7C-2D77-46BF-91D8-5647F390856C}"/>
              </a:ext>
            </a:extLst>
          </p:cNvPr>
          <p:cNvSpPr>
            <a:spLocks xmlns:a="http://schemas.openxmlformats.org/drawingml/2006/main" noGrp="1"/>
          </p:cNvSpPr>
          <p:nvPr/>
        </p:nvSpPr>
        <p:spPr>
          <a:xfrm xmlns:a="http://schemas.openxmlformats.org/drawingml/2006/main">
            <a:off x="4581144"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Данные и признаки, независимая реализация version_b, модели и проверка расчётов.</a:t>
            </a:r>
            <a:endParaRPr sz="1250"/>
          </a:p>
        </p:txBody>
      </p:sp>
      <p:sp>
        <p:nvSpPr>
          <p:cNvPr id="11" name="Shape 9">
            <a:extLst xmlns:a="http://schemas.openxmlformats.org/drawingml/2006/main">
              <a:ext uri="{FF2B5EF4-FFF2-40B4-BE49-F238E27FC236}">
                <a16:creationId xmlns:a16="http://schemas.microsoft.com/office/drawing/2014/main" id="{92CF8A75-7A6A-4E36-AA88-9D288AB939BF}"/>
              </a:ext>
            </a:extLst>
          </p:cNvPr>
          <p:cNvSpPr>
            <a:spLocks xmlns:a="http://schemas.openxmlformats.org/drawingml/2006/main" noGrp="1"/>
          </p:cNvSpPr>
          <p:nvPr/>
        </p:nvSpPr>
        <p:spPr>
          <a:xfrm xmlns:a="http://schemas.openxmlformats.org/drawingml/2006/main">
            <a:off x="8001000" y="1280160"/>
            <a:ext cx="3520440" cy="2286000"/>
          </a:xfrm>
          <a:prstGeom xmlns:a="http://schemas.openxmlformats.org/drawingml/2006/main" prst="roundRect">
            <a:avLst>
              <a:gd name="adj" fmla="val 2400"/>
            </a:avLst>
          </a:prstGeom>
          <a:solidFill xmlns:a="http://schemas.openxmlformats.org/drawingml/2006/main">
            <a:srgbClr val="F4F6F8"/>
          </a:solidFill>
        </p:spPr>
      </p:sp>
      <p:sp>
        <p:nvSpPr>
          <p:cNvPr id="12" name="Text 10">
            <a:extLst xmlns:a="http://schemas.openxmlformats.org/drawingml/2006/main">
              <a:ext uri="{FF2B5EF4-FFF2-40B4-BE49-F238E27FC236}">
                <a16:creationId xmlns:a16="http://schemas.microsoft.com/office/drawing/2014/main" id="{7E1E5CC2-0195-48F1-B9C5-8BE0712AEF57}"/>
              </a:ext>
            </a:extLst>
          </p:cNvPr>
          <p:cNvSpPr>
            <a:spLocks xmlns:a="http://schemas.openxmlformats.org/drawingml/2006/main" noGrp="1"/>
          </p:cNvSpPr>
          <p:nvPr/>
        </p:nvSpPr>
        <p:spPr>
          <a:xfrm xmlns:a="http://schemas.openxmlformats.org/drawingml/2006/main">
            <a:off x="8257032" y="1463040"/>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A2530"/>
                </a:solidFill>
                <a:latin typeface="Cambria"/>
                <a:ea typeface="Cambria"/>
                <a:cs typeface="Cambria"/>
              </a:rPr>
              <a:t>Иван Калинин</a:t>
            </a:r>
            <a:endParaRPr sz="1550"/>
          </a:p>
        </p:txBody>
      </p:sp>
      <p:sp>
        <p:nvSpPr>
          <p:cNvPr id="13" name="Text 11">
            <a:extLst xmlns:a="http://schemas.openxmlformats.org/drawingml/2006/main">
              <a:ext uri="{FF2B5EF4-FFF2-40B4-BE49-F238E27FC236}">
                <a16:creationId xmlns:a16="http://schemas.microsoft.com/office/drawing/2014/main" id="{453B7C26-2903-463D-B96E-350FBE1997C2}"/>
              </a:ext>
            </a:extLst>
          </p:cNvPr>
          <p:cNvSpPr>
            <a:spLocks xmlns:a="http://schemas.openxmlformats.org/drawingml/2006/main" noGrp="1"/>
          </p:cNvSpPr>
          <p:nvPr/>
        </p:nvSpPr>
        <p:spPr>
          <a:xfrm xmlns:a="http://schemas.openxmlformats.org/drawingml/2006/main">
            <a:off x="8257032" y="1993392"/>
            <a:ext cx="3008376" cy="1389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4E5966"/>
                </a:solidFill>
                <a:latin typeface="Calibri"/>
                <a:ea typeface="Calibri"/>
                <a:cs typeface="Calibri"/>
              </a:rPr>
              <a:t>AI Engineer. Внутридневные и вечерние модели, эксперименты, контроль доступности данных, температура и редкие сигналы.</a:t>
            </a:r>
            <a:endParaRPr sz="1250"/>
          </a:p>
        </p:txBody>
      </p:sp>
      <p:sp>
        <p:nvSpPr>
          <p:cNvPr id="14" name="Shape 12">
            <a:extLst xmlns:a="http://schemas.openxmlformats.org/drawingml/2006/main">
              <a:ext uri="{FF2B5EF4-FFF2-40B4-BE49-F238E27FC236}">
                <a16:creationId xmlns:a16="http://schemas.microsoft.com/office/drawing/2014/main" id="{E3DA2142-1014-4068-BCA9-4E0C58CEE4C1}"/>
              </a:ext>
            </a:extLst>
          </p:cNvPr>
          <p:cNvSpPr>
            <a:spLocks xmlns:a="http://schemas.openxmlformats.org/drawingml/2006/main" noGrp="1"/>
          </p:cNvSpPr>
          <p:nvPr/>
        </p:nvSpPr>
        <p:spPr>
          <a:xfrm xmlns:a="http://schemas.openxmlformats.org/drawingml/2006/main">
            <a:off x="640080" y="3840480"/>
            <a:ext cx="10881360" cy="2103120"/>
          </a:xfrm>
          <a:prstGeom xmlns:a="http://schemas.openxmlformats.org/drawingml/2006/main" prst="roundRect">
            <a:avLst>
              <a:gd name="adj" fmla="val 2609"/>
            </a:avLst>
          </a:prstGeom>
          <a:solidFill xmlns:a="http://schemas.openxmlformats.org/drawingml/2006/main">
            <a:srgbClr val="1A2530"/>
          </a:solidFill>
        </p:spPr>
      </p:sp>
      <p:sp>
        <p:nvSpPr>
          <p:cNvPr id="15" name="Text 13">
            <a:extLst xmlns:a="http://schemas.openxmlformats.org/drawingml/2006/main">
              <a:ext uri="{FF2B5EF4-FFF2-40B4-BE49-F238E27FC236}">
                <a16:creationId xmlns:a16="http://schemas.microsoft.com/office/drawing/2014/main" id="{9B5A6769-AF37-4608-89BD-D25F4D501FA3}"/>
              </a:ext>
            </a:extLst>
          </p:cNvPr>
          <p:cNvSpPr>
            <a:spLocks xmlns:a="http://schemas.openxmlformats.org/drawingml/2006/main" noGrp="1"/>
          </p:cNvSpPr>
          <p:nvPr/>
        </p:nvSpPr>
        <p:spPr>
          <a:xfrm xmlns:a="http://schemas.openxmlformats.org/drawingml/2006/main">
            <a:off x="914400" y="3995928"/>
            <a:ext cx="103327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9C5B12"/>
                </a:solidFill>
                <a:latin typeface="Cambria"/>
                <a:ea typeface="Cambria"/>
                <a:cs typeface="Cambria"/>
              </a:rPr>
              <a:t>Вклад команды в итоговое решение</a:t>
            </a:r>
            <a:endParaRPr sz="1550"/>
          </a:p>
        </p:txBody>
      </p:sp>
      <p:sp>
        <p:nvSpPr>
          <p:cNvPr id="16" name="Text 14">
            <a:extLst xmlns:a="http://schemas.openxmlformats.org/drawingml/2006/main">
              <a:ext uri="{FF2B5EF4-FFF2-40B4-BE49-F238E27FC236}">
                <a16:creationId xmlns:a16="http://schemas.microsoft.com/office/drawing/2014/main" id="{C09CA6CB-F147-4F29-BB85-F022119A5206}"/>
              </a:ext>
            </a:extLst>
          </p:cNvPr>
          <p:cNvSpPr>
            <a:spLocks xmlns:a="http://schemas.openxmlformats.org/drawingml/2006/main" noGrp="1"/>
          </p:cNvSpPr>
          <p:nvPr/>
        </p:nvSpPr>
        <p:spPr>
          <a:xfrm xmlns:a="http://schemas.openxmlformats.org/drawingml/2006/main">
            <a:off x="914400" y="4370832"/>
            <a:ext cx="10332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Продуктовая часть сохраняет существующий путь перевода и безопасные формулировки. Независимые реализации помогли проверить признаки и обнаружить различия в оценке.</a:t>
            </a:r>
            <a:endParaRPr sz="1250"/>
          </a:p>
          <a:p xmlns:a="http://schemas.openxmlformats.org/drawingml/2006/main">
            <a:pPr marL="0" indent="0">
              <a:lnSpc>
                <a:spcPts val="1700"/>
              </a:lnSpc>
              <a:buNone/>
            </a:pPr>
            <a:r>
              <a:t/>
            </a:r>
            <a:endParaRPr sz="1250"/>
          </a:p>
          <a:p xmlns:a="http://schemas.openxmlformats.org/drawingml/2006/main">
            <a:pPr marL="0" indent="0">
              <a:lnSpc>
                <a:spcPts val="1700"/>
              </a:lnSpc>
              <a:buNone/>
              <a:defRPr sz="1250">
                <a:solidFill>
                  <a:srgbClr val="C7CFD8"/>
                </a:solidFill>
                <a:latin typeface="Calibri"/>
                <a:ea typeface="Calibri"/>
                <a:cs typeface="Calibri"/>
              </a:defRPr>
            </a:pPr>
            <a:r>
              <a:rPr sz="1250">
                <a:solidFill>
                  <a:srgbClr val="C7CFD8"/>
                </a:solidFill>
                <a:latin typeface="Calibri"/>
                <a:ea typeface="Calibri"/>
                <a:cs typeface="Calibri"/>
              </a:rPr>
              <a:t>Финальное исследование добавило работу по доступности данных, оценку момента в течение дня и управляемый поток сигналов.</a:t>
            </a:r>
            <a:endParaRPr sz="1250"/>
          </a:p>
        </p:txBody>
      </p:sp>
    </p:spTree>
    <p:extLst>
      <p:ext uri="{BB962C8B-B14F-4D97-AF65-F5344CB8AC3E}">
        <p14:creationId xmlns:p14="http://schemas.microsoft.com/office/powerpoint/2010/main" val="20047590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96662F-4E80-4A9E-8C4E-2C83D7DDF794}"/>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209595-B756-4750-83B8-56C2B2C1EE97}"/>
              </a:ext>
            </a:extLst>
          </p:cNvPr>
          <p:cNvSpPr>
            <a:spLocks xmlns:a="http://schemas.openxmlformats.org/drawingml/2006/main" noGrp="1"/>
          </p:cNvSpPr>
          <p:nvPr/>
        </p:nvSpPr>
        <p:spPr>
          <a:xfrm xmlns:a="http://schemas.openxmlformats.org/drawingml/2006/main">
            <a:off x="640080" y="493776"/>
            <a:ext cx="384048"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000" b="1">
                <a:solidFill>
                  <a:srgbClr val="FFFFFF"/>
                </a:solidFill>
                <a:latin typeface="Calibri"/>
                <a:ea typeface="Calibri"/>
                <a:cs typeface="Calibri"/>
              </a:defRPr>
            </a:pPr>
            <a:r>
              <a:rPr sz="1000" b="1">
                <a:solidFill>
                  <a:srgbClr val="FFFFFF"/>
                </a:solidFill>
                <a:latin typeface="Calibri"/>
                <a:ea typeface="Calibri"/>
                <a:cs typeface="Calibri"/>
              </a:rPr>
              <a:t>П8</a:t>
            </a:r>
          </a:p>
        </p:txBody>
      </p:sp>
      <p:sp>
        <p:nvSpPr>
          <p:cNvPr id="3" name="">
            <a:extLst xmlns:a="http://schemas.openxmlformats.org/drawingml/2006/main">
              <a:ext uri="{FF2B5EF4-FFF2-40B4-BE49-F238E27FC236}">
                <a16:creationId xmlns:a16="http://schemas.microsoft.com/office/drawing/2014/main" id="{6D32C2DD-B375-481F-94F9-A297B9693436}"/>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Результат на всех пяти валютах</a:t>
            </a:r>
          </a:p>
        </p:txBody>
      </p:sp>
      <p:graphicFrame>
        <p:nvGraphicFramePr>
          <p:cNvPr id="9" name="Chart"/>
          <p:cNvGraphicFramePr/>
          <p:nvPr/>
        </p:nvGraphicFramePr>
        <p:xfrm>
          <a:off xmlns:a="http://schemas.openxmlformats.org/drawingml/2006/main" x="640080" y="1280160"/>
          <a:ext xmlns:a="http://schemas.openxmlformats.org/drawingml/2006/main" cx="10881360" cy="4480560"/>
        </p:xfrm>
        <a:graphic xmlns:a="http://schemas.openxmlformats.org/drawingml/2006/main">
          <a:graphicData uri="http://schemas.openxmlformats.org/drawingml/2006/chart">
            <c:chart xmlns:r="http://schemas.openxmlformats.org/officeDocument/2006/relationships" xmlns:c="http://schemas.openxmlformats.org/drawingml/2006/chart" r:id="R9e764a7274c64645"/>
          </a:graphicData>
        </a:graphic>
      </p:graphicFrame>
      <p:sp>
        <p:nvSpPr>
          <p:cNvPr id="5" name="">
            <a:extLst xmlns:a="http://schemas.openxmlformats.org/drawingml/2006/main">
              <a:ext uri="{FF2B5EF4-FFF2-40B4-BE49-F238E27FC236}">
                <a16:creationId xmlns:a16="http://schemas.microsoft.com/office/drawing/2014/main" id="{D62B8943-F55F-43AE-8339-5A786B8A8236}"/>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2024–2026, открытая ретроспектива после получения ЦБ. На каждой валюте около 1,02–1,06 сигнала в неделю.</a:t>
            </a:r>
          </a:p>
        </p:txBody>
      </p:sp>
    </p:spTree>
    <p:extLst>
      <p:ext uri="{BB962C8B-B14F-4D97-AF65-F5344CB8AC3E}">
        <p14:creationId xmlns:p14="http://schemas.microsoft.com/office/powerpoint/2010/main" val="20861163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ECF499-7F61-42AE-9003-C44D31D46F52}"/>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7F44D3-6A11-4B97-9A15-7DAD7FF8E1EE}"/>
              </a:ext>
            </a:extLst>
          </p:cNvPr>
          <p:cNvSpPr>
            <a:spLocks xmlns:a="http://schemas.openxmlformats.org/drawingml/2006/main" noGrp="1"/>
          </p:cNvSpPr>
          <p:nvPr/>
        </p:nvSpPr>
        <p:spPr>
          <a:xfrm xmlns:a="http://schemas.openxmlformats.org/drawingml/2006/main">
            <a:off x="640080" y="493776"/>
            <a:ext cx="384048"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000" b="1">
                <a:solidFill>
                  <a:srgbClr val="FFFFFF"/>
                </a:solidFill>
                <a:latin typeface="Calibri"/>
                <a:ea typeface="Calibri"/>
                <a:cs typeface="Calibri"/>
              </a:defRPr>
            </a:pPr>
            <a:r>
              <a:rPr sz="1000" b="1">
                <a:solidFill>
                  <a:srgbClr val="FFFFFF"/>
                </a:solidFill>
                <a:latin typeface="Calibri"/>
                <a:ea typeface="Calibri"/>
                <a:cs typeface="Calibri"/>
              </a:rPr>
              <a:t>П9</a:t>
            </a:r>
          </a:p>
        </p:txBody>
      </p:sp>
      <p:sp>
        <p:nvSpPr>
          <p:cNvPr id="3" name="">
            <a:extLst xmlns:a="http://schemas.openxmlformats.org/drawingml/2006/main">
              <a:ext uri="{FF2B5EF4-FFF2-40B4-BE49-F238E27FC236}">
                <a16:creationId xmlns:a16="http://schemas.microsoft.com/office/drawing/2014/main" id="{EB750F07-6440-4319-98AB-3754A82171ED}"/>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После публикации: температура и отбор пушей</a:t>
            </a:r>
          </a:p>
        </p:txBody>
      </p:sp>
      <p:sp>
        <p:nvSpPr>
          <p:cNvPr id="4" name="">
            <a:extLst xmlns:a="http://schemas.openxmlformats.org/drawingml/2006/main">
              <a:ext uri="{FF2B5EF4-FFF2-40B4-BE49-F238E27FC236}">
                <a16:creationId xmlns:a16="http://schemas.microsoft.com/office/drawing/2014/main" id="{B002ED62-1870-4DC5-BD6C-4E563FB6D38E}"/>
              </a:ext>
            </a:extLst>
          </p:cNvPr>
          <p:cNvSpPr>
            <a:spLocks xmlns:a="http://schemas.openxmlformats.org/drawingml/2006/main" noGrp="1"/>
          </p:cNvSpPr>
          <p:nvPr/>
        </p:nvSpPr>
        <p:spPr>
          <a:xfrm xmlns:a="http://schemas.openxmlformats.org/drawingml/2006/main">
            <a:off x="640080" y="1325880"/>
            <a:ext cx="5367528" cy="350215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6615B7-19AD-44B7-93C9-C65F01C079D3}"/>
              </a:ext>
            </a:extLst>
          </p:cNvPr>
          <p:cNvSpPr>
            <a:spLocks xmlns:a="http://schemas.openxmlformats.org/drawingml/2006/main" noGrp="1"/>
          </p:cNvSpPr>
          <p:nvPr/>
        </p:nvSpPr>
        <p:spPr>
          <a:xfrm xmlns:a="http://schemas.openxmlformats.org/drawingml/2006/main">
            <a:off x="896112"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6674F"/>
                </a:solidFill>
                <a:latin typeface="Cambria"/>
                <a:ea typeface="Cambria"/>
                <a:cs typeface="Cambria"/>
              </a:defRPr>
            </a:pPr>
            <a:r>
              <a:rPr sz="1550" b="1">
                <a:solidFill>
                  <a:srgbClr val="16674F"/>
                </a:solidFill>
                <a:latin typeface="Cambria"/>
                <a:ea typeface="Cambria"/>
                <a:cs typeface="Cambria"/>
              </a:rPr>
              <a:t>Температура: CatBoost + калибровка</a:t>
            </a:r>
          </a:p>
        </p:txBody>
      </p:sp>
      <p:sp>
        <p:nvSpPr>
          <p:cNvPr id="6" name="">
            <a:extLst xmlns:a="http://schemas.openxmlformats.org/drawingml/2006/main">
              <a:ext uri="{FF2B5EF4-FFF2-40B4-BE49-F238E27FC236}">
                <a16:creationId xmlns:a16="http://schemas.microsoft.com/office/drawing/2014/main" id="{C33B5830-A256-4F98-8F92-170BFF357EF8}"/>
              </a:ext>
            </a:extLst>
          </p:cNvPr>
          <p:cNvSpPr>
            <a:spLocks xmlns:a="http://schemas.openxmlformats.org/drawingml/2006/main" noGrp="1"/>
          </p:cNvSpPr>
          <p:nvPr/>
        </p:nvSpPr>
        <p:spPr>
          <a:xfrm xmlns:a="http://schemas.openxmlformats.org/drawingml/2006/main">
            <a:off x="896112" y="2084832"/>
            <a:ext cx="4855464" cy="2587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Входы: известное изменение ЦБ на завтра, ранги трёх исторических моделей и их согласие, недавняя частота сигналов, календарь и валюта.</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Отдельные модели на 3, 5, 10 и 20 публикаций. Калибровка превращает оценку в вероятность.</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Признак «курс завтра» включается только после получения.</a:t>
            </a:r>
          </a:p>
        </p:txBody>
      </p:sp>
      <p:sp>
        <p:nvSpPr>
          <p:cNvPr id="7" name="">
            <a:extLst xmlns:a="http://schemas.openxmlformats.org/drawingml/2006/main">
              <a:ext uri="{FF2B5EF4-FFF2-40B4-BE49-F238E27FC236}">
                <a16:creationId xmlns:a16="http://schemas.microsoft.com/office/drawing/2014/main" id="{A65E51E0-C3A5-4183-A508-D5AC1A016671}"/>
              </a:ext>
            </a:extLst>
          </p:cNvPr>
          <p:cNvSpPr>
            <a:spLocks xmlns:a="http://schemas.openxmlformats.org/drawingml/2006/main" noGrp="1"/>
          </p:cNvSpPr>
          <p:nvPr/>
        </p:nvSpPr>
        <p:spPr>
          <a:xfrm xmlns:a="http://schemas.openxmlformats.org/drawingml/2006/main">
            <a:off x="6153912" y="1325880"/>
            <a:ext cx="5367528" cy="3502152"/>
          </a:xfrm>
          <a:prstGeom xmlns:a="http://schemas.openxmlformats.org/drawingml/2006/main" prst="roundRect">
            <a:avLst>
              <a:gd name="adj" fmla="val 1567"/>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4D345C-562A-40F2-B7B4-E52C0B8776A2}"/>
              </a:ext>
            </a:extLst>
          </p:cNvPr>
          <p:cNvSpPr>
            <a:spLocks xmlns:a="http://schemas.openxmlformats.org/drawingml/2006/main" noGrp="1"/>
          </p:cNvSpPr>
          <p:nvPr/>
        </p:nvSpPr>
        <p:spPr>
          <a:xfrm xmlns:a="http://schemas.openxmlformats.org/drawingml/2006/main">
            <a:off x="6409944" y="1508760"/>
            <a:ext cx="4855464"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1A2530"/>
                </a:solidFill>
                <a:latin typeface="Cambria"/>
                <a:ea typeface="Cambria"/>
                <a:cs typeface="Cambria"/>
              </a:defRPr>
            </a:pPr>
            <a:r>
              <a:rPr sz="1550" b="1">
                <a:solidFill>
                  <a:srgbClr val="1A2530"/>
                </a:solidFill>
                <a:latin typeface="Cambria"/>
                <a:ea typeface="Cambria"/>
                <a:cs typeface="Cambria"/>
              </a:rPr>
              <a:t>Пуш: AP37, отдельное правило</a:t>
            </a:r>
          </a:p>
        </p:txBody>
      </p:sp>
      <p:sp>
        <p:nvSpPr>
          <p:cNvPr id="9" name="">
            <a:extLst xmlns:a="http://schemas.openxmlformats.org/drawingml/2006/main">
              <a:ext uri="{FF2B5EF4-FFF2-40B4-BE49-F238E27FC236}">
                <a16:creationId xmlns:a16="http://schemas.microsoft.com/office/drawing/2014/main" id="{708E3B62-9421-4498-96C9-0EA8AA23A77C}"/>
              </a:ext>
            </a:extLst>
          </p:cNvPr>
          <p:cNvSpPr>
            <a:spLocks xmlns:a="http://schemas.openxmlformats.org/drawingml/2006/main" noGrp="1"/>
          </p:cNvSpPr>
          <p:nvPr/>
        </p:nvSpPr>
        <p:spPr>
          <a:xfrm xmlns:a="http://schemas.openxmlformats.org/drawingml/2006/main">
            <a:off x="6409944" y="2084832"/>
            <a:ext cx="4855464" cy="2587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Сильное ядро из исторических экспертов. Резервный сигнал при низкой частоте или длительной тишине.</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Качество резерва оцениваем по уже завершённым прошлым случаям, с учётом валюты. Не более двух событий в неделю.</a:t>
            </a:r>
          </a:p>
          <a:p xmlns:a="http://schemas.openxmlformats.org/drawingml/2006/main">
            <a:r>
              <a:t/>
            </a:r>
          </a:p>
          <a:p xmlns:a="http://schemas.openxmlformats.org/drawingml/2006/main">
            <a:pPr>
              <a:defRPr sz="1250">
                <a:solidFill>
                  <a:srgbClr val="4E5966"/>
                </a:solidFill>
                <a:latin typeface="Calibri"/>
                <a:ea typeface="Calibri"/>
                <a:cs typeface="Calibri"/>
              </a:defRPr>
            </a:pPr>
            <a:r>
              <a:rPr sz="1250">
                <a:solidFill>
                  <a:srgbClr val="4E5966"/>
                </a:solidFill>
                <a:latin typeface="Calibri"/>
                <a:ea typeface="Calibri"/>
                <a:cs typeface="Calibri"/>
              </a:rPr>
              <a:t>Пуш не равен условию «температура выше 70».</a:t>
            </a:r>
          </a:p>
        </p:txBody>
      </p:sp>
      <p:sp>
        <p:nvSpPr>
          <p:cNvPr id="10" name="">
            <a:extLst xmlns:a="http://schemas.openxmlformats.org/drawingml/2006/main">
              <a:ext uri="{FF2B5EF4-FFF2-40B4-BE49-F238E27FC236}">
                <a16:creationId xmlns:a16="http://schemas.microsoft.com/office/drawing/2014/main" id="{8A436D17-4DFC-477C-A41E-33071CCA84C2}"/>
              </a:ext>
            </a:extLst>
          </p:cNvPr>
          <p:cNvSpPr>
            <a:spLocks xmlns:a="http://schemas.openxmlformats.org/drawingml/2006/main" noGrp="1"/>
          </p:cNvSpPr>
          <p:nvPr/>
        </p:nvSpPr>
        <p:spPr>
          <a:xfrm xmlns:a="http://schemas.openxmlformats.org/drawingml/2006/main">
            <a:off x="640080" y="5029200"/>
            <a:ext cx="10881360" cy="1069848"/>
          </a:xfrm>
          <a:prstGeom xmlns:a="http://schemas.openxmlformats.org/drawingml/2006/main" prst="roundRect">
            <a:avLst>
              <a:gd name="adj" fmla="val 5128"/>
            </a:avLst>
          </a:prstGeom>
          <a:solidFill xmlns:a="http://schemas.openxmlformats.org/drawingml/2006/main">
            <a:srgbClr val="1A25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EBAC8C-0CC9-4CD2-A16B-D3A22EE5678D}"/>
              </a:ext>
            </a:extLst>
          </p:cNvPr>
          <p:cNvSpPr>
            <a:spLocks xmlns:a="http://schemas.openxmlformats.org/drawingml/2006/main" noGrp="1"/>
          </p:cNvSpPr>
          <p:nvPr/>
        </p:nvSpPr>
        <p:spPr>
          <a:xfrm xmlns:a="http://schemas.openxmlformats.org/drawingml/2006/main">
            <a:off x="914400" y="5184648"/>
            <a:ext cx="103327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Почему помогает новый курс</a:t>
            </a:r>
          </a:p>
        </p:txBody>
      </p:sp>
      <p:sp>
        <p:nvSpPr>
          <p:cNvPr id="12" name="">
            <a:extLst xmlns:a="http://schemas.openxmlformats.org/drawingml/2006/main">
              <a:ext uri="{FF2B5EF4-FFF2-40B4-BE49-F238E27FC236}">
                <a16:creationId xmlns:a16="http://schemas.microsoft.com/office/drawing/2014/main" id="{D48E4614-8AE0-42CE-BBE4-02888E124EF5}"/>
              </a:ext>
            </a:extLst>
          </p:cNvPr>
          <p:cNvSpPr>
            <a:spLocks xmlns:a="http://schemas.openxmlformats.org/drawingml/2006/main" noGrp="1"/>
          </p:cNvSpPr>
          <p:nvPr/>
        </p:nvSpPr>
        <p:spPr>
          <a:xfrm xmlns:a="http://schemas.openxmlformats.org/drawingml/2006/main">
            <a:off x="914400" y="5605272"/>
            <a:ext cx="1033272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Одна часть ближайшего будущего уже стала известным фактом. Модель оценивает оставшиеся дни, а базой сравнения остаётся действующий сегодня курс.</a:t>
            </a:r>
          </a:p>
        </p:txBody>
      </p:sp>
      <p:sp>
        <p:nvSpPr>
          <p:cNvPr id="13" name="">
            <a:extLst xmlns:a="http://schemas.openxmlformats.org/drawingml/2006/main">
              <a:ext uri="{FF2B5EF4-FFF2-40B4-BE49-F238E27FC236}">
                <a16:creationId xmlns:a16="http://schemas.microsoft.com/office/drawing/2014/main" id="{CA8B632C-9F46-47A0-A50E-970D2F9DEE3A}"/>
              </a:ext>
            </a:extLst>
          </p:cNvPr>
          <p:cNvSpPr>
            <a:spLocks xmlns:a="http://schemas.openxmlformats.org/drawingml/2006/main" noGrp="1"/>
          </p:cNvSpPr>
          <p:nvPr/>
        </p:nvSpPr>
        <p:spPr>
          <a:xfrm xmlns:a="http://schemas.openxmlformats.org/drawingml/2006/main">
            <a:off x="640080" y="6309360"/>
            <a:ext cx="1088136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Температура AP49/AP50. Пуш AP37. Модельные метрики ЦБ не доказывают возможность перевода по старой цене банка.</a:t>
            </a:r>
          </a:p>
        </p:txBody>
      </p:sp>
    </p:spTree>
    <p:extLst>
      <p:ext uri="{BB962C8B-B14F-4D97-AF65-F5344CB8AC3E}">
        <p14:creationId xmlns:p14="http://schemas.microsoft.com/office/powerpoint/2010/main" val="17784680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74871D-9D23-4CC1-AAA5-78717C1611AB}"/>
              </a:ext>
            </a:extLst>
          </p:cNvPr>
          <p:cNvSpPr>
            <a:spLocks xmlns:a="http://schemas.openxmlformats.org/drawingml/2006/main" noGrp="1"/>
          </p:cNvSpPr>
          <p:nvPr/>
        </p:nvSpPr>
        <p:spPr>
          <a:xfrm xmlns:a="http://schemas.openxmlformats.org/drawingml/2006/main">
            <a:off x="640080" y="475488"/>
            <a:ext cx="384048" cy="384048"/>
          </a:xfrm>
          <a:prstGeom xmlns:a="http://schemas.openxmlformats.org/drawingml/2006/main" prst="ellipse">
            <a:avLst/>
          </a:prstGeom>
          <a:solidFill xmlns:a="http://schemas.openxmlformats.org/drawingml/2006/main">
            <a:srgbClr val="6E7A8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854EC5-9203-454A-A45B-5401214D265D}"/>
              </a:ext>
            </a:extLst>
          </p:cNvPr>
          <p:cNvSpPr>
            <a:spLocks xmlns:a="http://schemas.openxmlformats.org/drawingml/2006/main" noGrp="1"/>
          </p:cNvSpPr>
          <p:nvPr/>
        </p:nvSpPr>
        <p:spPr>
          <a:xfrm xmlns:a="http://schemas.openxmlformats.org/drawingml/2006/main">
            <a:off x="640080" y="594360"/>
            <a:ext cx="384048"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900" b="1">
                <a:solidFill>
                  <a:srgbClr val="FFFFFF"/>
                </a:solidFill>
                <a:latin typeface="Calibri"/>
                <a:ea typeface="Calibri"/>
                <a:cs typeface="Calibri"/>
              </a:defRPr>
            </a:pPr>
            <a:r>
              <a:rPr sz="900" b="1">
                <a:solidFill>
                  <a:srgbClr val="FFFFFF"/>
                </a:solidFill>
                <a:latin typeface="Calibri"/>
                <a:ea typeface="Calibri"/>
                <a:cs typeface="Calibri"/>
              </a:rPr>
              <a:t>П10</a:t>
            </a:r>
          </a:p>
        </p:txBody>
      </p:sp>
      <p:sp>
        <p:nvSpPr>
          <p:cNvPr id="3" name="">
            <a:extLst xmlns:a="http://schemas.openxmlformats.org/drawingml/2006/main">
              <a:ext uri="{FF2B5EF4-FFF2-40B4-BE49-F238E27FC236}">
                <a16:creationId xmlns:a16="http://schemas.microsoft.com/office/drawing/2014/main" id="{6906724B-1BCF-4B00-8653-7AFB52F1DF9B}"/>
              </a:ext>
            </a:extLst>
          </p:cNvPr>
          <p:cNvSpPr>
            <a:spLocks xmlns:a="http://schemas.openxmlformats.org/drawingml/2006/main" noGrp="1"/>
          </p:cNvSpPr>
          <p:nvPr/>
        </p:nvSpPr>
        <p:spPr>
          <a:xfrm xmlns:a="http://schemas.openxmlformats.org/drawingml/2006/main">
            <a:off x="1170432" y="402336"/>
            <a:ext cx="1033272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A2530"/>
                </a:solidFill>
                <a:latin typeface="Cambria"/>
                <a:ea typeface="Cambria"/>
                <a:cs typeface="Cambria"/>
              </a:defRPr>
            </a:pPr>
            <a:r>
              <a:rPr sz="2700" b="1">
                <a:solidFill>
                  <a:srgbClr val="1A2530"/>
                </a:solidFill>
                <a:latin typeface="Cambria"/>
                <a:ea typeface="Cambria"/>
                <a:cs typeface="Cambria"/>
              </a:rPr>
              <a:t>Эксперименты: что оставили в итоговом решении</a:t>
            </a:r>
          </a:p>
        </p:txBody>
      </p:sp>
      <p:sp>
        <p:nvSpPr>
          <p:cNvPr id="4" name="">
            <a:extLst xmlns:a="http://schemas.openxmlformats.org/drawingml/2006/main">
              <a:ext uri="{FF2B5EF4-FFF2-40B4-BE49-F238E27FC236}">
                <a16:creationId xmlns:a16="http://schemas.microsoft.com/office/drawing/2014/main" id="{C0F72771-2819-40B7-AF5E-F751D699A26F}"/>
              </a:ext>
            </a:extLst>
          </p:cNvPr>
          <p:cNvSpPr>
            <a:spLocks xmlns:a="http://schemas.openxmlformats.org/drawingml/2006/main" noGrp="1"/>
          </p:cNvSpPr>
          <p:nvPr/>
        </p:nvSpPr>
        <p:spPr>
          <a:xfrm xmlns:a="http://schemas.openxmlformats.org/drawingml/2006/main">
            <a:off x="640080" y="1097280"/>
            <a:ext cx="1088136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a:solidFill>
                  <a:srgbClr val="4E5966"/>
                </a:solidFill>
                <a:latin typeface="Calibri"/>
                <a:ea typeface="Calibri"/>
                <a:cs typeface="Calibri"/>
              </a:defRPr>
            </a:pPr>
            <a:r>
              <a:rPr sz="1350">
                <a:solidFill>
                  <a:srgbClr val="4E5966"/>
                </a:solidFill>
                <a:latin typeface="Calibri"/>
                <a:ea typeface="Calibri"/>
                <a:cs typeface="Calibri"/>
              </a:rPr>
              <a:t>Дневной срез 15:30, h=5. Одна опора: действующий курс ЦБ. Открытая ретроспектива 2025–2026.</a:t>
            </a:r>
          </a:p>
        </p:txBody>
      </p:sp>
      <p:sp>
        <p:nvSpPr>
          <p:cNvPr id="5" name="">
            <a:extLst xmlns:a="http://schemas.openxmlformats.org/drawingml/2006/main">
              <a:ext uri="{FF2B5EF4-FFF2-40B4-BE49-F238E27FC236}">
                <a16:creationId xmlns:a16="http://schemas.microsoft.com/office/drawing/2014/main" id="{11E23F1A-BB9B-446E-9F0E-F17B352B69F7}"/>
              </a:ext>
            </a:extLst>
          </p:cNvPr>
          <p:cNvSpPr>
            <a:spLocks xmlns:a="http://schemas.openxmlformats.org/drawingml/2006/main" noGrp="1"/>
          </p:cNvSpPr>
          <p:nvPr/>
        </p:nvSpPr>
        <p:spPr>
          <a:xfrm xmlns:a="http://schemas.openxmlformats.org/drawingml/2006/main">
            <a:off x="640080" y="1764792"/>
            <a:ext cx="640080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1">
                <a:solidFill>
                  <a:srgbClr val="16674F"/>
                </a:solidFill>
                <a:latin typeface="Cambria"/>
                <a:ea typeface="Cambria"/>
                <a:cs typeface="Cambria"/>
              </a:defRPr>
            </a:pPr>
            <a:r>
              <a:rPr sz="1700" b="1">
                <a:solidFill>
                  <a:srgbClr val="16674F"/>
                </a:solidFill>
                <a:latin typeface="Cambria"/>
                <a:ea typeface="Cambria"/>
                <a:cs typeface="Cambria"/>
              </a:rPr>
              <a:t>Проверка прямых валютных пар</a:t>
            </a:r>
          </a:p>
        </p:txBody>
      </p:sp>
      <p:graphicFrame>
        <p:nvGraphicFramePr>
          <p:cNvPr id="19" name=""/>
          <p:cNvGraphicFramePr/>
          <p:nvPr/>
        </p:nvGraphicFramePr>
        <p:xfrm>
          <a:off xmlns:a="http://schemas.openxmlformats.org/drawingml/2006/main" x="640080" y="2340864"/>
          <a:ext xmlns:a="http://schemas.openxmlformats.org/drawingml/2006/main" cx="6446520" cy="2139696"/>
        </p:xfrm>
        <a:graphic xmlns:a="http://schemas.openxmlformats.org/drawingml/2006/main">
          <a:graphicData uri="http://schemas.openxmlformats.org/drawingml/2006/table">
            <a:tbl>
              <a:tblPr/>
              <a:tblGrid>
                <a:gridCol w="5029200"/>
                <a:gridCol w="1417320"/>
              </a:tblGrid>
              <a:tr h="427939">
                <a:tc>
                  <a:txBody>
                    <a:bodyPr/>
                    <a:lstStyle/>
                    <a:p>
                      <a:r>
                        <a:rPr sz="1400" b="1">
                          <a:solidFill>
                            <a:srgbClr val="4E5966"/>
                          </a:solidFill>
                          <a:latin typeface="Calibri"/>
                          <a:ea typeface="Calibri"/>
                          <a:cs typeface="Calibri"/>
                        </a:rPr>
                        <a:t>Вариант</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4F6F8"/>
                    </a:solidFill>
                  </a:tcPr>
                </a:tc>
                <a:tc>
                  <a:txBody>
                    <a:bodyPr/>
                    <a:lstStyle/>
                    <a:p>
                      <a:r>
                        <a:rPr sz="1400" b="1">
                          <a:solidFill>
                            <a:srgbClr val="4E5966"/>
                          </a:solidFill>
                          <a:latin typeface="Calibri"/>
                          <a:ea typeface="Calibri"/>
                          <a:cs typeface="Calibri"/>
                        </a:rPr>
                        <a:t>Lift*</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4F6F8"/>
                    </a:solidFill>
                  </a:tcPr>
                </a:tc>
              </a:tr>
              <a:tr h="427939">
                <a:tc>
                  <a:txBody>
                    <a:bodyPr/>
                    <a:lstStyle/>
                    <a:p>
                      <a:r>
                        <a:rPr sz="1400" b="1">
                          <a:solidFill>
                            <a:srgbClr val="16674F"/>
                          </a:solidFill>
                          <a:latin typeface="Calibri"/>
                          <a:ea typeface="Calibri"/>
                          <a:cs typeface="Calibri"/>
                        </a:rPr>
                        <a:t>CNY/RUB с резервом на истории</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1">
                          <a:solidFill>
                            <a:srgbClr val="16674F"/>
                          </a:solidFill>
                          <a:latin typeface="Calibri"/>
                          <a:ea typeface="Calibri"/>
                          <a:cs typeface="Calibri"/>
                        </a:rPr>
                        <a:t>2,053</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Добавка прямой пары 25 %</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2,043</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Общая модель поправки к CNY</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2,038</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r h="427939">
                <a:tc>
                  <a:txBody>
                    <a:bodyPr/>
                    <a:lstStyle/>
                    <a:p>
                      <a:r>
                        <a:rPr sz="1400" b="0">
                          <a:solidFill>
                            <a:srgbClr val="4E5966"/>
                          </a:solidFill>
                          <a:latin typeface="Calibri"/>
                          <a:ea typeface="Calibri"/>
                          <a:cs typeface="Calibri"/>
                        </a:rPr>
                        <a:t>Индивидуальные веса валют</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c>
                  <a:txBody>
                    <a:bodyPr/>
                    <a:lstStyle/>
                    <a:p>
                      <a:r>
                        <a:rPr sz="1400" b="0">
                          <a:solidFill>
                            <a:srgbClr val="4E5966"/>
                          </a:solidFill>
                          <a:latin typeface="Calibri"/>
                          <a:ea typeface="Calibri"/>
                          <a:cs typeface="Calibri"/>
                        </a:rPr>
                        <a:t>1,978</a:t>
                      </a:r>
                    </a:p>
                  </a:txBody>
                  <a:tcPr marL="91440" marR="91440" marT="45720" marB="45720">
                    <a:lnL w="6350" cap="flat" cmpd="sng" algn="ctr">
                      <a:solidFill>
                        <a:srgbClr val="DCE2E8"/>
                      </a:solidFill>
                      <a:prstDash val="solid"/>
                      <a:round/>
                      <a:headEnd type="none" w="med" len="med"/>
                      <a:tailEnd type="none" w="med" len="med"/>
                    </a:lnL>
                    <a:lnR w="6350" cap="flat" cmpd="sng" algn="ctr">
                      <a:solidFill>
                        <a:srgbClr val="DCE2E8"/>
                      </a:solidFill>
                      <a:prstDash val="solid"/>
                      <a:round/>
                      <a:headEnd type="none" w="med" len="med"/>
                      <a:tailEnd type="none" w="med" len="med"/>
                    </a:lnR>
                    <a:lnT w="6350" cap="flat" cmpd="sng" algn="ctr">
                      <a:solidFill>
                        <a:srgbClr val="DCE2E8"/>
                      </a:solidFill>
                      <a:prstDash val="solid"/>
                      <a:round/>
                      <a:headEnd type="none" w="med" len="med"/>
                      <a:tailEnd type="none" w="med" len="med"/>
                    </a:lnT>
                    <a:lnB w="6350" cap="flat" cmpd="sng" algn="ctr">
                      <a:solidFill>
                        <a:srgbClr val="DCE2E8"/>
                      </a:solidFill>
                      <a:prstDash val="solid"/>
                      <a:round/>
                      <a:headEnd type="none" w="med" len="med"/>
                      <a:tailEnd type="none" w="med" len="me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BA966EB-BE8A-4A22-9D6F-F79CE134E757}"/>
              </a:ext>
            </a:extLst>
          </p:cNvPr>
          <p:cNvSpPr>
            <a:spLocks xmlns:a="http://schemas.openxmlformats.org/drawingml/2006/main" noGrp="1"/>
          </p:cNvSpPr>
          <p:nvPr/>
        </p:nvSpPr>
        <p:spPr>
          <a:xfrm xmlns:a="http://schemas.openxmlformats.org/drawingml/2006/main">
            <a:off x="7388352" y="1737360"/>
            <a:ext cx="4133088" cy="2834640"/>
          </a:xfrm>
          <a:prstGeom xmlns:a="http://schemas.openxmlformats.org/drawingml/2006/main" prst="roundRect">
            <a:avLst>
              <a:gd name="adj" fmla="val 1935"/>
            </a:avLst>
          </a:prstGeom>
          <a:solidFill xmlns:a="http://schemas.openxmlformats.org/drawingml/2006/main">
            <a:srgbClr val="F4F6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76EFEC-C8BD-49CE-A8E5-844F5C13F6DA}"/>
              </a:ext>
            </a:extLst>
          </p:cNvPr>
          <p:cNvSpPr>
            <a:spLocks xmlns:a="http://schemas.openxmlformats.org/drawingml/2006/main" noGrp="1"/>
          </p:cNvSpPr>
          <p:nvPr/>
        </p:nvSpPr>
        <p:spPr>
          <a:xfrm xmlns:a="http://schemas.openxmlformats.org/drawingml/2006/main">
            <a:off x="7644384" y="1920240"/>
            <a:ext cx="3621024"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1">
                <a:solidFill>
                  <a:srgbClr val="1A2530"/>
                </a:solidFill>
                <a:latin typeface="Cambria"/>
                <a:ea typeface="Cambria"/>
                <a:cs typeface="Cambria"/>
              </a:defRPr>
            </a:pPr>
            <a:r>
              <a:rPr sz="1600" b="1">
                <a:solidFill>
                  <a:srgbClr val="1A2530"/>
                </a:solidFill>
                <a:latin typeface="Cambria"/>
                <a:ea typeface="Cambria"/>
                <a:cs typeface="Cambria"/>
              </a:rPr>
              <a:t>Что ещё проверили</a:t>
            </a:r>
          </a:p>
        </p:txBody>
      </p:sp>
      <p:sp>
        <p:nvSpPr>
          <p:cNvPr id="9" name="">
            <a:extLst xmlns:a="http://schemas.openxmlformats.org/drawingml/2006/main">
              <a:ext uri="{FF2B5EF4-FFF2-40B4-BE49-F238E27FC236}">
                <a16:creationId xmlns:a16="http://schemas.microsoft.com/office/drawing/2014/main" id="{328C2294-EA48-46C3-B719-05D054C5143B}"/>
              </a:ext>
            </a:extLst>
          </p:cNvPr>
          <p:cNvSpPr>
            <a:spLocks xmlns:a="http://schemas.openxmlformats.org/drawingml/2006/main" noGrp="1"/>
          </p:cNvSpPr>
          <p:nvPr/>
        </p:nvSpPr>
        <p:spPr>
          <a:xfrm xmlns:a="http://schemas.openxmlformats.org/drawingml/2006/main">
            <a:off x="7644384" y="2651760"/>
            <a:ext cx="3621024" cy="1691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ETS, SARIMA и нейросети.</a:t>
            </a:r>
          </a:p>
          <a:p xmlns:a="http://schemas.openxmlformats.org/drawingml/2006/main">
            <a:r>
              <a:t/>
            </a:r>
          </a:p>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Модели по одной валюте, общий бустинг поправок и смеси по режимам.</a:t>
            </a:r>
          </a:p>
          <a:p xmlns:a="http://schemas.openxmlformats.org/drawingml/2006/main">
            <a:r>
              <a:t/>
            </a:r>
          </a:p>
          <a:p xmlns:a="http://schemas.openxmlformats.org/drawingml/2006/main">
            <a:pPr>
              <a:defRPr sz="1300">
                <a:solidFill>
                  <a:srgbClr val="4E5966"/>
                </a:solidFill>
                <a:latin typeface="Calibri"/>
                <a:ea typeface="Calibri"/>
                <a:cs typeface="Calibri"/>
              </a:defRPr>
            </a:pPr>
            <a:r>
              <a:rPr sz="1300">
                <a:solidFill>
                  <a:srgbClr val="4E5966"/>
                </a:solidFill>
                <a:latin typeface="Calibri"/>
                <a:ea typeface="Calibri"/>
                <a:cs typeface="Calibri"/>
              </a:rPr>
              <a:t>Проверяли перенос между годами и частоту сигналов.</a:t>
            </a:r>
          </a:p>
        </p:txBody>
      </p:sp>
      <p:sp>
        <p:nvSpPr>
          <p:cNvPr id="10" name="">
            <a:extLst xmlns:a="http://schemas.openxmlformats.org/drawingml/2006/main">
              <a:ext uri="{FF2B5EF4-FFF2-40B4-BE49-F238E27FC236}">
                <a16:creationId xmlns:a16="http://schemas.microsoft.com/office/drawing/2014/main" id="{B570356F-7CF1-4F55-83AA-D2CE5EBBA877}"/>
              </a:ext>
            </a:extLst>
          </p:cNvPr>
          <p:cNvSpPr>
            <a:spLocks xmlns:a="http://schemas.openxmlformats.org/drawingml/2006/main" noGrp="1"/>
          </p:cNvSpPr>
          <p:nvPr/>
        </p:nvSpPr>
        <p:spPr>
          <a:xfrm xmlns:a="http://schemas.openxmlformats.org/drawingml/2006/main">
            <a:off x="640080" y="4882896"/>
            <a:ext cx="10881360" cy="1188720"/>
          </a:xfrm>
          <a:prstGeom xmlns:a="http://schemas.openxmlformats.org/drawingml/2006/main" prst="roundRect">
            <a:avLst>
              <a:gd name="adj" fmla="val 4615"/>
            </a:avLst>
          </a:prstGeom>
          <a:solidFill xmlns:a="http://schemas.openxmlformats.org/drawingml/2006/main">
            <a:srgbClr val="1A25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8B3F2D-E020-4C74-AD83-087294591250}"/>
              </a:ext>
            </a:extLst>
          </p:cNvPr>
          <p:cNvSpPr>
            <a:spLocks xmlns:a="http://schemas.openxmlformats.org/drawingml/2006/main" noGrp="1"/>
          </p:cNvSpPr>
          <p:nvPr/>
        </p:nvSpPr>
        <p:spPr>
          <a:xfrm xmlns:a="http://schemas.openxmlformats.org/drawingml/2006/main">
            <a:off x="914400" y="5047488"/>
            <a:ext cx="1033272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50" b="1">
                <a:solidFill>
                  <a:srgbClr val="E0A75E"/>
                </a:solidFill>
                <a:latin typeface="Cambria"/>
                <a:ea typeface="Cambria"/>
                <a:cs typeface="Cambria"/>
              </a:defRPr>
            </a:pPr>
            <a:r>
              <a:rPr sz="1550" b="1">
                <a:solidFill>
                  <a:srgbClr val="E0A75E"/>
                </a:solidFill>
                <a:latin typeface="Cambria"/>
                <a:ea typeface="Cambria"/>
                <a:cs typeface="Cambria"/>
              </a:rPr>
              <a:t>Что вошло в итог</a:t>
            </a:r>
          </a:p>
        </p:txBody>
      </p:sp>
      <p:sp>
        <p:nvSpPr>
          <p:cNvPr id="12" name="">
            <a:extLst xmlns:a="http://schemas.openxmlformats.org/drawingml/2006/main">
              <a:ext uri="{FF2B5EF4-FFF2-40B4-BE49-F238E27FC236}">
                <a16:creationId xmlns:a16="http://schemas.microsoft.com/office/drawing/2014/main" id="{3FDCDEBB-613B-42B9-9448-33C40687FC17}"/>
              </a:ext>
            </a:extLst>
          </p:cNvPr>
          <p:cNvSpPr>
            <a:spLocks xmlns:a="http://schemas.openxmlformats.org/drawingml/2006/main" noGrp="1"/>
          </p:cNvSpPr>
          <p:nvPr/>
        </p:nvSpPr>
        <p:spPr>
          <a:xfrm xmlns:a="http://schemas.openxmlformats.org/drawingml/2006/main">
            <a:off x="914400" y="5468112"/>
            <a:ext cx="10332720" cy="438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50">
                <a:solidFill>
                  <a:srgbClr val="C7CFD8"/>
                </a:solidFill>
                <a:latin typeface="Calibri"/>
                <a:ea typeface="Calibri"/>
                <a:cs typeface="Calibri"/>
              </a:defRPr>
            </a:pPr>
            <a:r>
              <a:rPr sz="1250">
                <a:solidFill>
                  <a:srgbClr val="C7CFD8"/>
                </a:solidFill>
                <a:latin typeface="Calibri"/>
                <a:ea typeface="Calibri"/>
                <a:cs typeface="Calibri"/>
              </a:rPr>
              <a:t>Днём: доступные биржевые данные и резерв. После получения ЦБ: модели оставшегося будущего. Температура и редкие пуши решают разные задачи.</a:t>
            </a:r>
          </a:p>
        </p:txBody>
      </p:sp>
      <p:sp>
        <p:nvSpPr>
          <p:cNvPr id="13" name="">
            <a:extLst xmlns:a="http://schemas.openxmlformats.org/drawingml/2006/main">
              <a:ext uri="{FF2B5EF4-FFF2-40B4-BE49-F238E27FC236}">
                <a16:creationId xmlns:a16="http://schemas.microsoft.com/office/drawing/2014/main" id="{6B2F26E7-8B98-4CD0-A975-2956E3626D75}"/>
              </a:ext>
            </a:extLst>
          </p:cNvPr>
          <p:cNvSpPr>
            <a:spLocks xmlns:a="http://schemas.openxmlformats.org/drawingml/2006/main" noGrp="1"/>
          </p:cNvSpPr>
          <p:nvPr/>
        </p:nvSpPr>
        <p:spPr>
          <a:xfrm xmlns:a="http://schemas.openxmlformats.org/drawingml/2006/main">
            <a:off x="640080" y="6327648"/>
            <a:ext cx="1088136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i="1">
                <a:solidFill>
                  <a:srgbClr val="6E7A88"/>
                </a:solidFill>
                <a:latin typeface="Calibri"/>
                <a:ea typeface="Calibri"/>
                <a:cs typeface="Calibri"/>
              </a:defRPr>
            </a:pPr>
            <a:r>
              <a:rPr sz="1050" i="1">
                <a:solidFill>
                  <a:srgbClr val="6E7A88"/>
                </a:solidFill>
                <a:latin typeface="Calibri"/>
                <a:ea typeface="Calibri"/>
                <a:cs typeface="Calibri"/>
              </a:rPr>
              <a:t>* Lift с поправкой на состав валют и периодов. У CNY 2,053 здесь и 2,059 на слайде 22: две агрегации одних сигналов.</a:t>
            </a:r>
          </a:p>
        </p:txBody>
      </p:sp>
    </p:spTree>
    <p:extLst>
      <p:ext uri="{BB962C8B-B14F-4D97-AF65-F5344CB8AC3E}">
        <p14:creationId xmlns:p14="http://schemas.microsoft.com/office/powerpoint/2010/main" val="59893516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28</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2026-09-07T03:00:19.1330000Z</dcterms:created>
  <dcterms:modified xsi:type="dcterms:W3CDTF">2026-09-07T03:00:19.1330000Z</dcterms:modified>
</coreProperties>
</file>